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35"/>
  </p:notesMasterIdLst>
  <p:handoutMasterIdLst>
    <p:handoutMasterId r:id="rId36"/>
  </p:handoutMasterIdLst>
  <p:sldIdLst>
    <p:sldId id="256" r:id="rId3"/>
    <p:sldId id="257" r:id="rId4"/>
    <p:sldId id="259" r:id="rId5"/>
    <p:sldId id="309" r:id="rId6"/>
    <p:sldId id="310" r:id="rId7"/>
    <p:sldId id="311" r:id="rId8"/>
    <p:sldId id="312" r:id="rId9"/>
    <p:sldId id="313" r:id="rId10"/>
    <p:sldId id="316" r:id="rId11"/>
    <p:sldId id="314" r:id="rId12"/>
    <p:sldId id="317" r:id="rId13"/>
    <p:sldId id="342" r:id="rId14"/>
    <p:sldId id="318" r:id="rId15"/>
    <p:sldId id="315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9" r:id="rId25"/>
    <p:sldId id="330" r:id="rId26"/>
    <p:sldId id="331" r:id="rId27"/>
    <p:sldId id="335" r:id="rId28"/>
    <p:sldId id="336" r:id="rId29"/>
    <p:sldId id="337" r:id="rId30"/>
    <p:sldId id="338" r:id="rId31"/>
    <p:sldId id="339" r:id="rId32"/>
    <p:sldId id="341" r:id="rId33"/>
    <p:sldId id="340" r:id="rId3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90" d="100"/>
          <a:sy n="90" d="100"/>
        </p:scale>
        <p:origin x="-1877" y="-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B495CD-ED1F-4FD3-AF45-025D94720F75}" type="datetimeFigureOut">
              <a:rPr lang="en-US" smtClean="0"/>
              <a:t>12/19/2016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DA616-ABCF-40A8-9385-BFD90F017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8997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34493C-0454-4866-BCBA-B08E80B79975}" type="datetimeFigureOut">
              <a:rPr lang="en-US" smtClean="0"/>
              <a:pPr/>
              <a:t>12/19/2016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B6BB5A-CE4E-4664-B71A-76645C9280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60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685800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209800"/>
            <a:ext cx="6400800" cy="1143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0F9888-3879-4F22-AF80-4177AA4AC351}" type="datetime1">
              <a:rPr lang="en-US" smtClean="0"/>
              <a:pPr>
                <a:defRPr/>
              </a:pPr>
              <a:t>12/19/2016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2E01B-07BF-4B7E-88E3-0FA8BF19FC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3E6D5-0B56-4E95-B722-0CB6C0A3DFB2}" type="datetime1">
              <a:rPr lang="en-US" smtClean="0"/>
              <a:pPr>
                <a:defRPr/>
              </a:pPr>
              <a:t>12/19/2016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DA86C6-259A-43E0-A3DD-0DFA14BC01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6FFF54-01E0-4551-9739-57A7061C7C08}" type="datetime1">
              <a:rPr lang="en-US" smtClean="0"/>
              <a:pPr>
                <a:defRPr/>
              </a:pPr>
              <a:t>12/19/2016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3E8DC3-00CB-499E-BCBF-41EFC7DC6A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AD2CFF-A0B0-4311-A3BC-DA4ED30FECE4}" type="datetime1">
              <a:rPr lang="en-US" smtClean="0"/>
              <a:pPr>
                <a:defRPr/>
              </a:pPr>
              <a:t>12/19/2016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6DC61A-4458-4BE4-A110-01546114C4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2968AA-672A-4F83-8CBC-80A82B39BD57}" type="datetime1">
              <a:rPr lang="en-US" smtClean="0"/>
              <a:pPr>
                <a:defRPr/>
              </a:pPr>
              <a:t>12/19/2016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4CBE0-2B4C-4AC7-8AB2-4E56AB82E3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4DC351-E228-4CFD-9822-9AA74CDFB27E}" type="datetime1">
              <a:rPr lang="en-US" smtClean="0"/>
              <a:pPr>
                <a:defRPr/>
              </a:pPr>
              <a:t>12/19/2016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650111-24E0-487D-A93D-2ADA9C1B1F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B6B7A-DD0C-47D2-AB40-2FCF80BF4872}" type="datetime1">
              <a:rPr lang="en-US" smtClean="0"/>
              <a:pPr>
                <a:defRPr/>
              </a:pPr>
              <a:t>12/19/2016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F9E701-1039-4E30-A4DD-EC6D092F20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A7482-F815-4503-A2A0-9B4E6F587FB9}" type="datetime1">
              <a:rPr lang="en-US" smtClean="0"/>
              <a:pPr>
                <a:defRPr/>
              </a:pPr>
              <a:t>12/19/2016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FD85B6-AB61-42AA-AA9B-6499F108AB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FDC3AE-F697-4CAB-BB32-676A80268F9B}" type="datetime1">
              <a:rPr lang="en-US" smtClean="0"/>
              <a:pPr>
                <a:defRPr/>
              </a:pPr>
              <a:t>12/19/2016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E4D34-0B1F-4B9D-BA42-7F457ADCEC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95FAD3-E4D3-41AF-A684-34713DD70029}" type="datetime1">
              <a:rPr lang="en-US" smtClean="0"/>
              <a:pPr>
                <a:defRPr/>
              </a:pPr>
              <a:t>12/19/2016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6C03B4-DDAB-4006-AAC3-F33B0E420C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88E4D-B080-487F-B7C6-C1728A511627}" type="datetime1">
              <a:rPr lang="en-US" smtClean="0"/>
              <a:pPr>
                <a:defRPr/>
              </a:pPr>
              <a:t>12/19/2016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EB4DCF-00E7-4B5E-9DDA-00BC269363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6858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828800"/>
            <a:ext cx="8229600" cy="429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2411DB9-75D0-41F5-ABD3-D260E26E5BCC}" type="datetime1">
              <a:rPr lang="en-US" smtClean="0"/>
              <a:pPr>
                <a:defRPr/>
              </a:pPr>
              <a:t>12/19/2016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A87BF71-DEC3-4FE4-8E61-8936FC1DFA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png"/><Relationship Id="rId5" Type="http://schemas.openxmlformats.org/officeDocument/2006/relationships/oleObject" Target="../embeddings/oleObject3.bin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609600" y="663575"/>
            <a:ext cx="7772400" cy="1470025"/>
          </a:xfrm>
        </p:spPr>
        <p:txBody>
          <a:bodyPr/>
          <a:lstStyle/>
          <a:p>
            <a:pPr defTabSz="474663"/>
            <a:r>
              <a:rPr lang="en-US" sz="4000" b="1" dirty="0" smtClean="0"/>
              <a:t>IS 331 </a:t>
            </a:r>
            <a:br>
              <a:rPr lang="en-US" sz="4000" b="1" dirty="0" smtClean="0"/>
            </a:br>
            <a:r>
              <a:rPr lang="en-US" sz="4000" b="1" dirty="0" smtClean="0"/>
              <a:t>Database Design, Management and Applications</a:t>
            </a: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>
          <a:xfrm>
            <a:off x="1371600" y="2590800"/>
            <a:ext cx="6400800" cy="533400"/>
          </a:xfrm>
        </p:spPr>
        <p:txBody>
          <a:bodyPr/>
          <a:lstStyle/>
          <a:p>
            <a:pPr eaLnBrk="1" hangingPunct="1"/>
            <a:r>
              <a:rPr lang="en-US" sz="2400" b="1" dirty="0" smtClean="0">
                <a:latin typeface="Arial" charset="0"/>
                <a:cs typeface="Arial" charset="0"/>
              </a:rPr>
              <a:t>Dr. Art Hendela</a:t>
            </a:r>
            <a:endParaRPr lang="en-US" sz="2400" b="1" dirty="0" smtClean="0">
              <a:latin typeface="Arial" charset="0"/>
              <a:cs typeface="Arial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 bwMode="auto">
          <a:xfrm>
            <a:off x="762000" y="4572000"/>
            <a:ext cx="7467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askerville Old Face" pitchFamily="18" charset="0"/>
                <a:cs typeface="Arial" charset="0"/>
              </a:rPr>
              <a:t>Database Systems</a:t>
            </a:r>
            <a:r>
              <a:rPr kumimoji="0" lang="en-US" sz="3200" b="1" i="0" u="none" strike="noStrike" kern="1200" cap="none" spc="0" normalizeH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askerville Old Face" pitchFamily="18" charset="0"/>
                <a:cs typeface="Arial" charset="0"/>
              </a:rPr>
              <a:t> – An Intro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askerville Old Face" pitchFamily="18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42E01B-07BF-4B7E-88E3-0FA8BF19FC45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SNEAK PREVIEW </a:t>
            </a:r>
            <a:b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(a.k.a. “Learning Objectives”)</a:t>
            </a:r>
            <a:endParaRPr lang="en-US" b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In today’s class, we will know:</a:t>
            </a:r>
          </a:p>
          <a:p>
            <a:pPr lvl="1">
              <a:lnSpc>
                <a:spcPct val="80000"/>
              </a:lnSpc>
            </a:pP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What is the big deal with database systems?</a:t>
            </a:r>
          </a:p>
          <a:p>
            <a:pPr lvl="1">
              <a:lnSpc>
                <a:spcPct val="80000"/>
              </a:lnSpc>
            </a:pP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Why did Oracle </a:t>
            </a: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and SQL Server succeed</a:t>
            </a: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?</a:t>
            </a:r>
          </a:p>
          <a:p>
            <a:pPr lvl="1">
              <a:lnSpc>
                <a:spcPct val="80000"/>
              </a:lnSpc>
            </a:pP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How to create a database using MS Access</a:t>
            </a: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?</a:t>
            </a:r>
          </a:p>
          <a:p>
            <a:pPr marL="457200" lvl="1" indent="0">
              <a:lnSpc>
                <a:spcPct val="80000"/>
              </a:lnSpc>
              <a:buNone/>
            </a:pPr>
            <a:endParaRPr lang="en-US" altLang="ko-KR" sz="2000" dirty="0">
              <a:latin typeface="Arial" panose="020B0604020202020204" pitchFamily="34" charset="0"/>
              <a:ea typeface="굴림" pitchFamily="112" charset="-127"/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You need to:</a:t>
            </a:r>
          </a:p>
          <a:p>
            <a:pPr lvl="1">
              <a:lnSpc>
                <a:spcPct val="80000"/>
              </a:lnSpc>
            </a:pPr>
            <a:r>
              <a:rPr lang="en-US" altLang="ko-KR" sz="2000" b="1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Define</a:t>
            </a: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 database</a:t>
            </a:r>
          </a:p>
          <a:p>
            <a:pPr lvl="1">
              <a:lnSpc>
                <a:spcPct val="80000"/>
              </a:lnSpc>
            </a:pPr>
            <a:r>
              <a:rPr lang="en-US" altLang="ko-KR" sz="2000" b="1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Define</a:t>
            </a: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 relationship, primary and foreign key, and metadata</a:t>
            </a:r>
          </a:p>
          <a:p>
            <a:pPr lvl="1">
              <a:lnSpc>
                <a:spcPct val="80000"/>
              </a:lnSpc>
            </a:pPr>
            <a:r>
              <a:rPr lang="en-US" altLang="ko-KR" sz="2000" b="1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List </a:t>
            </a: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the three components of a </a:t>
            </a:r>
            <a:r>
              <a:rPr lang="en-US" altLang="ko-KR" sz="2000" i="1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database (page 13)</a:t>
            </a:r>
          </a:p>
          <a:p>
            <a:pPr lvl="1">
              <a:lnSpc>
                <a:spcPct val="80000"/>
              </a:lnSpc>
            </a:pPr>
            <a:r>
              <a:rPr lang="en-US" altLang="ko-KR" sz="2000" b="1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List</a:t>
            </a: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 the components of a </a:t>
            </a:r>
            <a:r>
              <a:rPr lang="en-US" altLang="ko-KR" sz="2000" i="1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database system (page 15, 16)</a:t>
            </a:r>
          </a:p>
          <a:p>
            <a:pPr lvl="1">
              <a:lnSpc>
                <a:spcPct val="80000"/>
              </a:lnSpc>
            </a:pPr>
            <a:r>
              <a:rPr lang="en-US" altLang="ko-KR" sz="2000" b="1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Differentiate</a:t>
            </a: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 between </a:t>
            </a:r>
            <a:r>
              <a:rPr lang="en-US" altLang="ko-KR" sz="2000" i="1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database</a:t>
            </a: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 </a:t>
            </a: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and </a:t>
            </a:r>
            <a:r>
              <a:rPr lang="en-US" altLang="ko-KR" sz="2000" i="1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DBMS</a:t>
            </a:r>
          </a:p>
          <a:p>
            <a:pPr lvl="1">
              <a:lnSpc>
                <a:spcPct val="80000"/>
              </a:lnSpc>
            </a:pPr>
            <a:r>
              <a:rPr lang="en-US" altLang="ko-KR" sz="2000" b="1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Know</a:t>
            </a: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 the benefits of a DBMS</a:t>
            </a:r>
          </a:p>
          <a:p>
            <a:pPr lvl="1">
              <a:lnSpc>
                <a:spcPct val="80000"/>
              </a:lnSpc>
            </a:pPr>
            <a:r>
              <a:rPr lang="en-US" altLang="ko-KR" sz="2000" b="1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Know</a:t>
            </a: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 the phases of a database system lifecycle and activities associated with each phase</a:t>
            </a:r>
          </a:p>
          <a:p>
            <a:pPr lvl="1">
              <a:lnSpc>
                <a:spcPct val="80000"/>
              </a:lnSpc>
            </a:pPr>
            <a:r>
              <a:rPr lang="en-US" altLang="ko-KR" sz="2000" dirty="0" smtClean="0">
                <a:solidFill>
                  <a:srgbClr val="FF0000"/>
                </a:solidFill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Be able to create a database using MS Access</a:t>
            </a:r>
          </a:p>
          <a:p>
            <a:pPr lvl="1">
              <a:lnSpc>
                <a:spcPct val="80000"/>
              </a:lnSpc>
            </a:pPr>
            <a:endParaRPr lang="en-US" altLang="ko-KR" sz="1600" dirty="0" smtClean="0">
              <a:ea typeface="굴림" pitchFamily="112" charset="-127"/>
            </a:endParaRPr>
          </a:p>
          <a:p>
            <a:pPr lvl="2">
              <a:lnSpc>
                <a:spcPct val="80000"/>
              </a:lnSpc>
            </a:pPr>
            <a:endParaRPr lang="en-US" altLang="ko-KR" sz="1600" dirty="0" smtClean="0">
              <a:ea typeface="굴림" pitchFamily="112" charset="-127"/>
            </a:endParaRPr>
          </a:p>
          <a:p>
            <a:pPr>
              <a:lnSpc>
                <a:spcPct val="80000"/>
              </a:lnSpc>
            </a:pPr>
            <a:endParaRPr lang="en-US" altLang="ko-KR" sz="2400" dirty="0" smtClean="0">
              <a:ea typeface="굴림" pitchFamily="112" charset="-127"/>
            </a:endParaRPr>
          </a:p>
          <a:p>
            <a:pPr lvl="1">
              <a:lnSpc>
                <a:spcPct val="80000"/>
              </a:lnSpc>
            </a:pPr>
            <a:endParaRPr lang="en-US" altLang="ko-KR" dirty="0" smtClean="0">
              <a:ea typeface="굴림" pitchFamily="112" charset="-127"/>
            </a:endParaRPr>
          </a:p>
          <a:p>
            <a:pPr lvl="1">
              <a:lnSpc>
                <a:spcPct val="80000"/>
              </a:lnSpc>
            </a:pPr>
            <a:endParaRPr lang="en-US" altLang="ko-KR" dirty="0" smtClean="0">
              <a:ea typeface="굴림" pitchFamily="112" charset="-127"/>
            </a:endParaRPr>
          </a:p>
          <a:p>
            <a:pPr lvl="1">
              <a:lnSpc>
                <a:spcPct val="80000"/>
              </a:lnSpc>
            </a:pPr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Refresh Your Memory…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76200" y="1447800"/>
            <a:ext cx="9067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purpose of a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is to help people track things of interest to them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Data is stored in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tables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, which have rows and columns.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flatfile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database has a single table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relational database will have multiple table.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ach table stores data about a different thing (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entity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Each row in a table stores data about an entity, i.e., an occurrence or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instance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of the thing of interest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 smtClean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Column is an attribute that describes the entity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Refresh Your Memory…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76200" y="1447800"/>
            <a:ext cx="9067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For a database to be better than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file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processing system, it needs to: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Eliminate or limit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redundancy by using only one table for one entity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Address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isolated data storage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problem of one program interfering with another. DO this by establishing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links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between data files (tables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 and defining security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Address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data / structural dependence issue by design a mechanism to enable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self-contained data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description.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Keep track of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how the data is stored so programs do not over read the end of a data record. Numeric data must remain numeric.</a:t>
            </a:r>
            <a:endParaRPr lang="en-US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400" dirty="0" smtClean="0"/>
          </a:p>
          <a:p>
            <a:pPr lvl="1"/>
            <a:endParaRPr lang="en-US" sz="2000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731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 Defined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105835"/>
            <a:ext cx="9144000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/>
              <a:t>A </a:t>
            </a:r>
            <a:r>
              <a:rPr lang="en-US" sz="2400" b="1" dirty="0">
                <a:solidFill>
                  <a:srgbClr val="0099CC"/>
                </a:solidFill>
              </a:rPr>
              <a:t>database</a:t>
            </a:r>
            <a:r>
              <a:rPr lang="en-US" sz="2400" b="1" dirty="0"/>
              <a:t> is a self-describing collection of integrated tables.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3352800" y="2895600"/>
            <a:ext cx="5791201" cy="2228120"/>
            <a:chOff x="3352800" y="2895600"/>
            <a:chExt cx="5791201" cy="2228120"/>
          </a:xfrm>
        </p:grpSpPr>
        <p:sp>
          <p:nvSpPr>
            <p:cNvPr id="5" name="Rectangular Callout 4"/>
            <p:cNvSpPr/>
            <p:nvPr/>
          </p:nvSpPr>
          <p:spPr>
            <a:xfrm>
              <a:off x="6172200" y="2895600"/>
              <a:ext cx="2362200" cy="762000"/>
            </a:xfrm>
            <a:prstGeom prst="wedgeRectCallout">
              <a:avLst>
                <a:gd name="adj1" fmla="val -8076"/>
                <a:gd name="adj2" fmla="val 140909"/>
              </a:avLst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352800" y="4477389"/>
              <a:ext cx="5791201" cy="646331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 smtClean="0"/>
                <a:t>“Integrated” means that there are data that describes</a:t>
              </a:r>
            </a:p>
            <a:p>
              <a:r>
                <a:rPr lang="en-US" dirty="0" smtClean="0"/>
                <a:t>The </a:t>
              </a:r>
              <a:r>
                <a:rPr lang="en-US" b="1" dirty="0" smtClean="0">
                  <a:solidFill>
                    <a:srgbClr val="FF0000"/>
                  </a:solidFill>
                </a:rPr>
                <a:t>relationships</a:t>
              </a:r>
              <a:r>
                <a:rPr lang="en-US" dirty="0" smtClean="0"/>
                <a:t> among tables </a:t>
              </a:r>
              <a:endParaRPr lang="en-US"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838200" y="1676400"/>
            <a:ext cx="5791201" cy="2001981"/>
            <a:chOff x="838200" y="1676400"/>
            <a:chExt cx="5791201" cy="2001981"/>
          </a:xfrm>
        </p:grpSpPr>
        <p:sp>
          <p:nvSpPr>
            <p:cNvPr id="8" name="TextBox 7"/>
            <p:cNvSpPr txBox="1"/>
            <p:nvPr/>
          </p:nvSpPr>
          <p:spPr>
            <a:xfrm>
              <a:off x="838200" y="1676400"/>
              <a:ext cx="5791201" cy="1200329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 smtClean="0"/>
                <a:t>“Self-Describing” means that there are </a:t>
              </a:r>
              <a:r>
                <a:rPr lang="en-US" b="1" dirty="0" smtClean="0">
                  <a:solidFill>
                    <a:srgbClr val="FF0000"/>
                  </a:solidFill>
                </a:rPr>
                <a:t>metadata</a:t>
              </a:r>
              <a:r>
                <a:rPr lang="en-US" dirty="0" smtClean="0"/>
                <a:t> that describes the database </a:t>
              </a:r>
              <a:r>
                <a:rPr lang="en-US" dirty="0" smtClean="0"/>
                <a:t>itself. </a:t>
              </a:r>
              <a:r>
                <a:rPr lang="en-US" dirty="0" smtClean="0"/>
                <a:t>A system table keeps track of things like how many bytes a field uses and the name of the field.</a:t>
              </a:r>
              <a:endParaRPr lang="en-US" dirty="0"/>
            </a:p>
          </p:txBody>
        </p:sp>
        <p:sp>
          <p:nvSpPr>
            <p:cNvPr id="9" name="Rectangular Callout 8"/>
            <p:cNvSpPr/>
            <p:nvPr/>
          </p:nvSpPr>
          <p:spPr>
            <a:xfrm>
              <a:off x="2642755" y="3105834"/>
              <a:ext cx="1905000" cy="572547"/>
            </a:xfrm>
            <a:prstGeom prst="wedgeRectCallout">
              <a:avLst>
                <a:gd name="adj1" fmla="val -9128"/>
                <a:gd name="adj2" fmla="val -94511"/>
              </a:avLst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40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Without </a:t>
            </a:r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Relationships</a:t>
            </a:r>
            <a:endParaRPr lang="en-US" b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309" y="1143000"/>
            <a:ext cx="7726363" cy="546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593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 </a:t>
            </a:r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Relationships</a:t>
            </a:r>
            <a:endParaRPr lang="en-US" b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" y="1066800"/>
            <a:ext cx="7637463" cy="534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92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Relationship Defined</a:t>
            </a:r>
          </a:p>
        </p:txBody>
      </p:sp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228600" y="1371600"/>
            <a:ext cx="8689975" cy="4741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209550" indent="-209550" defTabSz="460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679450" indent="-222250" defTabSz="460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460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460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460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460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460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460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460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buClr>
                <a:srgbClr val="4000A2"/>
              </a:buClr>
              <a:buSzPct val="90000"/>
              <a:buFont typeface="Wingdings" pitchFamily="2" charset="2"/>
              <a:buChar char="§"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an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association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between entities in different entity sets.</a:t>
            </a:r>
          </a:p>
          <a:p>
            <a:pPr lvl="1" eaLnBrk="1" hangingPunct="1">
              <a:buClr>
                <a:srgbClr val="4000A2"/>
              </a:buClr>
              <a:buSzPct val="70000"/>
              <a:buFont typeface="Arial" pitchFamily="34" charset="0"/>
              <a:buChar char="–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is a RELATIONSHIP between entities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u="sng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students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entity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and entities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u="sng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grades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GRADES entity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set, namely each </a:t>
            </a:r>
            <a:r>
              <a:rPr lang="en-US" u="sng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associated with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several </a:t>
            </a:r>
            <a:r>
              <a:rPr lang="en-US" u="sng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grades</a:t>
            </a:r>
          </a:p>
          <a:p>
            <a:pPr eaLnBrk="1" hangingPunct="1">
              <a:buClr>
                <a:srgbClr val="4000A2"/>
              </a:buClr>
              <a:buSzPct val="70000"/>
              <a:buFont typeface="Arial" pitchFamily="34" charset="0"/>
              <a:buChar char="–"/>
            </a:pPr>
            <a:endParaRPr lang="en-US" u="sng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1" hangingPunct="1">
              <a:buClr>
                <a:srgbClr val="4000A2"/>
              </a:buClr>
              <a:buSzPct val="70000"/>
              <a:buFont typeface="Wingdings" pitchFamily="2" charset="2"/>
              <a:buChar char="§"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relationship is implemented through </a:t>
            </a:r>
            <a:r>
              <a:rPr lang="en-US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key – foreign key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pairs (more on this later)</a:t>
            </a:r>
          </a:p>
          <a:p>
            <a:pPr marL="342900" indent="-342900" eaLnBrk="1" hangingPunct="1">
              <a:buClr>
                <a:srgbClr val="4000A2"/>
              </a:buClr>
              <a:buSzPct val="70000"/>
              <a:buFont typeface="Wingdings" pitchFamily="2" charset="2"/>
              <a:buChar char="§"/>
            </a:pP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1" hangingPunct="1">
              <a:buClr>
                <a:srgbClr val="4000A2"/>
              </a:buClr>
              <a:buSzPct val="70000"/>
              <a:buFont typeface="Wingdings" pitchFamily="2" charset="2"/>
              <a:buChar char="§"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links tables together, solving the </a:t>
            </a:r>
            <a:r>
              <a:rPr lang="en-US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isolated data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</a:p>
          <a:p>
            <a:pPr lvl="1" eaLnBrk="1" hangingPunct="1">
              <a:buClr>
                <a:srgbClr val="4000A2"/>
              </a:buClr>
              <a:buSzPct val="70000"/>
              <a:buFont typeface="Arial" pitchFamily="34" charset="0"/>
              <a:buChar char="–"/>
            </a:pPr>
            <a:endParaRPr lang="en-US" u="sng" dirty="0" smtClean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marL="0" indent="0" eaLnBrk="1" hangingPunct="1">
              <a:buClr>
                <a:srgbClr val="4000A2"/>
              </a:buClr>
              <a:buSzPct val="70000"/>
            </a:pPr>
            <a:endParaRPr lang="en-US" u="sng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380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Keys - Revisited</a:t>
            </a:r>
          </a:p>
        </p:txBody>
      </p:sp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228600" y="1371600"/>
            <a:ext cx="8689975" cy="4741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209550" indent="-209550" defTabSz="460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679450" indent="-222250" defTabSz="460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460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460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460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460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460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460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460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indent="-457200" eaLnBrk="1" hangingPunct="1"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n-US" sz="32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3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</a:t>
            </a:r>
            <a:r>
              <a:rPr lang="en-US" sz="3200" dirty="0" smtClean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</a:t>
            </a:r>
            <a:r>
              <a:rPr lang="en-US" sz="3200" dirty="0" smtClean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 column or group of columns that identifies a unique row in a </a:t>
            </a:r>
            <a:r>
              <a:rPr lang="en-US" sz="3200" dirty="0" smtClean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endParaRPr lang="en-US" sz="3200" dirty="0">
              <a:solidFill>
                <a:srgbClr val="08080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 eaLnBrk="1" hangingPunct="1"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n-US" i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Number</a:t>
            </a:r>
            <a:r>
              <a:rPr lang="en-US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the key of the </a:t>
            </a:r>
            <a:r>
              <a:rPr lang="en-US" dirty="0" smtClean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table</a:t>
            </a:r>
            <a:endParaRPr lang="en-US" dirty="0">
              <a:solidFill>
                <a:srgbClr val="08080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 eaLnBrk="1" hangingPunct="1">
              <a:lnSpc>
                <a:spcPct val="90000"/>
              </a:lnSpc>
              <a:buFont typeface="Wingdings" pitchFamily="2" charset="2"/>
              <a:buChar char="§"/>
              <a:defRPr/>
            </a:pPr>
            <a:endParaRPr lang="en-US" sz="2800" dirty="0">
              <a:solidFill>
                <a:srgbClr val="08080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eaLnBrk="1" hangingPunct="1"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n-US" sz="32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foreign key</a:t>
            </a:r>
            <a:r>
              <a:rPr lang="en-US" sz="3200" b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 </a:t>
            </a:r>
            <a:r>
              <a:rPr lang="en-US" sz="3200" u="sng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non-key</a:t>
            </a:r>
            <a:r>
              <a:rPr lang="en-US" sz="32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column or field in one table that links to a primary key in another </a:t>
            </a:r>
            <a:r>
              <a:rPr lang="en-US" sz="3200" dirty="0" smtClean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</a:p>
          <a:p>
            <a:pPr marL="927100" lvl="1" indent="-457200" eaLnBrk="1" hangingPunct="1"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definition, a foreign key involves TWO tables</a:t>
            </a:r>
            <a:endParaRPr lang="en-US" dirty="0">
              <a:solidFill>
                <a:srgbClr val="08080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 eaLnBrk="1" hangingPunct="1"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n-US" i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Number </a:t>
            </a:r>
            <a:r>
              <a:rPr lang="en-US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</a:t>
            </a:r>
            <a:r>
              <a:rPr lang="en-US" i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GRADE</a:t>
            </a:r>
            <a:r>
              <a:rPr lang="en-US" i="1" dirty="0" smtClean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endParaRPr lang="en-US" i="1" dirty="0">
              <a:solidFill>
                <a:srgbClr val="08080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 eaLnBrk="1" hangingPunct="1">
              <a:buClr>
                <a:srgbClr val="4000A2"/>
              </a:buClr>
              <a:buSzPct val="70000"/>
              <a:buFont typeface="Wingdings" pitchFamily="2" charset="2"/>
              <a:buChar char="§"/>
            </a:pPr>
            <a:endParaRPr lang="en-US" sz="3200" u="sng" dirty="0" smtClean="0">
              <a:solidFill>
                <a:srgbClr val="000000"/>
              </a:solidFill>
              <a:latin typeface="+mn-lt"/>
              <a:cs typeface="Calibri" pitchFamily="34" charset="0"/>
            </a:endParaRPr>
          </a:p>
          <a:p>
            <a:pPr marL="457200" indent="-457200" eaLnBrk="1" hangingPunct="1">
              <a:buClr>
                <a:srgbClr val="4000A2"/>
              </a:buClr>
              <a:buSzPct val="70000"/>
              <a:buFont typeface="Wingdings" pitchFamily="2" charset="2"/>
              <a:buChar char="§"/>
            </a:pPr>
            <a:endParaRPr lang="en-US" sz="3200" u="sng" dirty="0">
              <a:solidFill>
                <a:srgbClr val="000000"/>
              </a:solidFill>
              <a:latin typeface="+mn-lt"/>
              <a:cs typeface="Calibri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237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Meta Data – Data About Data</a:t>
            </a:r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241425"/>
            <a:ext cx="3886200" cy="538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52400" y="1676400"/>
            <a:ext cx="20842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This is a table</a:t>
            </a:r>
            <a:endParaRPr lang="en-US" sz="2400" dirty="0"/>
          </a:p>
        </p:txBody>
      </p:sp>
      <p:cxnSp>
        <p:nvCxnSpPr>
          <p:cNvPr id="6" name="Straight Connector 5"/>
          <p:cNvCxnSpPr>
            <a:stCxn id="2" idx="3"/>
          </p:cNvCxnSpPr>
          <p:nvPr/>
        </p:nvCxnSpPr>
        <p:spPr>
          <a:xfrm flipV="1">
            <a:off x="2236625" y="1907232"/>
            <a:ext cx="354175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10393" y="1651153"/>
            <a:ext cx="21643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But it stores </a:t>
            </a:r>
          </a:p>
          <a:p>
            <a:r>
              <a:rPr lang="en-US" sz="2000" dirty="0" smtClean="0"/>
              <a:t>information about</a:t>
            </a:r>
          </a:p>
          <a:p>
            <a:r>
              <a:rPr lang="en-US" sz="2000" dirty="0" smtClean="0"/>
              <a:t>other tables</a:t>
            </a:r>
            <a:endParaRPr lang="en-US" sz="2000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6477000" y="1907231"/>
            <a:ext cx="354175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74" name="Picture 2" descr="http://janefinnis.files.wordpress.com/2009/12/i-love-metadata-badg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5295442"/>
            <a:ext cx="1824792" cy="1368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32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Meta Data in </a:t>
            </a:r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 Server</a:t>
            </a:r>
            <a:endParaRPr lang="en-US" b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19200"/>
            <a:ext cx="7696200" cy="5057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4030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Meta Data in Access</a:t>
            </a:r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752600"/>
            <a:ext cx="6172200" cy="370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44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Meta Data?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228600" y="1371600"/>
            <a:ext cx="8689975" cy="4741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209550" indent="-209550" defTabSz="460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679450" indent="-222250" defTabSz="460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460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460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460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460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460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460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460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indent="-457200" eaLnBrk="1" hangingPunct="1"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do we do if we need to make changes to the format or structure of the database?</a:t>
            </a:r>
          </a:p>
          <a:p>
            <a:pPr marL="457200" indent="-457200" eaLnBrk="1" hangingPunct="1">
              <a:lnSpc>
                <a:spcPct val="90000"/>
              </a:lnSpc>
              <a:buFont typeface="Wingdings" pitchFamily="2" charset="2"/>
              <a:buChar char="§"/>
              <a:defRPr/>
            </a:pPr>
            <a:endParaRPr lang="en-US" i="1" dirty="0">
              <a:solidFill>
                <a:srgbClr val="08080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eaLnBrk="1" hangingPunct="1">
              <a:lnSpc>
                <a:spcPct val="90000"/>
              </a:lnSpc>
              <a:buFont typeface="Wingdings" pitchFamily="2" charset="2"/>
              <a:buChar char="§"/>
              <a:defRPr/>
            </a:pPr>
            <a:endParaRPr lang="en-US" i="1" dirty="0" smtClean="0">
              <a:solidFill>
                <a:srgbClr val="08080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eaLnBrk="1" hangingPunct="1">
              <a:lnSpc>
                <a:spcPct val="90000"/>
              </a:lnSpc>
              <a:buFont typeface="Wingdings" pitchFamily="2" charset="2"/>
              <a:buChar char="§"/>
              <a:defRPr/>
            </a:pPr>
            <a:endParaRPr lang="en-US" i="1" dirty="0">
              <a:solidFill>
                <a:srgbClr val="08080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eaLnBrk="1" hangingPunct="1">
              <a:lnSpc>
                <a:spcPct val="90000"/>
              </a:lnSpc>
              <a:buFont typeface="Wingdings" pitchFamily="2" charset="2"/>
              <a:buChar char="§"/>
              <a:defRPr/>
            </a:pPr>
            <a:endParaRPr lang="en-US" i="1" dirty="0" smtClean="0">
              <a:solidFill>
                <a:srgbClr val="08080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eaLnBrk="1" hangingPunct="1">
              <a:lnSpc>
                <a:spcPct val="90000"/>
              </a:lnSpc>
              <a:buFont typeface="Wingdings" pitchFamily="2" charset="2"/>
              <a:buChar char="§"/>
              <a:defRPr/>
            </a:pPr>
            <a:endParaRPr lang="en-US" i="1" dirty="0">
              <a:solidFill>
                <a:srgbClr val="08080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27100" lvl="1" indent="-457200" eaLnBrk="1" hangingPunct="1">
              <a:lnSpc>
                <a:spcPct val="90000"/>
              </a:lnSpc>
              <a:buFont typeface="Wingdings" pitchFamily="2" charset="2"/>
              <a:buChar char="§"/>
              <a:defRPr/>
            </a:pPr>
            <a:endParaRPr lang="en-US" i="1" dirty="0" smtClean="0">
              <a:solidFill>
                <a:srgbClr val="08080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27100" lvl="1" indent="-457200" eaLnBrk="1" hangingPunct="1">
              <a:lnSpc>
                <a:spcPct val="90000"/>
              </a:lnSpc>
              <a:spcBef>
                <a:spcPts val="1200"/>
              </a:spcBef>
              <a:buFont typeface="Wingdings" pitchFamily="2" charset="2"/>
              <a:buChar char="§"/>
              <a:defRPr/>
            </a:pPr>
            <a:r>
              <a:rPr lang="en-US" i="1" dirty="0" smtClean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Split up the “address” field?</a:t>
            </a:r>
          </a:p>
          <a:p>
            <a:pPr marL="927100" lvl="1" indent="-457200" eaLnBrk="1" hangingPunct="1"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n-US" i="1" dirty="0" smtClean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an “age” column?</a:t>
            </a:r>
          </a:p>
          <a:p>
            <a:pPr marL="927100" lvl="1" indent="-457200" eaLnBrk="1" hangingPunct="1">
              <a:lnSpc>
                <a:spcPct val="90000"/>
              </a:lnSpc>
              <a:buFont typeface="Wingdings" pitchFamily="2" charset="2"/>
              <a:buChar char="§"/>
              <a:defRPr/>
            </a:pPr>
            <a:endParaRPr lang="en-US" i="1" dirty="0" smtClean="0">
              <a:solidFill>
                <a:srgbClr val="08080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eaLnBrk="1" hangingPunct="1"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APPLICATION </a:t>
            </a:r>
            <a:r>
              <a:rPr lang="en-US" dirty="0" smtClean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needs to be involved!</a:t>
            </a:r>
            <a:endParaRPr lang="en-US" i="1" dirty="0">
              <a:solidFill>
                <a:srgbClr val="08080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eaLnBrk="1" hangingPunct="1">
              <a:lnSpc>
                <a:spcPct val="90000"/>
              </a:lnSpc>
              <a:buFont typeface="Wingdings" pitchFamily="2" charset="2"/>
              <a:buChar char="§"/>
              <a:defRPr/>
            </a:pPr>
            <a:endParaRPr lang="en-US" sz="2000" i="1" dirty="0">
              <a:solidFill>
                <a:srgbClr val="08080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  <a:p>
            <a:pPr marL="914400" lvl="1" indent="-457200" eaLnBrk="1" hangingPunct="1">
              <a:buClr>
                <a:srgbClr val="4000A2"/>
              </a:buClr>
              <a:buSzPct val="70000"/>
              <a:buFont typeface="Wingdings" pitchFamily="2" charset="2"/>
              <a:buChar char="§"/>
            </a:pPr>
            <a:endParaRPr lang="en-US" sz="2800" u="sng" dirty="0" smtClean="0">
              <a:solidFill>
                <a:srgbClr val="000000"/>
              </a:solidFill>
              <a:latin typeface="+mn-lt"/>
              <a:cs typeface="Calibri" pitchFamily="34" charset="0"/>
            </a:endParaRPr>
          </a:p>
          <a:p>
            <a:pPr marL="457200" indent="-457200" eaLnBrk="1" hangingPunct="1">
              <a:buClr>
                <a:srgbClr val="4000A2"/>
              </a:buClr>
              <a:buSzPct val="70000"/>
              <a:buFont typeface="Wingdings" pitchFamily="2" charset="2"/>
              <a:buChar char="§"/>
            </a:pPr>
            <a:endParaRPr lang="en-US" sz="2800" u="sng" dirty="0">
              <a:solidFill>
                <a:srgbClr val="000000"/>
              </a:solidFill>
              <a:latin typeface="+mn-lt"/>
              <a:cs typeface="Calibri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881092"/>
              </p:ext>
            </p:extLst>
          </p:nvPr>
        </p:nvGraphicFramePr>
        <p:xfrm>
          <a:off x="1371600" y="2362200"/>
          <a:ext cx="6705599" cy="1640206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1496871"/>
                <a:gridCol w="1551129"/>
                <a:gridCol w="2546915"/>
                <a:gridCol w="1110684"/>
              </a:tblGrid>
              <a:tr h="35656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solidFill>
                            <a:srgbClr val="FFFF00"/>
                          </a:solidFill>
                          <a:effectLst/>
                        </a:rPr>
                        <a:t>Customer ID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solidFill>
                            <a:srgbClr val="FFFF00"/>
                          </a:solidFill>
                          <a:effectLst/>
                        </a:rPr>
                        <a:t>Customer Name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solidFill>
                            <a:srgbClr val="FFFF00"/>
                          </a:solidFill>
                          <a:effectLst/>
                        </a:rPr>
                        <a:t>Customer Address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solidFill>
                            <a:srgbClr val="FFFF00"/>
                          </a:solidFill>
                          <a:effectLst/>
                        </a:rPr>
                        <a:t>Phone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2091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c1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Bill Letterman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10 Henry </a:t>
                      </a:r>
                      <a:r>
                        <a:rPr lang="en-US" sz="1400" b="1" u="none" strike="noStrike" dirty="0" err="1">
                          <a:effectLst/>
                        </a:rPr>
                        <a:t>Street,Union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7324525256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2091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c2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Ronald Bieber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7 Brown Ave, Edgewater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7329376392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2091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c3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Patty Lawrence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23 Bridge Ave, Bridgewater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9732525235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2091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c4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Joe Ridings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34 </a:t>
                      </a:r>
                      <a:r>
                        <a:rPr lang="en-US" sz="1400" b="1" u="none" strike="noStrike" dirty="0" err="1">
                          <a:effectLst/>
                        </a:rPr>
                        <a:t>Baybridge</a:t>
                      </a:r>
                      <a:r>
                        <a:rPr lang="en-US" sz="1400" b="1" u="none" strike="noStrike" dirty="0">
                          <a:effectLst/>
                        </a:rPr>
                        <a:t>, Brooklyn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9173452524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40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Database: Summary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86855" y="1828800"/>
            <a:ext cx="5756945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111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 != Database System</a:t>
            </a:r>
          </a:p>
        </p:txBody>
      </p:sp>
      <p:pic>
        <p:nvPicPr>
          <p:cNvPr id="4" name="Picture 4" descr="C:\Users\Auer.WWU\Auer-Projects\Kroenke-Auer-Projects\Kroenke-Auer-DBP-e11\DBP-e11-Supplements\Images\Chapter01\Fig1-6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71600"/>
            <a:ext cx="8270875" cy="2392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81000" y="4267200"/>
            <a:ext cx="8610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srgbClr val="080808"/>
                </a:solidFill>
              </a:rPr>
              <a:t>The DBMS and the database are two different things:</a:t>
            </a:r>
          </a:p>
          <a:p>
            <a:pPr marL="914400" lvl="1" indent="-457200" eaLnBrk="1" hangingPunct="1">
              <a:buFont typeface="Wingdings" pitchFamily="2" charset="2"/>
              <a:buChar char="Ø"/>
              <a:defRPr/>
            </a:pPr>
            <a:r>
              <a:rPr lang="en-US" sz="2400" dirty="0">
                <a:solidFill>
                  <a:srgbClr val="080808"/>
                </a:solidFill>
              </a:rPr>
              <a:t>A DBMS is a software </a:t>
            </a:r>
            <a:r>
              <a:rPr lang="en-US" sz="2400" dirty="0" smtClean="0">
                <a:solidFill>
                  <a:srgbClr val="080808"/>
                </a:solidFill>
              </a:rPr>
              <a:t>program</a:t>
            </a:r>
          </a:p>
          <a:p>
            <a:pPr marL="914400" lvl="1" indent="-457200" eaLnBrk="1" hangingPunct="1">
              <a:buFont typeface="Wingdings" pitchFamily="2" charset="2"/>
              <a:buChar char="Ø"/>
              <a:defRPr/>
            </a:pPr>
            <a:r>
              <a:rPr lang="en-US" sz="2400" dirty="0" smtClean="0">
                <a:solidFill>
                  <a:srgbClr val="080808"/>
                </a:solidFill>
              </a:rPr>
              <a:t>A </a:t>
            </a:r>
            <a:r>
              <a:rPr lang="en-US" sz="2400" dirty="0">
                <a:solidFill>
                  <a:srgbClr val="080808"/>
                </a:solidFill>
              </a:rPr>
              <a:t>database is a collection of tables, relationships, and metadata</a:t>
            </a:r>
          </a:p>
        </p:txBody>
      </p:sp>
    </p:spTree>
    <p:extLst>
      <p:ext uri="{BB962C8B-B14F-4D97-AF65-F5344CB8AC3E}">
        <p14:creationId xmlns:p14="http://schemas.microsoft.com/office/powerpoint/2010/main" val="2345791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 != Database System</a:t>
            </a:r>
          </a:p>
        </p:txBody>
      </p:sp>
      <p:sp>
        <p:nvSpPr>
          <p:cNvPr id="5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304800" y="1447800"/>
            <a:ext cx="86868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	An organized collection of logically related data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Database </a:t>
            </a:r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Management Systems (DBMS):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400" i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package to facilitate the creation and maintenance of a </a:t>
            </a:r>
            <a:r>
              <a:rPr lang="en-US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Database </a:t>
            </a:r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system: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computerized record-keeping system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, containing </a:t>
            </a:r>
            <a:r>
              <a:rPr lang="en-US" sz="2400" i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i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DBMS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as well as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other components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Four components: Users, Software, Hardware, Data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What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do we build: Database, DBMS, or database system?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814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 != Database System</a:t>
            </a:r>
          </a:p>
        </p:txBody>
      </p:sp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2667000" y="4953000"/>
            <a:ext cx="1447800" cy="1219200"/>
          </a:xfrm>
          <a:prstGeom prst="can">
            <a:avLst>
              <a:gd name="adj" fmla="val 25000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777836" y="5486400"/>
            <a:ext cx="12607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80808"/>
                </a:solidFill>
              </a:rPr>
              <a:t>Database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414155" y="3733800"/>
            <a:ext cx="1905000" cy="369332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DBMS</a:t>
            </a:r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3352800" y="41910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3429000" y="4419600"/>
            <a:ext cx="1676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“How” to get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752600" y="2590800"/>
            <a:ext cx="3352800" cy="369332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/>
              <a:t>Application Programs</a:t>
            </a:r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>
            <a:off x="3352800" y="3048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3429000" y="3276600"/>
            <a:ext cx="1676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“What” to get</a:t>
            </a:r>
          </a:p>
        </p:txBody>
      </p:sp>
      <p:sp>
        <p:nvSpPr>
          <p:cNvPr id="13" name="Text Box 16"/>
          <p:cNvSpPr txBox="1">
            <a:spLocks noChangeArrowheads="1"/>
          </p:cNvSpPr>
          <p:nvPr/>
        </p:nvSpPr>
        <p:spPr bwMode="auto">
          <a:xfrm>
            <a:off x="6400800" y="1676400"/>
            <a:ext cx="152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chemeClr val="tx2"/>
                </a:solidFill>
              </a:rPr>
              <a:t>End users</a:t>
            </a:r>
          </a:p>
        </p:txBody>
      </p:sp>
      <p:sp>
        <p:nvSpPr>
          <p:cNvPr id="14" name="Oval 17"/>
          <p:cNvSpPr>
            <a:spLocks noChangeArrowheads="1"/>
          </p:cNvSpPr>
          <p:nvPr/>
        </p:nvSpPr>
        <p:spPr bwMode="auto">
          <a:xfrm>
            <a:off x="6248400" y="1676400"/>
            <a:ext cx="1752600" cy="457200"/>
          </a:xfrm>
          <a:prstGeom prst="ellips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Line 18"/>
          <p:cNvSpPr>
            <a:spLocks noChangeShapeType="1"/>
          </p:cNvSpPr>
          <p:nvPr/>
        </p:nvSpPr>
        <p:spPr bwMode="auto">
          <a:xfrm flipH="1">
            <a:off x="3352800" y="1981200"/>
            <a:ext cx="2971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" name="Text Box 19"/>
          <p:cNvSpPr txBox="1">
            <a:spLocks noChangeArrowheads="1"/>
          </p:cNvSpPr>
          <p:nvPr/>
        </p:nvSpPr>
        <p:spPr bwMode="auto">
          <a:xfrm>
            <a:off x="4572000" y="1828800"/>
            <a:ext cx="1676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interact</a:t>
            </a:r>
          </a:p>
        </p:txBody>
      </p:sp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6019800" y="2514600"/>
            <a:ext cx="2133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>
                <a:solidFill>
                  <a:schemeClr val="tx2"/>
                </a:solidFill>
              </a:rPr>
              <a:t>Application Programmers</a:t>
            </a:r>
          </a:p>
        </p:txBody>
      </p:sp>
      <p:sp>
        <p:nvSpPr>
          <p:cNvPr id="18" name="Oval 21"/>
          <p:cNvSpPr>
            <a:spLocks noChangeArrowheads="1"/>
          </p:cNvSpPr>
          <p:nvPr/>
        </p:nvSpPr>
        <p:spPr bwMode="auto">
          <a:xfrm>
            <a:off x="6172200" y="2514600"/>
            <a:ext cx="1905000" cy="838200"/>
          </a:xfrm>
          <a:prstGeom prst="ellips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6172200" y="3657600"/>
            <a:ext cx="2133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>
                <a:solidFill>
                  <a:schemeClr val="tx2"/>
                </a:solidFill>
              </a:rPr>
              <a:t>Database Administrators</a:t>
            </a:r>
          </a:p>
        </p:txBody>
      </p:sp>
      <p:sp>
        <p:nvSpPr>
          <p:cNvPr id="20" name="Oval 23"/>
          <p:cNvSpPr>
            <a:spLocks noChangeArrowheads="1"/>
          </p:cNvSpPr>
          <p:nvPr/>
        </p:nvSpPr>
        <p:spPr bwMode="auto">
          <a:xfrm>
            <a:off x="6172200" y="3657600"/>
            <a:ext cx="2133600" cy="762000"/>
          </a:xfrm>
          <a:prstGeom prst="ellips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Text Box 24"/>
          <p:cNvSpPr txBox="1">
            <a:spLocks noChangeArrowheads="1"/>
          </p:cNvSpPr>
          <p:nvPr/>
        </p:nvSpPr>
        <p:spPr bwMode="auto">
          <a:xfrm>
            <a:off x="6629400" y="5029200"/>
            <a:ext cx="1981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chemeClr val="tx2"/>
                </a:solidFill>
              </a:rPr>
              <a:t>Database Designers</a:t>
            </a:r>
          </a:p>
        </p:txBody>
      </p:sp>
      <p:sp>
        <p:nvSpPr>
          <p:cNvPr id="22" name="Oval 25"/>
          <p:cNvSpPr>
            <a:spLocks noChangeArrowheads="1"/>
          </p:cNvSpPr>
          <p:nvPr/>
        </p:nvSpPr>
        <p:spPr bwMode="auto">
          <a:xfrm>
            <a:off x="6324600" y="5029200"/>
            <a:ext cx="1981200" cy="762000"/>
          </a:xfrm>
          <a:prstGeom prst="ellips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28"/>
          <p:cNvSpPr>
            <a:spLocks noChangeShapeType="1"/>
          </p:cNvSpPr>
          <p:nvPr/>
        </p:nvSpPr>
        <p:spPr bwMode="auto">
          <a:xfrm flipH="1">
            <a:off x="5105400" y="2895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" name="Text Box 29"/>
          <p:cNvSpPr txBox="1">
            <a:spLocks noChangeArrowheads="1"/>
          </p:cNvSpPr>
          <p:nvPr/>
        </p:nvSpPr>
        <p:spPr bwMode="auto">
          <a:xfrm>
            <a:off x="5029200" y="2971800"/>
            <a:ext cx="1676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  develop</a:t>
            </a:r>
          </a:p>
        </p:txBody>
      </p:sp>
      <p:sp>
        <p:nvSpPr>
          <p:cNvPr id="25" name="Line 30"/>
          <p:cNvSpPr>
            <a:spLocks noChangeShapeType="1"/>
          </p:cNvSpPr>
          <p:nvPr/>
        </p:nvSpPr>
        <p:spPr bwMode="auto">
          <a:xfrm flipH="1">
            <a:off x="4343400" y="40386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" name="Text Box 31"/>
          <p:cNvSpPr txBox="1">
            <a:spLocks noChangeArrowheads="1"/>
          </p:cNvSpPr>
          <p:nvPr/>
        </p:nvSpPr>
        <p:spPr bwMode="auto">
          <a:xfrm>
            <a:off x="5181600" y="4038600"/>
            <a:ext cx="1676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maintain</a:t>
            </a:r>
          </a:p>
        </p:txBody>
      </p:sp>
      <p:sp>
        <p:nvSpPr>
          <p:cNvPr id="27" name="Text Box 32"/>
          <p:cNvSpPr txBox="1">
            <a:spLocks noChangeArrowheads="1"/>
          </p:cNvSpPr>
          <p:nvPr/>
        </p:nvSpPr>
        <p:spPr bwMode="auto">
          <a:xfrm>
            <a:off x="4724400" y="5334000"/>
            <a:ext cx="1676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design</a:t>
            </a:r>
          </a:p>
        </p:txBody>
      </p:sp>
      <p:sp>
        <p:nvSpPr>
          <p:cNvPr id="28" name="Line 34"/>
          <p:cNvSpPr>
            <a:spLocks noChangeShapeType="1"/>
          </p:cNvSpPr>
          <p:nvPr/>
        </p:nvSpPr>
        <p:spPr bwMode="auto">
          <a:xfrm flipH="1">
            <a:off x="4114800" y="54102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" name="Rectangle 35"/>
          <p:cNvSpPr>
            <a:spLocks noChangeArrowheads="1"/>
          </p:cNvSpPr>
          <p:nvPr/>
        </p:nvSpPr>
        <p:spPr bwMode="auto">
          <a:xfrm>
            <a:off x="1676400" y="2209800"/>
            <a:ext cx="3505200" cy="213360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Text Box 36"/>
          <p:cNvSpPr txBox="1">
            <a:spLocks noChangeArrowheads="1"/>
          </p:cNvSpPr>
          <p:nvPr/>
        </p:nvSpPr>
        <p:spPr bwMode="auto">
          <a:xfrm>
            <a:off x="990600" y="18288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i="1"/>
              <a:t>Software</a:t>
            </a:r>
          </a:p>
        </p:txBody>
      </p:sp>
      <p:sp>
        <p:nvSpPr>
          <p:cNvPr id="31" name="Rectangle 37"/>
          <p:cNvSpPr>
            <a:spLocks noChangeArrowheads="1"/>
          </p:cNvSpPr>
          <p:nvPr/>
        </p:nvSpPr>
        <p:spPr bwMode="auto">
          <a:xfrm>
            <a:off x="5715000" y="1600200"/>
            <a:ext cx="2667000" cy="4343400"/>
          </a:xfrm>
          <a:prstGeom prst="rect">
            <a:avLst/>
          </a:prstGeom>
          <a:noFill/>
          <a:ln w="19050">
            <a:solidFill>
              <a:schemeClr val="tx2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Text Box 38"/>
          <p:cNvSpPr txBox="1">
            <a:spLocks noChangeArrowheads="1"/>
          </p:cNvSpPr>
          <p:nvPr/>
        </p:nvSpPr>
        <p:spPr bwMode="auto">
          <a:xfrm>
            <a:off x="5715000" y="1230868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ts val="1800"/>
              </a:spcBef>
            </a:pPr>
            <a:r>
              <a:rPr lang="en-US" i="1" dirty="0">
                <a:solidFill>
                  <a:schemeClr val="tx2"/>
                </a:solidFill>
              </a:rPr>
              <a:t>Users</a:t>
            </a:r>
          </a:p>
        </p:txBody>
      </p:sp>
      <p:sp>
        <p:nvSpPr>
          <p:cNvPr id="33" name="Rectangle 39"/>
          <p:cNvSpPr>
            <a:spLocks noChangeArrowheads="1"/>
          </p:cNvSpPr>
          <p:nvPr/>
        </p:nvSpPr>
        <p:spPr bwMode="auto">
          <a:xfrm>
            <a:off x="1676400" y="4876800"/>
            <a:ext cx="2590800" cy="1371600"/>
          </a:xfrm>
          <a:prstGeom prst="rect">
            <a:avLst/>
          </a:prstGeom>
          <a:noFill/>
          <a:ln w="19050">
            <a:solidFill>
              <a:srgbClr val="080808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Text Box 40"/>
          <p:cNvSpPr txBox="1">
            <a:spLocks noChangeArrowheads="1"/>
          </p:cNvSpPr>
          <p:nvPr/>
        </p:nvSpPr>
        <p:spPr bwMode="auto">
          <a:xfrm>
            <a:off x="762000" y="44958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i="1">
                <a:solidFill>
                  <a:srgbClr val="080808"/>
                </a:solidFill>
              </a:rPr>
              <a:t>Data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838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utoUpdateAnimBg="0"/>
      <p:bldP spid="31" grpId="0" animBg="1"/>
      <p:bldP spid="32" grpId="0" autoUpdateAnimBg="0"/>
      <p:bldP spid="33" grpId="0" animBg="1"/>
      <p:bldP spid="3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Oracle, DB2, SQL Server, etc…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35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155864" y="1295400"/>
            <a:ext cx="86868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These are popular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DBMS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systems</a:t>
            </a:r>
          </a:p>
          <a:p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For your future career, I strongly recommend that you become familiar with at least one of the above</a:t>
            </a:r>
          </a:p>
          <a:p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" y="4953000"/>
            <a:ext cx="8001000" cy="169277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/>
              <a:t>“Oracle is </a:t>
            </a:r>
            <a:r>
              <a:rPr lang="en-US" dirty="0"/>
              <a:t>#1 in worldwide RDBMS software revenue </a:t>
            </a:r>
            <a:r>
              <a:rPr lang="en-US" dirty="0" smtClean="0"/>
              <a:t>share. It</a:t>
            </a:r>
            <a:endParaRPr lang="en-US" dirty="0"/>
          </a:p>
          <a:p>
            <a:r>
              <a:rPr lang="en-US" dirty="0" smtClean="0"/>
              <a:t>holds </a:t>
            </a:r>
            <a:r>
              <a:rPr lang="en-US" dirty="0"/>
              <a:t>more revenue share than its seven closest competitors </a:t>
            </a:r>
            <a:r>
              <a:rPr lang="en-US" dirty="0" smtClean="0"/>
              <a:t>combined, and grew </a:t>
            </a:r>
            <a:r>
              <a:rPr lang="en-US" dirty="0"/>
              <a:t>at 18.0 percent, exceeding both the industry average (16.3 percent) and the growth rates of its closest competitors</a:t>
            </a:r>
            <a:r>
              <a:rPr lang="en-US" dirty="0" smtClean="0"/>
              <a:t>.”</a:t>
            </a:r>
            <a:r>
              <a:rPr lang="en-US" dirty="0"/>
              <a:t> *</a:t>
            </a:r>
          </a:p>
          <a:p>
            <a:r>
              <a:rPr lang="en-US" sz="1600" dirty="0"/>
              <a:t> </a:t>
            </a:r>
          </a:p>
          <a:p>
            <a:r>
              <a:rPr lang="en-US" sz="1200" dirty="0"/>
              <a:t>(*) Source: </a:t>
            </a:r>
            <a:r>
              <a:rPr lang="en-US" sz="1200" i="1" dirty="0"/>
              <a:t>Market Share: All Software Markets, Worldwide 2011</a:t>
            </a:r>
            <a:r>
              <a:rPr lang="en-US" sz="1200" dirty="0"/>
              <a:t> </a:t>
            </a:r>
            <a:r>
              <a:rPr lang="en-US" sz="1200" dirty="0" smtClean="0"/>
              <a:t>- </a:t>
            </a:r>
            <a:r>
              <a:rPr lang="en-US" sz="1200" dirty="0"/>
              <a:t>March 29, 2012</a:t>
            </a:r>
          </a:p>
        </p:txBody>
      </p:sp>
      <p:graphicFrame>
        <p:nvGraphicFramePr>
          <p:cNvPr id="36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4889742"/>
              </p:ext>
            </p:extLst>
          </p:nvPr>
        </p:nvGraphicFramePr>
        <p:xfrm>
          <a:off x="3325091" y="3200400"/>
          <a:ext cx="48006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Photo Editor Photo" r:id="rId3" imgW="6001588" imgH="2000000" progId="">
                  <p:embed/>
                </p:oleObj>
              </mc:Choice>
              <mc:Fallback>
                <p:oleObj name="Photo Editor Photo" r:id="rId3" imgW="6001588" imgH="2000000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5091" y="3200400"/>
                        <a:ext cx="4800600" cy="16002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8630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is Oracle Successful?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35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304800" y="1447800"/>
            <a:ext cx="86868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What are some of the benefits of a DBMS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Security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 can define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who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access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to a very detailed level</a:t>
            </a:r>
          </a:p>
          <a:p>
            <a:pPr lvl="2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E.g.: </a:t>
            </a:r>
            <a:r>
              <a:rPr lang="en-US" u="sng" dirty="0" smtClean="0">
                <a:latin typeface="Arial" panose="020B0604020202020204" pitchFamily="34" charset="0"/>
                <a:cs typeface="Arial" panose="020B0604020202020204" pitchFamily="34" charset="0"/>
              </a:rPr>
              <a:t>Sales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can only view customers </a:t>
            </a:r>
            <a:r>
              <a:rPr lang="en-US" u="sng" dirty="0" smtClean="0">
                <a:latin typeface="Arial" panose="020B0604020202020204" pitchFamily="34" charset="0"/>
                <a:cs typeface="Arial" panose="020B0604020202020204" pitchFamily="34" charset="0"/>
              </a:rPr>
              <a:t>without a signing date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i.e., “leads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Integrity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 can define specific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integrity constraints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on attributes values</a:t>
            </a:r>
          </a:p>
          <a:p>
            <a:pPr lvl="2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E.g.: the value of customer age must be integer, positive, and less than 150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 Ad-hoc query = no more waiting!</a:t>
            </a:r>
          </a:p>
          <a:p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2637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 Types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1600200"/>
            <a:ext cx="8401050" cy="309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422564" y="3657600"/>
            <a:ext cx="7696200" cy="96202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4343400" y="4572000"/>
            <a:ext cx="0" cy="638175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81200" y="5210175"/>
            <a:ext cx="478541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 smtClean="0"/>
              <a:t>“Enterprise Systems” is a better characterization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15885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Tier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pic>
        <p:nvPicPr>
          <p:cNvPr id="8" name="Picture 4" descr="Noname.gif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43891" y="1295400"/>
            <a:ext cx="6805612" cy="4268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1143000" y="5650467"/>
            <a:ext cx="74349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Typical Structure of an internal / back-office database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07878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Three Tier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204661" y="6012873"/>
            <a:ext cx="74846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Typical Structure of an external / front-office database</a:t>
            </a:r>
            <a:endParaRPr lang="en-US" sz="2400" dirty="0"/>
          </a:p>
        </p:txBody>
      </p:sp>
      <p:pic>
        <p:nvPicPr>
          <p:cNvPr id="6" name="Picture 4" descr="Noname.gif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295400"/>
            <a:ext cx="7150737" cy="4539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5271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Components of a Database System: Microsoft Access</a:t>
            </a:r>
          </a:p>
        </p:txBody>
      </p:sp>
      <p:graphicFrame>
        <p:nvGraphicFramePr>
          <p:cNvPr id="21508" name="Object 4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82281059"/>
              </p:ext>
            </p:extLst>
          </p:nvPr>
        </p:nvGraphicFramePr>
        <p:xfrm>
          <a:off x="685800" y="1447800"/>
          <a:ext cx="7696200" cy="186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Photo Editor Photo" r:id="rId3" imgW="5923810" imgH="1438095" progId="">
                  <p:embed/>
                </p:oleObj>
              </mc:Choice>
              <mc:Fallback>
                <p:oleObj name="Photo Editor Photo" r:id="rId3" imgW="5923810" imgH="1438095" progId="">
                  <p:embed/>
                  <p:pic>
                    <p:nvPicPr>
                      <p:cNvPr id="0" name="Picture 3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447800"/>
                        <a:ext cx="7696200" cy="186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19903812"/>
              </p:ext>
            </p:extLst>
          </p:nvPr>
        </p:nvGraphicFramePr>
        <p:xfrm>
          <a:off x="2362200" y="3505200"/>
          <a:ext cx="4343400" cy="235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Photo Editor Photo" r:id="rId5" imgW="5830114" imgH="3161905" progId="">
                  <p:embed/>
                </p:oleObj>
              </mc:Choice>
              <mc:Fallback>
                <p:oleObj name="Photo Editor Photo" r:id="rId5" imgW="5830114" imgH="3161905" progId="">
                  <p:embed/>
                  <p:pic>
                    <p:nvPicPr>
                      <p:cNvPr id="0" name="Picture 3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505200"/>
                        <a:ext cx="4343400" cy="235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0101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0391"/>
            <a:ext cx="8229600" cy="990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Microsoft Access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297363"/>
          </a:xfrm>
        </p:spPr>
        <p:txBody>
          <a:bodyPr/>
          <a:lstStyle/>
          <a:p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Microsoft Access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a low-end product intended for individual users and small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workgroups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MS Access tries to hide much of the underlying database technology from the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good strategy for beginners, but not for database professionals</a:t>
            </a:r>
          </a:p>
          <a:p>
            <a:pPr marL="0" indent="0">
              <a:buNone/>
            </a:pPr>
            <a:endParaRPr 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MS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Access is discussed in detail in Appendix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A (See Moodle board for link)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918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0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13855"/>
            <a:ext cx="8229600" cy="990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MS Access in Detail</a:t>
            </a:r>
          </a:p>
        </p:txBody>
      </p:sp>
      <p:graphicFrame>
        <p:nvGraphicFramePr>
          <p:cNvPr id="26629" name="Object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674081"/>
              </p:ext>
            </p:extLst>
          </p:nvPr>
        </p:nvGraphicFramePr>
        <p:xfrm>
          <a:off x="533400" y="1447800"/>
          <a:ext cx="8153400" cy="373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name="Photo Editor Photo" r:id="rId3" imgW="7504762" imgH="3438095" progId="">
                  <p:embed/>
                </p:oleObj>
              </mc:Choice>
              <mc:Fallback>
                <p:oleObj name="Photo Editor Photo" r:id="rId3" imgW="7504762" imgH="3438095" progId="">
                  <p:embed/>
                  <p:pic>
                    <p:nvPicPr>
                      <p:cNvPr id="0" name="Picture 1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447800"/>
                        <a:ext cx="8153400" cy="3735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258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3C9BE43-38B4-4798-9724-18DF8ABD40C4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76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Systems Development Life Cycle</a:t>
            </a:r>
          </a:p>
        </p:txBody>
      </p:sp>
      <p:grpSp>
        <p:nvGrpSpPr>
          <p:cNvPr id="36868" name="Group 3"/>
          <p:cNvGrpSpPr>
            <a:grpSpLocks/>
          </p:cNvGrpSpPr>
          <p:nvPr/>
        </p:nvGrpSpPr>
        <p:grpSpPr bwMode="auto">
          <a:xfrm>
            <a:off x="457200" y="1676400"/>
            <a:ext cx="8458200" cy="4114800"/>
            <a:chOff x="1008" y="1392"/>
            <a:chExt cx="4608" cy="2256"/>
          </a:xfrm>
        </p:grpSpPr>
        <p:sp>
          <p:nvSpPr>
            <p:cNvPr id="36872" name="Rectangle 4"/>
            <p:cNvSpPr>
              <a:spLocks noChangeArrowheads="1"/>
            </p:cNvSpPr>
            <p:nvPr/>
          </p:nvSpPr>
          <p:spPr bwMode="auto">
            <a:xfrm>
              <a:off x="1008" y="1392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latin typeface="Arial Narrow" pitchFamily="34" charset="0"/>
                </a:rPr>
                <a:t>Planning</a:t>
              </a:r>
            </a:p>
          </p:txBody>
        </p:sp>
        <p:sp>
          <p:nvSpPr>
            <p:cNvPr id="36873" name="Rectangle 5"/>
            <p:cNvSpPr>
              <a:spLocks noChangeArrowheads="1"/>
            </p:cNvSpPr>
            <p:nvPr/>
          </p:nvSpPr>
          <p:spPr bwMode="auto">
            <a:xfrm>
              <a:off x="1824" y="1776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 dirty="0" smtClean="0">
                  <a:solidFill>
                    <a:srgbClr val="FFFF00"/>
                  </a:solidFill>
                  <a:latin typeface="Arial Narrow" pitchFamily="34" charset="0"/>
                </a:rPr>
                <a:t>Conceptual Design</a:t>
              </a:r>
              <a:endParaRPr lang="en-US" b="1" dirty="0">
                <a:solidFill>
                  <a:srgbClr val="FFFF00"/>
                </a:solidFill>
                <a:latin typeface="Arial Narrow" pitchFamily="34" charset="0"/>
              </a:endParaRPr>
            </a:p>
          </p:txBody>
        </p:sp>
        <p:sp>
          <p:nvSpPr>
            <p:cNvPr id="36874" name="Rectangle 6"/>
            <p:cNvSpPr>
              <a:spLocks noChangeArrowheads="1"/>
            </p:cNvSpPr>
            <p:nvPr/>
          </p:nvSpPr>
          <p:spPr bwMode="auto">
            <a:xfrm>
              <a:off x="3168" y="2592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latin typeface="Arial Narrow" pitchFamily="34" charset="0"/>
                </a:rPr>
                <a:t>Physical Design</a:t>
              </a:r>
            </a:p>
          </p:txBody>
        </p:sp>
        <p:sp>
          <p:nvSpPr>
            <p:cNvPr id="36875" name="Rectangle 7"/>
            <p:cNvSpPr>
              <a:spLocks noChangeArrowheads="1"/>
            </p:cNvSpPr>
            <p:nvPr/>
          </p:nvSpPr>
          <p:spPr bwMode="auto">
            <a:xfrm>
              <a:off x="3888" y="2976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latin typeface="Arial Narrow" pitchFamily="34" charset="0"/>
                </a:rPr>
                <a:t>Implementation</a:t>
              </a:r>
            </a:p>
          </p:txBody>
        </p:sp>
        <p:sp>
          <p:nvSpPr>
            <p:cNvPr id="36876" name="Rectangle 8"/>
            <p:cNvSpPr>
              <a:spLocks noChangeArrowheads="1"/>
            </p:cNvSpPr>
            <p:nvPr/>
          </p:nvSpPr>
          <p:spPr bwMode="auto">
            <a:xfrm>
              <a:off x="4656" y="3360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latin typeface="Arial Narrow" pitchFamily="34" charset="0"/>
                </a:rPr>
                <a:t>Maintenance</a:t>
              </a:r>
            </a:p>
          </p:txBody>
        </p:sp>
        <p:sp>
          <p:nvSpPr>
            <p:cNvPr id="36877" name="Rectangle 9"/>
            <p:cNvSpPr>
              <a:spLocks noChangeArrowheads="1"/>
            </p:cNvSpPr>
            <p:nvPr/>
          </p:nvSpPr>
          <p:spPr bwMode="auto">
            <a:xfrm>
              <a:off x="2400" y="2208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latin typeface="Arial Narrow" pitchFamily="34" charset="0"/>
                </a:rPr>
                <a:t>Logical Design</a:t>
              </a:r>
            </a:p>
          </p:txBody>
        </p:sp>
        <p:sp>
          <p:nvSpPr>
            <p:cNvPr id="36878" name="Arc 10"/>
            <p:cNvSpPr>
              <a:spLocks/>
            </p:cNvSpPr>
            <p:nvPr/>
          </p:nvSpPr>
          <p:spPr bwMode="auto">
            <a:xfrm>
              <a:off x="1968" y="1392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6879" name="Arc 11"/>
            <p:cNvSpPr>
              <a:spLocks/>
            </p:cNvSpPr>
            <p:nvPr/>
          </p:nvSpPr>
          <p:spPr bwMode="auto">
            <a:xfrm>
              <a:off x="2784" y="1824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6880" name="Arc 12"/>
            <p:cNvSpPr>
              <a:spLocks/>
            </p:cNvSpPr>
            <p:nvPr/>
          </p:nvSpPr>
          <p:spPr bwMode="auto">
            <a:xfrm>
              <a:off x="3408" y="2208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6881" name="Arc 13"/>
            <p:cNvSpPr>
              <a:spLocks/>
            </p:cNvSpPr>
            <p:nvPr/>
          </p:nvSpPr>
          <p:spPr bwMode="auto">
            <a:xfrm>
              <a:off x="4128" y="2592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6882" name="Arc 14"/>
            <p:cNvSpPr>
              <a:spLocks/>
            </p:cNvSpPr>
            <p:nvPr/>
          </p:nvSpPr>
          <p:spPr bwMode="auto">
            <a:xfrm>
              <a:off x="4848" y="2976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6883" name="Arc 15"/>
            <p:cNvSpPr>
              <a:spLocks/>
            </p:cNvSpPr>
            <p:nvPr/>
          </p:nvSpPr>
          <p:spPr bwMode="auto">
            <a:xfrm flipH="1" flipV="1">
              <a:off x="3984" y="3264"/>
              <a:ext cx="672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6884" name="Arc 16"/>
            <p:cNvSpPr>
              <a:spLocks/>
            </p:cNvSpPr>
            <p:nvPr/>
          </p:nvSpPr>
          <p:spPr bwMode="auto">
            <a:xfrm flipH="1" flipV="1">
              <a:off x="3168" y="2880"/>
              <a:ext cx="672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6885" name="Arc 17"/>
            <p:cNvSpPr>
              <a:spLocks/>
            </p:cNvSpPr>
            <p:nvPr/>
          </p:nvSpPr>
          <p:spPr bwMode="auto">
            <a:xfrm flipH="1" flipV="1">
              <a:off x="2496" y="2496"/>
              <a:ext cx="672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6886" name="Arc 18"/>
            <p:cNvSpPr>
              <a:spLocks/>
            </p:cNvSpPr>
            <p:nvPr/>
          </p:nvSpPr>
          <p:spPr bwMode="auto">
            <a:xfrm flipH="1" flipV="1">
              <a:off x="1824" y="2112"/>
              <a:ext cx="576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6887" name="Arc 19"/>
            <p:cNvSpPr>
              <a:spLocks/>
            </p:cNvSpPr>
            <p:nvPr/>
          </p:nvSpPr>
          <p:spPr bwMode="auto">
            <a:xfrm flipH="1" flipV="1">
              <a:off x="1248" y="1680"/>
              <a:ext cx="576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</p:grpSp>
      <p:sp>
        <p:nvSpPr>
          <p:cNvPr id="36869" name="Rectangle 20"/>
          <p:cNvSpPr>
            <a:spLocks noChangeArrowheads="1"/>
          </p:cNvSpPr>
          <p:nvPr/>
        </p:nvSpPr>
        <p:spPr bwMode="auto">
          <a:xfrm>
            <a:off x="457200" y="1676400"/>
            <a:ext cx="1752600" cy="533400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 b="1" i="1">
                <a:solidFill>
                  <a:schemeClr val="bg2"/>
                </a:solidFill>
                <a:latin typeface="Arial Narrow" pitchFamily="34" charset="0"/>
              </a:rPr>
              <a:t>Planning</a:t>
            </a:r>
          </a:p>
        </p:txBody>
      </p:sp>
      <p:sp>
        <p:nvSpPr>
          <p:cNvPr id="145429" name="Text Box 21"/>
          <p:cNvSpPr txBox="1">
            <a:spLocks noChangeArrowheads="1"/>
          </p:cNvSpPr>
          <p:nvPr/>
        </p:nvSpPr>
        <p:spPr bwMode="auto">
          <a:xfrm>
            <a:off x="4191000" y="1508125"/>
            <a:ext cx="491993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 algn="l">
              <a:buFont typeface="Arial" pitchFamily="34" charset="0"/>
              <a:buChar char="•"/>
              <a:defRPr/>
            </a:pPr>
            <a:r>
              <a:rPr lang="en-US" sz="20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  <a:r>
              <a:rPr lang="en-US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preliminary 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understanding</a:t>
            </a:r>
          </a:p>
          <a:p>
            <a:pPr marL="342900" indent="-342900" algn="l">
              <a:buFont typeface="Arial" pitchFamily="34" charset="0"/>
              <a:buChar char="•"/>
              <a:defRPr/>
            </a:pPr>
            <a:r>
              <a:rPr lang="en-US" sz="20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Deliverable</a:t>
            </a:r>
            <a:r>
              <a:rPr lang="en-US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 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study </a:t>
            </a:r>
          </a:p>
        </p:txBody>
      </p:sp>
      <p:sp>
        <p:nvSpPr>
          <p:cNvPr id="145430" name="Text Box 22"/>
          <p:cNvSpPr txBox="1">
            <a:spLocks noChangeArrowheads="1"/>
          </p:cNvSpPr>
          <p:nvPr/>
        </p:nvSpPr>
        <p:spPr bwMode="auto">
          <a:xfrm>
            <a:off x="457200" y="5048730"/>
            <a:ext cx="38862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</a:t>
            </a: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  <a:r>
              <a:rPr 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defRPr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modeling and early conceptual data modeling</a:t>
            </a:r>
          </a:p>
        </p:txBody>
      </p:sp>
    </p:spTree>
    <p:extLst>
      <p:ext uri="{BB962C8B-B14F-4D97-AF65-F5344CB8AC3E}">
        <p14:creationId xmlns:p14="http://schemas.microsoft.com/office/powerpoint/2010/main" val="2832590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FB2EC0-FD1F-4812-9C83-21865AC30EE5}" type="slidenum">
              <a:rPr lang="en-US"/>
              <a:pPr>
                <a:defRPr/>
              </a:pPr>
              <a:t>27</a:t>
            </a:fld>
            <a:endParaRPr lang="en-US"/>
          </a:p>
        </p:txBody>
      </p:sp>
      <p:grpSp>
        <p:nvGrpSpPr>
          <p:cNvPr id="37892" name="Group 3"/>
          <p:cNvGrpSpPr>
            <a:grpSpLocks/>
          </p:cNvGrpSpPr>
          <p:nvPr/>
        </p:nvGrpSpPr>
        <p:grpSpPr bwMode="auto">
          <a:xfrm>
            <a:off x="457200" y="1676400"/>
            <a:ext cx="8458200" cy="4114800"/>
            <a:chOff x="1008" y="1392"/>
            <a:chExt cx="4608" cy="2256"/>
          </a:xfrm>
        </p:grpSpPr>
        <p:sp>
          <p:nvSpPr>
            <p:cNvPr id="37896" name="Rectangle 4"/>
            <p:cNvSpPr>
              <a:spLocks noChangeArrowheads="1"/>
            </p:cNvSpPr>
            <p:nvPr/>
          </p:nvSpPr>
          <p:spPr bwMode="auto">
            <a:xfrm>
              <a:off x="1008" y="1392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 dirty="0">
                  <a:solidFill>
                    <a:srgbClr val="FFFF00"/>
                  </a:solidFill>
                  <a:latin typeface="Arial Narrow" pitchFamily="34" charset="0"/>
                </a:rPr>
                <a:t>Planning</a:t>
              </a:r>
            </a:p>
          </p:txBody>
        </p:sp>
        <p:sp>
          <p:nvSpPr>
            <p:cNvPr id="37897" name="Rectangle 5"/>
            <p:cNvSpPr>
              <a:spLocks noChangeArrowheads="1"/>
            </p:cNvSpPr>
            <p:nvPr/>
          </p:nvSpPr>
          <p:spPr bwMode="auto">
            <a:xfrm>
              <a:off x="1824" y="1776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latin typeface="Arial Narrow" pitchFamily="34" charset="0"/>
                </a:rPr>
                <a:t>Analysis</a:t>
              </a:r>
            </a:p>
          </p:txBody>
        </p:sp>
        <p:sp>
          <p:nvSpPr>
            <p:cNvPr id="37898" name="Rectangle 6"/>
            <p:cNvSpPr>
              <a:spLocks noChangeArrowheads="1"/>
            </p:cNvSpPr>
            <p:nvPr/>
          </p:nvSpPr>
          <p:spPr bwMode="auto">
            <a:xfrm>
              <a:off x="3168" y="2592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latin typeface="Arial Narrow" pitchFamily="34" charset="0"/>
                </a:rPr>
                <a:t>Physical Design</a:t>
              </a:r>
            </a:p>
          </p:txBody>
        </p:sp>
        <p:sp>
          <p:nvSpPr>
            <p:cNvPr id="37899" name="Rectangle 7"/>
            <p:cNvSpPr>
              <a:spLocks noChangeArrowheads="1"/>
            </p:cNvSpPr>
            <p:nvPr/>
          </p:nvSpPr>
          <p:spPr bwMode="auto">
            <a:xfrm>
              <a:off x="3888" y="2976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latin typeface="Arial Narrow" pitchFamily="34" charset="0"/>
                </a:rPr>
                <a:t>Implementation</a:t>
              </a:r>
            </a:p>
          </p:txBody>
        </p:sp>
        <p:sp>
          <p:nvSpPr>
            <p:cNvPr id="37900" name="Rectangle 8"/>
            <p:cNvSpPr>
              <a:spLocks noChangeArrowheads="1"/>
            </p:cNvSpPr>
            <p:nvPr/>
          </p:nvSpPr>
          <p:spPr bwMode="auto">
            <a:xfrm>
              <a:off x="4656" y="3360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latin typeface="Arial Narrow" pitchFamily="34" charset="0"/>
                </a:rPr>
                <a:t>Maintenance</a:t>
              </a:r>
            </a:p>
          </p:txBody>
        </p:sp>
        <p:sp>
          <p:nvSpPr>
            <p:cNvPr id="37901" name="Rectangle 9"/>
            <p:cNvSpPr>
              <a:spLocks noChangeArrowheads="1"/>
            </p:cNvSpPr>
            <p:nvPr/>
          </p:nvSpPr>
          <p:spPr bwMode="auto">
            <a:xfrm>
              <a:off x="2400" y="2208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 dirty="0">
                  <a:solidFill>
                    <a:srgbClr val="FFFF00"/>
                  </a:solidFill>
                  <a:latin typeface="Arial Narrow" pitchFamily="34" charset="0"/>
                </a:rPr>
                <a:t>Logical Design</a:t>
              </a:r>
            </a:p>
          </p:txBody>
        </p:sp>
        <p:sp>
          <p:nvSpPr>
            <p:cNvPr id="37902" name="Arc 10"/>
            <p:cNvSpPr>
              <a:spLocks/>
            </p:cNvSpPr>
            <p:nvPr/>
          </p:nvSpPr>
          <p:spPr bwMode="auto">
            <a:xfrm>
              <a:off x="1968" y="1392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7903" name="Arc 11"/>
            <p:cNvSpPr>
              <a:spLocks/>
            </p:cNvSpPr>
            <p:nvPr/>
          </p:nvSpPr>
          <p:spPr bwMode="auto">
            <a:xfrm>
              <a:off x="2784" y="1824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7904" name="Arc 12"/>
            <p:cNvSpPr>
              <a:spLocks/>
            </p:cNvSpPr>
            <p:nvPr/>
          </p:nvSpPr>
          <p:spPr bwMode="auto">
            <a:xfrm>
              <a:off x="3408" y="2208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7905" name="Arc 13"/>
            <p:cNvSpPr>
              <a:spLocks/>
            </p:cNvSpPr>
            <p:nvPr/>
          </p:nvSpPr>
          <p:spPr bwMode="auto">
            <a:xfrm>
              <a:off x="4128" y="2592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7906" name="Arc 14"/>
            <p:cNvSpPr>
              <a:spLocks/>
            </p:cNvSpPr>
            <p:nvPr/>
          </p:nvSpPr>
          <p:spPr bwMode="auto">
            <a:xfrm>
              <a:off x="4848" y="2976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7907" name="Arc 15"/>
            <p:cNvSpPr>
              <a:spLocks/>
            </p:cNvSpPr>
            <p:nvPr/>
          </p:nvSpPr>
          <p:spPr bwMode="auto">
            <a:xfrm flipH="1" flipV="1">
              <a:off x="3984" y="3264"/>
              <a:ext cx="672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7908" name="Arc 16"/>
            <p:cNvSpPr>
              <a:spLocks/>
            </p:cNvSpPr>
            <p:nvPr/>
          </p:nvSpPr>
          <p:spPr bwMode="auto">
            <a:xfrm flipH="1" flipV="1">
              <a:off x="3168" y="2880"/>
              <a:ext cx="672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7909" name="Arc 17"/>
            <p:cNvSpPr>
              <a:spLocks/>
            </p:cNvSpPr>
            <p:nvPr/>
          </p:nvSpPr>
          <p:spPr bwMode="auto">
            <a:xfrm flipH="1" flipV="1">
              <a:off x="2496" y="2496"/>
              <a:ext cx="672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7910" name="Arc 18"/>
            <p:cNvSpPr>
              <a:spLocks/>
            </p:cNvSpPr>
            <p:nvPr/>
          </p:nvSpPr>
          <p:spPr bwMode="auto">
            <a:xfrm flipH="1" flipV="1">
              <a:off x="1824" y="2112"/>
              <a:ext cx="576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7911" name="Arc 19"/>
            <p:cNvSpPr>
              <a:spLocks/>
            </p:cNvSpPr>
            <p:nvPr/>
          </p:nvSpPr>
          <p:spPr bwMode="auto">
            <a:xfrm flipH="1" flipV="1">
              <a:off x="1248" y="1680"/>
              <a:ext cx="576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</p:grpSp>
      <p:sp>
        <p:nvSpPr>
          <p:cNvPr id="37893" name="Rectangle 20"/>
          <p:cNvSpPr>
            <a:spLocks noChangeArrowheads="1"/>
          </p:cNvSpPr>
          <p:nvPr/>
        </p:nvSpPr>
        <p:spPr bwMode="auto">
          <a:xfrm>
            <a:off x="1905000" y="2362200"/>
            <a:ext cx="1900238" cy="533400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 b="1" i="1" dirty="0">
                <a:solidFill>
                  <a:srgbClr val="FFFF00"/>
                </a:solidFill>
                <a:latin typeface="Arial Narrow" pitchFamily="34" charset="0"/>
              </a:rPr>
              <a:t>Conceptual </a:t>
            </a:r>
            <a:r>
              <a:rPr lang="en-US" sz="2000" b="1" i="1" dirty="0" smtClean="0">
                <a:solidFill>
                  <a:srgbClr val="FFFF00"/>
                </a:solidFill>
                <a:latin typeface="Arial Narrow" pitchFamily="34" charset="0"/>
              </a:rPr>
              <a:t>Design</a:t>
            </a:r>
            <a:endParaRPr lang="en-US" sz="2000" b="1" i="1" dirty="0">
              <a:solidFill>
                <a:srgbClr val="FFFF00"/>
              </a:solidFill>
              <a:latin typeface="Arial Narrow" pitchFamily="34" charset="0"/>
            </a:endParaRPr>
          </a:p>
        </p:txBody>
      </p:sp>
      <p:sp>
        <p:nvSpPr>
          <p:cNvPr id="37894" name="Text Box 21"/>
          <p:cNvSpPr txBox="1">
            <a:spLocks noChangeArrowheads="1"/>
          </p:cNvSpPr>
          <p:nvPr/>
        </p:nvSpPr>
        <p:spPr bwMode="auto">
          <a:xfrm>
            <a:off x="3983832" y="1212385"/>
            <a:ext cx="51054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Purpose: thorough 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 analysis and structuring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Deliverable: functional 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specifications</a:t>
            </a:r>
          </a:p>
        </p:txBody>
      </p:sp>
      <p:sp>
        <p:nvSpPr>
          <p:cNvPr id="37895" name="Text Box 22"/>
          <p:cNvSpPr txBox="1">
            <a:spLocks noChangeArrowheads="1"/>
          </p:cNvSpPr>
          <p:nvPr/>
        </p:nvSpPr>
        <p:spPr bwMode="auto">
          <a:xfrm>
            <a:off x="388143" y="4675120"/>
            <a:ext cx="35052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</a:t>
            </a:r>
            <a:r>
              <a:rPr lang="en-US" sz="20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activity: thorough 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integrated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conceptual data </a:t>
            </a: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modeling (ER Model)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76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Systems Development Life Cycle</a:t>
            </a:r>
          </a:p>
        </p:txBody>
      </p:sp>
    </p:spTree>
    <p:extLst>
      <p:ext uri="{BB962C8B-B14F-4D97-AF65-F5344CB8AC3E}">
        <p14:creationId xmlns:p14="http://schemas.microsoft.com/office/powerpoint/2010/main" val="434518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B9509F-CF64-4272-9426-46F8F1CA9B88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702469" y="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Systems Development Life Cycle</a:t>
            </a:r>
          </a:p>
        </p:txBody>
      </p:sp>
      <p:grpSp>
        <p:nvGrpSpPr>
          <p:cNvPr id="38916" name="Group 3"/>
          <p:cNvGrpSpPr>
            <a:grpSpLocks/>
          </p:cNvGrpSpPr>
          <p:nvPr/>
        </p:nvGrpSpPr>
        <p:grpSpPr bwMode="auto">
          <a:xfrm>
            <a:off x="457200" y="1676400"/>
            <a:ext cx="8458200" cy="4114800"/>
            <a:chOff x="1008" y="1392"/>
            <a:chExt cx="4608" cy="2256"/>
          </a:xfrm>
        </p:grpSpPr>
        <p:sp>
          <p:nvSpPr>
            <p:cNvPr id="38920" name="Rectangle 4"/>
            <p:cNvSpPr>
              <a:spLocks noChangeArrowheads="1"/>
            </p:cNvSpPr>
            <p:nvPr/>
          </p:nvSpPr>
          <p:spPr bwMode="auto">
            <a:xfrm>
              <a:off x="1008" y="1392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 dirty="0">
                  <a:solidFill>
                    <a:srgbClr val="FFFF00"/>
                  </a:solidFill>
                  <a:latin typeface="Arial Narrow" pitchFamily="34" charset="0"/>
                </a:rPr>
                <a:t>Planning</a:t>
              </a:r>
            </a:p>
          </p:txBody>
        </p:sp>
        <p:sp>
          <p:nvSpPr>
            <p:cNvPr id="38921" name="Rectangle 5"/>
            <p:cNvSpPr>
              <a:spLocks noChangeArrowheads="1"/>
            </p:cNvSpPr>
            <p:nvPr/>
          </p:nvSpPr>
          <p:spPr bwMode="auto">
            <a:xfrm>
              <a:off x="1824" y="1776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 dirty="0">
                  <a:solidFill>
                    <a:srgbClr val="FFFF00"/>
                  </a:solidFill>
                  <a:latin typeface="Arial Narrow" pitchFamily="34" charset="0"/>
                </a:rPr>
                <a:t>Conceptual </a:t>
              </a:r>
              <a:r>
                <a:rPr lang="en-US" b="1" dirty="0" smtClean="0">
                  <a:solidFill>
                    <a:srgbClr val="FFFF00"/>
                  </a:solidFill>
                  <a:latin typeface="Arial Narrow" pitchFamily="34" charset="0"/>
                </a:rPr>
                <a:t>Design</a:t>
              </a:r>
              <a:endParaRPr lang="en-US" b="1" dirty="0">
                <a:solidFill>
                  <a:srgbClr val="FFFF00"/>
                </a:solidFill>
                <a:latin typeface="Arial Narrow" pitchFamily="34" charset="0"/>
              </a:endParaRPr>
            </a:p>
          </p:txBody>
        </p:sp>
        <p:sp>
          <p:nvSpPr>
            <p:cNvPr id="38922" name="Rectangle 6"/>
            <p:cNvSpPr>
              <a:spLocks noChangeArrowheads="1"/>
            </p:cNvSpPr>
            <p:nvPr/>
          </p:nvSpPr>
          <p:spPr bwMode="auto">
            <a:xfrm>
              <a:off x="3168" y="2592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latin typeface="Arial Narrow" pitchFamily="34" charset="0"/>
                </a:rPr>
                <a:t>Physical Design</a:t>
              </a:r>
            </a:p>
          </p:txBody>
        </p:sp>
        <p:sp>
          <p:nvSpPr>
            <p:cNvPr id="38923" name="Rectangle 7"/>
            <p:cNvSpPr>
              <a:spLocks noChangeArrowheads="1"/>
            </p:cNvSpPr>
            <p:nvPr/>
          </p:nvSpPr>
          <p:spPr bwMode="auto">
            <a:xfrm>
              <a:off x="3888" y="2976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latin typeface="Arial Narrow" pitchFamily="34" charset="0"/>
                </a:rPr>
                <a:t>Implementation</a:t>
              </a:r>
            </a:p>
          </p:txBody>
        </p:sp>
        <p:sp>
          <p:nvSpPr>
            <p:cNvPr id="38924" name="Rectangle 8"/>
            <p:cNvSpPr>
              <a:spLocks noChangeArrowheads="1"/>
            </p:cNvSpPr>
            <p:nvPr/>
          </p:nvSpPr>
          <p:spPr bwMode="auto">
            <a:xfrm>
              <a:off x="4656" y="3360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latin typeface="Arial Narrow" pitchFamily="34" charset="0"/>
                </a:rPr>
                <a:t>Maintenance</a:t>
              </a:r>
            </a:p>
          </p:txBody>
        </p:sp>
        <p:sp>
          <p:nvSpPr>
            <p:cNvPr id="38925" name="Rectangle 9"/>
            <p:cNvSpPr>
              <a:spLocks noChangeArrowheads="1"/>
            </p:cNvSpPr>
            <p:nvPr/>
          </p:nvSpPr>
          <p:spPr bwMode="auto">
            <a:xfrm>
              <a:off x="2400" y="2208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latin typeface="Arial Narrow" pitchFamily="34" charset="0"/>
                </a:rPr>
                <a:t>Logical Design</a:t>
              </a:r>
            </a:p>
          </p:txBody>
        </p:sp>
        <p:sp>
          <p:nvSpPr>
            <p:cNvPr id="38926" name="Arc 10"/>
            <p:cNvSpPr>
              <a:spLocks/>
            </p:cNvSpPr>
            <p:nvPr/>
          </p:nvSpPr>
          <p:spPr bwMode="auto">
            <a:xfrm>
              <a:off x="1968" y="1392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8927" name="Arc 11"/>
            <p:cNvSpPr>
              <a:spLocks/>
            </p:cNvSpPr>
            <p:nvPr/>
          </p:nvSpPr>
          <p:spPr bwMode="auto">
            <a:xfrm>
              <a:off x="2784" y="1824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8928" name="Arc 12"/>
            <p:cNvSpPr>
              <a:spLocks/>
            </p:cNvSpPr>
            <p:nvPr/>
          </p:nvSpPr>
          <p:spPr bwMode="auto">
            <a:xfrm>
              <a:off x="3408" y="2208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8929" name="Arc 13"/>
            <p:cNvSpPr>
              <a:spLocks/>
            </p:cNvSpPr>
            <p:nvPr/>
          </p:nvSpPr>
          <p:spPr bwMode="auto">
            <a:xfrm>
              <a:off x="4128" y="2592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8930" name="Arc 14"/>
            <p:cNvSpPr>
              <a:spLocks/>
            </p:cNvSpPr>
            <p:nvPr/>
          </p:nvSpPr>
          <p:spPr bwMode="auto">
            <a:xfrm>
              <a:off x="4848" y="2976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8931" name="Arc 15"/>
            <p:cNvSpPr>
              <a:spLocks/>
            </p:cNvSpPr>
            <p:nvPr/>
          </p:nvSpPr>
          <p:spPr bwMode="auto">
            <a:xfrm flipH="1" flipV="1">
              <a:off x="3984" y="3264"/>
              <a:ext cx="672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8932" name="Arc 16"/>
            <p:cNvSpPr>
              <a:spLocks/>
            </p:cNvSpPr>
            <p:nvPr/>
          </p:nvSpPr>
          <p:spPr bwMode="auto">
            <a:xfrm flipH="1" flipV="1">
              <a:off x="3168" y="2880"/>
              <a:ext cx="672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8933" name="Arc 17"/>
            <p:cNvSpPr>
              <a:spLocks/>
            </p:cNvSpPr>
            <p:nvPr/>
          </p:nvSpPr>
          <p:spPr bwMode="auto">
            <a:xfrm flipH="1" flipV="1">
              <a:off x="2496" y="2496"/>
              <a:ext cx="672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8934" name="Arc 18"/>
            <p:cNvSpPr>
              <a:spLocks/>
            </p:cNvSpPr>
            <p:nvPr/>
          </p:nvSpPr>
          <p:spPr bwMode="auto">
            <a:xfrm flipH="1" flipV="1">
              <a:off x="1824" y="2112"/>
              <a:ext cx="576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8935" name="Arc 19"/>
            <p:cNvSpPr>
              <a:spLocks/>
            </p:cNvSpPr>
            <p:nvPr/>
          </p:nvSpPr>
          <p:spPr bwMode="auto">
            <a:xfrm flipH="1" flipV="1">
              <a:off x="1248" y="1680"/>
              <a:ext cx="576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</p:grpSp>
      <p:sp>
        <p:nvSpPr>
          <p:cNvPr id="38917" name="Rectangle 20"/>
          <p:cNvSpPr>
            <a:spLocks noChangeArrowheads="1"/>
          </p:cNvSpPr>
          <p:nvPr/>
        </p:nvSpPr>
        <p:spPr bwMode="auto">
          <a:xfrm>
            <a:off x="2971800" y="3124200"/>
            <a:ext cx="1828800" cy="609600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 b="1" i="1">
                <a:solidFill>
                  <a:schemeClr val="bg2"/>
                </a:solidFill>
                <a:latin typeface="Arial Narrow" pitchFamily="34" charset="0"/>
              </a:rPr>
              <a:t>Logical Design</a:t>
            </a:r>
          </a:p>
        </p:txBody>
      </p:sp>
      <p:sp>
        <p:nvSpPr>
          <p:cNvPr id="38918" name="Text Box 21"/>
          <p:cNvSpPr txBox="1">
            <a:spLocks noChangeArrowheads="1"/>
          </p:cNvSpPr>
          <p:nvPr/>
        </p:nvSpPr>
        <p:spPr bwMode="auto">
          <a:xfrm>
            <a:off x="3217068" y="1173162"/>
            <a:ext cx="525780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Purpose: information 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 elicitation and structure</a:t>
            </a:r>
          </a:p>
          <a:p>
            <a:r>
              <a:rPr lang="en-US" sz="16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Deliverable: detailed 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specifications</a:t>
            </a:r>
          </a:p>
        </p:txBody>
      </p:sp>
      <p:sp>
        <p:nvSpPr>
          <p:cNvPr id="38919" name="Text Box 22"/>
          <p:cNvSpPr txBox="1">
            <a:spLocks noChangeArrowheads="1"/>
          </p:cNvSpPr>
          <p:nvPr/>
        </p:nvSpPr>
        <p:spPr bwMode="auto">
          <a:xfrm>
            <a:off x="369094" y="4390417"/>
            <a:ext cx="28194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activity– </a:t>
            </a:r>
          </a:p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logical database design </a:t>
            </a: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(relational model)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521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7AE0B8-6501-4D4A-ABA0-0097FD1D7EAB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Systems Development Life Cycle</a:t>
            </a:r>
          </a:p>
        </p:txBody>
      </p:sp>
      <p:grpSp>
        <p:nvGrpSpPr>
          <p:cNvPr id="39940" name="Group 3"/>
          <p:cNvGrpSpPr>
            <a:grpSpLocks/>
          </p:cNvGrpSpPr>
          <p:nvPr/>
        </p:nvGrpSpPr>
        <p:grpSpPr bwMode="auto">
          <a:xfrm>
            <a:off x="457200" y="1676400"/>
            <a:ext cx="8458200" cy="4114800"/>
            <a:chOff x="1008" y="1392"/>
            <a:chExt cx="4608" cy="2256"/>
          </a:xfrm>
        </p:grpSpPr>
        <p:sp>
          <p:nvSpPr>
            <p:cNvPr id="39944" name="Rectangle 4"/>
            <p:cNvSpPr>
              <a:spLocks noChangeArrowheads="1"/>
            </p:cNvSpPr>
            <p:nvPr/>
          </p:nvSpPr>
          <p:spPr bwMode="auto">
            <a:xfrm>
              <a:off x="1008" y="1392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latin typeface="Arial Narrow" pitchFamily="34" charset="0"/>
                </a:rPr>
                <a:t>Planning</a:t>
              </a:r>
            </a:p>
          </p:txBody>
        </p:sp>
        <p:sp>
          <p:nvSpPr>
            <p:cNvPr id="39945" name="Rectangle 5"/>
            <p:cNvSpPr>
              <a:spLocks noChangeArrowheads="1"/>
            </p:cNvSpPr>
            <p:nvPr/>
          </p:nvSpPr>
          <p:spPr bwMode="auto">
            <a:xfrm>
              <a:off x="1824" y="1776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 dirty="0">
                  <a:solidFill>
                    <a:srgbClr val="FFFF00"/>
                  </a:solidFill>
                  <a:latin typeface="Arial Narrow" pitchFamily="34" charset="0"/>
                </a:rPr>
                <a:t>Conceptual </a:t>
              </a:r>
              <a:r>
                <a:rPr lang="en-US" b="1" dirty="0" smtClean="0">
                  <a:solidFill>
                    <a:srgbClr val="FFFF00"/>
                  </a:solidFill>
                  <a:latin typeface="Arial Narrow" pitchFamily="34" charset="0"/>
                </a:rPr>
                <a:t>Design</a:t>
              </a:r>
              <a:endParaRPr lang="en-US" b="1" dirty="0">
                <a:solidFill>
                  <a:srgbClr val="FFFF00"/>
                </a:solidFill>
                <a:latin typeface="Arial Narrow" pitchFamily="34" charset="0"/>
              </a:endParaRPr>
            </a:p>
          </p:txBody>
        </p:sp>
        <p:sp>
          <p:nvSpPr>
            <p:cNvPr id="39946" name="Rectangle 6"/>
            <p:cNvSpPr>
              <a:spLocks noChangeArrowheads="1"/>
            </p:cNvSpPr>
            <p:nvPr/>
          </p:nvSpPr>
          <p:spPr bwMode="auto">
            <a:xfrm>
              <a:off x="3168" y="2592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latin typeface="Arial Narrow" pitchFamily="34" charset="0"/>
                </a:rPr>
                <a:t>Physical Design</a:t>
              </a:r>
            </a:p>
          </p:txBody>
        </p:sp>
        <p:sp>
          <p:nvSpPr>
            <p:cNvPr id="39947" name="Rectangle 7"/>
            <p:cNvSpPr>
              <a:spLocks noChangeArrowheads="1"/>
            </p:cNvSpPr>
            <p:nvPr/>
          </p:nvSpPr>
          <p:spPr bwMode="auto">
            <a:xfrm>
              <a:off x="3888" y="2976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latin typeface="Arial Narrow" pitchFamily="34" charset="0"/>
                </a:rPr>
                <a:t>Implementation</a:t>
              </a:r>
            </a:p>
          </p:txBody>
        </p:sp>
        <p:sp>
          <p:nvSpPr>
            <p:cNvPr id="39948" name="Rectangle 8"/>
            <p:cNvSpPr>
              <a:spLocks noChangeArrowheads="1"/>
            </p:cNvSpPr>
            <p:nvPr/>
          </p:nvSpPr>
          <p:spPr bwMode="auto">
            <a:xfrm>
              <a:off x="4656" y="3360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latin typeface="Arial Narrow" pitchFamily="34" charset="0"/>
                </a:rPr>
                <a:t>Maintenance</a:t>
              </a:r>
            </a:p>
          </p:txBody>
        </p:sp>
        <p:sp>
          <p:nvSpPr>
            <p:cNvPr id="39949" name="Rectangle 9"/>
            <p:cNvSpPr>
              <a:spLocks noChangeArrowheads="1"/>
            </p:cNvSpPr>
            <p:nvPr/>
          </p:nvSpPr>
          <p:spPr bwMode="auto">
            <a:xfrm>
              <a:off x="2400" y="2208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latin typeface="Arial Narrow" pitchFamily="34" charset="0"/>
                </a:rPr>
                <a:t>Logical Design</a:t>
              </a:r>
            </a:p>
          </p:txBody>
        </p:sp>
        <p:sp>
          <p:nvSpPr>
            <p:cNvPr id="39950" name="Arc 10"/>
            <p:cNvSpPr>
              <a:spLocks/>
            </p:cNvSpPr>
            <p:nvPr/>
          </p:nvSpPr>
          <p:spPr bwMode="auto">
            <a:xfrm>
              <a:off x="1968" y="1392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9951" name="Arc 11"/>
            <p:cNvSpPr>
              <a:spLocks/>
            </p:cNvSpPr>
            <p:nvPr/>
          </p:nvSpPr>
          <p:spPr bwMode="auto">
            <a:xfrm>
              <a:off x="2784" y="1824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9952" name="Arc 12"/>
            <p:cNvSpPr>
              <a:spLocks/>
            </p:cNvSpPr>
            <p:nvPr/>
          </p:nvSpPr>
          <p:spPr bwMode="auto">
            <a:xfrm>
              <a:off x="3408" y="2208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9953" name="Arc 13"/>
            <p:cNvSpPr>
              <a:spLocks/>
            </p:cNvSpPr>
            <p:nvPr/>
          </p:nvSpPr>
          <p:spPr bwMode="auto">
            <a:xfrm>
              <a:off x="4128" y="2592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9954" name="Arc 14"/>
            <p:cNvSpPr>
              <a:spLocks/>
            </p:cNvSpPr>
            <p:nvPr/>
          </p:nvSpPr>
          <p:spPr bwMode="auto">
            <a:xfrm>
              <a:off x="4848" y="2976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9955" name="Arc 15"/>
            <p:cNvSpPr>
              <a:spLocks/>
            </p:cNvSpPr>
            <p:nvPr/>
          </p:nvSpPr>
          <p:spPr bwMode="auto">
            <a:xfrm flipH="1" flipV="1">
              <a:off x="3984" y="3264"/>
              <a:ext cx="672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9956" name="Arc 16"/>
            <p:cNvSpPr>
              <a:spLocks/>
            </p:cNvSpPr>
            <p:nvPr/>
          </p:nvSpPr>
          <p:spPr bwMode="auto">
            <a:xfrm flipH="1" flipV="1">
              <a:off x="3168" y="2880"/>
              <a:ext cx="672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9957" name="Arc 17"/>
            <p:cNvSpPr>
              <a:spLocks/>
            </p:cNvSpPr>
            <p:nvPr/>
          </p:nvSpPr>
          <p:spPr bwMode="auto">
            <a:xfrm flipH="1" flipV="1">
              <a:off x="2496" y="2496"/>
              <a:ext cx="672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9958" name="Arc 18"/>
            <p:cNvSpPr>
              <a:spLocks/>
            </p:cNvSpPr>
            <p:nvPr/>
          </p:nvSpPr>
          <p:spPr bwMode="auto">
            <a:xfrm flipH="1" flipV="1">
              <a:off x="1824" y="2112"/>
              <a:ext cx="576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39959" name="Arc 19"/>
            <p:cNvSpPr>
              <a:spLocks/>
            </p:cNvSpPr>
            <p:nvPr/>
          </p:nvSpPr>
          <p:spPr bwMode="auto">
            <a:xfrm flipH="1" flipV="1">
              <a:off x="1248" y="1680"/>
              <a:ext cx="576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</p:grpSp>
      <p:sp>
        <p:nvSpPr>
          <p:cNvPr id="39941" name="Rectangle 20"/>
          <p:cNvSpPr>
            <a:spLocks noChangeArrowheads="1"/>
          </p:cNvSpPr>
          <p:nvPr/>
        </p:nvSpPr>
        <p:spPr bwMode="auto">
          <a:xfrm>
            <a:off x="4419600" y="3810000"/>
            <a:ext cx="1828800" cy="609600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 b="1" i="1">
                <a:solidFill>
                  <a:schemeClr val="bg2"/>
                </a:solidFill>
                <a:latin typeface="Arial Narrow" pitchFamily="34" charset="0"/>
              </a:rPr>
              <a:t>Physical Design</a:t>
            </a:r>
          </a:p>
        </p:txBody>
      </p:sp>
      <p:sp>
        <p:nvSpPr>
          <p:cNvPr id="39942" name="Text Box 21"/>
          <p:cNvSpPr txBox="1">
            <a:spLocks noChangeArrowheads="1"/>
          </p:cNvSpPr>
          <p:nvPr/>
        </p:nvSpPr>
        <p:spPr bwMode="auto">
          <a:xfrm>
            <a:off x="4800600" y="1317625"/>
            <a:ext cx="41910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Purpose: develop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 and organizational specifications</a:t>
            </a:r>
          </a:p>
          <a:p>
            <a:pPr algn="l"/>
            <a:endParaRPr 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Deliverable: program/data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structures, technology purchases, organization redesigns</a:t>
            </a:r>
          </a:p>
        </p:txBody>
      </p:sp>
      <p:sp>
        <p:nvSpPr>
          <p:cNvPr id="39943" name="Text Box 22"/>
          <p:cNvSpPr txBox="1">
            <a:spLocks noChangeArrowheads="1"/>
          </p:cNvSpPr>
          <p:nvPr/>
        </p:nvSpPr>
        <p:spPr bwMode="auto">
          <a:xfrm>
            <a:off x="304800" y="4572000"/>
            <a:ext cx="411480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</a:t>
            </a:r>
            <a:r>
              <a:rPr lang="en-US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activity: </a:t>
            </a:r>
            <a:endParaRPr 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database design (define database to DBMS, physical data organization, database processing programs)</a:t>
            </a:r>
          </a:p>
        </p:txBody>
      </p:sp>
    </p:spTree>
    <p:extLst>
      <p:ext uri="{BB962C8B-B14F-4D97-AF65-F5344CB8AC3E}">
        <p14:creationId xmlns:p14="http://schemas.microsoft.com/office/powerpoint/2010/main" val="3509945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C3EFA0-D864-464D-9D00-5C42B165510B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702469" y="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Systems Development Life Cycle</a:t>
            </a:r>
          </a:p>
        </p:txBody>
      </p:sp>
      <p:grpSp>
        <p:nvGrpSpPr>
          <p:cNvPr id="40964" name="Group 3"/>
          <p:cNvGrpSpPr>
            <a:grpSpLocks/>
          </p:cNvGrpSpPr>
          <p:nvPr/>
        </p:nvGrpSpPr>
        <p:grpSpPr bwMode="auto">
          <a:xfrm>
            <a:off x="457200" y="1676400"/>
            <a:ext cx="8458200" cy="4114800"/>
            <a:chOff x="1008" y="1392"/>
            <a:chExt cx="4608" cy="2256"/>
          </a:xfrm>
        </p:grpSpPr>
        <p:sp>
          <p:nvSpPr>
            <p:cNvPr id="40968" name="Rectangle 4"/>
            <p:cNvSpPr>
              <a:spLocks noChangeArrowheads="1"/>
            </p:cNvSpPr>
            <p:nvPr/>
          </p:nvSpPr>
          <p:spPr bwMode="auto">
            <a:xfrm>
              <a:off x="1008" y="1392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latin typeface="Arial Narrow" pitchFamily="34" charset="0"/>
                </a:rPr>
                <a:t>Planning</a:t>
              </a:r>
            </a:p>
          </p:txBody>
        </p:sp>
        <p:sp>
          <p:nvSpPr>
            <p:cNvPr id="40969" name="Rectangle 5"/>
            <p:cNvSpPr>
              <a:spLocks noChangeArrowheads="1"/>
            </p:cNvSpPr>
            <p:nvPr/>
          </p:nvSpPr>
          <p:spPr bwMode="auto">
            <a:xfrm>
              <a:off x="1824" y="1776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 dirty="0">
                  <a:solidFill>
                    <a:srgbClr val="FFFF00"/>
                  </a:solidFill>
                  <a:latin typeface="Arial Narrow" pitchFamily="34" charset="0"/>
                </a:rPr>
                <a:t>Conceptual </a:t>
              </a:r>
              <a:r>
                <a:rPr lang="en-US" b="1" dirty="0" smtClean="0">
                  <a:solidFill>
                    <a:srgbClr val="FFFF00"/>
                  </a:solidFill>
                  <a:latin typeface="Arial Narrow" pitchFamily="34" charset="0"/>
                </a:rPr>
                <a:t>Design</a:t>
              </a:r>
              <a:endParaRPr lang="en-US" b="1" dirty="0">
                <a:solidFill>
                  <a:srgbClr val="FFFF00"/>
                </a:solidFill>
                <a:latin typeface="Arial Narrow" pitchFamily="34" charset="0"/>
              </a:endParaRPr>
            </a:p>
          </p:txBody>
        </p:sp>
        <p:sp>
          <p:nvSpPr>
            <p:cNvPr id="40970" name="Rectangle 6"/>
            <p:cNvSpPr>
              <a:spLocks noChangeArrowheads="1"/>
            </p:cNvSpPr>
            <p:nvPr/>
          </p:nvSpPr>
          <p:spPr bwMode="auto">
            <a:xfrm>
              <a:off x="3168" y="2592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latin typeface="Arial Narrow" pitchFamily="34" charset="0"/>
                </a:rPr>
                <a:t>Physical Design</a:t>
              </a:r>
            </a:p>
          </p:txBody>
        </p:sp>
        <p:sp>
          <p:nvSpPr>
            <p:cNvPr id="40971" name="Rectangle 7"/>
            <p:cNvSpPr>
              <a:spLocks noChangeArrowheads="1"/>
            </p:cNvSpPr>
            <p:nvPr/>
          </p:nvSpPr>
          <p:spPr bwMode="auto">
            <a:xfrm>
              <a:off x="3888" y="2976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latin typeface="Arial Narrow" pitchFamily="34" charset="0"/>
                </a:rPr>
                <a:t>Implementation</a:t>
              </a:r>
            </a:p>
          </p:txBody>
        </p:sp>
        <p:sp>
          <p:nvSpPr>
            <p:cNvPr id="40972" name="Rectangle 8"/>
            <p:cNvSpPr>
              <a:spLocks noChangeArrowheads="1"/>
            </p:cNvSpPr>
            <p:nvPr/>
          </p:nvSpPr>
          <p:spPr bwMode="auto">
            <a:xfrm>
              <a:off x="4656" y="3360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latin typeface="Arial Narrow" pitchFamily="34" charset="0"/>
                </a:rPr>
                <a:t>Maintenance</a:t>
              </a:r>
            </a:p>
          </p:txBody>
        </p:sp>
        <p:sp>
          <p:nvSpPr>
            <p:cNvPr id="40973" name="Rectangle 9"/>
            <p:cNvSpPr>
              <a:spLocks noChangeArrowheads="1"/>
            </p:cNvSpPr>
            <p:nvPr/>
          </p:nvSpPr>
          <p:spPr bwMode="auto">
            <a:xfrm>
              <a:off x="2400" y="2208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latin typeface="Arial Narrow" pitchFamily="34" charset="0"/>
                </a:rPr>
                <a:t>Logical Design</a:t>
              </a:r>
            </a:p>
          </p:txBody>
        </p:sp>
        <p:sp>
          <p:nvSpPr>
            <p:cNvPr id="40974" name="Arc 10"/>
            <p:cNvSpPr>
              <a:spLocks/>
            </p:cNvSpPr>
            <p:nvPr/>
          </p:nvSpPr>
          <p:spPr bwMode="auto">
            <a:xfrm>
              <a:off x="1968" y="1392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40975" name="Arc 11"/>
            <p:cNvSpPr>
              <a:spLocks/>
            </p:cNvSpPr>
            <p:nvPr/>
          </p:nvSpPr>
          <p:spPr bwMode="auto">
            <a:xfrm>
              <a:off x="2784" y="1824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40976" name="Arc 12"/>
            <p:cNvSpPr>
              <a:spLocks/>
            </p:cNvSpPr>
            <p:nvPr/>
          </p:nvSpPr>
          <p:spPr bwMode="auto">
            <a:xfrm>
              <a:off x="3408" y="2208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40977" name="Arc 13"/>
            <p:cNvSpPr>
              <a:spLocks/>
            </p:cNvSpPr>
            <p:nvPr/>
          </p:nvSpPr>
          <p:spPr bwMode="auto">
            <a:xfrm>
              <a:off x="4128" y="2592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40978" name="Arc 14"/>
            <p:cNvSpPr>
              <a:spLocks/>
            </p:cNvSpPr>
            <p:nvPr/>
          </p:nvSpPr>
          <p:spPr bwMode="auto">
            <a:xfrm>
              <a:off x="4848" y="2976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40979" name="Arc 15"/>
            <p:cNvSpPr>
              <a:spLocks/>
            </p:cNvSpPr>
            <p:nvPr/>
          </p:nvSpPr>
          <p:spPr bwMode="auto">
            <a:xfrm flipH="1" flipV="1">
              <a:off x="3984" y="3264"/>
              <a:ext cx="672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40980" name="Arc 16"/>
            <p:cNvSpPr>
              <a:spLocks/>
            </p:cNvSpPr>
            <p:nvPr/>
          </p:nvSpPr>
          <p:spPr bwMode="auto">
            <a:xfrm flipH="1" flipV="1">
              <a:off x="3168" y="2880"/>
              <a:ext cx="672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40981" name="Arc 17"/>
            <p:cNvSpPr>
              <a:spLocks/>
            </p:cNvSpPr>
            <p:nvPr/>
          </p:nvSpPr>
          <p:spPr bwMode="auto">
            <a:xfrm flipH="1" flipV="1">
              <a:off x="2496" y="2496"/>
              <a:ext cx="672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40982" name="Arc 18"/>
            <p:cNvSpPr>
              <a:spLocks/>
            </p:cNvSpPr>
            <p:nvPr/>
          </p:nvSpPr>
          <p:spPr bwMode="auto">
            <a:xfrm flipH="1" flipV="1">
              <a:off x="1824" y="2112"/>
              <a:ext cx="576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  <p:sp>
          <p:nvSpPr>
            <p:cNvPr id="40983" name="Arc 19"/>
            <p:cNvSpPr>
              <a:spLocks/>
            </p:cNvSpPr>
            <p:nvPr/>
          </p:nvSpPr>
          <p:spPr bwMode="auto">
            <a:xfrm flipH="1" flipV="1">
              <a:off x="1248" y="1680"/>
              <a:ext cx="576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</a:endParaRPr>
            </a:p>
          </p:txBody>
        </p:sp>
      </p:grpSp>
      <p:sp>
        <p:nvSpPr>
          <p:cNvPr id="40965" name="Rectangle 20"/>
          <p:cNvSpPr>
            <a:spLocks noChangeArrowheads="1"/>
          </p:cNvSpPr>
          <p:nvPr/>
        </p:nvSpPr>
        <p:spPr bwMode="auto">
          <a:xfrm>
            <a:off x="5715000" y="4572000"/>
            <a:ext cx="1828800" cy="609600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 b="1" i="1">
                <a:solidFill>
                  <a:schemeClr val="bg2"/>
                </a:solidFill>
                <a:latin typeface="Arial Narrow" pitchFamily="34" charset="0"/>
              </a:rPr>
              <a:t>Implementation</a:t>
            </a:r>
          </a:p>
        </p:txBody>
      </p:sp>
      <p:sp>
        <p:nvSpPr>
          <p:cNvPr id="40966" name="Text Box 21"/>
          <p:cNvSpPr txBox="1">
            <a:spLocks noChangeArrowheads="1"/>
          </p:cNvSpPr>
          <p:nvPr/>
        </p:nvSpPr>
        <p:spPr bwMode="auto">
          <a:xfrm>
            <a:off x="4490172" y="1182587"/>
            <a:ext cx="4452937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Purpose: programming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testing, training, installation, documenting</a:t>
            </a:r>
          </a:p>
          <a:p>
            <a:pPr algn="l"/>
            <a:endParaRPr 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Deliverable: operational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programs, documentation, training materials</a:t>
            </a:r>
          </a:p>
        </p:txBody>
      </p:sp>
      <p:sp>
        <p:nvSpPr>
          <p:cNvPr id="40967" name="Text Box 22"/>
          <p:cNvSpPr txBox="1">
            <a:spLocks noChangeArrowheads="1"/>
          </p:cNvSpPr>
          <p:nvPr/>
        </p:nvSpPr>
        <p:spPr bwMode="auto">
          <a:xfrm>
            <a:off x="457200" y="4302869"/>
            <a:ext cx="365760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activity– </a:t>
            </a:r>
          </a:p>
          <a:p>
            <a:pPr algn="l"/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implementation, including coded programs, documentation, installation and conversion</a:t>
            </a:r>
          </a:p>
        </p:txBody>
      </p:sp>
    </p:spTree>
    <p:extLst>
      <p:ext uri="{BB962C8B-B14F-4D97-AF65-F5344CB8AC3E}">
        <p14:creationId xmlns:p14="http://schemas.microsoft.com/office/powerpoint/2010/main" val="4137408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FCE5CE-3F66-4F91-9F94-80144286BCC5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49864" y="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Systems Development Life Cycle</a:t>
            </a:r>
          </a:p>
        </p:txBody>
      </p:sp>
      <p:grpSp>
        <p:nvGrpSpPr>
          <p:cNvPr id="41988" name="Group 3"/>
          <p:cNvGrpSpPr>
            <a:grpSpLocks/>
          </p:cNvGrpSpPr>
          <p:nvPr/>
        </p:nvGrpSpPr>
        <p:grpSpPr bwMode="auto">
          <a:xfrm>
            <a:off x="457200" y="1676400"/>
            <a:ext cx="8458200" cy="4114800"/>
            <a:chOff x="1008" y="1392"/>
            <a:chExt cx="4608" cy="2256"/>
          </a:xfrm>
        </p:grpSpPr>
        <p:sp>
          <p:nvSpPr>
            <p:cNvPr id="41992" name="Rectangle 4"/>
            <p:cNvSpPr>
              <a:spLocks noChangeArrowheads="1"/>
            </p:cNvSpPr>
            <p:nvPr/>
          </p:nvSpPr>
          <p:spPr bwMode="auto">
            <a:xfrm>
              <a:off x="1008" y="1392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Narrow" pitchFamily="34" charset="0"/>
                </a:rPr>
                <a:t>Planning</a:t>
              </a:r>
            </a:p>
          </p:txBody>
        </p:sp>
        <p:sp>
          <p:nvSpPr>
            <p:cNvPr id="41993" name="Rectangle 5"/>
            <p:cNvSpPr>
              <a:spLocks noChangeArrowheads="1"/>
            </p:cNvSpPr>
            <p:nvPr/>
          </p:nvSpPr>
          <p:spPr bwMode="auto">
            <a:xfrm>
              <a:off x="1824" y="1776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Narrow" pitchFamily="34" charset="0"/>
                </a:rPr>
                <a:t>Conceptual </a:t>
              </a:r>
              <a:r>
                <a:rPr lang="en-US" b="1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Narrow" pitchFamily="34" charset="0"/>
                </a:rPr>
                <a:t>Design</a:t>
              </a:r>
              <a:endPara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endParaRPr>
            </a:p>
          </p:txBody>
        </p:sp>
        <p:sp>
          <p:nvSpPr>
            <p:cNvPr id="41994" name="Rectangle 6"/>
            <p:cNvSpPr>
              <a:spLocks noChangeArrowheads="1"/>
            </p:cNvSpPr>
            <p:nvPr/>
          </p:nvSpPr>
          <p:spPr bwMode="auto">
            <a:xfrm>
              <a:off x="3168" y="2592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Narrow" pitchFamily="34" charset="0"/>
                </a:rPr>
                <a:t>Physical Design</a:t>
              </a:r>
            </a:p>
          </p:txBody>
        </p:sp>
        <p:sp>
          <p:nvSpPr>
            <p:cNvPr id="41995" name="Rectangle 7"/>
            <p:cNvSpPr>
              <a:spLocks noChangeArrowheads="1"/>
            </p:cNvSpPr>
            <p:nvPr/>
          </p:nvSpPr>
          <p:spPr bwMode="auto">
            <a:xfrm>
              <a:off x="3888" y="2976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Narrow" pitchFamily="34" charset="0"/>
                </a:rPr>
                <a:t>Implementation</a:t>
              </a:r>
            </a:p>
          </p:txBody>
        </p:sp>
        <p:sp>
          <p:nvSpPr>
            <p:cNvPr id="41996" name="Rectangle 8"/>
            <p:cNvSpPr>
              <a:spLocks noChangeArrowheads="1"/>
            </p:cNvSpPr>
            <p:nvPr/>
          </p:nvSpPr>
          <p:spPr bwMode="auto">
            <a:xfrm>
              <a:off x="4656" y="3360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Narrow" pitchFamily="34" charset="0"/>
                </a:rPr>
                <a:t>Maintenance</a:t>
              </a:r>
            </a:p>
          </p:txBody>
        </p:sp>
        <p:sp>
          <p:nvSpPr>
            <p:cNvPr id="41997" name="Rectangle 9"/>
            <p:cNvSpPr>
              <a:spLocks noChangeArrowheads="1"/>
            </p:cNvSpPr>
            <p:nvPr/>
          </p:nvSpPr>
          <p:spPr bwMode="auto">
            <a:xfrm>
              <a:off x="2400" y="2208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Narrow" pitchFamily="34" charset="0"/>
                </a:rPr>
                <a:t>Logical Design</a:t>
              </a:r>
            </a:p>
          </p:txBody>
        </p:sp>
        <p:sp>
          <p:nvSpPr>
            <p:cNvPr id="41998" name="Arc 10"/>
            <p:cNvSpPr>
              <a:spLocks/>
            </p:cNvSpPr>
            <p:nvPr/>
          </p:nvSpPr>
          <p:spPr bwMode="auto">
            <a:xfrm>
              <a:off x="1968" y="1392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999" name="Arc 11"/>
            <p:cNvSpPr>
              <a:spLocks/>
            </p:cNvSpPr>
            <p:nvPr/>
          </p:nvSpPr>
          <p:spPr bwMode="auto">
            <a:xfrm>
              <a:off x="2784" y="1824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000" name="Arc 12"/>
            <p:cNvSpPr>
              <a:spLocks/>
            </p:cNvSpPr>
            <p:nvPr/>
          </p:nvSpPr>
          <p:spPr bwMode="auto">
            <a:xfrm>
              <a:off x="3408" y="2208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001" name="Arc 13"/>
            <p:cNvSpPr>
              <a:spLocks/>
            </p:cNvSpPr>
            <p:nvPr/>
          </p:nvSpPr>
          <p:spPr bwMode="auto">
            <a:xfrm>
              <a:off x="4128" y="2592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002" name="Arc 14"/>
            <p:cNvSpPr>
              <a:spLocks/>
            </p:cNvSpPr>
            <p:nvPr/>
          </p:nvSpPr>
          <p:spPr bwMode="auto">
            <a:xfrm>
              <a:off x="4848" y="2976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003" name="Arc 15"/>
            <p:cNvSpPr>
              <a:spLocks/>
            </p:cNvSpPr>
            <p:nvPr/>
          </p:nvSpPr>
          <p:spPr bwMode="auto">
            <a:xfrm flipH="1" flipV="1">
              <a:off x="3984" y="3264"/>
              <a:ext cx="672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004" name="Arc 16"/>
            <p:cNvSpPr>
              <a:spLocks/>
            </p:cNvSpPr>
            <p:nvPr/>
          </p:nvSpPr>
          <p:spPr bwMode="auto">
            <a:xfrm flipH="1" flipV="1">
              <a:off x="3168" y="2880"/>
              <a:ext cx="672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005" name="Arc 17"/>
            <p:cNvSpPr>
              <a:spLocks/>
            </p:cNvSpPr>
            <p:nvPr/>
          </p:nvSpPr>
          <p:spPr bwMode="auto">
            <a:xfrm flipH="1" flipV="1">
              <a:off x="2496" y="2496"/>
              <a:ext cx="672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006" name="Arc 18"/>
            <p:cNvSpPr>
              <a:spLocks/>
            </p:cNvSpPr>
            <p:nvPr/>
          </p:nvSpPr>
          <p:spPr bwMode="auto">
            <a:xfrm flipH="1" flipV="1">
              <a:off x="1824" y="2112"/>
              <a:ext cx="576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007" name="Arc 19"/>
            <p:cNvSpPr>
              <a:spLocks/>
            </p:cNvSpPr>
            <p:nvPr/>
          </p:nvSpPr>
          <p:spPr bwMode="auto">
            <a:xfrm flipH="1" flipV="1">
              <a:off x="1248" y="1680"/>
              <a:ext cx="576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1989" name="Rectangle 20"/>
          <p:cNvSpPr>
            <a:spLocks noChangeArrowheads="1"/>
          </p:cNvSpPr>
          <p:nvPr/>
        </p:nvSpPr>
        <p:spPr bwMode="auto">
          <a:xfrm>
            <a:off x="7086600" y="5257800"/>
            <a:ext cx="1828800" cy="609600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000" b="1" i="1" dirty="0">
                <a:solidFill>
                  <a:schemeClr val="bg2"/>
                </a:solidFill>
                <a:latin typeface="Arial Narrow" pitchFamily="34" charset="0"/>
              </a:rPr>
              <a:t>Maintenance</a:t>
            </a:r>
          </a:p>
        </p:txBody>
      </p:sp>
      <p:sp>
        <p:nvSpPr>
          <p:cNvPr id="41990" name="Text Box 21"/>
          <p:cNvSpPr txBox="1">
            <a:spLocks noChangeArrowheads="1"/>
          </p:cNvSpPr>
          <p:nvPr/>
        </p:nvSpPr>
        <p:spPr bwMode="auto">
          <a:xfrm>
            <a:off x="4191000" y="1584325"/>
            <a:ext cx="3903761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Purpose–monitor, repair, enhance</a:t>
            </a:r>
          </a:p>
          <a:p>
            <a:pPr algn="l"/>
            <a:endParaRPr 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Deliverable–periodic audits</a:t>
            </a:r>
          </a:p>
        </p:txBody>
      </p:sp>
      <p:sp>
        <p:nvSpPr>
          <p:cNvPr id="41991" name="Text Box 22"/>
          <p:cNvSpPr txBox="1">
            <a:spLocks noChangeArrowheads="1"/>
          </p:cNvSpPr>
          <p:nvPr/>
        </p:nvSpPr>
        <p:spPr bwMode="auto">
          <a:xfrm>
            <a:off x="404595" y="4508776"/>
            <a:ext cx="289560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activity– </a:t>
            </a: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maintenance, performance analysis and tuning, error corrections</a:t>
            </a:r>
          </a:p>
        </p:txBody>
      </p:sp>
    </p:spTree>
    <p:extLst>
      <p:ext uri="{BB962C8B-B14F-4D97-AF65-F5344CB8AC3E}">
        <p14:creationId xmlns:p14="http://schemas.microsoft.com/office/powerpoint/2010/main" val="683830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FCE5CE-3F66-4F91-9F94-80144286BCC5}" type="slidenum">
              <a:rPr lang="en-US"/>
              <a:pPr>
                <a:defRPr/>
              </a:pPr>
              <a:t>32</a:t>
            </a:fld>
            <a:endParaRPr lang="en-US"/>
          </a:p>
        </p:txBody>
      </p:sp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49864" y="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Textbook </a:t>
            </a:r>
            <a:r>
              <a:rPr lang="en-US" sz="360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Topics vs</a:t>
            </a:r>
            <a:r>
              <a:rPr lang="en-US" sz="36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 Lifecycle Model</a:t>
            </a:r>
          </a:p>
        </p:txBody>
      </p:sp>
      <p:grpSp>
        <p:nvGrpSpPr>
          <p:cNvPr id="41988" name="Group 3"/>
          <p:cNvGrpSpPr>
            <a:grpSpLocks/>
          </p:cNvGrpSpPr>
          <p:nvPr/>
        </p:nvGrpSpPr>
        <p:grpSpPr bwMode="auto">
          <a:xfrm>
            <a:off x="457200" y="1676400"/>
            <a:ext cx="8017669" cy="4027251"/>
            <a:chOff x="1008" y="1392"/>
            <a:chExt cx="4368" cy="2208"/>
          </a:xfrm>
        </p:grpSpPr>
        <p:sp>
          <p:nvSpPr>
            <p:cNvPr id="41992" name="Rectangle 4"/>
            <p:cNvSpPr>
              <a:spLocks noChangeArrowheads="1"/>
            </p:cNvSpPr>
            <p:nvPr/>
          </p:nvSpPr>
          <p:spPr bwMode="auto">
            <a:xfrm>
              <a:off x="1008" y="1392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Narrow" pitchFamily="34" charset="0"/>
                </a:rPr>
                <a:t>Planning</a:t>
              </a:r>
            </a:p>
          </p:txBody>
        </p:sp>
        <p:sp>
          <p:nvSpPr>
            <p:cNvPr id="41993" name="Rectangle 5"/>
            <p:cNvSpPr>
              <a:spLocks noChangeArrowheads="1"/>
            </p:cNvSpPr>
            <p:nvPr/>
          </p:nvSpPr>
          <p:spPr bwMode="auto">
            <a:xfrm>
              <a:off x="1824" y="1776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Narrow" pitchFamily="34" charset="0"/>
                </a:rPr>
                <a:t>Conceptual </a:t>
              </a:r>
              <a:r>
                <a:rPr lang="en-US" b="1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Narrow" pitchFamily="34" charset="0"/>
                </a:rPr>
                <a:t>Design</a:t>
              </a:r>
              <a:endPara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endParaRPr>
            </a:p>
          </p:txBody>
        </p:sp>
        <p:sp>
          <p:nvSpPr>
            <p:cNvPr id="41994" name="Rectangle 6"/>
            <p:cNvSpPr>
              <a:spLocks noChangeArrowheads="1"/>
            </p:cNvSpPr>
            <p:nvPr/>
          </p:nvSpPr>
          <p:spPr bwMode="auto">
            <a:xfrm>
              <a:off x="3168" y="2592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Narrow" pitchFamily="34" charset="0"/>
                </a:rPr>
                <a:t>Physical Design</a:t>
              </a:r>
            </a:p>
          </p:txBody>
        </p:sp>
        <p:sp>
          <p:nvSpPr>
            <p:cNvPr id="41995" name="Rectangle 7"/>
            <p:cNvSpPr>
              <a:spLocks noChangeArrowheads="1"/>
            </p:cNvSpPr>
            <p:nvPr/>
          </p:nvSpPr>
          <p:spPr bwMode="auto">
            <a:xfrm>
              <a:off x="3888" y="2976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Narrow" pitchFamily="34" charset="0"/>
                </a:rPr>
                <a:t>Implementation</a:t>
              </a:r>
            </a:p>
          </p:txBody>
        </p:sp>
        <p:sp>
          <p:nvSpPr>
            <p:cNvPr id="41997" name="Rectangle 9"/>
            <p:cNvSpPr>
              <a:spLocks noChangeArrowheads="1"/>
            </p:cNvSpPr>
            <p:nvPr/>
          </p:nvSpPr>
          <p:spPr bwMode="auto">
            <a:xfrm>
              <a:off x="2400" y="2208"/>
              <a:ext cx="960" cy="28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Narrow" pitchFamily="34" charset="0"/>
                </a:rPr>
                <a:t>Logical Design</a:t>
              </a:r>
            </a:p>
          </p:txBody>
        </p:sp>
        <p:sp>
          <p:nvSpPr>
            <p:cNvPr id="41998" name="Arc 10"/>
            <p:cNvSpPr>
              <a:spLocks/>
            </p:cNvSpPr>
            <p:nvPr/>
          </p:nvSpPr>
          <p:spPr bwMode="auto">
            <a:xfrm>
              <a:off x="1968" y="1392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999" name="Arc 11"/>
            <p:cNvSpPr>
              <a:spLocks/>
            </p:cNvSpPr>
            <p:nvPr/>
          </p:nvSpPr>
          <p:spPr bwMode="auto">
            <a:xfrm>
              <a:off x="2784" y="1824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000" name="Arc 12"/>
            <p:cNvSpPr>
              <a:spLocks/>
            </p:cNvSpPr>
            <p:nvPr/>
          </p:nvSpPr>
          <p:spPr bwMode="auto">
            <a:xfrm>
              <a:off x="3408" y="2208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001" name="Arc 13"/>
            <p:cNvSpPr>
              <a:spLocks/>
            </p:cNvSpPr>
            <p:nvPr/>
          </p:nvSpPr>
          <p:spPr bwMode="auto">
            <a:xfrm>
              <a:off x="4128" y="2592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002" name="Arc 14"/>
            <p:cNvSpPr>
              <a:spLocks/>
            </p:cNvSpPr>
            <p:nvPr/>
          </p:nvSpPr>
          <p:spPr bwMode="auto">
            <a:xfrm>
              <a:off x="4848" y="2976"/>
              <a:ext cx="52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003" name="Arc 15"/>
            <p:cNvSpPr>
              <a:spLocks/>
            </p:cNvSpPr>
            <p:nvPr/>
          </p:nvSpPr>
          <p:spPr bwMode="auto">
            <a:xfrm flipH="1" flipV="1">
              <a:off x="3984" y="3264"/>
              <a:ext cx="672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004" name="Arc 16"/>
            <p:cNvSpPr>
              <a:spLocks/>
            </p:cNvSpPr>
            <p:nvPr/>
          </p:nvSpPr>
          <p:spPr bwMode="auto">
            <a:xfrm flipH="1" flipV="1">
              <a:off x="3168" y="2880"/>
              <a:ext cx="672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005" name="Arc 17"/>
            <p:cNvSpPr>
              <a:spLocks/>
            </p:cNvSpPr>
            <p:nvPr/>
          </p:nvSpPr>
          <p:spPr bwMode="auto">
            <a:xfrm flipH="1" flipV="1">
              <a:off x="2496" y="2496"/>
              <a:ext cx="672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006" name="Arc 18"/>
            <p:cNvSpPr>
              <a:spLocks/>
            </p:cNvSpPr>
            <p:nvPr/>
          </p:nvSpPr>
          <p:spPr bwMode="auto">
            <a:xfrm flipH="1" flipV="1">
              <a:off x="1824" y="2112"/>
              <a:ext cx="576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007" name="Arc 19"/>
            <p:cNvSpPr>
              <a:spLocks/>
            </p:cNvSpPr>
            <p:nvPr/>
          </p:nvSpPr>
          <p:spPr bwMode="auto">
            <a:xfrm flipH="1" flipV="1">
              <a:off x="1248" y="1680"/>
              <a:ext cx="576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4" name="Rectangle 8"/>
          <p:cNvSpPr>
            <a:spLocks noChangeArrowheads="1"/>
          </p:cNvSpPr>
          <p:nvPr/>
        </p:nvSpPr>
        <p:spPr bwMode="auto">
          <a:xfrm>
            <a:off x="7305675" y="5342106"/>
            <a:ext cx="1762125" cy="525294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1">
                <a:solidFill>
                  <a:srgbClr val="FFFF00"/>
                </a:solidFill>
                <a:latin typeface="Arial Narrow" pitchFamily="34" charset="0"/>
              </a:rPr>
              <a:t>Maintenance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294299" y="2361536"/>
            <a:ext cx="6908658" cy="3726011"/>
            <a:chOff x="294299" y="2361536"/>
            <a:chExt cx="6908658" cy="3726011"/>
          </a:xfrm>
        </p:grpSpPr>
        <p:sp>
          <p:nvSpPr>
            <p:cNvPr id="2" name="TextBox 1"/>
            <p:cNvSpPr txBox="1"/>
            <p:nvPr/>
          </p:nvSpPr>
          <p:spPr>
            <a:xfrm>
              <a:off x="294299" y="5687437"/>
              <a:ext cx="358944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New Systems Development </a:t>
              </a:r>
              <a:endParaRPr 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6" name="Straight Arrow Connector 5"/>
            <p:cNvCxnSpPr/>
            <p:nvPr/>
          </p:nvCxnSpPr>
          <p:spPr>
            <a:xfrm flipV="1">
              <a:off x="510130" y="2361536"/>
              <a:ext cx="0" cy="331551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3943025" y="5887492"/>
              <a:ext cx="325993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1734289" y="3888926"/>
            <a:ext cx="5418987" cy="1998566"/>
            <a:chOff x="1734289" y="3888926"/>
            <a:chExt cx="5418987" cy="1998566"/>
          </a:xfrm>
        </p:grpSpPr>
        <p:cxnSp>
          <p:nvCxnSpPr>
            <p:cNvPr id="36" name="Straight Arrow Connector 35"/>
            <p:cNvCxnSpPr/>
            <p:nvPr/>
          </p:nvCxnSpPr>
          <p:spPr>
            <a:xfrm flipV="1">
              <a:off x="2878192" y="3888926"/>
              <a:ext cx="268178" cy="1138136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>
              <a:off x="4036219" y="5362198"/>
              <a:ext cx="3117057" cy="525294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1734289" y="5102379"/>
              <a:ext cx="22878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From Existing Data</a:t>
              </a:r>
              <a:endPara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324600" y="3485989"/>
            <a:ext cx="2449633" cy="1342173"/>
            <a:chOff x="6324600" y="3485989"/>
            <a:chExt cx="2449633" cy="1342173"/>
          </a:xfrm>
        </p:grpSpPr>
        <p:sp>
          <p:nvSpPr>
            <p:cNvPr id="42" name="TextBox 41"/>
            <p:cNvSpPr txBox="1"/>
            <p:nvPr/>
          </p:nvSpPr>
          <p:spPr>
            <a:xfrm>
              <a:off x="7153276" y="3485989"/>
              <a:ext cx="16209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DB Redesign</a:t>
              </a:r>
              <a:endPara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 flipH="1">
              <a:off x="6324600" y="3855321"/>
              <a:ext cx="828675" cy="272449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42" idx="2"/>
            </p:cNvCxnSpPr>
            <p:nvPr/>
          </p:nvCxnSpPr>
          <p:spPr>
            <a:xfrm flipH="1">
              <a:off x="7620000" y="3855321"/>
              <a:ext cx="343755" cy="972841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26893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S10198302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DBFB53C9-35A9-467F-919A-22BB23375D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TS101983022</Template>
  <TotalTime>881</TotalTime>
  <Words>1262</Words>
  <Application>Microsoft Office PowerPoint</Application>
  <PresentationFormat>On-screen Show (4:3)</PresentationFormat>
  <Paragraphs>270</Paragraphs>
  <Slides>32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4" baseType="lpstr">
      <vt:lpstr>TS101983022</vt:lpstr>
      <vt:lpstr>Photo Editor Photo</vt:lpstr>
      <vt:lpstr>IS 331  Database Design, Management and Applications</vt:lpstr>
      <vt:lpstr>A SNEAK PREVIEW  (a.k.a. “Learning Objectives”)</vt:lpstr>
      <vt:lpstr>Refresh Your Memory…</vt:lpstr>
      <vt:lpstr>Refresh Your Memory…</vt:lpstr>
      <vt:lpstr>Database Defined</vt:lpstr>
      <vt:lpstr>Without Relationships</vt:lpstr>
      <vt:lpstr>With Relationships</vt:lpstr>
      <vt:lpstr>Relationship Defined</vt:lpstr>
      <vt:lpstr>Keys - Revisited</vt:lpstr>
      <vt:lpstr>Meta Data – Data About Data</vt:lpstr>
      <vt:lpstr>Meta Data in SQL Server</vt:lpstr>
      <vt:lpstr>Meta Data in Access</vt:lpstr>
      <vt:lpstr>Why Meta Data?</vt:lpstr>
      <vt:lpstr>Database: Summary</vt:lpstr>
      <vt:lpstr>Database != Database System</vt:lpstr>
      <vt:lpstr>Database != Database System</vt:lpstr>
      <vt:lpstr>Database != Database System</vt:lpstr>
      <vt:lpstr>Oracle, DB2, SQL Server, etc…</vt:lpstr>
      <vt:lpstr>Why is Oracle Successful?</vt:lpstr>
      <vt:lpstr>Database Types </vt:lpstr>
      <vt:lpstr>Two Tier</vt:lpstr>
      <vt:lpstr>Three Tier</vt:lpstr>
      <vt:lpstr>Components of a Database System: Microsoft Access</vt:lpstr>
      <vt:lpstr>Microsoft Access</vt:lpstr>
      <vt:lpstr>MS Access in Detail</vt:lpstr>
      <vt:lpstr>Systems Development Life Cycle</vt:lpstr>
      <vt:lpstr>Systems Development Life Cycle</vt:lpstr>
      <vt:lpstr>Systems Development Life Cycle</vt:lpstr>
      <vt:lpstr>Systems Development Life Cycle</vt:lpstr>
      <vt:lpstr>Systems Development Life Cycle</vt:lpstr>
      <vt:lpstr>Systems Development Life Cycle</vt:lpstr>
      <vt:lpstr>Textbook Topics vs. Lifecycle Model</vt:lpstr>
    </vt:vector>
  </TitlesOfParts>
  <Company>Lehigh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Lin Lin</dc:creator>
  <cp:lastModifiedBy>IbmLaptopW520</cp:lastModifiedBy>
  <cp:revision>196</cp:revision>
  <dcterms:created xsi:type="dcterms:W3CDTF">2012-09-02T01:42:14Z</dcterms:created>
  <dcterms:modified xsi:type="dcterms:W3CDTF">2016-12-19T21:09:54Z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TC019830229991</vt:lpwstr>
  </property>
</Properties>
</file>