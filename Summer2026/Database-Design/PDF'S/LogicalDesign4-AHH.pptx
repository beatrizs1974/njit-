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2"/>
  </p:sldMasterIdLst>
  <p:notesMasterIdLst>
    <p:notesMasterId r:id="rId35"/>
  </p:notesMasterIdLst>
  <p:handoutMasterIdLst>
    <p:handoutMasterId r:id="rId36"/>
  </p:handoutMasterIdLst>
  <p:sldIdLst>
    <p:sldId id="256" r:id="rId3"/>
    <p:sldId id="257" r:id="rId4"/>
    <p:sldId id="261" r:id="rId5"/>
    <p:sldId id="260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96" r:id="rId20"/>
    <p:sldId id="276" r:id="rId21"/>
    <p:sldId id="277" r:id="rId22"/>
    <p:sldId id="297" r:id="rId23"/>
    <p:sldId id="278" r:id="rId24"/>
    <p:sldId id="285" r:id="rId25"/>
    <p:sldId id="286" r:id="rId26"/>
    <p:sldId id="287" r:id="rId27"/>
    <p:sldId id="298" r:id="rId28"/>
    <p:sldId id="288" r:id="rId29"/>
    <p:sldId id="289" r:id="rId30"/>
    <p:sldId id="290" r:id="rId31"/>
    <p:sldId id="291" r:id="rId32"/>
    <p:sldId id="292" r:id="rId33"/>
    <p:sldId id="293" r:id="rId34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597" autoAdjust="0"/>
    <p:restoredTop sz="94676" autoAdjust="0"/>
  </p:normalViewPr>
  <p:slideViewPr>
    <p:cSldViewPr>
      <p:cViewPr varScale="1">
        <p:scale>
          <a:sx n="110" d="100"/>
          <a:sy n="110" d="100"/>
        </p:scale>
        <p:origin x="164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-3120" y="-86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94B256FB-35F2-401F-999C-08A3B85074DF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A7E3509F-9C00-4ABB-8285-7B5C752D3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6043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9034493C-0454-4866-BCBA-B08E80B79975}" type="datetimeFigureOut">
              <a:rPr lang="en-US" smtClean="0"/>
              <a:pPr/>
              <a:t>9/30/2024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47B6BB5A-CE4E-4664-B71A-76645C9280C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460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B6BB5A-CE4E-4664-B71A-76645C9280C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2539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B6BB5A-CE4E-4664-B71A-76645C9280C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7827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B6BB5A-CE4E-4664-B71A-76645C9280C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7827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B6BB5A-CE4E-4664-B71A-76645C9280C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57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B6BB5A-CE4E-4664-B71A-76645C9280C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7322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B6BB5A-CE4E-4664-B71A-76645C9280C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732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685800"/>
            <a:ext cx="7772400" cy="1470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209800"/>
            <a:ext cx="6400800" cy="1143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0F9888-3879-4F22-AF80-4177AA4AC351}" type="datetime1">
              <a:rPr lang="en-US" smtClean="0"/>
              <a:pPr>
                <a:defRPr/>
              </a:pPr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42E01B-07BF-4B7E-88E3-0FA8BF19FC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C3E6D5-0B56-4E95-B722-0CB6C0A3DFB2}" type="datetime1">
              <a:rPr lang="en-US" smtClean="0"/>
              <a:pPr>
                <a:defRPr/>
              </a:pPr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DA86C6-259A-43E0-A3DD-0DFA14BC01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6FFF54-01E0-4551-9739-57A7061C7C08}" type="datetime1">
              <a:rPr lang="en-US" smtClean="0"/>
              <a:pPr>
                <a:defRPr/>
              </a:pPr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3E8DC3-00CB-499E-BCBF-41EFC7DC6A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AD2CFF-A0B0-4311-A3BC-DA4ED30FECE4}" type="datetime1">
              <a:rPr lang="en-US" smtClean="0"/>
              <a:pPr>
                <a:defRPr/>
              </a:pPr>
              <a:t>9/30/2024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6DC61A-4458-4BE4-A110-01546114C4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2968AA-672A-4F83-8CBC-80A82B39BD57}" type="datetime1">
              <a:rPr lang="en-US" smtClean="0"/>
              <a:pPr>
                <a:defRPr/>
              </a:pPr>
              <a:t>9/30/2024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14CBE0-2B4C-4AC7-8AB2-4E56AB82E3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4DC351-E228-4CFD-9822-9AA74CDFB27E}" type="datetime1">
              <a:rPr lang="en-US" smtClean="0"/>
              <a:pPr>
                <a:defRPr/>
              </a:pPr>
              <a:t>9/30/2024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650111-24E0-487D-A93D-2ADA9C1B1F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6B6B7A-DD0C-47D2-AB40-2FCF80BF4872}" type="datetime1">
              <a:rPr lang="en-US" smtClean="0"/>
              <a:pPr>
                <a:defRPr/>
              </a:pPr>
              <a:t>9/30/2024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F9E701-1039-4E30-A4DD-EC6D092F20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3A7482-F815-4503-A2A0-9B4E6F587FB9}" type="datetime1">
              <a:rPr lang="en-US" smtClean="0"/>
              <a:pPr>
                <a:defRPr/>
              </a:pPr>
              <a:t>9/30/2024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FD85B6-AB61-42AA-AA9B-6499F108AB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FDC3AE-F697-4CAB-BB32-676A80268F9B}" type="datetime1">
              <a:rPr lang="en-US" smtClean="0"/>
              <a:pPr>
                <a:defRPr/>
              </a:pPr>
              <a:t>9/30/2024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7E4D34-0B1F-4B9D-BA42-7F457ADCEC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95FAD3-E4D3-41AF-A684-34713DD70029}" type="datetime1">
              <a:rPr lang="en-US" smtClean="0"/>
              <a:pPr>
                <a:defRPr/>
              </a:pPr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6C03B4-DDAB-4006-AAC3-F33B0E420C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788E4D-B080-487F-B7C6-C1728A511627}" type="datetime1">
              <a:rPr lang="en-US" smtClean="0"/>
              <a:pPr>
                <a:defRPr/>
              </a:pPr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EB4DCF-00E7-4B5E-9DDA-00BC269363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685800"/>
            <a:ext cx="8229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828800"/>
            <a:ext cx="8229600" cy="429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42411DB9-75D0-41F5-ABD3-D260E26E5BCC}" type="datetime1">
              <a:rPr lang="en-US" smtClean="0"/>
              <a:pPr>
                <a:defRPr/>
              </a:pPr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CA87BF71-DEC3-4FE4-8E61-8936FC1DFA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2" r:id="rId2"/>
    <p:sldLayoutId id="2147483681" r:id="rId3"/>
    <p:sldLayoutId id="2147483680" r:id="rId4"/>
    <p:sldLayoutId id="2147483679" r:id="rId5"/>
    <p:sldLayoutId id="2147483678" r:id="rId6"/>
    <p:sldLayoutId id="2147483677" r:id="rId7"/>
    <p:sldLayoutId id="2147483676" r:id="rId8"/>
    <p:sldLayoutId id="2147483675" r:id="rId9"/>
    <p:sldLayoutId id="2147483674" r:id="rId10"/>
    <p:sldLayoutId id="2147483673" r:id="rId11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609600" y="152400"/>
            <a:ext cx="7772400" cy="1470025"/>
          </a:xfrm>
        </p:spPr>
        <p:txBody>
          <a:bodyPr/>
          <a:lstStyle/>
          <a:p>
            <a:pPr defTabSz="474663"/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IS 331 </a:t>
            </a:r>
            <a:b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Database Design, Management and Applications</a:t>
            </a:r>
          </a:p>
        </p:txBody>
      </p:sp>
      <p:sp>
        <p:nvSpPr>
          <p:cNvPr id="3075" name="Subtitle 2"/>
          <p:cNvSpPr>
            <a:spLocks noGrp="1"/>
          </p:cNvSpPr>
          <p:nvPr>
            <p:ph type="subTitle" idx="1"/>
          </p:nvPr>
        </p:nvSpPr>
        <p:spPr>
          <a:xfrm>
            <a:off x="1371600" y="1981200"/>
            <a:ext cx="6400800" cy="533400"/>
          </a:xfrm>
        </p:spPr>
        <p:txBody>
          <a:bodyPr/>
          <a:lstStyle/>
          <a:p>
            <a:pPr eaLnBrk="1" hangingPunct="1"/>
            <a:r>
              <a:rPr lang="en-US" sz="2400" b="1" dirty="0">
                <a:latin typeface="Arial" charset="0"/>
                <a:cs typeface="Arial" charset="0"/>
              </a:rPr>
              <a:t>Dr. Art Hendela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 bwMode="auto">
          <a:xfrm>
            <a:off x="762000" y="2667000"/>
            <a:ext cx="74676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DAY</a:t>
            </a:r>
            <a:r>
              <a:rPr kumimoji="0" lang="en-US" sz="2800" b="1" i="0" u="none" strike="noStrike" kern="1200" cap="none" spc="0" normalizeH="0" noProof="0" dirty="0">
                <a:ln>
                  <a:noFill/>
                </a:ln>
                <a:solidFill>
                  <a:srgbClr val="FFFF00"/>
                </a:solidFill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10:  Logical</a:t>
            </a:r>
            <a:r>
              <a:rPr kumimoji="0" lang="en-US" sz="2800" b="1" i="0" u="none" strike="noStrike" kern="1200" cap="none" spc="0" normalizeH="0" noProof="0" dirty="0">
                <a:ln>
                  <a:noFill/>
                </a:ln>
                <a:solidFill>
                  <a:srgbClr val="FFFF00"/>
                </a:solidFill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Design (IV)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42E01B-07BF-4B7E-88E3-0FA8BF19FC45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p:sp>
        <p:nvSpPr>
          <p:cNvPr id="17" name="Text Box 6"/>
          <p:cNvSpPr txBox="1">
            <a:spLocks noChangeArrowheads="1"/>
          </p:cNvSpPr>
          <p:nvPr/>
        </p:nvSpPr>
        <p:spPr bwMode="auto">
          <a:xfrm>
            <a:off x="533400" y="3433762"/>
            <a:ext cx="2743200" cy="4064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800">
                <a:solidFill>
                  <a:schemeClr val="tx1">
                    <a:lumMod val="50000"/>
                    <a:lumOff val="50000"/>
                  </a:schemeClr>
                </a:solidFill>
              </a:rPr>
              <a:t>Requirement Analysis</a:t>
            </a:r>
            <a:r>
              <a:rPr lang="en-US" sz="200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828800" y="4043362"/>
            <a:ext cx="2590800" cy="4064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800">
                <a:solidFill>
                  <a:schemeClr val="tx1">
                    <a:lumMod val="50000"/>
                    <a:lumOff val="50000"/>
                  </a:schemeClr>
                </a:solidFill>
              </a:rPr>
              <a:t>Conceptual Design</a:t>
            </a:r>
            <a:r>
              <a:rPr lang="en-US" sz="200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</p:txBody>
      </p:sp>
      <p:sp>
        <p:nvSpPr>
          <p:cNvPr id="19" name="Text Box 8"/>
          <p:cNvSpPr txBox="1">
            <a:spLocks noChangeArrowheads="1"/>
          </p:cNvSpPr>
          <p:nvPr/>
        </p:nvSpPr>
        <p:spPr bwMode="auto">
          <a:xfrm>
            <a:off x="3048000" y="4576762"/>
            <a:ext cx="2514600" cy="46166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Logical Design</a:t>
            </a: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0" name="Text Box 9"/>
          <p:cNvSpPr txBox="1">
            <a:spLocks noChangeArrowheads="1"/>
          </p:cNvSpPr>
          <p:nvPr/>
        </p:nvSpPr>
        <p:spPr bwMode="auto">
          <a:xfrm>
            <a:off x="4267200" y="5186362"/>
            <a:ext cx="2438400" cy="37623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800">
                <a:solidFill>
                  <a:schemeClr val="tx1">
                    <a:lumMod val="50000"/>
                    <a:lumOff val="50000"/>
                  </a:schemeClr>
                </a:solidFill>
              </a:rPr>
              <a:t>Physical Design </a:t>
            </a:r>
          </a:p>
        </p:txBody>
      </p:sp>
      <p:sp>
        <p:nvSpPr>
          <p:cNvPr id="21" name="Text Box 10"/>
          <p:cNvSpPr txBox="1">
            <a:spLocks noChangeArrowheads="1"/>
          </p:cNvSpPr>
          <p:nvPr/>
        </p:nvSpPr>
        <p:spPr bwMode="auto">
          <a:xfrm>
            <a:off x="5334000" y="5719762"/>
            <a:ext cx="2286000" cy="37623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800">
                <a:solidFill>
                  <a:schemeClr val="tx1">
                    <a:lumMod val="50000"/>
                    <a:lumOff val="50000"/>
                  </a:schemeClr>
                </a:solidFill>
              </a:rPr>
              <a:t>Implementation </a:t>
            </a: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6477000" y="6253162"/>
            <a:ext cx="1981200" cy="37623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800">
                <a:solidFill>
                  <a:schemeClr val="tx1">
                    <a:lumMod val="50000"/>
                    <a:lumOff val="50000"/>
                  </a:schemeClr>
                </a:solidFill>
              </a:rPr>
              <a:t>Maintenance </a:t>
            </a:r>
          </a:p>
        </p:txBody>
      </p:sp>
      <p:sp>
        <p:nvSpPr>
          <p:cNvPr id="23" name="Line 13"/>
          <p:cNvSpPr>
            <a:spLocks noChangeShapeType="1"/>
          </p:cNvSpPr>
          <p:nvPr/>
        </p:nvSpPr>
        <p:spPr bwMode="auto">
          <a:xfrm>
            <a:off x="3276600" y="4424362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4" name="Line 15"/>
          <p:cNvSpPr>
            <a:spLocks noChangeShapeType="1"/>
          </p:cNvSpPr>
          <p:nvPr/>
        </p:nvSpPr>
        <p:spPr bwMode="auto">
          <a:xfrm>
            <a:off x="4572000" y="5033962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5" name="Line 16"/>
          <p:cNvSpPr>
            <a:spLocks noChangeShapeType="1"/>
          </p:cNvSpPr>
          <p:nvPr/>
        </p:nvSpPr>
        <p:spPr bwMode="auto">
          <a:xfrm>
            <a:off x="5562600" y="5567362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" name="Line 17"/>
          <p:cNvSpPr>
            <a:spLocks noChangeShapeType="1"/>
          </p:cNvSpPr>
          <p:nvPr/>
        </p:nvSpPr>
        <p:spPr bwMode="auto">
          <a:xfrm>
            <a:off x="6705600" y="6100762"/>
            <a:ext cx="228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7" name="Line 18"/>
          <p:cNvSpPr>
            <a:spLocks noChangeShapeType="1"/>
          </p:cNvSpPr>
          <p:nvPr/>
        </p:nvSpPr>
        <p:spPr bwMode="auto">
          <a:xfrm>
            <a:off x="2590800" y="3890962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34636"/>
            <a:ext cx="73152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 Objectives </a:t>
            </a:r>
            <a:r>
              <a:rPr 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</a:p>
        </p:txBody>
      </p:sp>
      <p:sp>
        <p:nvSpPr>
          <p:cNvPr id="3481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42900" y="1265237"/>
            <a:ext cx="8229600" cy="4297363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80808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Understand the following terms: 1NF, 2NF, 3NF, BCNF</a:t>
            </a:r>
          </a:p>
          <a:p>
            <a:pPr marL="400050" lvl="1" indent="0">
              <a:lnSpc>
                <a:spcPct val="90000"/>
              </a:lnSpc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(First Normal Form, Second Normal Form, Third Normal Form, Boyce-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Codd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Normal Form)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Define: 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partial dependency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transitive dependency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multi-value dependency</a:t>
            </a:r>
          </a:p>
          <a:p>
            <a:pPr marL="0" indent="0">
              <a:lnSpc>
                <a:spcPct val="90000"/>
              </a:lnSpc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Determine which Normal Form a relation is in</a:t>
            </a:r>
          </a:p>
          <a:p>
            <a:pPr>
              <a:lnSpc>
                <a:spcPct val="90000"/>
              </a:lnSpc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Decompose a relation into relations that are in 3NF</a:t>
            </a:r>
          </a:p>
        </p:txBody>
      </p:sp>
    </p:spTree>
    <p:extLst>
      <p:ext uri="{BB962C8B-B14F-4D97-AF65-F5344CB8AC3E}">
        <p14:creationId xmlns:p14="http://schemas.microsoft.com/office/powerpoint/2010/main" val="2486982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Overview</a:t>
            </a:r>
          </a:p>
        </p:txBody>
      </p:sp>
      <p:sp>
        <p:nvSpPr>
          <p:cNvPr id="6349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62000" y="1295400"/>
            <a:ext cx="7772400" cy="4114800"/>
          </a:xfrm>
        </p:spPr>
        <p:txBody>
          <a:bodyPr/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Normal Forms</a:t>
            </a:r>
          </a:p>
          <a:p>
            <a:pPr lvl="1">
              <a:spcBef>
                <a:spcPts val="600"/>
              </a:spcBef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1NF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First Normal Form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spcBef>
                <a:spcPts val="600"/>
              </a:spcBef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2NF 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Second Normal Form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spcBef>
                <a:spcPts val="600"/>
              </a:spcBef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3NF 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Third Normal Form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spcBef>
                <a:spcPts val="600"/>
              </a:spcBef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BCNF -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Boyce-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Codd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Normal Form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higher NFs –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4NF, 5NF, Domain Key NF (DKNF)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Normalization 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Decomposition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Examples</a:t>
            </a:r>
          </a:p>
          <a:p>
            <a:pPr lvl="1"/>
            <a:endParaRPr 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475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-13855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 are we?</a:t>
            </a:r>
          </a:p>
        </p:txBody>
      </p:sp>
      <p:sp>
        <p:nvSpPr>
          <p:cNvPr id="25" name="Text Box 54"/>
          <p:cNvSpPr txBox="1">
            <a:spLocks noChangeArrowheads="1"/>
          </p:cNvSpPr>
          <p:nvPr/>
        </p:nvSpPr>
        <p:spPr bwMode="auto">
          <a:xfrm>
            <a:off x="304800" y="4191000"/>
            <a:ext cx="1905000" cy="95567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Logical Design </a:t>
            </a:r>
          </a:p>
        </p:txBody>
      </p:sp>
      <p:sp>
        <p:nvSpPr>
          <p:cNvPr id="26" name="Line 55"/>
          <p:cNvSpPr>
            <a:spLocks noChangeShapeType="1"/>
          </p:cNvSpPr>
          <p:nvPr/>
        </p:nvSpPr>
        <p:spPr bwMode="auto">
          <a:xfrm>
            <a:off x="6705600" y="17526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7" name="Text Box 56"/>
          <p:cNvSpPr txBox="1">
            <a:spLocks noChangeArrowheads="1"/>
          </p:cNvSpPr>
          <p:nvPr/>
        </p:nvSpPr>
        <p:spPr bwMode="auto">
          <a:xfrm>
            <a:off x="7086600" y="1600200"/>
            <a:ext cx="1828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i="1" dirty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Structure</a:t>
            </a:r>
          </a:p>
        </p:txBody>
      </p:sp>
      <p:sp>
        <p:nvSpPr>
          <p:cNvPr id="28" name="Text Box 57"/>
          <p:cNvSpPr txBox="1">
            <a:spLocks noChangeArrowheads="1"/>
          </p:cNvSpPr>
          <p:nvPr/>
        </p:nvSpPr>
        <p:spPr bwMode="auto">
          <a:xfrm>
            <a:off x="7010400" y="2438400"/>
            <a:ext cx="1828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i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Data Integrity</a:t>
            </a:r>
          </a:p>
        </p:txBody>
      </p:sp>
      <p:sp>
        <p:nvSpPr>
          <p:cNvPr id="29" name="Text Box 58"/>
          <p:cNvSpPr txBox="1">
            <a:spLocks noChangeArrowheads="1"/>
          </p:cNvSpPr>
          <p:nvPr/>
        </p:nvSpPr>
        <p:spPr bwMode="auto">
          <a:xfrm>
            <a:off x="6934200" y="3352800"/>
            <a:ext cx="2362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i="1" dirty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Data Manipulation</a:t>
            </a:r>
          </a:p>
        </p:txBody>
      </p:sp>
      <p:sp>
        <p:nvSpPr>
          <p:cNvPr id="30" name="Line 59"/>
          <p:cNvSpPr>
            <a:spLocks noChangeShapeType="1"/>
          </p:cNvSpPr>
          <p:nvPr/>
        </p:nvSpPr>
        <p:spPr bwMode="auto">
          <a:xfrm>
            <a:off x="6553200" y="26670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1" name="Line 60"/>
          <p:cNvSpPr>
            <a:spLocks noChangeShapeType="1"/>
          </p:cNvSpPr>
          <p:nvPr/>
        </p:nvSpPr>
        <p:spPr bwMode="auto">
          <a:xfrm>
            <a:off x="6705600" y="35814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2" name="Line 61"/>
          <p:cNvSpPr>
            <a:spLocks noChangeShapeType="1"/>
          </p:cNvSpPr>
          <p:nvPr/>
        </p:nvSpPr>
        <p:spPr bwMode="auto">
          <a:xfrm>
            <a:off x="6705600" y="1752600"/>
            <a:ext cx="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3" name="Line 62"/>
          <p:cNvSpPr>
            <a:spLocks noChangeShapeType="1"/>
          </p:cNvSpPr>
          <p:nvPr/>
        </p:nvSpPr>
        <p:spPr bwMode="auto">
          <a:xfrm>
            <a:off x="2438400" y="37338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4" name="Line 63"/>
          <p:cNvSpPr>
            <a:spLocks noChangeShapeType="1"/>
          </p:cNvSpPr>
          <p:nvPr/>
        </p:nvSpPr>
        <p:spPr bwMode="auto">
          <a:xfrm>
            <a:off x="2209800" y="46482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5" name="Line 64"/>
          <p:cNvSpPr>
            <a:spLocks noChangeShapeType="1"/>
          </p:cNvSpPr>
          <p:nvPr/>
        </p:nvSpPr>
        <p:spPr bwMode="auto">
          <a:xfrm>
            <a:off x="2438400" y="55626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6" name="Line 65"/>
          <p:cNvSpPr>
            <a:spLocks noChangeShapeType="1"/>
          </p:cNvSpPr>
          <p:nvPr/>
        </p:nvSpPr>
        <p:spPr bwMode="auto">
          <a:xfrm>
            <a:off x="2438400" y="3733800"/>
            <a:ext cx="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7" name="Text Box 66"/>
          <p:cNvSpPr txBox="1">
            <a:spLocks noChangeArrowheads="1"/>
          </p:cNvSpPr>
          <p:nvPr/>
        </p:nvSpPr>
        <p:spPr bwMode="auto">
          <a:xfrm>
            <a:off x="2590800" y="3267670"/>
            <a:ext cx="1752600" cy="9233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Translate ER Into Relational Model</a:t>
            </a:r>
          </a:p>
        </p:txBody>
      </p:sp>
      <p:sp>
        <p:nvSpPr>
          <p:cNvPr id="38" name="Text Box 67"/>
          <p:cNvSpPr txBox="1">
            <a:spLocks noChangeArrowheads="1"/>
          </p:cNvSpPr>
          <p:nvPr/>
        </p:nvSpPr>
        <p:spPr bwMode="auto">
          <a:xfrm>
            <a:off x="2590800" y="5410200"/>
            <a:ext cx="1905000" cy="369332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Normalization</a:t>
            </a:r>
          </a:p>
        </p:txBody>
      </p:sp>
      <p:sp>
        <p:nvSpPr>
          <p:cNvPr id="39" name="Line 68"/>
          <p:cNvSpPr>
            <a:spLocks noChangeShapeType="1"/>
          </p:cNvSpPr>
          <p:nvPr/>
        </p:nvSpPr>
        <p:spPr bwMode="auto">
          <a:xfrm>
            <a:off x="4668982" y="2829791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0" name="Line 69"/>
          <p:cNvSpPr>
            <a:spLocks noChangeShapeType="1"/>
          </p:cNvSpPr>
          <p:nvPr/>
        </p:nvSpPr>
        <p:spPr bwMode="auto">
          <a:xfrm>
            <a:off x="4343400" y="37338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1" name="Line 70"/>
          <p:cNvSpPr>
            <a:spLocks noChangeShapeType="1"/>
          </p:cNvSpPr>
          <p:nvPr/>
        </p:nvSpPr>
        <p:spPr bwMode="auto">
          <a:xfrm>
            <a:off x="4672445" y="4668982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2" name="Line 71"/>
          <p:cNvSpPr>
            <a:spLocks noChangeShapeType="1"/>
          </p:cNvSpPr>
          <p:nvPr/>
        </p:nvSpPr>
        <p:spPr bwMode="auto">
          <a:xfrm>
            <a:off x="4665518" y="2840037"/>
            <a:ext cx="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3" name="Text Box 72"/>
          <p:cNvSpPr txBox="1">
            <a:spLocks noChangeArrowheads="1"/>
          </p:cNvSpPr>
          <p:nvPr/>
        </p:nvSpPr>
        <p:spPr bwMode="auto">
          <a:xfrm>
            <a:off x="4800600" y="2209800"/>
            <a:ext cx="1752600" cy="9233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Understand Relational Model</a:t>
            </a:r>
          </a:p>
        </p:txBody>
      </p:sp>
      <p:sp>
        <p:nvSpPr>
          <p:cNvPr id="44" name="Text Box 73"/>
          <p:cNvSpPr txBox="1">
            <a:spLocks noChangeArrowheads="1"/>
          </p:cNvSpPr>
          <p:nvPr/>
        </p:nvSpPr>
        <p:spPr bwMode="auto">
          <a:xfrm>
            <a:off x="4838699" y="4454236"/>
            <a:ext cx="2019301" cy="36933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to Translate?</a:t>
            </a:r>
          </a:p>
        </p:txBody>
      </p:sp>
      <p:sp>
        <p:nvSpPr>
          <p:cNvPr id="45" name="Rectangle 75"/>
          <p:cNvSpPr>
            <a:spLocks noChangeArrowheads="1"/>
          </p:cNvSpPr>
          <p:nvPr/>
        </p:nvSpPr>
        <p:spPr bwMode="auto">
          <a:xfrm>
            <a:off x="2514600" y="5334000"/>
            <a:ext cx="2126673" cy="533400"/>
          </a:xfrm>
          <a:prstGeom prst="rect">
            <a:avLst/>
          </a:prstGeom>
          <a:noFill/>
          <a:ln w="28575">
            <a:solidFill>
              <a:srgbClr val="CC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 i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33812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Recap</a:t>
            </a:r>
          </a:p>
        </p:txBody>
      </p:sp>
      <p:sp>
        <p:nvSpPr>
          <p:cNvPr id="19968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33400" y="1371600"/>
            <a:ext cx="8229600" cy="4114800"/>
          </a:xfrm>
          <a:noFill/>
          <a:ln/>
        </p:spPr>
        <p:txBody>
          <a:bodyPr/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 have covered:</a:t>
            </a:r>
          </a:p>
          <a:p>
            <a:pPr lvl="1"/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FD (functional decomposition): </a:t>
            </a:r>
            <a:r>
              <a:rPr lang="en-US" sz="2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FD is the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foundation of normalization. It describes the relationships among attributes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Closure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A method to help us locate keys of a relation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What can we do so far?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 can find primary keys for any given relation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Next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 will examine normalization </a:t>
            </a:r>
          </a:p>
          <a:p>
            <a:endParaRPr lang="en-US" sz="1800" b="1" dirty="0">
              <a:solidFill>
                <a:schemeClr val="hlin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4546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10391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Normalization</a:t>
            </a:r>
          </a:p>
        </p:txBody>
      </p:sp>
      <p:sp>
        <p:nvSpPr>
          <p:cNvPr id="23961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09600" y="1371600"/>
            <a:ext cx="8229600" cy="4114800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Normalization:</a:t>
            </a:r>
          </a:p>
          <a:p>
            <a:pPr lvl="1">
              <a:lnSpc>
                <a:spcPct val="90000"/>
              </a:lnSpc>
            </a:pP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Decompose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 “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bad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” table into several “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” ones.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Move from a lower 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normal form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to a higher and better normal form.</a:t>
            </a:r>
          </a:p>
          <a:p>
            <a:pPr lvl="1">
              <a:lnSpc>
                <a:spcPct val="90000"/>
              </a:lnSpc>
            </a:pPr>
            <a:endParaRPr lang="en-US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Normal Forms:</a:t>
            </a:r>
            <a:endParaRPr lang="en-US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First Normal Form (1NF)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Second Normal Form (2NF)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Third Normal Form (3NF)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Boyce/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Codd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Normal Form (BCNF)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Higher Normal Forms (4NF, 5NF, DKNF, etc.)</a:t>
            </a:r>
            <a:endParaRPr lang="en-US" sz="2400" dirty="0">
              <a:solidFill>
                <a:schemeClr val="hlin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031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Normalization: 1NF</a:t>
            </a:r>
          </a:p>
        </p:txBody>
      </p:sp>
      <p:sp>
        <p:nvSpPr>
          <p:cNvPr id="24166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229600" cy="4114800"/>
          </a:xfrm>
          <a:noFill/>
          <a:ln/>
        </p:spPr>
        <p:txBody>
          <a:bodyPr/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First Normal Form (1NF)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relation is in 1</a:t>
            </a:r>
            <a:r>
              <a:rPr lang="en-US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normal form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if and only if (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iff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each tuple, that is each row, contains exactly one value for each attribute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Remember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Codd’s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six characteristics of a relation (UUUOO</a:t>
            </a:r>
            <a:r>
              <a:rPr lang="en-US" sz="2400" dirty="0">
                <a:solidFill>
                  <a:srgbClr val="C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). 3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Uniques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2 orders that don’t matter and being Atomic. 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If all six characteristics are met, then, by definition, a relation is in 1NF</a:t>
            </a:r>
          </a:p>
          <a:p>
            <a:endParaRPr lang="en-US" sz="1600" b="1" dirty="0">
              <a:solidFill>
                <a:schemeClr val="hlin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7355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7620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Normalization: 2NF</a:t>
            </a:r>
          </a:p>
        </p:txBody>
      </p:sp>
      <p:sp>
        <p:nvSpPr>
          <p:cNvPr id="24269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229600" cy="4114800"/>
          </a:xfrm>
          <a:noFill/>
          <a:ln/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Second Normal Form (2NF)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relation is in 2</a:t>
            </a:r>
            <a:r>
              <a:rPr lang="en-US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normal form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iff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is in 1NF</a:t>
            </a:r>
          </a:p>
          <a:p>
            <a:pPr lvl="2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Every non-key attribute is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functionally dependent on the primary key 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2NF prohibits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partial dependencies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No non-key attribute depends on only part of the primary key</a:t>
            </a:r>
          </a:p>
          <a:p>
            <a:endParaRPr lang="en-US" sz="1600" b="1" dirty="0">
              <a:solidFill>
                <a:schemeClr val="hlin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26134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2"/>
          <p:cNvSpPr>
            <a:spLocks noGrp="1" noChangeArrowheads="1"/>
          </p:cNvSpPr>
          <p:nvPr>
            <p:ph type="title"/>
          </p:nvPr>
        </p:nvSpPr>
        <p:spPr>
          <a:xfrm>
            <a:off x="473869" y="20782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Normalization: 2NF</a:t>
            </a:r>
          </a:p>
        </p:txBody>
      </p:sp>
      <p:sp>
        <p:nvSpPr>
          <p:cNvPr id="24371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229600" cy="4114800"/>
          </a:xfrm>
          <a:noFill/>
          <a:ln/>
        </p:spPr>
        <p:txBody>
          <a:bodyPr/>
          <a:lstStyle/>
          <a:p>
            <a:r>
              <a:rPr lang="en-US" dirty="0"/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Partial dependency 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 attribute is dependent on part of the primary key but not all of the primary key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Example:</a:t>
            </a:r>
          </a:p>
          <a:p>
            <a:endParaRPr lang="en-US" sz="2800" b="1" dirty="0">
              <a:solidFill>
                <a:schemeClr val="hlink"/>
              </a:solidFill>
            </a:endParaRPr>
          </a:p>
          <a:p>
            <a:endParaRPr lang="en-US" sz="2800" b="1" dirty="0">
              <a:solidFill>
                <a:schemeClr val="hlink"/>
              </a:solidFill>
            </a:endParaRPr>
          </a:p>
          <a:p>
            <a:endParaRPr lang="en-US" sz="2800" b="1" dirty="0">
              <a:solidFill>
                <a:srgbClr val="002060"/>
              </a:solidFill>
            </a:endParaRPr>
          </a:p>
          <a:p>
            <a:r>
              <a:rPr lang="en-US" sz="2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partial dependencies are that you can find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Sname</a:t>
            </a:r>
            <a:r>
              <a:rPr lang="en-US" sz="2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if you know just SID. You don’t need both SID and C#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 if you know just C#. Again you don’t need both SID and C#</a:t>
            </a:r>
          </a:p>
        </p:txBody>
      </p:sp>
      <p:sp>
        <p:nvSpPr>
          <p:cNvPr id="243716" name="Rectangle 4"/>
          <p:cNvSpPr>
            <a:spLocks noChangeArrowheads="1"/>
          </p:cNvSpPr>
          <p:nvPr/>
        </p:nvSpPr>
        <p:spPr bwMode="auto">
          <a:xfrm>
            <a:off x="838200" y="3657600"/>
            <a:ext cx="714003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800" dirty="0">
                <a:sym typeface="Wingdings" pitchFamily="2" charset="2"/>
              </a:rPr>
              <a:t>Student(SID, C#, SNAME,  TITLE, GRADE)</a:t>
            </a:r>
          </a:p>
        </p:txBody>
      </p:sp>
      <p:sp>
        <p:nvSpPr>
          <p:cNvPr id="243717" name="Line 5"/>
          <p:cNvSpPr>
            <a:spLocks noChangeShapeType="1"/>
          </p:cNvSpPr>
          <p:nvPr/>
        </p:nvSpPr>
        <p:spPr bwMode="auto">
          <a:xfrm>
            <a:off x="2286000" y="4114800"/>
            <a:ext cx="1143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2286000" y="3352800"/>
            <a:ext cx="5410200" cy="381000"/>
            <a:chOff x="2286000" y="3733800"/>
            <a:chExt cx="5410200" cy="381000"/>
          </a:xfrm>
        </p:grpSpPr>
        <p:sp>
          <p:nvSpPr>
            <p:cNvPr id="243718" name="Line 6"/>
            <p:cNvSpPr>
              <a:spLocks noChangeShapeType="1"/>
            </p:cNvSpPr>
            <p:nvPr/>
          </p:nvSpPr>
          <p:spPr bwMode="auto">
            <a:xfrm>
              <a:off x="2286000" y="3886200"/>
              <a:ext cx="1066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43719" name="Line 7"/>
            <p:cNvSpPr>
              <a:spLocks noChangeShapeType="1"/>
            </p:cNvSpPr>
            <p:nvPr/>
          </p:nvSpPr>
          <p:spPr bwMode="auto">
            <a:xfrm>
              <a:off x="2286000" y="3886200"/>
              <a:ext cx="0" cy="152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43720" name="Line 8"/>
            <p:cNvSpPr>
              <a:spLocks noChangeShapeType="1"/>
            </p:cNvSpPr>
            <p:nvPr/>
          </p:nvSpPr>
          <p:spPr bwMode="auto">
            <a:xfrm>
              <a:off x="3352800" y="3886200"/>
              <a:ext cx="0" cy="152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43721" name="Line 9"/>
            <p:cNvSpPr>
              <a:spLocks noChangeShapeType="1"/>
            </p:cNvSpPr>
            <p:nvPr/>
          </p:nvSpPr>
          <p:spPr bwMode="auto">
            <a:xfrm>
              <a:off x="3124200" y="3733800"/>
              <a:ext cx="45720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43722" name="Line 10"/>
            <p:cNvSpPr>
              <a:spLocks noChangeShapeType="1"/>
            </p:cNvSpPr>
            <p:nvPr/>
          </p:nvSpPr>
          <p:spPr bwMode="auto">
            <a:xfrm>
              <a:off x="3124200" y="3733800"/>
              <a:ext cx="0" cy="152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43723" name="Line 11"/>
            <p:cNvSpPr>
              <a:spLocks noChangeShapeType="1"/>
            </p:cNvSpPr>
            <p:nvPr/>
          </p:nvSpPr>
          <p:spPr bwMode="auto">
            <a:xfrm>
              <a:off x="7696200" y="3733800"/>
              <a:ext cx="0" cy="381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43724" name="Line 12"/>
            <p:cNvSpPr>
              <a:spLocks noChangeShapeType="1"/>
            </p:cNvSpPr>
            <p:nvPr/>
          </p:nvSpPr>
          <p:spPr bwMode="auto">
            <a:xfrm>
              <a:off x="6172200" y="3733800"/>
              <a:ext cx="0" cy="381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43725" name="Line 13"/>
            <p:cNvSpPr>
              <a:spLocks noChangeShapeType="1"/>
            </p:cNvSpPr>
            <p:nvPr/>
          </p:nvSpPr>
          <p:spPr bwMode="auto">
            <a:xfrm>
              <a:off x="4876800" y="3733800"/>
              <a:ext cx="0" cy="381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243727" name="Line 15"/>
          <p:cNvSpPr>
            <a:spLocks noChangeShapeType="1"/>
          </p:cNvSpPr>
          <p:nvPr/>
        </p:nvSpPr>
        <p:spPr bwMode="auto">
          <a:xfrm>
            <a:off x="2514600" y="4495800"/>
            <a:ext cx="2362200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43728" name="Line 16"/>
          <p:cNvSpPr>
            <a:spLocks noChangeShapeType="1"/>
          </p:cNvSpPr>
          <p:nvPr/>
        </p:nvSpPr>
        <p:spPr bwMode="auto">
          <a:xfrm>
            <a:off x="4876800" y="4114800"/>
            <a:ext cx="0" cy="3810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43729" name="Line 17"/>
          <p:cNvSpPr>
            <a:spLocks noChangeShapeType="1"/>
          </p:cNvSpPr>
          <p:nvPr/>
        </p:nvSpPr>
        <p:spPr bwMode="auto">
          <a:xfrm>
            <a:off x="6172200" y="4114800"/>
            <a:ext cx="0" cy="3048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43730" name="Line 18"/>
          <p:cNvSpPr>
            <a:spLocks noChangeShapeType="1"/>
          </p:cNvSpPr>
          <p:nvPr/>
        </p:nvSpPr>
        <p:spPr bwMode="auto">
          <a:xfrm>
            <a:off x="3352800" y="4419600"/>
            <a:ext cx="2819400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43731" name="Line 19"/>
          <p:cNvSpPr>
            <a:spLocks noChangeShapeType="1"/>
          </p:cNvSpPr>
          <p:nvPr/>
        </p:nvSpPr>
        <p:spPr bwMode="auto">
          <a:xfrm>
            <a:off x="2514600" y="4191000"/>
            <a:ext cx="0" cy="3048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43732" name="Line 20"/>
          <p:cNvSpPr>
            <a:spLocks noChangeShapeType="1"/>
          </p:cNvSpPr>
          <p:nvPr/>
        </p:nvSpPr>
        <p:spPr bwMode="auto">
          <a:xfrm>
            <a:off x="3352800" y="4114800"/>
            <a:ext cx="0" cy="3048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5955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Normalization: 2NF</a:t>
            </a:r>
          </a:p>
        </p:txBody>
      </p:sp>
      <p:sp>
        <p:nvSpPr>
          <p:cNvPr id="24781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229600" cy="4114800"/>
          </a:xfrm>
          <a:noFill/>
          <a:ln/>
        </p:spPr>
        <p:txBody>
          <a:bodyPr/>
          <a:lstStyle/>
          <a:p>
            <a:r>
              <a:rPr lang="en-US" dirty="0"/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Question: If a relation has ONE attribute as its primary key, is it in 2NF?</a:t>
            </a:r>
          </a:p>
          <a:p>
            <a:pPr lvl="1"/>
            <a:r>
              <a:rPr lang="en-US" sz="2400" b="1" dirty="0">
                <a:solidFill>
                  <a:schemeClr val="hlin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Yes, since there cannot be “partial” dependencies</a:t>
            </a:r>
          </a:p>
          <a:p>
            <a:endParaRPr lang="en-US" sz="2400" b="1" dirty="0">
              <a:solidFill>
                <a:schemeClr val="hlin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Question: If all attributes in a relation constitute the primary key, is it in 2NF?</a:t>
            </a:r>
          </a:p>
          <a:p>
            <a:pPr lvl="1"/>
            <a:r>
              <a:rPr lang="en-US" sz="2400" b="1" dirty="0">
                <a:solidFill>
                  <a:schemeClr val="hlin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Yes, since there aren’t any non-key attributes</a:t>
            </a:r>
          </a:p>
        </p:txBody>
      </p:sp>
    </p:spTree>
    <p:extLst>
      <p:ext uri="{BB962C8B-B14F-4D97-AF65-F5344CB8AC3E}">
        <p14:creationId xmlns:p14="http://schemas.microsoft.com/office/powerpoint/2010/main" val="17266013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title"/>
          </p:nvPr>
        </p:nvSpPr>
        <p:spPr>
          <a:xfrm>
            <a:off x="473869" y="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Normalization: 2NF</a:t>
            </a:r>
          </a:p>
        </p:txBody>
      </p:sp>
      <p:sp>
        <p:nvSpPr>
          <p:cNvPr id="24473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09600" y="1402556"/>
            <a:ext cx="8229600" cy="4114800"/>
          </a:xfrm>
          <a:noFill/>
          <a:ln/>
        </p:spPr>
        <p:txBody>
          <a:bodyPr/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Decomposition is the process to create new tables by breaking up the original table into smaller ones based on which attributes depend on the others. For 2 NF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For each attribute in the primary key that is involved in partial dependency, 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a new table.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We create Student and Class</a:t>
            </a:r>
            <a:r>
              <a:rPr lang="en-US" sz="2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All attributes that are partially dependent on that attribute should be moved to the new table. Move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Sname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to Student and Title to Class</a:t>
            </a:r>
          </a:p>
          <a:p>
            <a:endParaRPr lang="en-US" sz="2400" b="1" dirty="0">
              <a:solidFill>
                <a:schemeClr val="hlin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4740" name="Rectangle 4"/>
          <p:cNvSpPr>
            <a:spLocks noChangeArrowheads="1"/>
          </p:cNvSpPr>
          <p:nvPr/>
        </p:nvSpPr>
        <p:spPr bwMode="auto">
          <a:xfrm>
            <a:off x="838200" y="4505980"/>
            <a:ext cx="704064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800" dirty="0">
                <a:sym typeface="Wingdings" pitchFamily="2" charset="2"/>
              </a:rPr>
              <a:t>Student(</a:t>
            </a:r>
            <a:r>
              <a:rPr lang="en-US" sz="2800" u="sng" dirty="0">
                <a:sym typeface="Wingdings" pitchFamily="2" charset="2"/>
              </a:rPr>
              <a:t>SID, C#</a:t>
            </a:r>
            <a:r>
              <a:rPr lang="en-US" sz="2800" dirty="0">
                <a:sym typeface="Wingdings" pitchFamily="2" charset="2"/>
              </a:rPr>
              <a:t>, SNAME, TITLE, GRADE)</a:t>
            </a:r>
          </a:p>
        </p:txBody>
      </p:sp>
      <p:sp>
        <p:nvSpPr>
          <p:cNvPr id="244757" name="Rectangle 21"/>
          <p:cNvSpPr>
            <a:spLocks noChangeArrowheads="1"/>
          </p:cNvSpPr>
          <p:nvPr/>
        </p:nvSpPr>
        <p:spPr bwMode="auto">
          <a:xfrm>
            <a:off x="914400" y="5257800"/>
            <a:ext cx="399660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800" dirty="0" err="1">
                <a:sym typeface="Wingdings" pitchFamily="2" charset="2"/>
              </a:rPr>
              <a:t>StuName</a:t>
            </a:r>
            <a:r>
              <a:rPr lang="en-US" sz="2800" dirty="0">
                <a:sym typeface="Wingdings" pitchFamily="2" charset="2"/>
              </a:rPr>
              <a:t>(</a:t>
            </a:r>
            <a:r>
              <a:rPr lang="en-US" sz="2800" u="sng" dirty="0">
                <a:sym typeface="Wingdings" pitchFamily="2" charset="2"/>
              </a:rPr>
              <a:t>SID</a:t>
            </a:r>
            <a:r>
              <a:rPr lang="en-US" sz="2800" dirty="0">
                <a:sym typeface="Wingdings" pitchFamily="2" charset="2"/>
              </a:rPr>
              <a:t>, SNAME)</a:t>
            </a:r>
          </a:p>
        </p:txBody>
      </p:sp>
      <p:sp>
        <p:nvSpPr>
          <p:cNvPr id="244758" name="Rectangle 22"/>
          <p:cNvSpPr>
            <a:spLocks noChangeArrowheads="1"/>
          </p:cNvSpPr>
          <p:nvPr/>
        </p:nvSpPr>
        <p:spPr bwMode="auto">
          <a:xfrm>
            <a:off x="4724400" y="6019800"/>
            <a:ext cx="323191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800" dirty="0">
                <a:sym typeface="Wingdings" pitchFamily="2" charset="2"/>
              </a:rPr>
              <a:t>CLASS(</a:t>
            </a:r>
            <a:r>
              <a:rPr lang="en-US" sz="2800" u="sng" dirty="0">
                <a:sym typeface="Wingdings" pitchFamily="2" charset="2"/>
              </a:rPr>
              <a:t>C#</a:t>
            </a:r>
            <a:r>
              <a:rPr lang="en-US" sz="2800" dirty="0">
                <a:sym typeface="Wingdings" pitchFamily="2" charset="2"/>
              </a:rPr>
              <a:t>, TITLE)</a:t>
            </a:r>
          </a:p>
        </p:txBody>
      </p:sp>
      <p:sp>
        <p:nvSpPr>
          <p:cNvPr id="244759" name="Line 23"/>
          <p:cNvSpPr>
            <a:spLocks noChangeShapeType="1"/>
          </p:cNvSpPr>
          <p:nvPr/>
        </p:nvSpPr>
        <p:spPr bwMode="auto">
          <a:xfrm flipH="1">
            <a:off x="3657600" y="4914900"/>
            <a:ext cx="700922" cy="34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44760" name="Line 24"/>
          <p:cNvSpPr>
            <a:spLocks noChangeShapeType="1"/>
          </p:cNvSpPr>
          <p:nvPr/>
        </p:nvSpPr>
        <p:spPr bwMode="auto">
          <a:xfrm>
            <a:off x="5562600" y="4909810"/>
            <a:ext cx="1371600" cy="118619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44761" name="Line 25"/>
          <p:cNvSpPr>
            <a:spLocks noChangeShapeType="1"/>
          </p:cNvSpPr>
          <p:nvPr/>
        </p:nvSpPr>
        <p:spPr bwMode="auto">
          <a:xfrm>
            <a:off x="3749555" y="4767590"/>
            <a:ext cx="2590800" cy="0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949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0391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Normalization: 3NF</a:t>
            </a:r>
          </a:p>
        </p:txBody>
      </p:sp>
      <p:sp>
        <p:nvSpPr>
          <p:cNvPr id="24576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229600" cy="4114800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relation is in 3NF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iff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It is in 2NF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There is no </a:t>
            </a:r>
            <a:r>
              <a:rPr lang="en-US" sz="24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transitive dependency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for non-key attribute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3NF prohibits transitive dependency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Transitive Dependency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If A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B and B  C, we say that C is 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transitively dependent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on A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lang="en-US" sz="2800" b="1" dirty="0">
              <a:solidFill>
                <a:schemeClr val="hlin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304062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sz="3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Normalization: 3NF</a:t>
            </a:r>
          </a:p>
        </p:txBody>
      </p:sp>
      <p:sp>
        <p:nvSpPr>
          <p:cNvPr id="24678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153400" cy="4114800"/>
          </a:xfrm>
          <a:noFill/>
          <a:ln/>
        </p:spPr>
        <p:txBody>
          <a:bodyPr/>
          <a:lstStyle/>
          <a:p>
            <a:r>
              <a:rPr lang="en-US" dirty="0"/>
              <a:t> </a:t>
            </a:r>
            <a:r>
              <a:rPr lang="en-US" sz="2800" dirty="0"/>
              <a:t>Example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CLASS(</a:t>
            </a:r>
            <a:r>
              <a:rPr lang="en-US" sz="2400" u="sng" dirty="0"/>
              <a:t>CNAME</a:t>
            </a:r>
            <a:r>
              <a:rPr lang="en-US" sz="2400" dirty="0"/>
              <a:t>, CLEVEL, ROOM, CAPACITY)</a:t>
            </a:r>
          </a:p>
          <a:p>
            <a:pPr lvl="1"/>
            <a:endParaRPr lang="en-US" sz="2400" dirty="0"/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First we see that room and capacity are not part of the primary key. That’s why room and capacity are not underlined.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Next, we see that the capacity of the room is dependent on which room it is. If we are in a lecture hall it might fit 100 students. If we are in a regular classroom, then maybe 30 students. We can see that capacity is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DEPENDENT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on the room.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2362200" y="2286000"/>
            <a:ext cx="3810000" cy="381000"/>
            <a:chOff x="2667000" y="2286000"/>
            <a:chExt cx="3810000" cy="381000"/>
          </a:xfrm>
        </p:grpSpPr>
        <p:sp>
          <p:nvSpPr>
            <p:cNvPr id="246792" name="Line 8"/>
            <p:cNvSpPr>
              <a:spLocks noChangeShapeType="1"/>
            </p:cNvSpPr>
            <p:nvPr/>
          </p:nvSpPr>
          <p:spPr bwMode="auto">
            <a:xfrm>
              <a:off x="2667000" y="2286000"/>
              <a:ext cx="38100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46793" name="Line 9"/>
            <p:cNvSpPr>
              <a:spLocks noChangeShapeType="1"/>
            </p:cNvSpPr>
            <p:nvPr/>
          </p:nvSpPr>
          <p:spPr bwMode="auto">
            <a:xfrm>
              <a:off x="2667000" y="2286000"/>
              <a:ext cx="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46794" name="Line 10"/>
            <p:cNvSpPr>
              <a:spLocks noChangeShapeType="1"/>
            </p:cNvSpPr>
            <p:nvPr/>
          </p:nvSpPr>
          <p:spPr bwMode="auto">
            <a:xfrm>
              <a:off x="6477000" y="2286000"/>
              <a:ext cx="0" cy="381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46795" name="Line 11"/>
            <p:cNvSpPr>
              <a:spLocks noChangeShapeType="1"/>
            </p:cNvSpPr>
            <p:nvPr/>
          </p:nvSpPr>
          <p:spPr bwMode="auto">
            <a:xfrm>
              <a:off x="5410200" y="2286000"/>
              <a:ext cx="0" cy="381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46796" name="Line 12"/>
            <p:cNvSpPr>
              <a:spLocks noChangeShapeType="1"/>
            </p:cNvSpPr>
            <p:nvPr/>
          </p:nvSpPr>
          <p:spPr bwMode="auto">
            <a:xfrm>
              <a:off x="4419600" y="2286000"/>
              <a:ext cx="0" cy="381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4953000" y="3048000"/>
            <a:ext cx="1295400" cy="381000"/>
            <a:chOff x="4953000" y="3048000"/>
            <a:chExt cx="1295400" cy="381000"/>
          </a:xfrm>
        </p:grpSpPr>
        <p:sp>
          <p:nvSpPr>
            <p:cNvPr id="246799" name="Line 15"/>
            <p:cNvSpPr>
              <a:spLocks noChangeShapeType="1"/>
            </p:cNvSpPr>
            <p:nvPr/>
          </p:nvSpPr>
          <p:spPr bwMode="auto">
            <a:xfrm>
              <a:off x="6248400" y="3048000"/>
              <a:ext cx="0" cy="38100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46800" name="Line 16"/>
            <p:cNvSpPr>
              <a:spLocks noChangeShapeType="1"/>
            </p:cNvSpPr>
            <p:nvPr/>
          </p:nvSpPr>
          <p:spPr bwMode="auto">
            <a:xfrm>
              <a:off x="4953000" y="3429000"/>
              <a:ext cx="1295400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46802" name="Line 18"/>
            <p:cNvSpPr>
              <a:spLocks noChangeShapeType="1"/>
            </p:cNvSpPr>
            <p:nvPr/>
          </p:nvSpPr>
          <p:spPr bwMode="auto">
            <a:xfrm>
              <a:off x="4953000" y="3124200"/>
              <a:ext cx="0" cy="30480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856679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Normalization: 3NF</a:t>
            </a:r>
          </a:p>
        </p:txBody>
      </p:sp>
      <p:sp>
        <p:nvSpPr>
          <p:cNvPr id="24883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229600" cy="4114800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Question: If a relation has ONE attribute as its primary key, is it in 3NF?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2400" b="1" dirty="0">
                <a:solidFill>
                  <a:schemeClr val="hlin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necessarily. We do not know whether there is transitive dependency or not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Question: If all attributes in a relation constitute the primary key, is it in 3NF?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2400" b="1" dirty="0">
                <a:solidFill>
                  <a:schemeClr val="hlin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Yes. There aren’t any non-key attributes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Question: If a relation has ONE non-key attribute, and it is in 2NF, is it in 3NF?</a:t>
            </a:r>
          </a:p>
          <a:p>
            <a:pPr lvl="1">
              <a:lnSpc>
                <a:spcPct val="90000"/>
              </a:lnSpc>
            </a:pPr>
            <a:r>
              <a:rPr lang="en-US" sz="2400" b="1" dirty="0">
                <a:solidFill>
                  <a:schemeClr val="hlin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Yes. One non-key attribute cannot construct a transitive dependency</a:t>
            </a:r>
          </a:p>
          <a:p>
            <a:pPr lvl="1">
              <a:lnSpc>
                <a:spcPct val="90000"/>
              </a:lnSpc>
            </a:pPr>
            <a:endParaRPr lang="en-US" sz="2000" b="1" dirty="0">
              <a:solidFill>
                <a:schemeClr val="hlin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03825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Rectangle 2"/>
          <p:cNvSpPr>
            <a:spLocks noGrp="1" noChangeArrowheads="1"/>
          </p:cNvSpPr>
          <p:nvPr>
            <p:ph type="title"/>
          </p:nvPr>
        </p:nvSpPr>
        <p:spPr>
          <a:xfrm>
            <a:off x="433387" y="-13855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Normalization: 3NF</a:t>
            </a:r>
          </a:p>
        </p:txBody>
      </p:sp>
      <p:sp>
        <p:nvSpPr>
          <p:cNvPr id="25088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09600" y="1371600"/>
            <a:ext cx="8229600" cy="4114800"/>
          </a:xfrm>
          <a:noFill/>
          <a:ln/>
        </p:spPr>
        <p:txBody>
          <a:bodyPr/>
          <a:lstStyle/>
          <a:p>
            <a:r>
              <a:rPr lang="en-US" dirty="0"/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Decompose into 3NF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For each non-key attribute that is on LHS,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a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new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The primary key of this table is this attribute. We create a ROOM table.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Leave this attribute in the old relation, but move all attributes that are dependent on it to the new table.</a:t>
            </a:r>
          </a:p>
          <a:p>
            <a:pPr lvl="1">
              <a:buFont typeface="Wingdings" pitchFamily="2" charset="2"/>
              <a:buNone/>
            </a:pPr>
            <a:endParaRPr lang="en-US" sz="2400" b="1" dirty="0">
              <a:solidFill>
                <a:schemeClr val="hlin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0884" name="Rectangle 4"/>
          <p:cNvSpPr>
            <a:spLocks noChangeArrowheads="1"/>
          </p:cNvSpPr>
          <p:nvPr/>
        </p:nvSpPr>
        <p:spPr bwMode="auto">
          <a:xfrm>
            <a:off x="1114425" y="5029200"/>
            <a:ext cx="6505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lvl="1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dirty="0"/>
              <a:t>CLASS(</a:t>
            </a:r>
            <a:r>
              <a:rPr lang="en-US" u="sng" dirty="0"/>
              <a:t>CNAME</a:t>
            </a:r>
            <a:r>
              <a:rPr lang="en-US" dirty="0"/>
              <a:t>, CLEVEL, ROOM, CAPACITY)</a:t>
            </a:r>
          </a:p>
        </p:txBody>
      </p:sp>
      <p:sp>
        <p:nvSpPr>
          <p:cNvPr id="250885" name="Rectangle 5"/>
          <p:cNvSpPr>
            <a:spLocks noChangeArrowheads="1"/>
          </p:cNvSpPr>
          <p:nvPr/>
        </p:nvSpPr>
        <p:spPr bwMode="auto">
          <a:xfrm>
            <a:off x="3935412" y="5867400"/>
            <a:ext cx="44465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dirty="0"/>
              <a:t>ROOM(</a:t>
            </a:r>
            <a:r>
              <a:rPr lang="en-US" u="sng" dirty="0"/>
              <a:t>ROOM</a:t>
            </a:r>
            <a:r>
              <a:rPr lang="en-US" dirty="0"/>
              <a:t>, CAPACITY)</a:t>
            </a:r>
          </a:p>
        </p:txBody>
      </p:sp>
      <p:sp>
        <p:nvSpPr>
          <p:cNvPr id="250886" name="Line 6"/>
          <p:cNvSpPr>
            <a:spLocks noChangeShapeType="1"/>
          </p:cNvSpPr>
          <p:nvPr/>
        </p:nvSpPr>
        <p:spPr bwMode="auto">
          <a:xfrm>
            <a:off x="5943600" y="5334000"/>
            <a:ext cx="838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50887" name="Line 7"/>
          <p:cNvSpPr>
            <a:spLocks noChangeShapeType="1"/>
          </p:cNvSpPr>
          <p:nvPr/>
        </p:nvSpPr>
        <p:spPr bwMode="auto">
          <a:xfrm>
            <a:off x="5257800" y="5257800"/>
            <a:ext cx="1371600" cy="0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" name="Line 6"/>
          <p:cNvSpPr>
            <a:spLocks noChangeShapeType="1"/>
          </p:cNvSpPr>
          <p:nvPr/>
        </p:nvSpPr>
        <p:spPr bwMode="auto">
          <a:xfrm>
            <a:off x="4914900" y="5307106"/>
            <a:ext cx="800100" cy="6364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295400" y="5479676"/>
            <a:ext cx="3429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Room is copied to become the key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4267200"/>
            <a:ext cx="41640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CAPACITY is moved to the new table (ROOM)  and deleted from the old one (CLASS)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6362700" y="4765431"/>
            <a:ext cx="1072356" cy="263769"/>
          </a:xfrm>
          <a:prstGeom prst="straightConnector1">
            <a:avLst/>
          </a:prstGeom>
          <a:ln w="28575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6882606" y="4851975"/>
            <a:ext cx="590550" cy="984184"/>
          </a:xfrm>
          <a:prstGeom prst="straightConnector1">
            <a:avLst/>
          </a:prstGeom>
          <a:ln w="28575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4572000" y="5648953"/>
            <a:ext cx="685800" cy="267063"/>
          </a:xfrm>
          <a:prstGeom prst="straightConnector1">
            <a:avLst/>
          </a:prstGeom>
          <a:ln w="28575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54766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0795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Normalization: BCNF</a:t>
            </a:r>
          </a:p>
        </p:txBody>
      </p:sp>
      <p:sp>
        <p:nvSpPr>
          <p:cNvPr id="25190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229600" cy="4114800"/>
          </a:xfrm>
          <a:noFill/>
          <a:ln/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relation is in BCNF (Boyce-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Codd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NF)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iff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It is in 3NF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only determinants are candidate keys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What does it mean?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When can a determinant be non-key?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Only two scenarios:</a:t>
            </a:r>
          </a:p>
          <a:p>
            <a:pPr lvl="2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determines other non-key attribute: transitive</a:t>
            </a:r>
          </a:p>
          <a:p>
            <a:pPr lvl="2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determines part of key attribute</a:t>
            </a:r>
          </a:p>
          <a:p>
            <a:pPr lvl="1">
              <a:buFont typeface="Wingdings" pitchFamily="2" charset="2"/>
              <a:buNone/>
            </a:pPr>
            <a:endParaRPr lang="en-US" sz="2400" b="1" dirty="0">
              <a:solidFill>
                <a:schemeClr val="hlin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111460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Normalization: BCNF</a:t>
            </a:r>
          </a:p>
        </p:txBody>
      </p:sp>
      <p:sp>
        <p:nvSpPr>
          <p:cNvPr id="25293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229600" cy="4114800"/>
          </a:xfrm>
          <a:noFill/>
          <a:ln/>
        </p:spPr>
        <p:txBody>
          <a:bodyPr/>
          <a:lstStyle/>
          <a:p>
            <a:r>
              <a:rPr lang="en-US" dirty="0"/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  <a:p>
            <a:endParaRPr lang="en-US" sz="2800" dirty="0"/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Assume SNAME is also unique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key COULD have been SNAME, C#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Now what do we do?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Break the SID, SNAME attributes into their own table</a:t>
            </a:r>
          </a:p>
          <a:p>
            <a:pPr marL="457200" lvl="1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2400" dirty="0"/>
          </a:p>
          <a:p>
            <a:pPr lvl="1">
              <a:buFont typeface="Wingdings" pitchFamily="2" charset="2"/>
              <a:buNone/>
            </a:pPr>
            <a:endParaRPr lang="en-US" sz="2400" b="1" dirty="0">
              <a:solidFill>
                <a:schemeClr val="hlink"/>
              </a:solidFill>
            </a:endParaRPr>
          </a:p>
        </p:txBody>
      </p:sp>
      <p:sp>
        <p:nvSpPr>
          <p:cNvPr id="252932" name="Rectangle 4"/>
          <p:cNvSpPr>
            <a:spLocks noChangeArrowheads="1"/>
          </p:cNvSpPr>
          <p:nvPr/>
        </p:nvSpPr>
        <p:spPr bwMode="auto">
          <a:xfrm>
            <a:off x="914400" y="2438400"/>
            <a:ext cx="577113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800" dirty="0">
                <a:sym typeface="Wingdings" pitchFamily="2" charset="2"/>
              </a:rPr>
              <a:t>Student(</a:t>
            </a:r>
            <a:r>
              <a:rPr lang="en-US" sz="2800" u="sng" dirty="0">
                <a:sym typeface="Wingdings" pitchFamily="2" charset="2"/>
              </a:rPr>
              <a:t>SID, C#</a:t>
            </a:r>
            <a:r>
              <a:rPr lang="en-US" sz="2800" dirty="0">
                <a:sym typeface="Wingdings" pitchFamily="2" charset="2"/>
              </a:rPr>
              <a:t>, SNAME,GRADE)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2362200" y="2133600"/>
            <a:ext cx="3886200" cy="381000"/>
            <a:chOff x="2362200" y="2133600"/>
            <a:chExt cx="3886200" cy="381000"/>
          </a:xfrm>
        </p:grpSpPr>
        <p:sp>
          <p:nvSpPr>
            <p:cNvPr id="252934" name="Line 6"/>
            <p:cNvSpPr>
              <a:spLocks noChangeShapeType="1"/>
            </p:cNvSpPr>
            <p:nvPr/>
          </p:nvSpPr>
          <p:spPr bwMode="auto">
            <a:xfrm>
              <a:off x="2362200" y="2286000"/>
              <a:ext cx="990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2935" name="Line 7"/>
            <p:cNvSpPr>
              <a:spLocks noChangeShapeType="1"/>
            </p:cNvSpPr>
            <p:nvPr/>
          </p:nvSpPr>
          <p:spPr bwMode="auto">
            <a:xfrm>
              <a:off x="2362200" y="2286000"/>
              <a:ext cx="0" cy="152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2936" name="Line 8"/>
            <p:cNvSpPr>
              <a:spLocks noChangeShapeType="1"/>
            </p:cNvSpPr>
            <p:nvPr/>
          </p:nvSpPr>
          <p:spPr bwMode="auto">
            <a:xfrm>
              <a:off x="3352800" y="2286000"/>
              <a:ext cx="0" cy="152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2937" name="Line 9"/>
            <p:cNvSpPr>
              <a:spLocks noChangeShapeType="1"/>
            </p:cNvSpPr>
            <p:nvPr/>
          </p:nvSpPr>
          <p:spPr bwMode="auto">
            <a:xfrm>
              <a:off x="3200400" y="2133600"/>
              <a:ext cx="30480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2938" name="Line 10"/>
            <p:cNvSpPr>
              <a:spLocks noChangeShapeType="1"/>
            </p:cNvSpPr>
            <p:nvPr/>
          </p:nvSpPr>
          <p:spPr bwMode="auto">
            <a:xfrm>
              <a:off x="3200400" y="2133600"/>
              <a:ext cx="0" cy="152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2940" name="Line 12"/>
            <p:cNvSpPr>
              <a:spLocks noChangeShapeType="1"/>
            </p:cNvSpPr>
            <p:nvPr/>
          </p:nvSpPr>
          <p:spPr bwMode="auto">
            <a:xfrm>
              <a:off x="6248400" y="2133600"/>
              <a:ext cx="0" cy="381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2941" name="Line 13"/>
            <p:cNvSpPr>
              <a:spLocks noChangeShapeType="1"/>
            </p:cNvSpPr>
            <p:nvPr/>
          </p:nvSpPr>
          <p:spPr bwMode="auto">
            <a:xfrm>
              <a:off x="4953000" y="2133600"/>
              <a:ext cx="0" cy="381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2590800" y="2895600"/>
            <a:ext cx="2362200" cy="381000"/>
            <a:chOff x="2590800" y="2895600"/>
            <a:chExt cx="2362200" cy="381000"/>
          </a:xfrm>
        </p:grpSpPr>
        <p:sp>
          <p:nvSpPr>
            <p:cNvPr id="252942" name="Line 14"/>
            <p:cNvSpPr>
              <a:spLocks noChangeShapeType="1"/>
            </p:cNvSpPr>
            <p:nvPr/>
          </p:nvSpPr>
          <p:spPr bwMode="auto">
            <a:xfrm>
              <a:off x="2590800" y="3276600"/>
              <a:ext cx="2362200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2943" name="Line 15"/>
            <p:cNvSpPr>
              <a:spLocks noChangeShapeType="1"/>
            </p:cNvSpPr>
            <p:nvPr/>
          </p:nvSpPr>
          <p:spPr bwMode="auto">
            <a:xfrm>
              <a:off x="4953000" y="2895600"/>
              <a:ext cx="0" cy="38100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2946" name="Line 18"/>
            <p:cNvSpPr>
              <a:spLocks noChangeShapeType="1"/>
            </p:cNvSpPr>
            <p:nvPr/>
          </p:nvSpPr>
          <p:spPr bwMode="auto">
            <a:xfrm>
              <a:off x="2590800" y="2971800"/>
              <a:ext cx="0" cy="30480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284471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Normalization: BCNF</a:t>
            </a:r>
          </a:p>
        </p:txBody>
      </p:sp>
      <p:sp>
        <p:nvSpPr>
          <p:cNvPr id="25293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295400"/>
            <a:ext cx="8229600" cy="4495800"/>
          </a:xfrm>
          <a:noFill/>
          <a:ln/>
        </p:spPr>
        <p:txBody>
          <a:bodyPr/>
          <a:lstStyle/>
          <a:p>
            <a:r>
              <a:rPr lang="en-US" dirty="0"/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After the split, we achieve BCNF</a:t>
            </a:r>
          </a:p>
          <a:p>
            <a:endParaRPr lang="en-US" sz="2800" dirty="0"/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marL="457200" lvl="1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2400" dirty="0"/>
          </a:p>
          <a:p>
            <a:pPr lvl="1">
              <a:buFont typeface="Wingdings" pitchFamily="2" charset="2"/>
              <a:buNone/>
            </a:pPr>
            <a:endParaRPr lang="en-US" sz="2400" b="1" dirty="0">
              <a:solidFill>
                <a:schemeClr val="hlink"/>
              </a:solidFill>
            </a:endParaRPr>
          </a:p>
        </p:txBody>
      </p:sp>
      <p:sp>
        <p:nvSpPr>
          <p:cNvPr id="252932" name="Rectangle 4"/>
          <p:cNvSpPr>
            <a:spLocks noChangeArrowheads="1"/>
          </p:cNvSpPr>
          <p:nvPr/>
        </p:nvSpPr>
        <p:spPr bwMode="auto">
          <a:xfrm>
            <a:off x="914400" y="2438400"/>
            <a:ext cx="449514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800" dirty="0">
                <a:sym typeface="Wingdings" pitchFamily="2" charset="2"/>
              </a:rPr>
              <a:t>Student(</a:t>
            </a:r>
            <a:r>
              <a:rPr lang="en-US" sz="2800" u="sng" dirty="0">
                <a:sym typeface="Wingdings" pitchFamily="2" charset="2"/>
              </a:rPr>
              <a:t>SID, C#</a:t>
            </a:r>
            <a:r>
              <a:rPr lang="en-US" sz="2800" dirty="0">
                <a:sym typeface="Wingdings" pitchFamily="2" charset="2"/>
              </a:rPr>
              <a:t>, GRADE)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2362200" y="2133600"/>
            <a:ext cx="2209800" cy="381000"/>
            <a:chOff x="2362200" y="2133600"/>
            <a:chExt cx="2209800" cy="381000"/>
          </a:xfrm>
        </p:grpSpPr>
        <p:sp>
          <p:nvSpPr>
            <p:cNvPr id="252934" name="Line 6"/>
            <p:cNvSpPr>
              <a:spLocks noChangeShapeType="1"/>
            </p:cNvSpPr>
            <p:nvPr/>
          </p:nvSpPr>
          <p:spPr bwMode="auto">
            <a:xfrm>
              <a:off x="2362200" y="2286000"/>
              <a:ext cx="990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2935" name="Line 7"/>
            <p:cNvSpPr>
              <a:spLocks noChangeShapeType="1"/>
            </p:cNvSpPr>
            <p:nvPr/>
          </p:nvSpPr>
          <p:spPr bwMode="auto">
            <a:xfrm>
              <a:off x="2362200" y="2286000"/>
              <a:ext cx="0" cy="152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2936" name="Line 8"/>
            <p:cNvSpPr>
              <a:spLocks noChangeShapeType="1"/>
            </p:cNvSpPr>
            <p:nvPr/>
          </p:nvSpPr>
          <p:spPr bwMode="auto">
            <a:xfrm>
              <a:off x="3352800" y="2286000"/>
              <a:ext cx="0" cy="152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2937" name="Line 9"/>
            <p:cNvSpPr>
              <a:spLocks noChangeShapeType="1"/>
            </p:cNvSpPr>
            <p:nvPr/>
          </p:nvSpPr>
          <p:spPr bwMode="auto">
            <a:xfrm>
              <a:off x="3200400" y="2133600"/>
              <a:ext cx="1371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2938" name="Line 10"/>
            <p:cNvSpPr>
              <a:spLocks noChangeShapeType="1"/>
            </p:cNvSpPr>
            <p:nvPr/>
          </p:nvSpPr>
          <p:spPr bwMode="auto">
            <a:xfrm>
              <a:off x="3200400" y="2133600"/>
              <a:ext cx="0" cy="152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2941" name="Line 13"/>
            <p:cNvSpPr>
              <a:spLocks noChangeShapeType="1"/>
            </p:cNvSpPr>
            <p:nvPr/>
          </p:nvSpPr>
          <p:spPr bwMode="auto">
            <a:xfrm>
              <a:off x="4572000" y="2133600"/>
              <a:ext cx="0" cy="381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2590800" y="2895600"/>
            <a:ext cx="2362200" cy="381000"/>
            <a:chOff x="2590800" y="2895600"/>
            <a:chExt cx="2362200" cy="381000"/>
          </a:xfrm>
        </p:grpSpPr>
        <p:sp>
          <p:nvSpPr>
            <p:cNvPr id="252942" name="Line 14"/>
            <p:cNvSpPr>
              <a:spLocks noChangeShapeType="1"/>
            </p:cNvSpPr>
            <p:nvPr/>
          </p:nvSpPr>
          <p:spPr bwMode="auto">
            <a:xfrm>
              <a:off x="2590800" y="3276600"/>
              <a:ext cx="2362200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2943" name="Line 15"/>
            <p:cNvSpPr>
              <a:spLocks noChangeShapeType="1"/>
            </p:cNvSpPr>
            <p:nvPr/>
          </p:nvSpPr>
          <p:spPr bwMode="auto">
            <a:xfrm>
              <a:off x="4953000" y="2895600"/>
              <a:ext cx="0" cy="38100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2946" name="Line 18"/>
            <p:cNvSpPr>
              <a:spLocks noChangeShapeType="1"/>
            </p:cNvSpPr>
            <p:nvPr/>
          </p:nvSpPr>
          <p:spPr bwMode="auto">
            <a:xfrm>
              <a:off x="2590800" y="2971800"/>
              <a:ext cx="0" cy="30480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931492" y="3962400"/>
            <a:ext cx="399660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800" dirty="0" err="1">
                <a:sym typeface="Wingdings" pitchFamily="2" charset="2"/>
              </a:rPr>
              <a:t>StuName</a:t>
            </a:r>
            <a:r>
              <a:rPr lang="en-US" sz="2800" dirty="0">
                <a:sym typeface="Wingdings" pitchFamily="2" charset="2"/>
              </a:rPr>
              <a:t>(</a:t>
            </a:r>
            <a:r>
              <a:rPr lang="en-US" sz="2800" u="sng" dirty="0">
                <a:sym typeface="Wingdings" pitchFamily="2" charset="2"/>
              </a:rPr>
              <a:t>SID,</a:t>
            </a:r>
            <a:r>
              <a:rPr lang="en-US" sz="2800" dirty="0">
                <a:sym typeface="Wingdings" pitchFamily="2" charset="2"/>
              </a:rPr>
              <a:t> SNAME)</a:t>
            </a:r>
          </a:p>
        </p:txBody>
      </p:sp>
    </p:spTree>
    <p:extLst>
      <p:ext uri="{BB962C8B-B14F-4D97-AF65-F5344CB8AC3E}">
        <p14:creationId xmlns:p14="http://schemas.microsoft.com/office/powerpoint/2010/main" val="33558950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r>
              <a:rPr lang="en-US" sz="36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Normalization: BCNF</a:t>
            </a:r>
          </a:p>
        </p:txBody>
      </p:sp>
      <p:sp>
        <p:nvSpPr>
          <p:cNvPr id="25395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229600" cy="4114800"/>
          </a:xfrm>
          <a:noFill/>
          <a:ln/>
        </p:spPr>
        <p:txBody>
          <a:bodyPr/>
          <a:lstStyle/>
          <a:p>
            <a:r>
              <a:rPr lang="en-US" sz="2800" dirty="0"/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3NF does not adequately deal with the case of a table that</a:t>
            </a:r>
          </a:p>
          <a:p>
            <a:pPr lvl="1">
              <a:buFont typeface="Wingdings" pitchFamily="2" charset="2"/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1. Has two or more candidate keys, such that</a:t>
            </a:r>
          </a:p>
          <a:p>
            <a:pPr lvl="1">
              <a:buFont typeface="Wingdings" pitchFamily="2" charset="2"/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2. The candidate keys were composite, and</a:t>
            </a:r>
          </a:p>
          <a:p>
            <a:pPr lvl="1">
              <a:buFont typeface="Wingdings" pitchFamily="2" charset="2"/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3. They overlap, i.e., they have at least one common attribute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1200"/>
              </a:spcBef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BCNF prohibits the combination of these conditions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BCNF is strictly stronger than 3NF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BCNF is sometimes called 3.5NF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practice, when a relation is in 3NF, it’s often in BCNF too. So many people aim at 3NF in their design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883696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Normalization: 4NF and Higher</a:t>
            </a:r>
          </a:p>
        </p:txBody>
      </p:sp>
      <p:sp>
        <p:nvSpPr>
          <p:cNvPr id="25497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229600" cy="4114800"/>
          </a:xfrm>
          <a:noFill/>
          <a:ln/>
        </p:spPr>
        <p:txBody>
          <a:bodyPr/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Concerned with other constraints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Fourth normal forms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Concerned with Multi-valued dependencies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Fifth normal forms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Concerned with Join dependencies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Domain Key normal forms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Concerned with domain and key constraints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practice, BCNF or 3NF is often good enough</a:t>
            </a:r>
          </a:p>
          <a:p>
            <a:pPr lvl="1"/>
            <a:endParaRPr lang="en-US" sz="2400" dirty="0"/>
          </a:p>
          <a:p>
            <a:pPr lvl="1">
              <a:buFont typeface="Wingdings" pitchFamily="2" charset="2"/>
              <a:buNone/>
            </a:pPr>
            <a:endParaRPr lang="en-US" sz="2400" b="1" dirty="0">
              <a:solidFill>
                <a:schemeClr val="hlin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57364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Normalization: 4NF</a:t>
            </a:r>
          </a:p>
        </p:txBody>
      </p:sp>
      <p:sp>
        <p:nvSpPr>
          <p:cNvPr id="25497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295400"/>
            <a:ext cx="8229600" cy="1295400"/>
          </a:xfrm>
          <a:noFill/>
          <a:ln/>
        </p:spPr>
        <p:txBody>
          <a:bodyPr/>
          <a:lstStyle/>
          <a:p>
            <a:pPr marL="457200" lvl="1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multi-valued dependency of ENAME with </a:t>
            </a:r>
          </a:p>
          <a:p>
            <a:pPr marL="457200" lvl="1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PNAME and DNAME is broken into two tables</a:t>
            </a:r>
          </a:p>
          <a:p>
            <a:pPr marL="457200" lvl="1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ENAME -&gt; PNAME (1:N)   &amp;   ENAME -&gt; DNAME (1:N) </a:t>
            </a:r>
          </a:p>
          <a:p>
            <a:pPr marL="457200" lvl="1" indent="0">
              <a:buNone/>
            </a:pPr>
            <a:endParaRPr lang="en-US" sz="2000" dirty="0"/>
          </a:p>
          <a:p>
            <a:pPr lvl="1">
              <a:buFont typeface="Wingdings" pitchFamily="2" charset="2"/>
              <a:buNone/>
            </a:pPr>
            <a:endParaRPr lang="en-US" sz="2400" b="1" dirty="0">
              <a:solidFill>
                <a:schemeClr val="hlink"/>
              </a:solidFill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8977340"/>
              </p:ext>
            </p:extLst>
          </p:nvPr>
        </p:nvGraphicFramePr>
        <p:xfrm>
          <a:off x="2514600" y="2743200"/>
          <a:ext cx="3124200" cy="185420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SMITH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John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SMITH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SMITH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SMITH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John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8965331"/>
              </p:ext>
            </p:extLst>
          </p:nvPr>
        </p:nvGraphicFramePr>
        <p:xfrm>
          <a:off x="1524000" y="4800600"/>
          <a:ext cx="1981200" cy="110744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2240">
                <a:tc>
                  <a:txBody>
                    <a:bodyPr/>
                    <a:lstStyle/>
                    <a:p>
                      <a:r>
                        <a:rPr lang="en-US" dirty="0"/>
                        <a:t>ENAME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SMITH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SMITH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8093413"/>
              </p:ext>
            </p:extLst>
          </p:nvPr>
        </p:nvGraphicFramePr>
        <p:xfrm>
          <a:off x="4495800" y="4800600"/>
          <a:ext cx="2133600" cy="110744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2240">
                <a:tc>
                  <a:txBody>
                    <a:bodyPr/>
                    <a:lstStyle/>
                    <a:p>
                      <a:r>
                        <a:rPr lang="en-US" dirty="0"/>
                        <a:t>ENAME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SMITH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John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SMITH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59025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Normalization </a:t>
            </a:r>
            <a:b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Recap</a:t>
            </a:r>
          </a:p>
        </p:txBody>
      </p:sp>
      <p:sp>
        <p:nvSpPr>
          <p:cNvPr id="25600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229600" cy="4114800"/>
          </a:xfrm>
          <a:noFill/>
          <a:ln/>
        </p:spPr>
        <p:txBody>
          <a:bodyPr/>
          <a:lstStyle/>
          <a:p>
            <a:r>
              <a:rPr lang="en-US" dirty="0"/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 looked at different NFs, how they may generate anomalies, and how to decompose them 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Next, we look at what is a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decomposition</a:t>
            </a:r>
          </a:p>
          <a:p>
            <a:pPr lvl="1"/>
            <a:endParaRPr lang="en-US" sz="2400" dirty="0"/>
          </a:p>
          <a:p>
            <a:pPr lvl="1">
              <a:buFont typeface="Wingdings" pitchFamily="2" charset="2"/>
              <a:buNone/>
            </a:pPr>
            <a:endParaRPr lang="en-US" sz="2400" b="1" dirty="0">
              <a:solidFill>
                <a:schemeClr val="hlin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90305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to perform normalization</a:t>
            </a:r>
          </a:p>
        </p:txBody>
      </p:sp>
      <p:sp>
        <p:nvSpPr>
          <p:cNvPr id="26214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8229600" cy="4114800"/>
          </a:xfrm>
          <a:noFill/>
          <a:ln/>
        </p:spPr>
        <p:txBody>
          <a:bodyPr/>
          <a:lstStyle/>
          <a:p>
            <a:r>
              <a:rPr lang="en-US" dirty="0"/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When we start, we often have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relation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and many FDs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Step #1: Find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candidate key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using Closure. Refer to the lecture “Logical Design III.”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Step #2: Identify which NF the relation is in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Step #3: Use the decomposition strategies introduced earlier to decompose the relation into 3NF</a:t>
            </a:r>
          </a:p>
        </p:txBody>
      </p:sp>
    </p:spTree>
    <p:extLst>
      <p:ext uri="{BB962C8B-B14F-4D97-AF65-F5344CB8AC3E}">
        <p14:creationId xmlns:p14="http://schemas.microsoft.com/office/powerpoint/2010/main" val="24473060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7620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</p:txBody>
      </p:sp>
      <p:sp>
        <p:nvSpPr>
          <p:cNvPr id="27136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09600" y="1524000"/>
            <a:ext cx="8229600" cy="4114800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Call:</a:t>
            </a:r>
          </a:p>
          <a:p>
            <a:pPr marL="457200" lvl="1" indent="0">
              <a:lnSpc>
                <a:spcPct val="90000"/>
              </a:lnSpc>
              <a:buNone/>
            </a:pPr>
            <a:br>
              <a:rPr lang="en-US" sz="2400" dirty="0"/>
            </a:br>
            <a:endParaRPr lang="en-US" sz="2400" dirty="0"/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rgbClr val="364A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1: Find the super key</a:t>
            </a:r>
          </a:p>
          <a:p>
            <a:pPr lvl="2">
              <a:lnSpc>
                <a:spcPct val="90000"/>
              </a:lnSpc>
            </a:pP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Agent_ID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Customer_ID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call_time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rgbClr val="364A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2: Find the candidate key:</a:t>
            </a:r>
          </a:p>
          <a:p>
            <a:pPr lvl="2">
              <a:lnSpc>
                <a:spcPct val="9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Agent_ID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alone a key?</a:t>
            </a:r>
          </a:p>
          <a:p>
            <a:pPr lvl="2">
              <a:lnSpc>
                <a:spcPct val="90000"/>
              </a:lnSpc>
            </a:pP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Customer_ID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?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Call_time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lvl="2">
              <a:lnSpc>
                <a:spcPct val="90000"/>
              </a:lnSpc>
            </a:pP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Agent_ID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Customer_ID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? </a:t>
            </a:r>
          </a:p>
          <a:p>
            <a:pPr lvl="2">
              <a:lnSpc>
                <a:spcPct val="90000"/>
              </a:lnSpc>
            </a:pP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Customer_ID,call_time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? </a:t>
            </a:r>
          </a:p>
          <a:p>
            <a:pPr lvl="2">
              <a:lnSpc>
                <a:spcPct val="90000"/>
              </a:lnSpc>
            </a:pP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Agent_ID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call_time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lvl="1">
              <a:lnSpc>
                <a:spcPct val="90000"/>
              </a:lnSpc>
            </a:pPr>
            <a:endParaRPr lang="en-US" sz="2400" dirty="0"/>
          </a:p>
        </p:txBody>
      </p:sp>
      <p:sp>
        <p:nvSpPr>
          <p:cNvPr id="2" name="Rectangle 1"/>
          <p:cNvSpPr/>
          <p:nvPr/>
        </p:nvSpPr>
        <p:spPr>
          <a:xfrm>
            <a:off x="2209800" y="1371600"/>
            <a:ext cx="6705600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>
              <a:lnSpc>
                <a:spcPct val="90000"/>
              </a:lnSpc>
            </a:pPr>
            <a:r>
              <a:rPr lang="en-US" sz="2400" dirty="0"/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Agent_ID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Agent_name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call_time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end_time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customer_ID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,   </a:t>
            </a:r>
          </a:p>
          <a:p>
            <a:pPr lvl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  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customer_name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, phone,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application_num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appl_name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,    </a:t>
            </a:r>
          </a:p>
          <a:p>
            <a:pPr lvl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                    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switch_ID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switch_location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481265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0782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</p:txBody>
      </p:sp>
      <p:sp>
        <p:nvSpPr>
          <p:cNvPr id="27238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09600" y="1524000"/>
            <a:ext cx="8229600" cy="4114800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Call Center Call: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primary key: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Agent_ID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Customer_ID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call_time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rgbClr val="364A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3: Are we in </a:t>
            </a:r>
            <a:r>
              <a:rPr lang="en-US" sz="2400" dirty="0" err="1">
                <a:solidFill>
                  <a:srgbClr val="364A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1NF</a:t>
            </a:r>
            <a:r>
              <a:rPr lang="en-US" sz="2400" dirty="0">
                <a:solidFill>
                  <a:srgbClr val="364A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 Yes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rgbClr val="364A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4: 2NF? No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rgbClr val="364A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5: </a:t>
            </a:r>
            <a:r>
              <a:rPr lang="en-US" sz="2400" dirty="0" err="1">
                <a:solidFill>
                  <a:srgbClr val="364A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3NF</a:t>
            </a:r>
            <a:r>
              <a:rPr lang="en-US" sz="2400" dirty="0">
                <a:solidFill>
                  <a:srgbClr val="364A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 No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6800" y="3886200"/>
            <a:ext cx="6705600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>
              <a:lnSpc>
                <a:spcPct val="90000"/>
              </a:lnSpc>
            </a:pPr>
            <a:r>
              <a:rPr lang="en-US" sz="2400" dirty="0"/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Agent_ID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Agent_name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call_time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end_time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customer_ID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,   </a:t>
            </a:r>
          </a:p>
          <a:p>
            <a:pPr lvl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  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customer_name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, phone,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application_num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appl_name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,    </a:t>
            </a:r>
          </a:p>
          <a:p>
            <a:pPr lvl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                    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switch_ID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switch_location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61707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0782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</p:txBody>
      </p:sp>
      <p:sp>
        <p:nvSpPr>
          <p:cNvPr id="27238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09600" y="1524000"/>
            <a:ext cx="8229600" cy="4114800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Step 5: 3 NF? 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Agent(</a:t>
            </a:r>
            <a:r>
              <a:rPr lang="en-US" sz="2400" u="sng" dirty="0" err="1">
                <a:latin typeface="Arial" panose="020B0604020202020204" pitchFamily="34" charset="0"/>
                <a:cs typeface="Arial" panose="020B0604020202020204" pitchFamily="34" charset="0"/>
              </a:rPr>
              <a:t>Agent_ID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Agent_Name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Customer(</a:t>
            </a:r>
            <a:r>
              <a:rPr lang="en-US" sz="2400" u="sng" dirty="0" err="1">
                <a:latin typeface="Arial" panose="020B0604020202020204" pitchFamily="34" charset="0"/>
                <a:cs typeface="Arial" panose="020B0604020202020204" pitchFamily="34" charset="0"/>
              </a:rPr>
              <a:t>Customer_ID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Customer_Name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Phone)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Application(</a:t>
            </a:r>
            <a:r>
              <a:rPr lang="en-US" sz="2400" u="sng" dirty="0" err="1">
                <a:latin typeface="Arial" panose="020B0604020202020204" pitchFamily="34" charset="0"/>
                <a:cs typeface="Arial" panose="020B0604020202020204" pitchFamily="34" charset="0"/>
              </a:rPr>
              <a:t>Application_Num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Appl_Name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Switch(</a:t>
            </a:r>
            <a:r>
              <a:rPr lang="en-US" sz="2400" u="sng" dirty="0" err="1">
                <a:latin typeface="Arial" panose="020B0604020202020204" pitchFamily="34" charset="0"/>
                <a:cs typeface="Arial" panose="020B0604020202020204" pitchFamily="34" charset="0"/>
              </a:rPr>
              <a:t>Switch_ID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Switch_Location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8700" y="4038600"/>
            <a:ext cx="7239000" cy="6740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>
              <a:lnSpc>
                <a:spcPct val="90000"/>
              </a:lnSpc>
            </a:pPr>
            <a:r>
              <a:rPr lang="en-US" sz="2400" dirty="0"/>
              <a:t>CALL( </a:t>
            </a:r>
            <a:r>
              <a:rPr lang="en-US" u="sng" dirty="0" err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Agent_ID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, </a:t>
            </a:r>
            <a:r>
              <a:rPr lang="en-US" u="sng" dirty="0" err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Customer_ID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, </a:t>
            </a:r>
            <a:r>
              <a:rPr lang="en-US" u="sng" dirty="0" err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call_time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end_time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, </a:t>
            </a:r>
          </a:p>
          <a:p>
            <a:pPr lvl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            phone,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application_num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,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switch_ID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1275295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10391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2</a:t>
            </a:r>
          </a:p>
        </p:txBody>
      </p:sp>
      <p:sp>
        <p:nvSpPr>
          <p:cNvPr id="261125" name="Rectangle 5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81000" y="1828800"/>
            <a:ext cx="8534400" cy="4297363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 = (Course, Teacher, Hour, Room, Student, Grade)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T	     each course has only one teacher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H, R C   at one time, only one course is in one room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C  H, R  a course has certain time and room</a:t>
            </a:r>
          </a:p>
          <a:p>
            <a:pPr marL="744538" lvl="1" indent="-287338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H, T  R   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a teacher can only be in one room at one time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C, S  G   a student has one grade in a class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H, S  R   Student can be in one room at one time</a:t>
            </a:r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554877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0391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#1 &amp; 2: Find Candidate Key</a:t>
            </a:r>
          </a:p>
        </p:txBody>
      </p:sp>
      <p:sp>
        <p:nvSpPr>
          <p:cNvPr id="263172" name="Rectangle 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8229600" cy="42973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One-attribute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 is never on LHS, exclude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H, T, R 	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H,R,S,T cannot  any </a:t>
            </a:r>
          </a:p>
          <a:p>
            <a:pPr>
              <a:lnSpc>
                <a:spcPct val="90000"/>
              </a:lnSpc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Two-attributes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 seems to be active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HR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CTHR, but no S or G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HT  CTHR, again no S or G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HS  CTHRSG,  Yes!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But wait… what about SC? </a:t>
            </a:r>
          </a:p>
          <a:p>
            <a:pPr lvl="1">
              <a:lnSpc>
                <a:spcPct val="900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950484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#1 &amp; 2: Find Candidate Key</a:t>
            </a:r>
          </a:p>
        </p:txBody>
      </p:sp>
      <p:sp>
        <p:nvSpPr>
          <p:cNvPr id="264197" name="Rectangle 5"/>
          <p:cNvSpPr>
            <a:spLocks noChangeArrowheads="1"/>
          </p:cNvSpPr>
          <p:nvPr/>
        </p:nvSpPr>
        <p:spPr bwMode="auto">
          <a:xfrm>
            <a:off x="762000" y="2209800"/>
            <a:ext cx="7989688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dirty="0"/>
              <a:t>(</a:t>
            </a:r>
            <a:r>
              <a:rPr lang="en-US" sz="2400" u="sng" dirty="0"/>
              <a:t>Student, Hour,</a:t>
            </a:r>
            <a:r>
              <a:rPr lang="en-US" sz="2400" dirty="0"/>
              <a:t> Course, Teacher, Room, Grade)</a:t>
            </a:r>
          </a:p>
          <a:p>
            <a:endParaRPr lang="en-US" sz="2400" dirty="0"/>
          </a:p>
          <a:p>
            <a:r>
              <a:rPr lang="en-US" sz="2400" dirty="0"/>
              <a:t>(</a:t>
            </a:r>
            <a:r>
              <a:rPr lang="en-US" sz="2400" u="sng" dirty="0"/>
              <a:t>Student, Course,</a:t>
            </a:r>
            <a:r>
              <a:rPr lang="en-US" sz="2400" dirty="0"/>
              <a:t>  Hour, Teacher, Room, Grade)</a:t>
            </a:r>
          </a:p>
          <a:p>
            <a:endParaRPr lang="en-US" sz="2400" dirty="0"/>
          </a:p>
          <a:p>
            <a:r>
              <a:rPr lang="en-US" sz="2400" dirty="0"/>
              <a:t>Which candidate key should we pick as the primary key? </a:t>
            </a:r>
            <a:br>
              <a:rPr lang="en-US" sz="2400" dirty="0"/>
            </a:br>
            <a:r>
              <a:rPr lang="en-US" sz="2400" dirty="0"/>
              <a:t>This is often dependent on designer’s understanding </a:t>
            </a:r>
            <a:br>
              <a:rPr lang="en-US" sz="2400" dirty="0"/>
            </a:br>
            <a:r>
              <a:rPr lang="en-US" sz="2400" dirty="0"/>
              <a:t>of the real world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6246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1173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#3: 2NF?</a:t>
            </a:r>
          </a:p>
        </p:txBody>
      </p:sp>
      <p:sp>
        <p:nvSpPr>
          <p:cNvPr id="265220" name="Rectangle 4"/>
          <p:cNvSpPr>
            <a:spLocks noChangeArrowheads="1"/>
          </p:cNvSpPr>
          <p:nvPr/>
        </p:nvSpPr>
        <p:spPr bwMode="auto">
          <a:xfrm>
            <a:off x="730250" y="1828800"/>
            <a:ext cx="8261350" cy="374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dirty="0"/>
              <a:t>(</a:t>
            </a:r>
            <a:r>
              <a:rPr lang="en-US" u="sng" dirty="0"/>
              <a:t>Student, Course,</a:t>
            </a:r>
            <a:r>
              <a:rPr lang="en-US" dirty="0"/>
              <a:t>  Hour, Teacher, Room, Grade)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(</a:t>
            </a:r>
            <a:r>
              <a:rPr lang="en-US" u="sng" dirty="0"/>
              <a:t>Student, Course,</a:t>
            </a:r>
            <a:r>
              <a:rPr lang="en-US" dirty="0"/>
              <a:t> Grade)</a:t>
            </a:r>
          </a:p>
          <a:p>
            <a:endParaRPr lang="en-US" dirty="0"/>
          </a:p>
          <a:p>
            <a:r>
              <a:rPr lang="en-US" dirty="0"/>
              <a:t>(</a:t>
            </a:r>
            <a:r>
              <a:rPr lang="en-US" u="sng" dirty="0"/>
              <a:t>Course,</a:t>
            </a:r>
            <a:r>
              <a:rPr lang="en-US" dirty="0"/>
              <a:t>  Hour, Teacher, Room)</a:t>
            </a:r>
          </a:p>
        </p:txBody>
      </p:sp>
      <p:sp>
        <p:nvSpPr>
          <p:cNvPr id="265221" name="Line 5"/>
          <p:cNvSpPr>
            <a:spLocks noChangeShapeType="1"/>
          </p:cNvSpPr>
          <p:nvPr/>
        </p:nvSpPr>
        <p:spPr bwMode="auto">
          <a:xfrm>
            <a:off x="1295400" y="1752600"/>
            <a:ext cx="1066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5222" name="Line 6"/>
          <p:cNvSpPr>
            <a:spLocks noChangeShapeType="1"/>
          </p:cNvSpPr>
          <p:nvPr/>
        </p:nvSpPr>
        <p:spPr bwMode="auto">
          <a:xfrm>
            <a:off x="1295400" y="1752600"/>
            <a:ext cx="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5223" name="Line 7"/>
          <p:cNvSpPr>
            <a:spLocks noChangeShapeType="1"/>
          </p:cNvSpPr>
          <p:nvPr/>
        </p:nvSpPr>
        <p:spPr bwMode="auto">
          <a:xfrm>
            <a:off x="2362200" y="1783773"/>
            <a:ext cx="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5224" name="Line 8"/>
          <p:cNvSpPr>
            <a:spLocks noChangeShapeType="1"/>
          </p:cNvSpPr>
          <p:nvPr/>
        </p:nvSpPr>
        <p:spPr bwMode="auto">
          <a:xfrm>
            <a:off x="2133600" y="1600200"/>
            <a:ext cx="3657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5225" name="Line 9"/>
          <p:cNvSpPr>
            <a:spLocks noChangeShapeType="1"/>
          </p:cNvSpPr>
          <p:nvPr/>
        </p:nvSpPr>
        <p:spPr bwMode="auto">
          <a:xfrm>
            <a:off x="2133600" y="1600200"/>
            <a:ext cx="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5226" name="Line 10"/>
          <p:cNvSpPr>
            <a:spLocks noChangeShapeType="1"/>
          </p:cNvSpPr>
          <p:nvPr/>
        </p:nvSpPr>
        <p:spPr bwMode="auto">
          <a:xfrm>
            <a:off x="5181600" y="16002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5227" name="Line 11"/>
          <p:cNvSpPr>
            <a:spLocks noChangeShapeType="1"/>
          </p:cNvSpPr>
          <p:nvPr/>
        </p:nvSpPr>
        <p:spPr bwMode="auto">
          <a:xfrm>
            <a:off x="3886200" y="16002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5228" name="Line 12"/>
          <p:cNvSpPr>
            <a:spLocks noChangeShapeType="1"/>
          </p:cNvSpPr>
          <p:nvPr/>
        </p:nvSpPr>
        <p:spPr bwMode="auto">
          <a:xfrm>
            <a:off x="5791200" y="16002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5229" name="Line 13"/>
          <p:cNvSpPr>
            <a:spLocks noChangeShapeType="1"/>
          </p:cNvSpPr>
          <p:nvPr/>
        </p:nvSpPr>
        <p:spPr bwMode="auto">
          <a:xfrm>
            <a:off x="3048000" y="1610591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5230" name="Line 14"/>
          <p:cNvSpPr>
            <a:spLocks noChangeShapeType="1"/>
          </p:cNvSpPr>
          <p:nvPr/>
        </p:nvSpPr>
        <p:spPr bwMode="auto">
          <a:xfrm>
            <a:off x="2438400" y="2514600"/>
            <a:ext cx="2133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5231" name="Line 15"/>
          <p:cNvSpPr>
            <a:spLocks noChangeShapeType="1"/>
          </p:cNvSpPr>
          <p:nvPr/>
        </p:nvSpPr>
        <p:spPr bwMode="auto">
          <a:xfrm>
            <a:off x="2438400" y="220980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5232" name="Line 16"/>
          <p:cNvSpPr>
            <a:spLocks noChangeShapeType="1"/>
          </p:cNvSpPr>
          <p:nvPr/>
        </p:nvSpPr>
        <p:spPr bwMode="auto">
          <a:xfrm>
            <a:off x="3733800" y="220980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5233" name="Line 17"/>
          <p:cNvSpPr>
            <a:spLocks noChangeShapeType="1"/>
          </p:cNvSpPr>
          <p:nvPr/>
        </p:nvSpPr>
        <p:spPr bwMode="auto">
          <a:xfrm>
            <a:off x="3048000" y="220980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5234" name="Line 18"/>
          <p:cNvSpPr>
            <a:spLocks noChangeShapeType="1"/>
          </p:cNvSpPr>
          <p:nvPr/>
        </p:nvSpPr>
        <p:spPr bwMode="auto">
          <a:xfrm>
            <a:off x="4572000" y="220980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5235" name="Line 19"/>
          <p:cNvSpPr>
            <a:spLocks noChangeShapeType="1"/>
          </p:cNvSpPr>
          <p:nvPr/>
        </p:nvSpPr>
        <p:spPr bwMode="auto">
          <a:xfrm>
            <a:off x="2895600" y="2743200"/>
            <a:ext cx="609600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5236" name="Line 20"/>
          <p:cNvSpPr>
            <a:spLocks noChangeShapeType="1"/>
          </p:cNvSpPr>
          <p:nvPr/>
        </p:nvSpPr>
        <p:spPr bwMode="auto">
          <a:xfrm>
            <a:off x="2895600" y="2286000"/>
            <a:ext cx="0" cy="4572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5237" name="Line 21"/>
          <p:cNvSpPr>
            <a:spLocks noChangeShapeType="1"/>
          </p:cNvSpPr>
          <p:nvPr/>
        </p:nvSpPr>
        <p:spPr bwMode="auto">
          <a:xfrm>
            <a:off x="3505200" y="2268682"/>
            <a:ext cx="0" cy="4572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5238" name="Line 22"/>
          <p:cNvSpPr>
            <a:spLocks noChangeShapeType="1"/>
          </p:cNvSpPr>
          <p:nvPr/>
        </p:nvSpPr>
        <p:spPr bwMode="auto">
          <a:xfrm flipV="1">
            <a:off x="2133600" y="2895600"/>
            <a:ext cx="1066800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5239" name="Line 23"/>
          <p:cNvSpPr>
            <a:spLocks noChangeShapeType="1"/>
          </p:cNvSpPr>
          <p:nvPr/>
        </p:nvSpPr>
        <p:spPr bwMode="auto">
          <a:xfrm>
            <a:off x="2133600" y="2286000"/>
            <a:ext cx="0" cy="6096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5240" name="Line 24"/>
          <p:cNvSpPr>
            <a:spLocks noChangeShapeType="1"/>
          </p:cNvSpPr>
          <p:nvPr/>
        </p:nvSpPr>
        <p:spPr bwMode="auto">
          <a:xfrm>
            <a:off x="3221182" y="2725882"/>
            <a:ext cx="0" cy="1524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5241" name="Line 25"/>
          <p:cNvSpPr>
            <a:spLocks noChangeShapeType="1"/>
          </p:cNvSpPr>
          <p:nvPr/>
        </p:nvSpPr>
        <p:spPr bwMode="auto">
          <a:xfrm>
            <a:off x="3002965" y="3048000"/>
            <a:ext cx="665016" cy="0"/>
          </a:xfrm>
          <a:prstGeom prst="line">
            <a:avLst/>
          </a:prstGeom>
          <a:noFill/>
          <a:ln w="28575">
            <a:solidFill>
              <a:srgbClr val="33CC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5242" name="Line 26"/>
          <p:cNvSpPr>
            <a:spLocks noChangeShapeType="1"/>
          </p:cNvSpPr>
          <p:nvPr/>
        </p:nvSpPr>
        <p:spPr bwMode="auto">
          <a:xfrm>
            <a:off x="2985654" y="2344882"/>
            <a:ext cx="0" cy="703118"/>
          </a:xfrm>
          <a:prstGeom prst="line">
            <a:avLst/>
          </a:prstGeom>
          <a:noFill/>
          <a:ln w="28575">
            <a:solidFill>
              <a:srgbClr val="33CC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5243" name="Line 27"/>
          <p:cNvSpPr>
            <a:spLocks noChangeShapeType="1"/>
          </p:cNvSpPr>
          <p:nvPr/>
        </p:nvSpPr>
        <p:spPr bwMode="auto">
          <a:xfrm>
            <a:off x="3667981" y="2286000"/>
            <a:ext cx="0" cy="762000"/>
          </a:xfrm>
          <a:prstGeom prst="line">
            <a:avLst/>
          </a:prstGeom>
          <a:noFill/>
          <a:ln w="28575">
            <a:solidFill>
              <a:srgbClr val="33CC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5244" name="Line 28"/>
          <p:cNvSpPr>
            <a:spLocks noChangeShapeType="1"/>
          </p:cNvSpPr>
          <p:nvPr/>
        </p:nvSpPr>
        <p:spPr bwMode="auto">
          <a:xfrm>
            <a:off x="3276600" y="3165764"/>
            <a:ext cx="1371600" cy="0"/>
          </a:xfrm>
          <a:prstGeom prst="line">
            <a:avLst/>
          </a:prstGeom>
          <a:noFill/>
          <a:ln w="28575">
            <a:solidFill>
              <a:srgbClr val="33CC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5245" name="Line 29"/>
          <p:cNvSpPr>
            <a:spLocks noChangeShapeType="1"/>
          </p:cNvSpPr>
          <p:nvPr/>
        </p:nvSpPr>
        <p:spPr bwMode="auto">
          <a:xfrm>
            <a:off x="4634345" y="2175164"/>
            <a:ext cx="0" cy="990600"/>
          </a:xfrm>
          <a:prstGeom prst="line">
            <a:avLst/>
          </a:prstGeom>
          <a:noFill/>
          <a:ln w="28575">
            <a:solidFill>
              <a:srgbClr val="33CC33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5246" name="Line 30"/>
          <p:cNvSpPr>
            <a:spLocks noChangeShapeType="1"/>
          </p:cNvSpPr>
          <p:nvPr/>
        </p:nvSpPr>
        <p:spPr bwMode="auto">
          <a:xfrm>
            <a:off x="3276600" y="3051464"/>
            <a:ext cx="0" cy="114300"/>
          </a:xfrm>
          <a:prstGeom prst="line">
            <a:avLst/>
          </a:prstGeom>
          <a:noFill/>
          <a:ln w="28575">
            <a:solidFill>
              <a:srgbClr val="33CC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5247" name="Line 31"/>
          <p:cNvSpPr>
            <a:spLocks noChangeShapeType="1"/>
          </p:cNvSpPr>
          <p:nvPr/>
        </p:nvSpPr>
        <p:spPr bwMode="auto">
          <a:xfrm>
            <a:off x="2286000" y="3276600"/>
            <a:ext cx="0" cy="4572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5249" name="Line 33"/>
          <p:cNvSpPr>
            <a:spLocks noChangeShapeType="1"/>
          </p:cNvSpPr>
          <p:nvPr/>
        </p:nvSpPr>
        <p:spPr bwMode="auto">
          <a:xfrm>
            <a:off x="1295400" y="3276600"/>
            <a:ext cx="1600200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5250" name="Line 34"/>
          <p:cNvSpPr>
            <a:spLocks noChangeShapeType="1"/>
          </p:cNvSpPr>
          <p:nvPr/>
        </p:nvSpPr>
        <p:spPr bwMode="auto">
          <a:xfrm>
            <a:off x="1295400" y="2286000"/>
            <a:ext cx="0" cy="9906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5251" name="Line 35"/>
          <p:cNvSpPr>
            <a:spLocks noChangeShapeType="1"/>
          </p:cNvSpPr>
          <p:nvPr/>
        </p:nvSpPr>
        <p:spPr bwMode="auto">
          <a:xfrm>
            <a:off x="2864427" y="2286000"/>
            <a:ext cx="0" cy="9906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5252" name="Line 36"/>
          <p:cNvSpPr>
            <a:spLocks noChangeShapeType="1"/>
          </p:cNvSpPr>
          <p:nvPr/>
        </p:nvSpPr>
        <p:spPr bwMode="auto">
          <a:xfrm>
            <a:off x="2286000" y="3733800"/>
            <a:ext cx="2438400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5253" name="Line 37"/>
          <p:cNvSpPr>
            <a:spLocks noChangeShapeType="1"/>
          </p:cNvSpPr>
          <p:nvPr/>
        </p:nvSpPr>
        <p:spPr bwMode="auto">
          <a:xfrm>
            <a:off x="4724400" y="2209800"/>
            <a:ext cx="0" cy="15240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2286000" y="2175164"/>
            <a:ext cx="2348345" cy="415636"/>
          </a:xfrm>
          <a:prstGeom prst="rect">
            <a:avLst/>
          </a:prstGeom>
          <a:solidFill>
            <a:schemeClr val="accent1">
              <a:alpha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7184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-20782"/>
            <a:ext cx="7772400" cy="11430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#4: 3NF?</a:t>
            </a:r>
          </a:p>
        </p:txBody>
      </p:sp>
      <p:sp>
        <p:nvSpPr>
          <p:cNvPr id="274435" name="Rectangle 3"/>
          <p:cNvSpPr>
            <a:spLocks noChangeArrowheads="1"/>
          </p:cNvSpPr>
          <p:nvPr/>
        </p:nvSpPr>
        <p:spPr bwMode="auto">
          <a:xfrm>
            <a:off x="730250" y="1828800"/>
            <a:ext cx="8261350" cy="337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dirty="0"/>
              <a:t>(</a:t>
            </a:r>
            <a:r>
              <a:rPr lang="en-US" u="sng" dirty="0"/>
              <a:t>Course,</a:t>
            </a:r>
            <a:r>
              <a:rPr lang="en-US" dirty="0"/>
              <a:t>  Hour, Teacher, Room)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(</a:t>
            </a:r>
            <a:r>
              <a:rPr lang="en-US" u="sng" dirty="0"/>
              <a:t>Course,</a:t>
            </a:r>
            <a:r>
              <a:rPr lang="en-US" dirty="0"/>
              <a:t>  Hour, Teacher)</a:t>
            </a:r>
          </a:p>
          <a:p>
            <a:endParaRPr lang="en-US" dirty="0"/>
          </a:p>
          <a:p>
            <a:r>
              <a:rPr lang="en-US" dirty="0"/>
              <a:t>(</a:t>
            </a:r>
            <a:r>
              <a:rPr lang="en-US" u="sng" dirty="0"/>
              <a:t>Hour, Teacher</a:t>
            </a:r>
            <a:r>
              <a:rPr lang="en-US" dirty="0"/>
              <a:t>, Room)</a:t>
            </a:r>
          </a:p>
        </p:txBody>
      </p:sp>
      <p:sp>
        <p:nvSpPr>
          <p:cNvPr id="274445" name="Line 13"/>
          <p:cNvSpPr>
            <a:spLocks noChangeShapeType="1"/>
          </p:cNvSpPr>
          <p:nvPr/>
        </p:nvSpPr>
        <p:spPr bwMode="auto">
          <a:xfrm>
            <a:off x="1371600" y="2514600"/>
            <a:ext cx="2362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74446" name="Line 14"/>
          <p:cNvSpPr>
            <a:spLocks noChangeShapeType="1"/>
          </p:cNvSpPr>
          <p:nvPr/>
        </p:nvSpPr>
        <p:spPr bwMode="auto">
          <a:xfrm>
            <a:off x="1371600" y="220980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74447" name="Line 15"/>
          <p:cNvSpPr>
            <a:spLocks noChangeShapeType="1"/>
          </p:cNvSpPr>
          <p:nvPr/>
        </p:nvSpPr>
        <p:spPr bwMode="auto">
          <a:xfrm>
            <a:off x="2130136" y="220980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74448" name="Line 16"/>
          <p:cNvSpPr>
            <a:spLocks noChangeShapeType="1"/>
          </p:cNvSpPr>
          <p:nvPr/>
        </p:nvSpPr>
        <p:spPr bwMode="auto">
          <a:xfrm>
            <a:off x="2788227" y="220980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74449" name="Line 17"/>
          <p:cNvSpPr>
            <a:spLocks noChangeShapeType="1"/>
          </p:cNvSpPr>
          <p:nvPr/>
        </p:nvSpPr>
        <p:spPr bwMode="auto">
          <a:xfrm>
            <a:off x="3733800" y="220980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74450" name="Line 18"/>
          <p:cNvSpPr>
            <a:spLocks noChangeShapeType="1"/>
          </p:cNvSpPr>
          <p:nvPr/>
        </p:nvSpPr>
        <p:spPr bwMode="auto">
          <a:xfrm>
            <a:off x="1981200" y="2743200"/>
            <a:ext cx="685800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74451" name="Line 19"/>
          <p:cNvSpPr>
            <a:spLocks noChangeShapeType="1"/>
          </p:cNvSpPr>
          <p:nvPr/>
        </p:nvSpPr>
        <p:spPr bwMode="auto">
          <a:xfrm>
            <a:off x="1981200" y="2286000"/>
            <a:ext cx="0" cy="4572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74452" name="Line 20"/>
          <p:cNvSpPr>
            <a:spLocks noChangeShapeType="1"/>
          </p:cNvSpPr>
          <p:nvPr/>
        </p:nvSpPr>
        <p:spPr bwMode="auto">
          <a:xfrm>
            <a:off x="2667000" y="2286000"/>
            <a:ext cx="0" cy="4572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74453" name="Line 21"/>
          <p:cNvSpPr>
            <a:spLocks noChangeShapeType="1"/>
          </p:cNvSpPr>
          <p:nvPr/>
        </p:nvSpPr>
        <p:spPr bwMode="auto">
          <a:xfrm>
            <a:off x="1447800" y="2895600"/>
            <a:ext cx="876300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74454" name="Line 22"/>
          <p:cNvSpPr>
            <a:spLocks noChangeShapeType="1"/>
          </p:cNvSpPr>
          <p:nvPr/>
        </p:nvSpPr>
        <p:spPr bwMode="auto">
          <a:xfrm>
            <a:off x="1447800" y="2286000"/>
            <a:ext cx="0" cy="6096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74455" name="Line 23"/>
          <p:cNvSpPr>
            <a:spLocks noChangeShapeType="1"/>
          </p:cNvSpPr>
          <p:nvPr/>
        </p:nvSpPr>
        <p:spPr bwMode="auto">
          <a:xfrm>
            <a:off x="2324100" y="2743200"/>
            <a:ext cx="0" cy="1524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74456" name="Line 24"/>
          <p:cNvSpPr>
            <a:spLocks noChangeShapeType="1"/>
          </p:cNvSpPr>
          <p:nvPr/>
        </p:nvSpPr>
        <p:spPr bwMode="auto">
          <a:xfrm>
            <a:off x="1866900" y="3048000"/>
            <a:ext cx="1028700" cy="0"/>
          </a:xfrm>
          <a:prstGeom prst="line">
            <a:avLst/>
          </a:prstGeom>
          <a:noFill/>
          <a:ln w="28575">
            <a:solidFill>
              <a:srgbClr val="33CC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74457" name="Line 25"/>
          <p:cNvSpPr>
            <a:spLocks noChangeShapeType="1"/>
          </p:cNvSpPr>
          <p:nvPr/>
        </p:nvSpPr>
        <p:spPr bwMode="auto">
          <a:xfrm>
            <a:off x="1885950" y="2286000"/>
            <a:ext cx="0" cy="762000"/>
          </a:xfrm>
          <a:prstGeom prst="line">
            <a:avLst/>
          </a:prstGeom>
          <a:noFill/>
          <a:ln w="28575">
            <a:solidFill>
              <a:srgbClr val="33CC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74458" name="Line 26"/>
          <p:cNvSpPr>
            <a:spLocks noChangeShapeType="1"/>
          </p:cNvSpPr>
          <p:nvPr/>
        </p:nvSpPr>
        <p:spPr bwMode="auto">
          <a:xfrm>
            <a:off x="2895600" y="2286000"/>
            <a:ext cx="0" cy="762000"/>
          </a:xfrm>
          <a:prstGeom prst="line">
            <a:avLst/>
          </a:prstGeom>
          <a:noFill/>
          <a:ln w="28575">
            <a:solidFill>
              <a:srgbClr val="33CC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74459" name="Line 27"/>
          <p:cNvSpPr>
            <a:spLocks noChangeShapeType="1"/>
          </p:cNvSpPr>
          <p:nvPr/>
        </p:nvSpPr>
        <p:spPr bwMode="auto">
          <a:xfrm>
            <a:off x="2819400" y="3276600"/>
            <a:ext cx="990600" cy="0"/>
          </a:xfrm>
          <a:prstGeom prst="line">
            <a:avLst/>
          </a:prstGeom>
          <a:noFill/>
          <a:ln w="28575">
            <a:solidFill>
              <a:srgbClr val="33CC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74460" name="Line 28"/>
          <p:cNvSpPr>
            <a:spLocks noChangeShapeType="1"/>
          </p:cNvSpPr>
          <p:nvPr/>
        </p:nvSpPr>
        <p:spPr bwMode="auto">
          <a:xfrm>
            <a:off x="3810000" y="2209800"/>
            <a:ext cx="0" cy="1066800"/>
          </a:xfrm>
          <a:prstGeom prst="line">
            <a:avLst/>
          </a:prstGeom>
          <a:noFill/>
          <a:ln w="28575">
            <a:solidFill>
              <a:srgbClr val="33CC33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74461" name="Line 29"/>
          <p:cNvSpPr>
            <a:spLocks noChangeShapeType="1"/>
          </p:cNvSpPr>
          <p:nvPr/>
        </p:nvSpPr>
        <p:spPr bwMode="auto">
          <a:xfrm>
            <a:off x="2819400" y="3048000"/>
            <a:ext cx="0" cy="228600"/>
          </a:xfrm>
          <a:prstGeom prst="line">
            <a:avLst/>
          </a:prstGeom>
          <a:noFill/>
          <a:ln w="28575">
            <a:solidFill>
              <a:srgbClr val="33CC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5312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2"/>
          <p:cNvSpPr>
            <a:spLocks noGrp="1" noChangeArrowheads="1"/>
          </p:cNvSpPr>
          <p:nvPr>
            <p:ph type="title"/>
          </p:nvPr>
        </p:nvSpPr>
        <p:spPr>
          <a:xfrm>
            <a:off x="712932" y="20782"/>
            <a:ext cx="7772400" cy="11430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#4: BCNF?</a:t>
            </a:r>
          </a:p>
        </p:txBody>
      </p:sp>
      <p:sp>
        <p:nvSpPr>
          <p:cNvPr id="275459" name="Rectangle 3"/>
          <p:cNvSpPr>
            <a:spLocks noChangeArrowheads="1"/>
          </p:cNvSpPr>
          <p:nvPr/>
        </p:nvSpPr>
        <p:spPr bwMode="auto">
          <a:xfrm>
            <a:off x="730250" y="1828800"/>
            <a:ext cx="826135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(</a:t>
            </a:r>
            <a:r>
              <a:rPr lang="en-US" u="sng"/>
              <a:t>Course,</a:t>
            </a:r>
            <a:r>
              <a:rPr lang="en-US"/>
              <a:t>  Hour, Teacher)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275460" name="Line 4"/>
          <p:cNvSpPr>
            <a:spLocks noChangeShapeType="1"/>
          </p:cNvSpPr>
          <p:nvPr/>
        </p:nvSpPr>
        <p:spPr bwMode="auto">
          <a:xfrm flipV="1">
            <a:off x="1371600" y="2514600"/>
            <a:ext cx="1295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75461" name="Line 5"/>
          <p:cNvSpPr>
            <a:spLocks noChangeShapeType="1"/>
          </p:cNvSpPr>
          <p:nvPr/>
        </p:nvSpPr>
        <p:spPr bwMode="auto">
          <a:xfrm>
            <a:off x="1371600" y="220980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75462" name="Line 6"/>
          <p:cNvSpPr>
            <a:spLocks noChangeShapeType="1"/>
          </p:cNvSpPr>
          <p:nvPr/>
        </p:nvSpPr>
        <p:spPr bwMode="auto">
          <a:xfrm>
            <a:off x="2667000" y="220980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75463" name="Line 7"/>
          <p:cNvSpPr>
            <a:spLocks noChangeShapeType="1"/>
          </p:cNvSpPr>
          <p:nvPr/>
        </p:nvSpPr>
        <p:spPr bwMode="auto">
          <a:xfrm>
            <a:off x="2133600" y="220980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75465" name="Line 9"/>
          <p:cNvSpPr>
            <a:spLocks noChangeShapeType="1"/>
          </p:cNvSpPr>
          <p:nvPr/>
        </p:nvSpPr>
        <p:spPr bwMode="auto">
          <a:xfrm>
            <a:off x="2362200" y="2743200"/>
            <a:ext cx="914400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75466" name="Line 10"/>
          <p:cNvSpPr>
            <a:spLocks noChangeShapeType="1"/>
          </p:cNvSpPr>
          <p:nvPr/>
        </p:nvSpPr>
        <p:spPr bwMode="auto">
          <a:xfrm>
            <a:off x="2362200" y="2286000"/>
            <a:ext cx="0" cy="4572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75467" name="Line 11"/>
          <p:cNvSpPr>
            <a:spLocks noChangeShapeType="1"/>
          </p:cNvSpPr>
          <p:nvPr/>
        </p:nvSpPr>
        <p:spPr bwMode="auto">
          <a:xfrm>
            <a:off x="3276600" y="2286000"/>
            <a:ext cx="0" cy="4572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75468" name="Line 12"/>
          <p:cNvSpPr>
            <a:spLocks noChangeShapeType="1"/>
          </p:cNvSpPr>
          <p:nvPr/>
        </p:nvSpPr>
        <p:spPr bwMode="auto">
          <a:xfrm>
            <a:off x="1447800" y="2895600"/>
            <a:ext cx="1371600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75469" name="Line 13"/>
          <p:cNvSpPr>
            <a:spLocks noChangeShapeType="1"/>
          </p:cNvSpPr>
          <p:nvPr/>
        </p:nvSpPr>
        <p:spPr bwMode="auto">
          <a:xfrm>
            <a:off x="1447800" y="2286000"/>
            <a:ext cx="0" cy="6096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75470" name="Line 14"/>
          <p:cNvSpPr>
            <a:spLocks noChangeShapeType="1"/>
          </p:cNvSpPr>
          <p:nvPr/>
        </p:nvSpPr>
        <p:spPr bwMode="auto">
          <a:xfrm>
            <a:off x="2819400" y="2743200"/>
            <a:ext cx="0" cy="1524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152925"/>
      </p:ext>
    </p:extLst>
  </p:cSld>
  <p:clrMapOvr>
    <a:masterClrMapping/>
  </p:clrMapOvr>
</p:sld>
</file>

<file path=ppt/theme/theme1.xml><?xml version="1.0" encoding="utf-8"?>
<a:theme xmlns:a="http://schemas.openxmlformats.org/drawingml/2006/main" name="TS10198302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DBFB53C9-35A9-467F-919A-22BB23375DA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TS101983022</Template>
  <TotalTime>1911</TotalTime>
  <Words>1991</Words>
  <Application>Microsoft Office PowerPoint</Application>
  <PresentationFormat>On-screen Show (4:3)</PresentationFormat>
  <Paragraphs>298</Paragraphs>
  <Slides>32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Calibri</vt:lpstr>
      <vt:lpstr>Wingdings</vt:lpstr>
      <vt:lpstr>TS101983022</vt:lpstr>
      <vt:lpstr>IS 331  Database Design, Management and Applications</vt:lpstr>
      <vt:lpstr>Learning Objectives  </vt:lpstr>
      <vt:lpstr>Overview</vt:lpstr>
      <vt:lpstr>Where are we?</vt:lpstr>
      <vt:lpstr>Recap</vt:lpstr>
      <vt:lpstr>Normalization</vt:lpstr>
      <vt:lpstr>Normalization: 1NF</vt:lpstr>
      <vt:lpstr>Normalization: 2NF</vt:lpstr>
      <vt:lpstr>Normalization: 2NF</vt:lpstr>
      <vt:lpstr>Normalization: 2NF</vt:lpstr>
      <vt:lpstr>Normalization: 2NF</vt:lpstr>
      <vt:lpstr>Normalization: 3NF</vt:lpstr>
      <vt:lpstr>Normalization: 3NF</vt:lpstr>
      <vt:lpstr>Normalization: 3NF</vt:lpstr>
      <vt:lpstr>Normalization: 3NF</vt:lpstr>
      <vt:lpstr>Normalization: BCNF</vt:lpstr>
      <vt:lpstr>Normalization: BCNF</vt:lpstr>
      <vt:lpstr>Normalization: BCNF</vt:lpstr>
      <vt:lpstr>Normalization: BCNF</vt:lpstr>
      <vt:lpstr>Normalization: 4NF and Higher</vt:lpstr>
      <vt:lpstr>Normalization: 4NF</vt:lpstr>
      <vt:lpstr>Normalization  Recap</vt:lpstr>
      <vt:lpstr>How to perform normalization</vt:lpstr>
      <vt:lpstr>Example</vt:lpstr>
      <vt:lpstr>Example</vt:lpstr>
      <vt:lpstr>Example</vt:lpstr>
      <vt:lpstr>Example 2</vt:lpstr>
      <vt:lpstr>Step #1 &amp; 2: Find Candidate Key</vt:lpstr>
      <vt:lpstr>Step #1 &amp; 2: Find Candidate Key</vt:lpstr>
      <vt:lpstr>Step #3: 2NF?</vt:lpstr>
      <vt:lpstr>Step #4: 3NF?</vt:lpstr>
      <vt:lpstr>Step #4: BCNF?</vt:lpstr>
    </vt:vector>
  </TitlesOfParts>
  <Company>Lehigh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Lin Lin</dc:creator>
  <cp:lastModifiedBy>Art Hendela</cp:lastModifiedBy>
  <cp:revision>522</cp:revision>
  <cp:lastPrinted>2017-02-02T00:33:43Z</cp:lastPrinted>
  <dcterms:created xsi:type="dcterms:W3CDTF">2012-09-02T01:42:14Z</dcterms:created>
  <dcterms:modified xsi:type="dcterms:W3CDTF">2024-09-30T22:23:33Z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TC019830229991</vt:lpwstr>
  </property>
</Properties>
</file>