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53"/>
  </p:notesMasterIdLst>
  <p:handoutMasterIdLst>
    <p:handoutMasterId r:id="rId54"/>
  </p:handoutMasterIdLst>
  <p:sldIdLst>
    <p:sldId id="256" r:id="rId3"/>
    <p:sldId id="258" r:id="rId4"/>
    <p:sldId id="307" r:id="rId5"/>
    <p:sldId id="259" r:id="rId6"/>
    <p:sldId id="260" r:id="rId7"/>
    <p:sldId id="261" r:id="rId8"/>
    <p:sldId id="262" r:id="rId9"/>
    <p:sldId id="295" r:id="rId10"/>
    <p:sldId id="263" r:id="rId11"/>
    <p:sldId id="264" r:id="rId12"/>
    <p:sldId id="265" r:id="rId13"/>
    <p:sldId id="296" r:id="rId14"/>
    <p:sldId id="297" r:id="rId15"/>
    <p:sldId id="304" r:id="rId16"/>
    <p:sldId id="266" r:id="rId17"/>
    <p:sldId id="267" r:id="rId18"/>
    <p:sldId id="268" r:id="rId19"/>
    <p:sldId id="269" r:id="rId20"/>
    <p:sldId id="270" r:id="rId21"/>
    <p:sldId id="271" r:id="rId22"/>
    <p:sldId id="272" r:id="rId23"/>
    <p:sldId id="273" r:id="rId24"/>
    <p:sldId id="274" r:id="rId25"/>
    <p:sldId id="275" r:id="rId26"/>
    <p:sldId id="302" r:id="rId27"/>
    <p:sldId id="276" r:id="rId28"/>
    <p:sldId id="299" r:id="rId29"/>
    <p:sldId id="298" r:id="rId30"/>
    <p:sldId id="305" r:id="rId31"/>
    <p:sldId id="301" r:id="rId32"/>
    <p:sldId id="300" r:id="rId33"/>
    <p:sldId id="277" r:id="rId34"/>
    <p:sldId id="306" r:id="rId35"/>
    <p:sldId id="303"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308" r:id="rId52"/>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110" d="100"/>
          <a:sy n="110" d="100"/>
        </p:scale>
        <p:origin x="1640" y="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69D1F6AC-2A7E-43D0-85F3-F1A8121EA768}" type="datetimeFigureOut">
              <a:rPr lang="en-US" smtClean="0"/>
              <a:t>9/9/2024</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CA69C4F9-FF4B-41BB-837C-06B9031EAF05}" type="slidenum">
              <a:rPr lang="en-US" smtClean="0"/>
              <a:t>‹#›</a:t>
            </a:fld>
            <a:endParaRPr lang="en-US"/>
          </a:p>
        </p:txBody>
      </p:sp>
    </p:spTree>
    <p:extLst>
      <p:ext uri="{BB962C8B-B14F-4D97-AF65-F5344CB8AC3E}">
        <p14:creationId xmlns:p14="http://schemas.microsoft.com/office/powerpoint/2010/main" val="11850819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034493C-0454-4866-BCBA-B08E80B79975}" type="datetimeFigureOut">
              <a:rPr lang="en-US" smtClean="0"/>
              <a:pPr/>
              <a:t>9/9/2024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47B6BB5A-CE4E-4664-B71A-76645C9280CB}" type="slidenum">
              <a:rPr lang="en-US" smtClean="0"/>
              <a:pPr/>
              <a:t>‹#›</a:t>
            </a:fld>
            <a:endParaRPr lang="en-US"/>
          </a:p>
        </p:txBody>
      </p:sp>
    </p:spTree>
    <p:extLst>
      <p:ext uri="{BB962C8B-B14F-4D97-AF65-F5344CB8AC3E}">
        <p14:creationId xmlns:p14="http://schemas.microsoft.com/office/powerpoint/2010/main" val="347546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1470025"/>
          </a:xfrm>
        </p:spPr>
        <p:txBody>
          <a:bodyPr/>
          <a:lstStyle>
            <a:lvl1pPr>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209800"/>
            <a:ext cx="6400800" cy="11430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090F9888-3879-4F22-AF80-4177AA4AC351}" type="datetime1">
              <a:rPr lang="en-US" smtClean="0"/>
              <a:pPr>
                <a:defRPr/>
              </a:pPr>
              <a:t>9/9/2024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842E01B-07BF-4B7E-88E3-0FA8BF19FC4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1C3E6D5-0B56-4E95-B722-0CB6C0A3DFB2}" type="datetime1">
              <a:rPr lang="en-US" smtClean="0"/>
              <a:pPr>
                <a:defRPr/>
              </a:pPr>
              <a:t>9/9/2024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0DA86C6-259A-43E0-A3DD-0DFA14BC01E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56FFF54-01E0-4551-9739-57A7061C7C08}" type="datetime1">
              <a:rPr lang="en-US" smtClean="0"/>
              <a:pPr>
                <a:defRPr/>
              </a:pPr>
              <a:t>9/9/2024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E3E8DC3-00CB-499E-BCBF-41EFC7DC6AF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D3AD2CFF-A0B0-4311-A3BC-DA4ED30FECE4}" type="datetime1">
              <a:rPr lang="en-US" smtClean="0"/>
              <a:pPr>
                <a:defRPr/>
              </a:pPr>
              <a:t>9/9/2024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96DC61A-4458-4BE4-A110-01546114C45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6D2968AA-672A-4F83-8CBC-80A82B39BD57}" type="datetime1">
              <a:rPr lang="en-US" smtClean="0"/>
              <a:pPr>
                <a:defRPr/>
              </a:pPr>
              <a:t>9/9/2024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B14CBE0-2B4C-4AC7-8AB2-4E56AB82E39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54DC351-E228-4CFD-9822-9AA74CDFB27E}" type="datetime1">
              <a:rPr lang="en-US" smtClean="0"/>
              <a:pPr>
                <a:defRPr/>
              </a:pPr>
              <a:t>9/9/2024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6650111-24E0-487D-A93D-2ADA9C1B1F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6B6B7A-DD0C-47D2-AB40-2FCF80BF4872}" type="datetime1">
              <a:rPr lang="en-US" smtClean="0"/>
              <a:pPr>
                <a:defRPr/>
              </a:pPr>
              <a:t>9/9/2024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43F9E701-1039-4E30-A4DD-EC6D092F208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63A7482-F815-4503-A2A0-9B4E6F587FB9}" type="datetime1">
              <a:rPr lang="en-US" smtClean="0"/>
              <a:pPr>
                <a:defRPr/>
              </a:pPr>
              <a:t>9/9/2024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BFD85B6-AB61-42AA-AA9B-6499F108AB1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AFDC3AE-F697-4CAB-BB32-676A80268F9B}" type="datetime1">
              <a:rPr lang="en-US" smtClean="0"/>
              <a:pPr>
                <a:defRPr/>
              </a:pPr>
              <a:t>9/9/2024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47E4D34-0B1F-4B9D-BA42-7F457ADCEC7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795FAD3-E4D3-41AF-A684-34713DD70029}" type="datetime1">
              <a:rPr lang="en-US" smtClean="0"/>
              <a:pPr>
                <a:defRPr/>
              </a:pPr>
              <a:t>9/9/2024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26C03B4-DDAB-4006-AAC3-F33B0E420C2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4788E4D-B080-487F-B7C6-C1728A511627}" type="datetime1">
              <a:rPr lang="en-US" smtClean="0"/>
              <a:pPr>
                <a:defRPr/>
              </a:pPr>
              <a:t>9/9/2024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6EB4DCF-00E7-4B5E-9DDA-00BC2693639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685800"/>
            <a:ext cx="82296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828800"/>
            <a:ext cx="8229600" cy="4297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42411DB9-75D0-41F5-ABD3-D260E26E5BCC}" type="datetime1">
              <a:rPr lang="en-US" smtClean="0"/>
              <a:pPr>
                <a:defRPr/>
              </a:pPr>
              <a:t>9/9/2024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CA87BF71-DEC3-4FE4-8E61-8936FC1DFA7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609600" y="152400"/>
            <a:ext cx="7772400" cy="1470025"/>
          </a:xfrm>
        </p:spPr>
        <p:txBody>
          <a:bodyPr/>
          <a:lstStyle/>
          <a:p>
            <a:pPr defTabSz="474663"/>
            <a:r>
              <a:rPr lang="en-US" sz="4000" b="1" dirty="0"/>
              <a:t>IS 331 </a:t>
            </a:r>
            <a:br>
              <a:rPr lang="en-US" sz="4000" b="1" dirty="0"/>
            </a:br>
            <a:r>
              <a:rPr lang="en-US" sz="4000" b="1" dirty="0"/>
              <a:t>Database Design, Management and Applications</a:t>
            </a:r>
          </a:p>
        </p:txBody>
      </p:sp>
      <p:sp>
        <p:nvSpPr>
          <p:cNvPr id="3075" name="Subtitle 2"/>
          <p:cNvSpPr>
            <a:spLocks noGrp="1"/>
          </p:cNvSpPr>
          <p:nvPr>
            <p:ph type="subTitle" idx="1"/>
          </p:nvPr>
        </p:nvSpPr>
        <p:spPr>
          <a:xfrm>
            <a:off x="1371600" y="1981200"/>
            <a:ext cx="6400800" cy="533400"/>
          </a:xfrm>
        </p:spPr>
        <p:txBody>
          <a:bodyPr/>
          <a:lstStyle/>
          <a:p>
            <a:pPr eaLnBrk="1" hangingPunct="1"/>
            <a:r>
              <a:rPr lang="en-US" sz="2400" b="1" dirty="0">
                <a:latin typeface="Arial" charset="0"/>
                <a:cs typeface="Arial" charset="0"/>
              </a:rPr>
              <a:t>Dr. Art Hendela</a:t>
            </a:r>
          </a:p>
        </p:txBody>
      </p:sp>
      <p:sp>
        <p:nvSpPr>
          <p:cNvPr id="4" name="Subtitle 2"/>
          <p:cNvSpPr txBox="1">
            <a:spLocks/>
          </p:cNvSpPr>
          <p:nvPr/>
        </p:nvSpPr>
        <p:spPr bwMode="auto">
          <a:xfrm>
            <a:off x="762000" y="2667000"/>
            <a:ext cx="7467600" cy="533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r>
              <a:rPr lang="en-US" sz="3200" b="1" dirty="0">
                <a:solidFill>
                  <a:srgbClr val="FFFF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DAY 3:  Conceptual Design (I)</a:t>
            </a:r>
          </a:p>
        </p:txBody>
      </p:sp>
      <p:sp>
        <p:nvSpPr>
          <p:cNvPr id="2" name="Slide Number Placeholder 1"/>
          <p:cNvSpPr>
            <a:spLocks noGrp="1"/>
          </p:cNvSpPr>
          <p:nvPr>
            <p:ph type="sldNum" sz="quarter" idx="12"/>
          </p:nvPr>
        </p:nvSpPr>
        <p:spPr/>
        <p:txBody>
          <a:bodyPr/>
          <a:lstStyle/>
          <a:p>
            <a:pPr>
              <a:defRPr/>
            </a:pPr>
            <a:fld id="{F842E01B-07BF-4B7E-88E3-0FA8BF19FC45}" type="slidenum">
              <a:rPr lang="en-US" smtClean="0"/>
              <a:pPr>
                <a:defRPr/>
              </a:pPr>
              <a:t>1</a:t>
            </a:fld>
            <a:endParaRPr lang="en-US"/>
          </a:p>
        </p:txBody>
      </p:sp>
      <p:sp>
        <p:nvSpPr>
          <p:cNvPr id="6" name="Text Box 6"/>
          <p:cNvSpPr txBox="1">
            <a:spLocks noChangeArrowheads="1"/>
          </p:cNvSpPr>
          <p:nvPr/>
        </p:nvSpPr>
        <p:spPr bwMode="auto">
          <a:xfrm>
            <a:off x="381000" y="3505200"/>
            <a:ext cx="2743200" cy="40640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Requirement Analysis</a:t>
            </a:r>
            <a:r>
              <a:rPr lang="en-US" sz="2000"/>
              <a:t> </a:t>
            </a:r>
          </a:p>
        </p:txBody>
      </p:sp>
      <p:sp>
        <p:nvSpPr>
          <p:cNvPr id="7" name="Text Box 7"/>
          <p:cNvSpPr txBox="1">
            <a:spLocks noChangeArrowheads="1"/>
          </p:cNvSpPr>
          <p:nvPr/>
        </p:nvSpPr>
        <p:spPr bwMode="auto">
          <a:xfrm>
            <a:off x="1676400" y="4114800"/>
            <a:ext cx="2590800" cy="40640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Conceptual Design</a:t>
            </a:r>
            <a:r>
              <a:rPr lang="en-US" sz="2000"/>
              <a:t> </a:t>
            </a:r>
          </a:p>
        </p:txBody>
      </p:sp>
      <p:sp>
        <p:nvSpPr>
          <p:cNvPr id="8" name="Text Box 8"/>
          <p:cNvSpPr txBox="1">
            <a:spLocks noChangeArrowheads="1"/>
          </p:cNvSpPr>
          <p:nvPr/>
        </p:nvSpPr>
        <p:spPr bwMode="auto">
          <a:xfrm>
            <a:off x="2895600" y="4648200"/>
            <a:ext cx="2514600" cy="406400"/>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Logical Design</a:t>
            </a:r>
            <a:r>
              <a:rPr lang="en-US" sz="2000"/>
              <a:t> </a:t>
            </a:r>
          </a:p>
        </p:txBody>
      </p:sp>
      <p:sp>
        <p:nvSpPr>
          <p:cNvPr id="9" name="Text Box 9"/>
          <p:cNvSpPr txBox="1">
            <a:spLocks noChangeArrowheads="1"/>
          </p:cNvSpPr>
          <p:nvPr/>
        </p:nvSpPr>
        <p:spPr bwMode="auto">
          <a:xfrm>
            <a:off x="4114800" y="5257800"/>
            <a:ext cx="2438400" cy="376238"/>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Physical Design </a:t>
            </a:r>
          </a:p>
        </p:txBody>
      </p:sp>
      <p:sp>
        <p:nvSpPr>
          <p:cNvPr id="10" name="Text Box 10"/>
          <p:cNvSpPr txBox="1">
            <a:spLocks noChangeArrowheads="1"/>
          </p:cNvSpPr>
          <p:nvPr/>
        </p:nvSpPr>
        <p:spPr bwMode="auto">
          <a:xfrm>
            <a:off x="5181600" y="5791200"/>
            <a:ext cx="2286000" cy="376238"/>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Implementation </a:t>
            </a:r>
          </a:p>
        </p:txBody>
      </p:sp>
      <p:sp>
        <p:nvSpPr>
          <p:cNvPr id="11" name="Text Box 11"/>
          <p:cNvSpPr txBox="1">
            <a:spLocks noChangeArrowheads="1"/>
          </p:cNvSpPr>
          <p:nvPr/>
        </p:nvSpPr>
        <p:spPr bwMode="auto">
          <a:xfrm>
            <a:off x="6324600" y="6324600"/>
            <a:ext cx="1981200" cy="376238"/>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Maintenance </a:t>
            </a:r>
          </a:p>
        </p:txBody>
      </p:sp>
      <p:sp>
        <p:nvSpPr>
          <p:cNvPr id="12" name="Line 13"/>
          <p:cNvSpPr>
            <a:spLocks noChangeShapeType="1"/>
          </p:cNvSpPr>
          <p:nvPr/>
        </p:nvSpPr>
        <p:spPr bwMode="auto">
          <a:xfrm>
            <a:off x="3200400" y="45720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 name="Line 15"/>
          <p:cNvSpPr>
            <a:spLocks noChangeShapeType="1"/>
          </p:cNvSpPr>
          <p:nvPr/>
        </p:nvSpPr>
        <p:spPr bwMode="auto">
          <a:xfrm>
            <a:off x="4419600" y="51054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 name="Line 16"/>
          <p:cNvSpPr>
            <a:spLocks noChangeShapeType="1"/>
          </p:cNvSpPr>
          <p:nvPr/>
        </p:nvSpPr>
        <p:spPr bwMode="auto">
          <a:xfrm>
            <a:off x="5486400" y="57150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Line 17"/>
          <p:cNvSpPr>
            <a:spLocks noChangeShapeType="1"/>
          </p:cNvSpPr>
          <p:nvPr/>
        </p:nvSpPr>
        <p:spPr bwMode="auto">
          <a:xfrm>
            <a:off x="6705600" y="62484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 name="Line 18"/>
          <p:cNvSpPr>
            <a:spLocks noChangeShapeType="1"/>
          </p:cNvSpPr>
          <p:nvPr/>
        </p:nvSpPr>
        <p:spPr bwMode="auto">
          <a:xfrm>
            <a:off x="2438400" y="3962400"/>
            <a:ext cx="76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57200" y="0"/>
            <a:ext cx="8229600" cy="990600"/>
          </a:xfrm>
        </p:spPr>
        <p:txBody>
          <a:bodyPr/>
          <a:lstStyle/>
          <a:p>
            <a:pPr eaLnBrk="1" hangingPunct="1"/>
            <a:r>
              <a:rPr lang="en-US" b="1">
                <a:solidFill>
                  <a:srgbClr val="FFFF00"/>
                </a:solidFill>
                <a:effectLst>
                  <a:outerShdw blurRad="38100" dist="38100" dir="2700000" algn="tl">
                    <a:srgbClr val="000000">
                      <a:alpha val="43137"/>
                    </a:srgbClr>
                  </a:outerShdw>
                </a:effectLst>
              </a:rPr>
              <a:t>Learning Objectives	</a:t>
            </a:r>
          </a:p>
        </p:txBody>
      </p:sp>
      <p:sp>
        <p:nvSpPr>
          <p:cNvPr id="4100" name="Rectangle 3" descr="Rectangle: Click to edit Master text styles&#10;Second level&#10;Third level&#10;Fourth level&#10;Fifth level"/>
          <p:cNvSpPr>
            <a:spLocks noGrp="1" noChangeArrowheads="1"/>
          </p:cNvSpPr>
          <p:nvPr>
            <p:ph type="body" idx="1"/>
          </p:nvPr>
        </p:nvSpPr>
        <p:spPr>
          <a:xfrm>
            <a:off x="609600" y="1295400"/>
            <a:ext cx="7772400" cy="4114800"/>
          </a:xfrm>
        </p:spPr>
        <p:txBody>
          <a:bodyPr/>
          <a:lstStyle/>
          <a:p>
            <a:pPr eaLnBrk="1" hangingPunct="1">
              <a:lnSpc>
                <a:spcPct val="90000"/>
              </a:lnSpc>
            </a:pPr>
            <a:r>
              <a:rPr lang="en-US" sz="2400" b="1" dirty="0">
                <a:solidFill>
                  <a:srgbClr val="FF0000"/>
                </a:solidFill>
                <a:latin typeface="Arial" panose="020B0604020202020204" pitchFamily="34" charset="0"/>
                <a:cs typeface="Arial" panose="020B0604020202020204" pitchFamily="34" charset="0"/>
              </a:rPr>
              <a:t>Define</a:t>
            </a:r>
            <a:r>
              <a:rPr lang="en-US" sz="2400" dirty="0">
                <a:latin typeface="Arial" panose="020B0604020202020204" pitchFamily="34" charset="0"/>
                <a:cs typeface="Arial" panose="020B0604020202020204" pitchFamily="34" charset="0"/>
              </a:rPr>
              <a:t> the following terms: Model, Conceptual Model, Data Model, ER Model, mini-world</a:t>
            </a:r>
          </a:p>
          <a:p>
            <a:pPr eaLnBrk="1" hangingPunct="1">
              <a:lnSpc>
                <a:spcPct val="90000"/>
              </a:lnSpc>
            </a:pPr>
            <a:endParaRPr lang="en-US" sz="2400" dirty="0">
              <a:latin typeface="Arial" panose="020B0604020202020204" pitchFamily="34" charset="0"/>
              <a:cs typeface="Arial" panose="020B0604020202020204" pitchFamily="34" charset="0"/>
            </a:endParaRPr>
          </a:p>
          <a:p>
            <a:pPr eaLnBrk="1" hangingPunct="1">
              <a:lnSpc>
                <a:spcPct val="90000"/>
              </a:lnSpc>
            </a:pPr>
            <a:r>
              <a:rPr lang="en-US" sz="2400" b="1" dirty="0">
                <a:solidFill>
                  <a:srgbClr val="FF0000"/>
                </a:solidFill>
                <a:latin typeface="Arial" panose="020B0604020202020204" pitchFamily="34" charset="0"/>
                <a:cs typeface="Arial" panose="020B0604020202020204" pitchFamily="34" charset="0"/>
              </a:rPr>
              <a:t>Define and understand </a:t>
            </a:r>
            <a:r>
              <a:rPr lang="en-US" sz="2400" dirty="0">
                <a:latin typeface="Arial" panose="020B0604020202020204" pitchFamily="34" charset="0"/>
                <a:cs typeface="Arial" panose="020B0604020202020204" pitchFamily="34" charset="0"/>
              </a:rPr>
              <a:t>three key constructs of ER Model: </a:t>
            </a:r>
            <a:r>
              <a:rPr lang="en-US" sz="2400" i="1" dirty="0">
                <a:latin typeface="Arial" panose="020B0604020202020204" pitchFamily="34" charset="0"/>
                <a:cs typeface="Arial" panose="020B0604020202020204" pitchFamily="34" charset="0"/>
              </a:rPr>
              <a:t>Entity</a:t>
            </a:r>
            <a:r>
              <a:rPr lang="en-US" sz="2400"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Attribute</a:t>
            </a:r>
            <a:r>
              <a:rPr lang="en-US" sz="2400" dirty="0">
                <a:latin typeface="Arial" panose="020B0604020202020204" pitchFamily="34" charset="0"/>
                <a:cs typeface="Arial" panose="020B0604020202020204" pitchFamily="34" charset="0"/>
              </a:rPr>
              <a:t>, and </a:t>
            </a:r>
            <a:r>
              <a:rPr lang="en-US" sz="2400" i="1" dirty="0">
                <a:latin typeface="Arial" panose="020B0604020202020204" pitchFamily="34" charset="0"/>
                <a:cs typeface="Arial" panose="020B0604020202020204" pitchFamily="34" charset="0"/>
              </a:rPr>
              <a:t>Relationship</a:t>
            </a:r>
            <a:r>
              <a:rPr lang="en-US" sz="2400" dirty="0">
                <a:latin typeface="Arial" panose="020B0604020202020204" pitchFamily="34" charset="0"/>
                <a:cs typeface="Arial" panose="020B0604020202020204" pitchFamily="34" charset="0"/>
              </a:rPr>
              <a:t>. </a:t>
            </a:r>
          </a:p>
          <a:p>
            <a:pPr eaLnBrk="1" hangingPunct="1">
              <a:lnSpc>
                <a:spcPct val="90000"/>
              </a:lnSpc>
            </a:pPr>
            <a:endParaRPr lang="en-US" sz="2400" dirty="0">
              <a:latin typeface="Arial" panose="020B0604020202020204" pitchFamily="34" charset="0"/>
              <a:cs typeface="Arial" panose="020B0604020202020204" pitchFamily="34" charset="0"/>
            </a:endParaRPr>
          </a:p>
          <a:p>
            <a:pPr eaLnBrk="1" hangingPunct="1">
              <a:lnSpc>
                <a:spcPct val="90000"/>
              </a:lnSpc>
            </a:pPr>
            <a:r>
              <a:rPr lang="en-US" sz="2400" b="1" dirty="0">
                <a:solidFill>
                  <a:srgbClr val="FF0000"/>
                </a:solidFill>
                <a:latin typeface="Arial" panose="020B0604020202020204" pitchFamily="34" charset="0"/>
                <a:cs typeface="Arial" panose="020B0604020202020204" pitchFamily="34" charset="0"/>
              </a:rPr>
              <a:t>Differentiate</a:t>
            </a:r>
            <a:r>
              <a:rPr lang="en-US" sz="2400" dirty="0">
                <a:latin typeface="Arial" panose="020B0604020202020204" pitchFamily="34" charset="0"/>
                <a:cs typeface="Arial" panose="020B0604020202020204" pitchFamily="34" charset="0"/>
              </a:rPr>
              <a:t> between entity and entity class, relationship and relationship class</a:t>
            </a:r>
          </a:p>
          <a:p>
            <a:pPr eaLnBrk="1" hangingPunct="1">
              <a:lnSpc>
                <a:spcPct val="90000"/>
              </a:lnSpc>
            </a:pPr>
            <a:endParaRPr lang="en-US" sz="2400" dirty="0">
              <a:latin typeface="Arial" panose="020B0604020202020204" pitchFamily="34" charset="0"/>
              <a:cs typeface="Arial" panose="020B0604020202020204" pitchFamily="34" charset="0"/>
            </a:endParaRPr>
          </a:p>
          <a:p>
            <a:pPr eaLnBrk="1" hangingPunct="1">
              <a:lnSpc>
                <a:spcPct val="90000"/>
              </a:lnSpc>
            </a:pPr>
            <a:r>
              <a:rPr lang="en-US" sz="2400" b="1" dirty="0">
                <a:solidFill>
                  <a:srgbClr val="FF0000"/>
                </a:solidFill>
                <a:latin typeface="Arial" panose="020B0604020202020204" pitchFamily="34" charset="0"/>
                <a:cs typeface="Arial" panose="020B0604020202020204" pitchFamily="34" charset="0"/>
              </a:rPr>
              <a:t>Define</a:t>
            </a:r>
            <a:r>
              <a:rPr lang="en-US" sz="2400" dirty="0">
                <a:latin typeface="Arial" panose="020B0604020202020204" pitchFamily="34" charset="0"/>
                <a:cs typeface="Arial" panose="020B0604020202020204" pitchFamily="34" charset="0"/>
              </a:rPr>
              <a:t> identifier</a:t>
            </a:r>
          </a:p>
          <a:p>
            <a:pPr eaLnBrk="1" hangingPunct="1">
              <a:lnSpc>
                <a:spcPct val="90000"/>
              </a:lnSpc>
            </a:pPr>
            <a:endParaRPr lang="en-US" sz="2400" dirty="0">
              <a:latin typeface="Arial" panose="020B0604020202020204" pitchFamily="34" charset="0"/>
              <a:cs typeface="Arial" panose="020B0604020202020204" pitchFamily="34" charset="0"/>
            </a:endParaRPr>
          </a:p>
          <a:p>
            <a:pPr>
              <a:lnSpc>
                <a:spcPct val="90000"/>
              </a:lnSpc>
            </a:pPr>
            <a:r>
              <a:rPr lang="en-US" sz="2400" b="1" dirty="0">
                <a:solidFill>
                  <a:srgbClr val="FF0000"/>
                </a:solidFill>
                <a:latin typeface="Arial" panose="020B0604020202020204" pitchFamily="34" charset="0"/>
                <a:cs typeface="Arial" panose="020B0604020202020204" pitchFamily="34" charset="0"/>
              </a:rPr>
              <a:t>Define </a:t>
            </a:r>
            <a:r>
              <a:rPr lang="en-US" sz="2400" dirty="0">
                <a:latin typeface="Arial" panose="020B0604020202020204" pitchFamily="34" charset="0"/>
                <a:cs typeface="Arial" panose="020B0604020202020204" pitchFamily="34" charset="0"/>
              </a:rPr>
              <a:t>composite, multi-valued and derived attribute</a:t>
            </a:r>
            <a:br>
              <a:rPr lang="en-US" sz="2400" dirty="0">
                <a:latin typeface="Arial" panose="020B0604020202020204" pitchFamily="34" charset="0"/>
                <a:cs typeface="Arial" panose="020B0604020202020204" pitchFamily="34" charset="0"/>
              </a:rPr>
            </a:br>
            <a:r>
              <a:rPr lang="en-US" sz="2400" i="1" dirty="0">
                <a:latin typeface="Arial" panose="020B0604020202020204" pitchFamily="34" charset="0"/>
                <a:cs typeface="Arial" panose="020B0604020202020204" pitchFamily="34" charset="0"/>
              </a:rPr>
              <a:t>   </a:t>
            </a:r>
          </a:p>
          <a:p>
            <a:pPr eaLnBrk="1" hangingPunct="1">
              <a:lnSpc>
                <a:spcPct val="90000"/>
              </a:lnSpc>
            </a:pPr>
            <a:endParaRPr lang="en-US" sz="2400" i="1" dirty="0">
              <a:effectLst>
                <a:outerShdw blurRad="38100" dist="38100" dir="2700000" algn="tl">
                  <a:srgbClr val="000000">
                    <a:alpha val="43137"/>
                  </a:srgbClr>
                </a:outerShdw>
              </a:effectLst>
            </a:endParaRPr>
          </a:p>
          <a:p>
            <a:pPr eaLnBrk="1" hangingPunct="1">
              <a:lnSpc>
                <a:spcPct val="90000"/>
              </a:lnSpc>
              <a:buFont typeface="Wingdings" pitchFamily="2" charset="2"/>
              <a:buNone/>
            </a:pPr>
            <a:endParaRPr lang="en-US" sz="2400" dirty="0">
              <a:effectLst>
                <a:outerShdw blurRad="38100" dist="38100" dir="2700000" algn="tl">
                  <a:srgbClr val="000000">
                    <a:alpha val="43137"/>
                  </a:srgbClr>
                </a:outerShdw>
              </a:effectLst>
            </a:endParaRPr>
          </a:p>
          <a:p>
            <a:pPr eaLnBrk="1" hangingPunct="1">
              <a:lnSpc>
                <a:spcPct val="90000"/>
              </a:lnSpc>
            </a:pPr>
            <a:endParaRPr lang="en-US" sz="2400" i="1" dirty="0">
              <a:effectLst>
                <a:outerShdw blurRad="38100" dist="38100" dir="2700000" algn="tl">
                  <a:srgbClr val="000000">
                    <a:alpha val="43137"/>
                  </a:srgbClr>
                </a:outerShdw>
              </a:effectLst>
            </a:endParaRPr>
          </a:p>
          <a:p>
            <a:pPr eaLnBrk="1" hangingPunct="1">
              <a:lnSpc>
                <a:spcPct val="90000"/>
              </a:lnSpc>
            </a:pPr>
            <a:endParaRPr lang="en-US" sz="24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9881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57200" y="0"/>
            <a:ext cx="8229600" cy="990600"/>
          </a:xfrm>
        </p:spPr>
        <p:txBody>
          <a:bodyPr/>
          <a:lstStyle/>
          <a:p>
            <a:pPr eaLnBrk="1" hangingPunct="1"/>
            <a:r>
              <a:rPr lang="en-US" b="1" dirty="0">
                <a:solidFill>
                  <a:srgbClr val="FFFF00"/>
                </a:solidFill>
                <a:effectLst>
                  <a:outerShdw blurRad="38100" dist="38100" dir="2700000" algn="tl">
                    <a:srgbClr val="000000">
                      <a:alpha val="43137"/>
                    </a:srgbClr>
                  </a:outerShdw>
                </a:effectLst>
              </a:rPr>
              <a:t>Learning Objectives (II)	</a:t>
            </a:r>
          </a:p>
        </p:txBody>
      </p:sp>
      <p:sp>
        <p:nvSpPr>
          <p:cNvPr id="4100" name="Rectangle 3" descr="Rectangle: Click to edit Master text styles&#10;Second level&#10;Third level&#10;Fourth level&#10;Fifth level"/>
          <p:cNvSpPr>
            <a:spLocks noGrp="1" noChangeArrowheads="1"/>
          </p:cNvSpPr>
          <p:nvPr>
            <p:ph type="body" idx="1"/>
          </p:nvPr>
        </p:nvSpPr>
        <p:spPr>
          <a:xfrm>
            <a:off x="609600" y="1295400"/>
            <a:ext cx="7772400" cy="4114800"/>
          </a:xfrm>
        </p:spPr>
        <p:txBody>
          <a:bodyPr/>
          <a:lstStyle/>
          <a:p>
            <a:pPr>
              <a:lnSpc>
                <a:spcPct val="90000"/>
              </a:lnSpc>
            </a:pPr>
            <a:r>
              <a:rPr lang="en-US" sz="2400" b="1" dirty="0">
                <a:solidFill>
                  <a:srgbClr val="FF0000"/>
                </a:solidFill>
                <a:latin typeface="Arial" panose="020B0604020202020204" pitchFamily="34" charset="0"/>
                <a:cs typeface="Arial" panose="020B0604020202020204" pitchFamily="34" charset="0"/>
              </a:rPr>
              <a:t>Master</a:t>
            </a:r>
            <a:r>
              <a:rPr lang="en-US" sz="2400" dirty="0">
                <a:latin typeface="Arial" panose="020B0604020202020204" pitchFamily="34" charset="0"/>
                <a:cs typeface="Arial" panose="020B0604020202020204" pitchFamily="34" charset="0"/>
              </a:rPr>
              <a:t> the notations for entity, relationship and attribute in the original ER model AND the Crow’s foot model</a:t>
            </a:r>
          </a:p>
          <a:p>
            <a:pPr>
              <a:lnSpc>
                <a:spcPct val="90000"/>
              </a:lnSpc>
            </a:pPr>
            <a:endParaRPr lang="en-US" sz="2400" dirty="0">
              <a:latin typeface="Arial" panose="020B0604020202020204" pitchFamily="34" charset="0"/>
              <a:cs typeface="Arial" panose="020B0604020202020204" pitchFamily="34" charset="0"/>
            </a:endParaRPr>
          </a:p>
          <a:p>
            <a:pPr>
              <a:lnSpc>
                <a:spcPct val="90000"/>
              </a:lnSpc>
            </a:pPr>
            <a:r>
              <a:rPr lang="en-US" sz="2400" dirty="0">
                <a:latin typeface="Arial" panose="020B0604020202020204" pitchFamily="34" charset="0"/>
                <a:cs typeface="Arial" panose="020B0604020202020204" pitchFamily="34" charset="0"/>
              </a:rPr>
              <a:t>Be able to </a:t>
            </a:r>
            <a:r>
              <a:rPr lang="en-US" sz="2400" b="1" dirty="0">
                <a:solidFill>
                  <a:srgbClr val="FF0000"/>
                </a:solidFill>
                <a:latin typeface="Arial" panose="020B0604020202020204" pitchFamily="34" charset="0"/>
                <a:cs typeface="Arial" panose="020B0604020202020204" pitchFamily="34" charset="0"/>
              </a:rPr>
              <a:t>identify </a:t>
            </a:r>
            <a:r>
              <a:rPr lang="en-US" sz="2400" dirty="0">
                <a:latin typeface="Arial" panose="020B0604020202020204" pitchFamily="34" charset="0"/>
                <a:cs typeface="Arial" panose="020B0604020202020204" pitchFamily="34" charset="0"/>
              </a:rPr>
              <a:t>the three constructs of ER Model given a specific mini-world setting</a:t>
            </a:r>
          </a:p>
          <a:p>
            <a:pPr>
              <a:lnSpc>
                <a:spcPct val="90000"/>
              </a:lnSpc>
            </a:pPr>
            <a:endParaRPr lang="en-US" sz="2400" dirty="0">
              <a:latin typeface="Arial" panose="020B0604020202020204" pitchFamily="34" charset="0"/>
              <a:cs typeface="Arial" panose="020B0604020202020204" pitchFamily="34" charset="0"/>
            </a:endParaRPr>
          </a:p>
          <a:p>
            <a:pPr>
              <a:lnSpc>
                <a:spcPct val="90000"/>
              </a:lnSpc>
            </a:pPr>
            <a:r>
              <a:rPr lang="en-US" sz="2400" dirty="0">
                <a:latin typeface="Arial" panose="020B0604020202020204" pitchFamily="34" charset="0"/>
                <a:cs typeface="Arial" panose="020B0604020202020204" pitchFamily="34" charset="0"/>
              </a:rPr>
              <a:t>Be able to </a:t>
            </a:r>
            <a:r>
              <a:rPr lang="en-US" sz="2400" b="1" dirty="0">
                <a:solidFill>
                  <a:srgbClr val="FF0000"/>
                </a:solidFill>
                <a:latin typeface="Arial" panose="020B0604020202020204" pitchFamily="34" charset="0"/>
                <a:cs typeface="Arial" panose="020B0604020202020204" pitchFamily="34" charset="0"/>
              </a:rPr>
              <a:t>generate</a:t>
            </a:r>
            <a:r>
              <a:rPr lang="en-US" sz="2400" dirty="0">
                <a:latin typeface="Arial" panose="020B0604020202020204" pitchFamily="34" charset="0"/>
                <a:cs typeface="Arial" panose="020B0604020202020204" pitchFamily="34" charset="0"/>
              </a:rPr>
              <a:t> basic ER Models given a description of the mini-world</a:t>
            </a:r>
            <a:br>
              <a:rPr lang="en-US" sz="2400" dirty="0">
                <a:latin typeface="Arial" panose="020B0604020202020204" pitchFamily="34" charset="0"/>
                <a:cs typeface="Arial" panose="020B0604020202020204" pitchFamily="34" charset="0"/>
              </a:rPr>
            </a:br>
            <a:r>
              <a:rPr lang="en-US" sz="2400" i="1" dirty="0">
                <a:effectLst>
                  <a:outerShdw blurRad="38100" dist="38100" dir="2700000" algn="tl">
                    <a:srgbClr val="000000">
                      <a:alpha val="43137"/>
                    </a:srgbClr>
                  </a:outerShdw>
                </a:effectLst>
              </a:rPr>
              <a:t>   </a:t>
            </a:r>
          </a:p>
          <a:p>
            <a:pPr eaLnBrk="1" hangingPunct="1">
              <a:lnSpc>
                <a:spcPct val="90000"/>
              </a:lnSpc>
            </a:pPr>
            <a:endParaRPr lang="en-US" sz="2400" i="1" dirty="0">
              <a:effectLst>
                <a:outerShdw blurRad="38100" dist="38100" dir="2700000" algn="tl">
                  <a:srgbClr val="000000">
                    <a:alpha val="43137"/>
                  </a:srgbClr>
                </a:outerShdw>
              </a:effectLst>
            </a:endParaRPr>
          </a:p>
          <a:p>
            <a:pPr eaLnBrk="1" hangingPunct="1">
              <a:lnSpc>
                <a:spcPct val="90000"/>
              </a:lnSpc>
              <a:buFont typeface="Wingdings" pitchFamily="2" charset="2"/>
              <a:buNone/>
            </a:pPr>
            <a:endParaRPr lang="en-US" sz="2400" dirty="0">
              <a:effectLst>
                <a:outerShdw blurRad="38100" dist="38100" dir="2700000" algn="tl">
                  <a:srgbClr val="000000">
                    <a:alpha val="43137"/>
                  </a:srgbClr>
                </a:outerShdw>
              </a:effectLst>
            </a:endParaRPr>
          </a:p>
          <a:p>
            <a:pPr eaLnBrk="1" hangingPunct="1">
              <a:lnSpc>
                <a:spcPct val="90000"/>
              </a:lnSpc>
            </a:pPr>
            <a:endParaRPr lang="en-US" sz="2400" i="1" dirty="0">
              <a:effectLst>
                <a:outerShdw blurRad="38100" dist="38100" dir="2700000" algn="tl">
                  <a:srgbClr val="000000">
                    <a:alpha val="43137"/>
                  </a:srgbClr>
                </a:outerShdw>
              </a:effectLst>
            </a:endParaRPr>
          </a:p>
          <a:p>
            <a:pPr eaLnBrk="1" hangingPunct="1">
              <a:lnSpc>
                <a:spcPct val="90000"/>
              </a:lnSpc>
            </a:pPr>
            <a:endParaRPr lang="en-US" sz="24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8234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457200" y="0"/>
            <a:ext cx="8229600" cy="990600"/>
          </a:xfrm>
        </p:spPr>
        <p:txBody>
          <a:bodyPr/>
          <a:lstStyle/>
          <a:p>
            <a:pPr eaLnBrk="1" hangingPunct="1"/>
            <a:r>
              <a:rPr lang="en-US" b="1" dirty="0">
                <a:solidFill>
                  <a:srgbClr val="FFFF00"/>
                </a:solidFill>
                <a:effectLst>
                  <a:outerShdw blurRad="38100" dist="38100" dir="2700000" algn="tl">
                    <a:srgbClr val="000000">
                      <a:alpha val="43137"/>
                    </a:srgbClr>
                  </a:outerShdw>
                </a:effectLst>
              </a:rPr>
              <a:t>Agenda</a:t>
            </a:r>
          </a:p>
        </p:txBody>
      </p:sp>
      <p:sp>
        <p:nvSpPr>
          <p:cNvPr id="5124" name="Rectangle 3" descr="Rectangle: Click to edit Master text styles&#10;Second level&#10;Third level&#10;Fourth level&#10;Fifth level"/>
          <p:cNvSpPr>
            <a:spLocks noGrp="1" noChangeArrowheads="1"/>
          </p:cNvSpPr>
          <p:nvPr>
            <p:ph type="body" idx="1"/>
          </p:nvPr>
        </p:nvSpPr>
        <p:spPr>
          <a:xfrm>
            <a:off x="762000" y="1447800"/>
            <a:ext cx="7772400" cy="4114800"/>
          </a:xfrm>
        </p:spPr>
        <p:txBody>
          <a:bodyPr/>
          <a:lstStyle/>
          <a:p>
            <a:pPr eaLnBrk="1" hangingPunct="1"/>
            <a:r>
              <a:rPr lang="en-US" sz="2400" dirty="0">
                <a:latin typeface="Arial" panose="020B0604020202020204" pitchFamily="34" charset="0"/>
                <a:cs typeface="Arial" panose="020B0604020202020204" pitchFamily="34" charset="0"/>
              </a:rPr>
              <a:t>Conceptual Model: Definition</a:t>
            </a:r>
            <a:r>
              <a:rPr lang="en-US" sz="2400" i="1" dirty="0">
                <a:latin typeface="Arial" panose="020B0604020202020204" pitchFamily="34" charset="0"/>
                <a:cs typeface="Arial" panose="020B0604020202020204" pitchFamily="34" charset="0"/>
              </a:rPr>
              <a:t>   </a:t>
            </a:r>
          </a:p>
          <a:p>
            <a:pPr eaLnBrk="1" hangingPunct="1"/>
            <a:r>
              <a:rPr lang="en-US" sz="2400" dirty="0">
                <a:latin typeface="Arial" panose="020B0604020202020204" pitchFamily="34" charset="0"/>
                <a:cs typeface="Arial" panose="020B0604020202020204" pitchFamily="34" charset="0"/>
              </a:rPr>
              <a:t>ER Model</a:t>
            </a:r>
          </a:p>
          <a:p>
            <a:pPr lvl="1" eaLnBrk="1" hangingPunct="1"/>
            <a:r>
              <a:rPr lang="en-US" sz="2000" dirty="0">
                <a:latin typeface="Arial" panose="020B0604020202020204" pitchFamily="34" charset="0"/>
                <a:cs typeface="Arial" panose="020B0604020202020204" pitchFamily="34" charset="0"/>
              </a:rPr>
              <a:t>Basic Constructs</a:t>
            </a:r>
          </a:p>
          <a:p>
            <a:pPr lvl="2" eaLnBrk="1" hangingPunct="1"/>
            <a:r>
              <a:rPr lang="en-US" sz="2000" dirty="0">
                <a:solidFill>
                  <a:srgbClr val="FF0000"/>
                </a:solidFill>
                <a:latin typeface="Arial" panose="020B0604020202020204" pitchFamily="34" charset="0"/>
                <a:cs typeface="Arial" panose="020B0604020202020204" pitchFamily="34" charset="0"/>
              </a:rPr>
              <a:t>Entity</a:t>
            </a:r>
            <a:r>
              <a:rPr lang="en-US" sz="2000" dirty="0">
                <a:latin typeface="Arial" panose="020B0604020202020204" pitchFamily="34" charset="0"/>
                <a:cs typeface="Arial" panose="020B0604020202020204" pitchFamily="34" charset="0"/>
              </a:rPr>
              <a:t>: Definition, examples and notation</a:t>
            </a:r>
          </a:p>
          <a:p>
            <a:pPr lvl="2" eaLnBrk="1" hangingPunct="1"/>
            <a:r>
              <a:rPr lang="en-US" sz="2000" dirty="0">
                <a:solidFill>
                  <a:srgbClr val="FF0000"/>
                </a:solidFill>
                <a:latin typeface="Arial" panose="020B0604020202020204" pitchFamily="34" charset="0"/>
                <a:cs typeface="Arial" panose="020B0604020202020204" pitchFamily="34" charset="0"/>
              </a:rPr>
              <a:t>Relationship</a:t>
            </a:r>
            <a:r>
              <a:rPr lang="en-US" sz="2000" dirty="0">
                <a:latin typeface="Arial" panose="020B0604020202020204" pitchFamily="34" charset="0"/>
                <a:cs typeface="Arial" panose="020B0604020202020204" pitchFamily="34" charset="0"/>
              </a:rPr>
              <a:t>: Definition, examples and notation</a:t>
            </a:r>
          </a:p>
          <a:p>
            <a:pPr lvl="2" eaLnBrk="1" hangingPunct="1"/>
            <a:r>
              <a:rPr lang="en-US" sz="2000" dirty="0">
                <a:solidFill>
                  <a:srgbClr val="FF0000"/>
                </a:solidFill>
                <a:latin typeface="Arial" panose="020B0604020202020204" pitchFamily="34" charset="0"/>
                <a:cs typeface="Arial" panose="020B0604020202020204" pitchFamily="34" charset="0"/>
              </a:rPr>
              <a:t>Attributes</a:t>
            </a:r>
            <a:r>
              <a:rPr lang="en-US" sz="2000" dirty="0">
                <a:latin typeface="Arial" panose="020B0604020202020204" pitchFamily="34" charset="0"/>
                <a:cs typeface="Arial" panose="020B0604020202020204" pitchFamily="34" charset="0"/>
              </a:rPr>
              <a:t>: Definition, examples, notation, and more </a:t>
            </a:r>
          </a:p>
          <a:p>
            <a:pPr eaLnBrk="1" hangingPunct="1"/>
            <a:r>
              <a:rPr lang="en-US" sz="2400" dirty="0">
                <a:latin typeface="Arial" panose="020B0604020202020204" pitchFamily="34" charset="0"/>
                <a:cs typeface="Arial" panose="020B0604020202020204" pitchFamily="34" charset="0"/>
              </a:rPr>
              <a:t>Basic ER Modeling: How to do it</a:t>
            </a:r>
          </a:p>
          <a:p>
            <a:pPr lvl="1"/>
            <a:r>
              <a:rPr lang="en-US" sz="2000" dirty="0">
                <a:latin typeface="Arial" panose="020B0604020202020204" pitchFamily="34" charset="0"/>
                <a:cs typeface="Arial" panose="020B0604020202020204" pitchFamily="34" charset="0"/>
              </a:rPr>
              <a:t>The Bookstore Case</a:t>
            </a:r>
          </a:p>
          <a:p>
            <a:pPr lvl="1" eaLnBrk="1" hangingPunct="1"/>
            <a:r>
              <a:rPr lang="en-US" sz="2000" dirty="0">
                <a:latin typeface="Arial" panose="020B0604020202020204" pitchFamily="34" charset="0"/>
                <a:cs typeface="Arial" panose="020B0604020202020204" pitchFamily="34" charset="0"/>
              </a:rPr>
              <a:t>The NCAA Case</a:t>
            </a:r>
          </a:p>
          <a:p>
            <a:pPr lvl="1" eaLnBrk="1" hangingPunct="1"/>
            <a:endParaRPr lang="en-US"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24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533400" y="0"/>
            <a:ext cx="8229600" cy="990600"/>
          </a:xfrm>
        </p:spPr>
        <p:txBody>
          <a:bodyPr/>
          <a:lstStyle/>
          <a:p>
            <a:pPr eaLnBrk="1" hangingPunct="1"/>
            <a:r>
              <a:rPr lang="en-US" sz="3200" b="1" dirty="0">
                <a:solidFill>
                  <a:srgbClr val="FFFF00"/>
                </a:solidFill>
              </a:rPr>
              <a:t>Remember Database Development Lifecycle?  </a:t>
            </a:r>
          </a:p>
        </p:txBody>
      </p:sp>
      <p:sp>
        <p:nvSpPr>
          <p:cNvPr id="6148" name="Text Box 4"/>
          <p:cNvSpPr txBox="1">
            <a:spLocks noChangeArrowheads="1"/>
          </p:cNvSpPr>
          <p:nvPr/>
        </p:nvSpPr>
        <p:spPr bwMode="auto">
          <a:xfrm>
            <a:off x="1676400" y="1752600"/>
            <a:ext cx="2667000" cy="406400"/>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Requirement Analysis </a:t>
            </a:r>
          </a:p>
        </p:txBody>
      </p:sp>
      <p:sp>
        <p:nvSpPr>
          <p:cNvPr id="6149" name="Text Box 5"/>
          <p:cNvSpPr txBox="1">
            <a:spLocks noChangeArrowheads="1"/>
          </p:cNvSpPr>
          <p:nvPr/>
        </p:nvSpPr>
        <p:spPr bwMode="auto">
          <a:xfrm>
            <a:off x="1752600" y="2667000"/>
            <a:ext cx="2590800" cy="406400"/>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Conceptual Design </a:t>
            </a:r>
          </a:p>
        </p:txBody>
      </p:sp>
      <p:sp>
        <p:nvSpPr>
          <p:cNvPr id="6150" name="Text Box 6"/>
          <p:cNvSpPr txBox="1">
            <a:spLocks noChangeArrowheads="1"/>
          </p:cNvSpPr>
          <p:nvPr/>
        </p:nvSpPr>
        <p:spPr bwMode="auto">
          <a:xfrm>
            <a:off x="2057400" y="3505200"/>
            <a:ext cx="1905000" cy="406400"/>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Logical Design </a:t>
            </a:r>
          </a:p>
        </p:txBody>
      </p:sp>
      <p:sp>
        <p:nvSpPr>
          <p:cNvPr id="6151" name="Text Box 7"/>
          <p:cNvSpPr txBox="1">
            <a:spLocks noChangeArrowheads="1"/>
          </p:cNvSpPr>
          <p:nvPr/>
        </p:nvSpPr>
        <p:spPr bwMode="auto">
          <a:xfrm>
            <a:off x="1905000" y="4343400"/>
            <a:ext cx="2286000" cy="406400"/>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Physical Design </a:t>
            </a:r>
          </a:p>
        </p:txBody>
      </p:sp>
      <p:sp>
        <p:nvSpPr>
          <p:cNvPr id="6152" name="Text Box 8"/>
          <p:cNvSpPr txBox="1">
            <a:spLocks noChangeArrowheads="1"/>
          </p:cNvSpPr>
          <p:nvPr/>
        </p:nvSpPr>
        <p:spPr bwMode="auto">
          <a:xfrm>
            <a:off x="1905000" y="5105400"/>
            <a:ext cx="2286000" cy="406400"/>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Implementation </a:t>
            </a:r>
          </a:p>
        </p:txBody>
      </p:sp>
      <p:sp>
        <p:nvSpPr>
          <p:cNvPr id="6153" name="Text Box 9"/>
          <p:cNvSpPr txBox="1">
            <a:spLocks noChangeArrowheads="1"/>
          </p:cNvSpPr>
          <p:nvPr/>
        </p:nvSpPr>
        <p:spPr bwMode="auto">
          <a:xfrm>
            <a:off x="1905000" y="5867400"/>
            <a:ext cx="2286000" cy="406400"/>
          </a:xfrm>
          <a:prstGeom prst="rect">
            <a:avLst/>
          </a:prstGeom>
          <a:solidFill>
            <a:srgbClr val="EAEAEA"/>
          </a:solidFill>
          <a:ln w="9525">
            <a:solidFill>
              <a:srgbClr val="080808"/>
            </a:solidFill>
            <a:miter lim="800000"/>
            <a:headEnd/>
            <a:tailEnd/>
          </a:ln>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Maintenance </a:t>
            </a:r>
          </a:p>
        </p:txBody>
      </p:sp>
      <p:sp>
        <p:nvSpPr>
          <p:cNvPr id="6154" name="Line 10"/>
          <p:cNvSpPr>
            <a:spLocks noChangeShapeType="1"/>
          </p:cNvSpPr>
          <p:nvPr/>
        </p:nvSpPr>
        <p:spPr bwMode="auto">
          <a:xfrm>
            <a:off x="152400" y="4118264"/>
            <a:ext cx="8915400" cy="0"/>
          </a:xfrm>
          <a:prstGeom prst="line">
            <a:avLst/>
          </a:prstGeom>
          <a:noFill/>
          <a:ln w="28575">
            <a:solidFill>
              <a:srgbClr val="080808"/>
            </a:solidFill>
            <a:prstDash val="dash"/>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155" name="Text Box 11"/>
          <p:cNvSpPr txBox="1">
            <a:spLocks noChangeArrowheads="1"/>
          </p:cNvSpPr>
          <p:nvPr/>
        </p:nvSpPr>
        <p:spPr bwMode="auto">
          <a:xfrm>
            <a:off x="6092536" y="3260725"/>
            <a:ext cx="1828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dirty="0">
                <a:solidFill>
                  <a:srgbClr val="080808"/>
                </a:solidFill>
              </a:rPr>
              <a:t>DBMS Independent</a:t>
            </a:r>
          </a:p>
        </p:txBody>
      </p:sp>
      <p:sp>
        <p:nvSpPr>
          <p:cNvPr id="6156" name="Text Box 12"/>
          <p:cNvSpPr txBox="1">
            <a:spLocks noChangeArrowheads="1"/>
          </p:cNvSpPr>
          <p:nvPr/>
        </p:nvSpPr>
        <p:spPr bwMode="auto">
          <a:xfrm>
            <a:off x="304800" y="4267200"/>
            <a:ext cx="1828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a:solidFill>
                  <a:srgbClr val="080808"/>
                </a:solidFill>
              </a:rPr>
              <a:t>DBMS Dependent</a:t>
            </a:r>
          </a:p>
        </p:txBody>
      </p:sp>
      <p:sp>
        <p:nvSpPr>
          <p:cNvPr id="6157" name="Line 13"/>
          <p:cNvSpPr>
            <a:spLocks noChangeShapeType="1"/>
          </p:cNvSpPr>
          <p:nvPr/>
        </p:nvSpPr>
        <p:spPr bwMode="auto">
          <a:xfrm>
            <a:off x="3048000" y="2209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58" name="Line 14"/>
          <p:cNvSpPr>
            <a:spLocks noChangeShapeType="1"/>
          </p:cNvSpPr>
          <p:nvPr/>
        </p:nvSpPr>
        <p:spPr bwMode="auto">
          <a:xfrm>
            <a:off x="3048000" y="31242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59" name="Line 15"/>
          <p:cNvSpPr>
            <a:spLocks noChangeShapeType="1"/>
          </p:cNvSpPr>
          <p:nvPr/>
        </p:nvSpPr>
        <p:spPr bwMode="auto">
          <a:xfrm>
            <a:off x="3048000" y="39624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0" name="Line 16"/>
          <p:cNvSpPr>
            <a:spLocks noChangeShapeType="1"/>
          </p:cNvSpPr>
          <p:nvPr/>
        </p:nvSpPr>
        <p:spPr bwMode="auto">
          <a:xfrm>
            <a:off x="3048000" y="48006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1" name="Line 17"/>
          <p:cNvSpPr>
            <a:spLocks noChangeShapeType="1"/>
          </p:cNvSpPr>
          <p:nvPr/>
        </p:nvSpPr>
        <p:spPr bwMode="auto">
          <a:xfrm>
            <a:off x="3048000" y="55626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2" name="Line 18"/>
          <p:cNvSpPr>
            <a:spLocks noChangeShapeType="1"/>
          </p:cNvSpPr>
          <p:nvPr/>
        </p:nvSpPr>
        <p:spPr bwMode="auto">
          <a:xfrm>
            <a:off x="4419600" y="1981200"/>
            <a:ext cx="1143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3" name="Text Box 19"/>
          <p:cNvSpPr txBox="1">
            <a:spLocks noChangeArrowheads="1"/>
          </p:cNvSpPr>
          <p:nvPr/>
        </p:nvSpPr>
        <p:spPr bwMode="auto">
          <a:xfrm>
            <a:off x="4343400" y="16764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dirty="0"/>
              <a:t>produces</a:t>
            </a:r>
          </a:p>
        </p:txBody>
      </p:sp>
      <p:sp>
        <p:nvSpPr>
          <p:cNvPr id="6164" name="AutoShape 20"/>
          <p:cNvSpPr>
            <a:spLocks noChangeArrowheads="1"/>
          </p:cNvSpPr>
          <p:nvPr/>
        </p:nvSpPr>
        <p:spPr bwMode="auto">
          <a:xfrm>
            <a:off x="5638800" y="1676400"/>
            <a:ext cx="1828800" cy="533400"/>
          </a:xfrm>
          <a:prstGeom prst="foldedCorner">
            <a:avLst>
              <a:gd name="adj" fmla="val 12500"/>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eaLnBrk="0" hangingPunct="0"/>
            <a:r>
              <a:rPr lang="en-US" sz="1600" b="1" dirty="0">
                <a:latin typeface="Times New Roman" pitchFamily="18" charset="0"/>
              </a:rPr>
              <a:t>Requirement </a:t>
            </a:r>
          </a:p>
          <a:p>
            <a:pPr algn="ctr" eaLnBrk="0" hangingPunct="0"/>
            <a:r>
              <a:rPr lang="en-US" sz="1600" b="1" dirty="0">
                <a:latin typeface="Times New Roman" pitchFamily="18" charset="0"/>
              </a:rPr>
              <a:t>Specification</a:t>
            </a:r>
          </a:p>
        </p:txBody>
      </p:sp>
      <p:sp>
        <p:nvSpPr>
          <p:cNvPr id="6165" name="AutoShape 21"/>
          <p:cNvSpPr>
            <a:spLocks noChangeArrowheads="1"/>
          </p:cNvSpPr>
          <p:nvPr/>
        </p:nvSpPr>
        <p:spPr bwMode="auto">
          <a:xfrm>
            <a:off x="5638800" y="2590800"/>
            <a:ext cx="1828800" cy="533400"/>
          </a:xfrm>
          <a:prstGeom prst="foldedCorner">
            <a:avLst>
              <a:gd name="adj" fmla="val 12500"/>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0" hangingPunct="0"/>
            <a:r>
              <a:rPr lang="en-US" sz="1600" b="1" dirty="0">
                <a:latin typeface="Times New Roman" pitchFamily="18" charset="0"/>
              </a:rPr>
              <a:t>Conceptual</a:t>
            </a:r>
          </a:p>
          <a:p>
            <a:pPr algn="ctr" eaLnBrk="0" hangingPunct="0"/>
            <a:r>
              <a:rPr lang="en-US" sz="1600" b="1" dirty="0">
                <a:latin typeface="Times New Roman" pitchFamily="18" charset="0"/>
              </a:rPr>
              <a:t>Model</a:t>
            </a:r>
          </a:p>
        </p:txBody>
      </p:sp>
      <p:sp>
        <p:nvSpPr>
          <p:cNvPr id="6168" name="Line 24"/>
          <p:cNvSpPr>
            <a:spLocks noChangeShapeType="1"/>
          </p:cNvSpPr>
          <p:nvPr/>
        </p:nvSpPr>
        <p:spPr bwMode="auto">
          <a:xfrm>
            <a:off x="4343400" y="2895600"/>
            <a:ext cx="1143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9" name="Text Box 25"/>
          <p:cNvSpPr txBox="1">
            <a:spLocks noChangeArrowheads="1"/>
          </p:cNvSpPr>
          <p:nvPr/>
        </p:nvSpPr>
        <p:spPr bwMode="auto">
          <a:xfrm>
            <a:off x="4343400" y="25908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a:t>produces</a:t>
            </a:r>
          </a:p>
        </p:txBody>
      </p:sp>
      <p:sp>
        <p:nvSpPr>
          <p:cNvPr id="64538" name="Rectangle 26"/>
          <p:cNvSpPr>
            <a:spLocks noChangeArrowheads="1"/>
          </p:cNvSpPr>
          <p:nvPr/>
        </p:nvSpPr>
        <p:spPr bwMode="auto">
          <a:xfrm>
            <a:off x="914400" y="1447799"/>
            <a:ext cx="7162800" cy="2568575"/>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3668545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1026"/>
          <p:cNvSpPr>
            <a:spLocks noGrp="1" noChangeArrowheads="1"/>
          </p:cNvSpPr>
          <p:nvPr>
            <p:ph type="title"/>
          </p:nvPr>
        </p:nvSpPr>
        <p:spPr>
          <a:xfrm>
            <a:off x="609600" y="10391"/>
            <a:ext cx="8229600" cy="9906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Road Map for Conceptual Design</a:t>
            </a:r>
          </a:p>
        </p:txBody>
      </p:sp>
      <p:sp>
        <p:nvSpPr>
          <p:cNvPr id="7172" name="Text Box 1051"/>
          <p:cNvSpPr txBox="1">
            <a:spLocks noChangeArrowheads="1"/>
          </p:cNvSpPr>
          <p:nvPr/>
        </p:nvSpPr>
        <p:spPr bwMode="auto">
          <a:xfrm>
            <a:off x="342900" y="1752600"/>
            <a:ext cx="1905000" cy="707886"/>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b="1">
                <a:effectLst>
                  <a:outerShdw blurRad="38100" dist="38100" dir="2700000" algn="tl">
                    <a:srgbClr val="000000">
                      <a:alpha val="43137"/>
                    </a:srgbClr>
                  </a:outerShdw>
                </a:effectLst>
              </a:rPr>
              <a:t>Conceptual Design </a:t>
            </a:r>
          </a:p>
        </p:txBody>
      </p:sp>
      <p:sp>
        <p:nvSpPr>
          <p:cNvPr id="7173" name="Line 1052"/>
          <p:cNvSpPr>
            <a:spLocks noChangeShapeType="1"/>
          </p:cNvSpPr>
          <p:nvPr/>
        </p:nvSpPr>
        <p:spPr bwMode="auto">
          <a:xfrm>
            <a:off x="2362200" y="26670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4" name="Text Box 1053"/>
          <p:cNvSpPr txBox="1">
            <a:spLocks noChangeArrowheads="1"/>
          </p:cNvSpPr>
          <p:nvPr/>
        </p:nvSpPr>
        <p:spPr bwMode="auto">
          <a:xfrm>
            <a:off x="2667000" y="2514600"/>
            <a:ext cx="914400" cy="37623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dirty="0"/>
              <a:t>Entity</a:t>
            </a:r>
          </a:p>
        </p:txBody>
      </p:sp>
      <p:sp>
        <p:nvSpPr>
          <p:cNvPr id="7175" name="Line 1056"/>
          <p:cNvSpPr>
            <a:spLocks noChangeShapeType="1"/>
          </p:cNvSpPr>
          <p:nvPr/>
        </p:nvSpPr>
        <p:spPr bwMode="auto">
          <a:xfrm>
            <a:off x="2057400" y="3581400"/>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6" name="Line 1057"/>
          <p:cNvSpPr>
            <a:spLocks noChangeShapeType="1"/>
          </p:cNvSpPr>
          <p:nvPr/>
        </p:nvSpPr>
        <p:spPr bwMode="auto">
          <a:xfrm>
            <a:off x="2362200" y="44958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77" name="Line 1058"/>
          <p:cNvSpPr>
            <a:spLocks noChangeShapeType="1"/>
          </p:cNvSpPr>
          <p:nvPr/>
        </p:nvSpPr>
        <p:spPr bwMode="auto">
          <a:xfrm>
            <a:off x="2362200" y="2667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78" name="Text Box 1072"/>
          <p:cNvSpPr txBox="1">
            <a:spLocks noChangeArrowheads="1"/>
          </p:cNvSpPr>
          <p:nvPr/>
        </p:nvSpPr>
        <p:spPr bwMode="auto">
          <a:xfrm>
            <a:off x="533400" y="3429000"/>
            <a:ext cx="1524000" cy="461665"/>
          </a:xfrm>
          <a:prstGeom prst="rect">
            <a:avLst/>
          </a:prstGeom>
          <a:solidFill>
            <a:srgbClr val="00B050"/>
          </a:solidFill>
          <a:ln>
            <a:headEnd/>
            <a:tailEnd/>
          </a:ln>
        </p:spPr>
        <p:style>
          <a:lnRef idx="0">
            <a:schemeClr val="accent3"/>
          </a:lnRef>
          <a:fillRef idx="3">
            <a:schemeClr val="accent3"/>
          </a:fillRef>
          <a:effectRef idx="3">
            <a:schemeClr val="accent3"/>
          </a:effectRef>
          <a:fontRef idx="minor">
            <a:schemeClr val="lt1"/>
          </a:fontRef>
        </p:style>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a:ln w="18415" cmpd="sng">
                  <a:solidFill>
                    <a:srgbClr val="FFFFFF"/>
                  </a:solidFill>
                  <a:prstDash val="solid"/>
                </a:ln>
                <a:solidFill>
                  <a:srgbClr val="FFFFFF"/>
                </a:solidFill>
                <a:effectLst>
                  <a:outerShdw blurRad="63500" dir="3600000" algn="tl" rotWithShape="0">
                    <a:srgbClr val="000000">
                      <a:alpha val="70000"/>
                    </a:srgbClr>
                  </a:outerShdw>
                </a:effectLst>
              </a:rPr>
              <a:t>ER Model</a:t>
            </a:r>
          </a:p>
        </p:txBody>
      </p:sp>
      <p:sp>
        <p:nvSpPr>
          <p:cNvPr id="7179" name="Line 1073"/>
          <p:cNvSpPr>
            <a:spLocks noChangeShapeType="1"/>
          </p:cNvSpPr>
          <p:nvPr/>
        </p:nvSpPr>
        <p:spPr bwMode="auto">
          <a:xfrm>
            <a:off x="1295400" y="25146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0" name="Text Box 1074"/>
          <p:cNvSpPr txBox="1">
            <a:spLocks noChangeArrowheads="1"/>
          </p:cNvSpPr>
          <p:nvPr/>
        </p:nvSpPr>
        <p:spPr bwMode="auto">
          <a:xfrm>
            <a:off x="2667000" y="3352800"/>
            <a:ext cx="1295400" cy="37623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Attributes</a:t>
            </a:r>
          </a:p>
        </p:txBody>
      </p:sp>
      <p:sp>
        <p:nvSpPr>
          <p:cNvPr id="7181" name="Text Box 1075"/>
          <p:cNvSpPr txBox="1">
            <a:spLocks noChangeArrowheads="1"/>
          </p:cNvSpPr>
          <p:nvPr/>
        </p:nvSpPr>
        <p:spPr bwMode="auto">
          <a:xfrm>
            <a:off x="2667000" y="4267200"/>
            <a:ext cx="1524000" cy="376238"/>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t>Relationship</a:t>
            </a:r>
          </a:p>
        </p:txBody>
      </p:sp>
      <p:sp>
        <p:nvSpPr>
          <p:cNvPr id="7182" name="Text Box 1080"/>
          <p:cNvSpPr txBox="1">
            <a:spLocks noChangeArrowheads="1"/>
          </p:cNvSpPr>
          <p:nvPr/>
        </p:nvSpPr>
        <p:spPr bwMode="auto">
          <a:xfrm>
            <a:off x="4267200" y="1524000"/>
            <a:ext cx="2133600" cy="37623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dirty="0"/>
              <a:t>Basics</a:t>
            </a:r>
          </a:p>
        </p:txBody>
      </p:sp>
      <p:sp>
        <p:nvSpPr>
          <p:cNvPr id="7183" name="Text Box 1081"/>
          <p:cNvSpPr txBox="1">
            <a:spLocks noChangeArrowheads="1"/>
          </p:cNvSpPr>
          <p:nvPr/>
        </p:nvSpPr>
        <p:spPr bwMode="auto">
          <a:xfrm>
            <a:off x="4267200" y="2057400"/>
            <a:ext cx="2133600" cy="650875"/>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dirty="0">
                <a:solidFill>
                  <a:schemeClr val="bg1">
                    <a:lumMod val="50000"/>
                  </a:schemeClr>
                </a:solidFill>
              </a:rPr>
              <a:t>Three advanced types of Entity</a:t>
            </a:r>
          </a:p>
        </p:txBody>
      </p:sp>
      <p:sp>
        <p:nvSpPr>
          <p:cNvPr id="7184" name="Text Box 1082"/>
          <p:cNvSpPr txBox="1">
            <a:spLocks noChangeArrowheads="1"/>
          </p:cNvSpPr>
          <p:nvPr/>
        </p:nvSpPr>
        <p:spPr bwMode="auto">
          <a:xfrm>
            <a:off x="4267200" y="2819400"/>
            <a:ext cx="2133600" cy="376238"/>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solidFill>
                  <a:schemeClr val="bg1">
                    <a:lumMod val="50000"/>
                  </a:schemeClr>
                </a:solidFill>
              </a:rPr>
              <a:t>Super/subtypes</a:t>
            </a:r>
          </a:p>
        </p:txBody>
      </p:sp>
      <p:sp>
        <p:nvSpPr>
          <p:cNvPr id="7185" name="Line 1083"/>
          <p:cNvSpPr>
            <a:spLocks noChangeShapeType="1"/>
          </p:cNvSpPr>
          <p:nvPr/>
        </p:nvSpPr>
        <p:spPr bwMode="auto">
          <a:xfrm>
            <a:off x="3886200" y="17526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6" name="Line 1084"/>
          <p:cNvSpPr>
            <a:spLocks noChangeShapeType="1"/>
          </p:cNvSpPr>
          <p:nvPr/>
        </p:nvSpPr>
        <p:spPr bwMode="auto">
          <a:xfrm>
            <a:off x="3581400" y="2590800"/>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7" name="Line 1085"/>
          <p:cNvSpPr>
            <a:spLocks noChangeShapeType="1"/>
          </p:cNvSpPr>
          <p:nvPr/>
        </p:nvSpPr>
        <p:spPr bwMode="auto">
          <a:xfrm>
            <a:off x="3886200" y="30480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88" name="Line 1086"/>
          <p:cNvSpPr>
            <a:spLocks noChangeShapeType="1"/>
          </p:cNvSpPr>
          <p:nvPr/>
        </p:nvSpPr>
        <p:spPr bwMode="auto">
          <a:xfrm>
            <a:off x="3886200" y="1752600"/>
            <a:ext cx="0"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89" name="Text Box 1087"/>
          <p:cNvSpPr txBox="1">
            <a:spLocks noChangeArrowheads="1"/>
          </p:cNvSpPr>
          <p:nvPr/>
        </p:nvSpPr>
        <p:spPr bwMode="auto">
          <a:xfrm>
            <a:off x="4495800" y="3962400"/>
            <a:ext cx="2133600" cy="37623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dirty="0"/>
              <a:t>Basics</a:t>
            </a:r>
          </a:p>
        </p:txBody>
      </p:sp>
      <p:sp>
        <p:nvSpPr>
          <p:cNvPr id="7190" name="Text Box 1088"/>
          <p:cNvSpPr txBox="1">
            <a:spLocks noChangeArrowheads="1"/>
          </p:cNvSpPr>
          <p:nvPr/>
        </p:nvSpPr>
        <p:spPr bwMode="auto">
          <a:xfrm>
            <a:off x="4495800" y="4876800"/>
            <a:ext cx="2133600" cy="650875"/>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solidFill>
                  <a:schemeClr val="bg1">
                    <a:lumMod val="50000"/>
                  </a:schemeClr>
                </a:solidFill>
              </a:rPr>
              <a:t>Cardinality and Participation</a:t>
            </a:r>
          </a:p>
        </p:txBody>
      </p:sp>
      <p:sp>
        <p:nvSpPr>
          <p:cNvPr id="7191" name="Line 1090"/>
          <p:cNvSpPr>
            <a:spLocks noChangeShapeType="1"/>
          </p:cNvSpPr>
          <p:nvPr/>
        </p:nvSpPr>
        <p:spPr bwMode="auto">
          <a:xfrm>
            <a:off x="4343400" y="5257800"/>
            <a:ext cx="15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92" name="Line 1091"/>
          <p:cNvSpPr>
            <a:spLocks noChangeShapeType="1"/>
          </p:cNvSpPr>
          <p:nvPr/>
        </p:nvSpPr>
        <p:spPr bwMode="auto">
          <a:xfrm>
            <a:off x="4343400" y="4038600"/>
            <a:ext cx="15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93" name="Line 1092"/>
          <p:cNvSpPr>
            <a:spLocks noChangeShapeType="1"/>
          </p:cNvSpPr>
          <p:nvPr/>
        </p:nvSpPr>
        <p:spPr bwMode="auto">
          <a:xfrm>
            <a:off x="4343400" y="40386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94" name="Line 1094"/>
          <p:cNvSpPr>
            <a:spLocks noChangeShapeType="1"/>
          </p:cNvSpPr>
          <p:nvPr/>
        </p:nvSpPr>
        <p:spPr bwMode="auto">
          <a:xfrm>
            <a:off x="4191000" y="44958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0423" name="Rectangle 1095"/>
          <p:cNvSpPr>
            <a:spLocks noChangeArrowheads="1"/>
          </p:cNvSpPr>
          <p:nvPr/>
        </p:nvSpPr>
        <p:spPr bwMode="auto">
          <a:xfrm>
            <a:off x="4191000" y="1447800"/>
            <a:ext cx="2362200" cy="5334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424" name="Rectangle 1096"/>
          <p:cNvSpPr>
            <a:spLocks noChangeArrowheads="1"/>
          </p:cNvSpPr>
          <p:nvPr/>
        </p:nvSpPr>
        <p:spPr bwMode="auto">
          <a:xfrm>
            <a:off x="2590800" y="3276600"/>
            <a:ext cx="2362200" cy="5334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0425" name="Rectangle 1097"/>
          <p:cNvSpPr>
            <a:spLocks noChangeArrowheads="1"/>
          </p:cNvSpPr>
          <p:nvPr/>
        </p:nvSpPr>
        <p:spPr bwMode="auto">
          <a:xfrm>
            <a:off x="4419600" y="3886200"/>
            <a:ext cx="2362200" cy="5334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98" name="Line 1098"/>
          <p:cNvSpPr>
            <a:spLocks noChangeShapeType="1"/>
          </p:cNvSpPr>
          <p:nvPr/>
        </p:nvSpPr>
        <p:spPr bwMode="auto">
          <a:xfrm>
            <a:off x="6400800" y="16764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99" name="Line 1099"/>
          <p:cNvSpPr>
            <a:spLocks noChangeShapeType="1"/>
          </p:cNvSpPr>
          <p:nvPr/>
        </p:nvSpPr>
        <p:spPr bwMode="auto">
          <a:xfrm>
            <a:off x="3962400" y="3581400"/>
            <a:ext cx="3657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00" name="Line 1100"/>
          <p:cNvSpPr>
            <a:spLocks noChangeShapeType="1"/>
          </p:cNvSpPr>
          <p:nvPr/>
        </p:nvSpPr>
        <p:spPr bwMode="auto">
          <a:xfrm>
            <a:off x="6634163" y="4191000"/>
            <a:ext cx="376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201" name="Line 1101"/>
          <p:cNvSpPr>
            <a:spLocks noChangeShapeType="1"/>
          </p:cNvSpPr>
          <p:nvPr/>
        </p:nvSpPr>
        <p:spPr bwMode="auto">
          <a:xfrm>
            <a:off x="7010400" y="1676400"/>
            <a:ext cx="0" cy="2514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202" name="Text Box 1102"/>
          <p:cNvSpPr txBox="1">
            <a:spLocks noChangeArrowheads="1"/>
          </p:cNvSpPr>
          <p:nvPr/>
        </p:nvSpPr>
        <p:spPr bwMode="auto">
          <a:xfrm>
            <a:off x="7620000" y="3200400"/>
            <a:ext cx="1295400" cy="646331"/>
          </a:xfrm>
          <a:prstGeom prst="rect">
            <a:avLst/>
          </a:prstGeom>
          <a:solidFill>
            <a:srgbClr val="0070C0"/>
          </a:solidFill>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b="1">
                <a:effectLst>
                  <a:outerShdw blurRad="38100" dist="38100" dir="2700000" algn="tl">
                    <a:srgbClr val="000000">
                      <a:alpha val="43137"/>
                    </a:srgbClr>
                  </a:outerShdw>
                </a:effectLst>
              </a:rPr>
              <a:t>Basic ER Modeling</a:t>
            </a:r>
          </a:p>
        </p:txBody>
      </p:sp>
      <p:sp>
        <p:nvSpPr>
          <p:cNvPr id="100431" name="Rectangle 1103"/>
          <p:cNvSpPr>
            <a:spLocks noChangeArrowheads="1"/>
          </p:cNvSpPr>
          <p:nvPr/>
        </p:nvSpPr>
        <p:spPr bwMode="auto">
          <a:xfrm>
            <a:off x="7543800" y="2971800"/>
            <a:ext cx="1447800" cy="10668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08" name="Text Box 1108"/>
          <p:cNvSpPr txBox="1">
            <a:spLocks noChangeArrowheads="1"/>
          </p:cNvSpPr>
          <p:nvPr/>
        </p:nvSpPr>
        <p:spPr bwMode="auto">
          <a:xfrm>
            <a:off x="7620000" y="4419600"/>
            <a:ext cx="1219200" cy="650875"/>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solidFill>
                  <a:schemeClr val="bg1">
                    <a:lumMod val="50000"/>
                  </a:schemeClr>
                </a:solidFill>
              </a:rPr>
              <a:t>ER Modeling</a:t>
            </a:r>
          </a:p>
        </p:txBody>
      </p:sp>
      <p:sp>
        <p:nvSpPr>
          <p:cNvPr id="7211" name="Text Box 1111"/>
          <p:cNvSpPr txBox="1">
            <a:spLocks noChangeArrowheads="1"/>
          </p:cNvSpPr>
          <p:nvPr/>
        </p:nvSpPr>
        <p:spPr bwMode="auto">
          <a:xfrm>
            <a:off x="7620000" y="1600200"/>
            <a:ext cx="1219200" cy="650875"/>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a:solidFill>
                  <a:schemeClr val="bg1">
                    <a:lumMod val="50000"/>
                  </a:schemeClr>
                </a:solidFill>
              </a:rPr>
              <a:t>EER Modeling</a:t>
            </a:r>
          </a:p>
        </p:txBody>
      </p:sp>
    </p:spTree>
    <p:extLst>
      <p:ext uri="{BB962C8B-B14F-4D97-AF65-F5344CB8AC3E}">
        <p14:creationId xmlns:p14="http://schemas.microsoft.com/office/powerpoint/2010/main" val="953168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457200" y="10391"/>
            <a:ext cx="8229600" cy="990600"/>
          </a:xfrm>
        </p:spPr>
        <p:txBody>
          <a:bodyPr/>
          <a:lstStyle/>
          <a:p>
            <a:pPr eaLnBrk="1" hangingPunct="1"/>
            <a:r>
              <a:rPr lang="en-US" sz="3600" b="1" dirty="0">
                <a:solidFill>
                  <a:srgbClr val="FFFF00"/>
                </a:solidFill>
                <a:effectLst>
                  <a:outerShdw blurRad="38100" dist="38100" dir="2700000" algn="tl">
                    <a:srgbClr val="000000">
                      <a:alpha val="43137"/>
                    </a:srgbClr>
                  </a:outerShdw>
                </a:effectLst>
              </a:rPr>
              <a:t>Conceptual Model   </a:t>
            </a:r>
          </a:p>
        </p:txBody>
      </p:sp>
      <p:sp>
        <p:nvSpPr>
          <p:cNvPr id="8196" name="Rectangle 27" descr="Rectangle: Click to edit Master text styles&#10;Second level&#10;Third level&#10;Fourth level&#10;Fifth level"/>
          <p:cNvSpPr>
            <a:spLocks noGrp="1" noChangeArrowheads="1"/>
          </p:cNvSpPr>
          <p:nvPr>
            <p:ph type="body" idx="1"/>
          </p:nvPr>
        </p:nvSpPr>
        <p:spPr>
          <a:xfrm>
            <a:off x="685800" y="1295400"/>
            <a:ext cx="7772400" cy="4114800"/>
          </a:xfrm>
          <a:noFill/>
        </p:spPr>
        <p:txBody>
          <a:bodyPr/>
          <a:lstStyle/>
          <a:p>
            <a:pPr eaLnBrk="1" hangingPunct="1"/>
            <a:r>
              <a:rPr lang="en-US" sz="2400" dirty="0">
                <a:latin typeface="Arial" panose="020B0604020202020204" pitchFamily="34" charset="0"/>
                <a:cs typeface="Arial" panose="020B0604020202020204" pitchFamily="34" charset="0"/>
              </a:rPr>
              <a:t>Basic modeling concepts</a:t>
            </a:r>
          </a:p>
          <a:p>
            <a:pPr lvl="1" eaLnBrk="1" hangingPunct="1"/>
            <a:r>
              <a:rPr lang="en-US" sz="2400" dirty="0">
                <a:latin typeface="Arial" panose="020B0604020202020204" pitchFamily="34" charset="0"/>
                <a:cs typeface="Arial" panose="020B0604020202020204" pitchFamily="34" charset="0"/>
              </a:rPr>
              <a:t>What is a </a:t>
            </a:r>
            <a:r>
              <a:rPr lang="en-US" sz="2400" dirty="0">
                <a:solidFill>
                  <a:srgbClr val="FF0000"/>
                </a:solidFill>
                <a:latin typeface="Arial" panose="020B0604020202020204" pitchFamily="34" charset="0"/>
                <a:cs typeface="Arial" panose="020B0604020202020204" pitchFamily="34" charset="0"/>
              </a:rPr>
              <a:t>model</a:t>
            </a:r>
            <a:r>
              <a:rPr lang="en-US" sz="2400" dirty="0">
                <a:latin typeface="Arial" panose="020B0604020202020204" pitchFamily="34" charset="0"/>
                <a:cs typeface="Arial" panose="020B0604020202020204" pitchFamily="34" charset="0"/>
              </a:rPr>
              <a:t>?</a:t>
            </a:r>
          </a:p>
          <a:p>
            <a:pPr lvl="2" eaLnBrk="1" hangingPunct="1"/>
            <a:r>
              <a:rPr lang="en-US" dirty="0">
                <a:latin typeface="Arial" panose="020B0604020202020204" pitchFamily="34" charset="0"/>
                <a:cs typeface="Arial" panose="020B0604020202020204" pitchFamily="34" charset="0"/>
              </a:rPr>
              <a:t>A </a:t>
            </a:r>
            <a:r>
              <a:rPr lang="en-US" dirty="0">
                <a:solidFill>
                  <a:srgbClr val="FF0000"/>
                </a:solidFill>
                <a:latin typeface="Arial" panose="020B0604020202020204" pitchFamily="34" charset="0"/>
                <a:cs typeface="Arial" panose="020B0604020202020204" pitchFamily="34" charset="0"/>
              </a:rPr>
              <a:t>Model</a:t>
            </a:r>
            <a:r>
              <a:rPr lang="en-US" dirty="0">
                <a:latin typeface="Arial" panose="020B0604020202020204" pitchFamily="34" charset="0"/>
                <a:cs typeface="Arial" panose="020B0604020202020204" pitchFamily="34" charset="0"/>
              </a:rPr>
              <a:t> is a </a:t>
            </a:r>
            <a:r>
              <a:rPr lang="en-US" i="1" dirty="0">
                <a:latin typeface="Arial" panose="020B0604020202020204" pitchFamily="34" charset="0"/>
                <a:cs typeface="Arial" panose="020B0604020202020204" pitchFamily="34" charset="0"/>
              </a:rPr>
              <a:t>description or analogy used to visualize something that </a:t>
            </a:r>
            <a:r>
              <a:rPr lang="en-US" b="1" i="1" dirty="0">
                <a:solidFill>
                  <a:srgbClr val="FF0000"/>
                </a:solidFill>
                <a:latin typeface="Arial" panose="020B0604020202020204" pitchFamily="34" charset="0"/>
                <a:cs typeface="Arial" panose="020B0604020202020204" pitchFamily="34" charset="0"/>
              </a:rPr>
              <a:t>cannot be observed</a:t>
            </a:r>
          </a:p>
          <a:p>
            <a:pPr lvl="2" eaLnBrk="1" hangingPunct="1"/>
            <a:r>
              <a:rPr lang="en-US" dirty="0">
                <a:latin typeface="Arial" panose="020B0604020202020204" pitchFamily="34" charset="0"/>
                <a:cs typeface="Arial" panose="020B0604020202020204" pitchFamily="34" charset="0"/>
              </a:rPr>
              <a:t>Example: </a:t>
            </a:r>
          </a:p>
        </p:txBody>
      </p:sp>
      <p:pic>
        <p:nvPicPr>
          <p:cNvPr id="65565" name="Picture 29" descr="C:\Documents and Settings\Administrator\My Documents\My Pictures\model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1322" y="3124200"/>
            <a:ext cx="982839"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66" name="Picture 30" descr="C:\Documents and Settings\Administrator\My Documents\My Pictures\jacobs5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3733800"/>
            <a:ext cx="1040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67" name="Picture 31" descr="C:\Documents and Settings\Administrator\My Documents\My Pictures\dpr_showgo_1of1.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76400" y="3733800"/>
            <a:ext cx="274320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2811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457200" y="10391"/>
            <a:ext cx="8229600" cy="990600"/>
          </a:xfrm>
        </p:spPr>
        <p:txBody>
          <a:bodyPr/>
          <a:lstStyle/>
          <a:p>
            <a:pPr eaLnBrk="1" hangingPunct="1"/>
            <a:r>
              <a:rPr lang="en-US" sz="3600" b="1" dirty="0">
                <a:solidFill>
                  <a:srgbClr val="FFFF00"/>
                </a:solidFill>
                <a:effectLst>
                  <a:outerShdw blurRad="38100" dist="38100" dir="2700000" algn="tl">
                    <a:srgbClr val="000000">
                      <a:alpha val="43137"/>
                    </a:srgbClr>
                  </a:outerShdw>
                </a:effectLst>
              </a:rPr>
              <a:t>Data Model   </a:t>
            </a:r>
          </a:p>
        </p:txBody>
      </p:sp>
      <p:sp>
        <p:nvSpPr>
          <p:cNvPr id="8196" name="Rectangle 27" descr="Rectangle: Click to edit Master text styles&#10;Second level&#10;Third level&#10;Fourth level&#10;Fifth level"/>
          <p:cNvSpPr>
            <a:spLocks noGrp="1" noChangeArrowheads="1"/>
          </p:cNvSpPr>
          <p:nvPr>
            <p:ph type="body" idx="1"/>
          </p:nvPr>
        </p:nvSpPr>
        <p:spPr>
          <a:xfrm>
            <a:off x="685800" y="1295400"/>
            <a:ext cx="7772400" cy="4114800"/>
          </a:xfrm>
          <a:noFill/>
        </p:spPr>
        <p:txBody>
          <a:bodyPr/>
          <a:lstStyle/>
          <a:p>
            <a:r>
              <a:rPr lang="en-US" sz="2400" dirty="0">
                <a:latin typeface="Arial" panose="020B0604020202020204" pitchFamily="34" charset="0"/>
                <a:cs typeface="Arial" panose="020B0604020202020204" pitchFamily="34" charset="0"/>
              </a:rPr>
              <a:t>A </a:t>
            </a:r>
            <a:r>
              <a:rPr lang="en-US" sz="2400" b="1" dirty="0">
                <a:solidFill>
                  <a:srgbClr val="FF0000"/>
                </a:solidFill>
                <a:latin typeface="Arial" panose="020B0604020202020204" pitchFamily="34" charset="0"/>
                <a:cs typeface="Arial" panose="020B0604020202020204" pitchFamily="34" charset="0"/>
              </a:rPr>
              <a:t>data model</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is a plan, or blueprint, for a </a:t>
            </a:r>
            <a:r>
              <a:rPr lang="en-US" sz="2400" b="1" dirty="0">
                <a:solidFill>
                  <a:srgbClr val="FF0000"/>
                </a:solidFill>
                <a:latin typeface="Arial" panose="020B0604020202020204" pitchFamily="34" charset="0"/>
                <a:cs typeface="Arial" panose="020B0604020202020204" pitchFamily="34" charset="0"/>
              </a:rPr>
              <a:t>database design</a:t>
            </a:r>
          </a:p>
          <a:p>
            <a:r>
              <a:rPr lang="en-US" sz="2400" dirty="0">
                <a:latin typeface="Arial" panose="020B0604020202020204" pitchFamily="34" charset="0"/>
                <a:cs typeface="Arial" panose="020B0604020202020204" pitchFamily="34" charset="0"/>
              </a:rPr>
              <a:t>It describes the data that need to be captured by a database on a </a:t>
            </a:r>
            <a:r>
              <a:rPr lang="en-US" sz="2400" u="sng" dirty="0">
                <a:latin typeface="Arial" panose="020B0604020202020204" pitchFamily="34" charset="0"/>
                <a:cs typeface="Arial" panose="020B0604020202020204" pitchFamily="34" charset="0"/>
              </a:rPr>
              <a:t>conceptual level</a:t>
            </a:r>
          </a:p>
          <a:p>
            <a:pPr lvl="1"/>
            <a:r>
              <a:rPr lang="en-US" sz="2400" dirty="0">
                <a:latin typeface="Arial" panose="020B0604020202020204" pitchFamily="34" charset="0"/>
                <a:cs typeface="Arial" panose="020B0604020202020204" pitchFamily="34" charset="0"/>
              </a:rPr>
              <a:t>Focuses on </a:t>
            </a:r>
            <a:r>
              <a:rPr lang="en-US" sz="2400" dirty="0">
                <a:solidFill>
                  <a:srgbClr val="C00000"/>
                </a:solidFill>
                <a:latin typeface="Arial" panose="020B0604020202020204" pitchFamily="34" charset="0"/>
                <a:cs typeface="Arial" panose="020B0604020202020204" pitchFamily="34" charset="0"/>
              </a:rPr>
              <a:t>what</a:t>
            </a:r>
            <a:r>
              <a:rPr lang="en-US" sz="2400" dirty="0">
                <a:latin typeface="Arial" panose="020B0604020202020204" pitchFamily="34" charset="0"/>
                <a:cs typeface="Arial" panose="020B0604020202020204" pitchFamily="34" charset="0"/>
              </a:rPr>
              <a:t> to capture, not </a:t>
            </a:r>
            <a:r>
              <a:rPr lang="en-US" sz="2400" dirty="0">
                <a:solidFill>
                  <a:srgbClr val="C00000"/>
                </a:solidFill>
                <a:latin typeface="Arial" panose="020B0604020202020204" pitchFamily="34" charset="0"/>
                <a:cs typeface="Arial" panose="020B0604020202020204" pitchFamily="34" charset="0"/>
              </a:rPr>
              <a:t>how</a:t>
            </a:r>
            <a:r>
              <a:rPr lang="en-US" sz="2400" dirty="0">
                <a:latin typeface="Arial" panose="020B0604020202020204" pitchFamily="34" charset="0"/>
                <a:cs typeface="Arial" panose="020B0604020202020204" pitchFamily="34" charset="0"/>
              </a:rPr>
              <a:t> to capture it</a:t>
            </a:r>
          </a:p>
          <a:p>
            <a:pPr lvl="1"/>
            <a:r>
              <a:rPr lang="en-US" sz="2400" dirty="0">
                <a:latin typeface="Arial" panose="020B0604020202020204" pitchFamily="34" charset="0"/>
                <a:cs typeface="Arial" panose="020B0604020202020204" pitchFamily="34" charset="0"/>
              </a:rPr>
              <a:t>Analogy: compact camera vs. SLR professional camera</a:t>
            </a:r>
          </a:p>
          <a:p>
            <a:pPr lvl="1"/>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A data model is more generalized and abstract than a database design – and therefore a lot easier to change!</a:t>
            </a:r>
          </a:p>
        </p:txBody>
      </p:sp>
      <p:pic>
        <p:nvPicPr>
          <p:cNvPr id="5122" name="Picture 2" descr="http://media.the-digital-picture.com/Images/Review/Canon-EOS-Rebel-XSi-450D-Digital-SLR-Camer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3000" y="4073236"/>
            <a:ext cx="1066800" cy="96335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www.english-online.at/news-articles/technology/sony-digital-camer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9400" y="4073236"/>
            <a:ext cx="12192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362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457200" y="20782"/>
            <a:ext cx="8229600" cy="9906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Conceptual Model vs the Data Model</a:t>
            </a:r>
          </a:p>
        </p:txBody>
      </p:sp>
      <p:sp>
        <p:nvSpPr>
          <p:cNvPr id="66563" name="Rectangle 3" descr="Rectangle: Click to edit Master text styles&#10;Second level&#10;Third level&#10;Fourth level&#10;Fifth level"/>
          <p:cNvSpPr>
            <a:spLocks noGrp="1" noChangeArrowheads="1"/>
          </p:cNvSpPr>
          <p:nvPr>
            <p:ph type="body" idx="1"/>
          </p:nvPr>
        </p:nvSpPr>
        <p:spPr>
          <a:xfrm>
            <a:off x="762000" y="1371600"/>
            <a:ext cx="7772400" cy="4114800"/>
          </a:xfrm>
          <a:noFill/>
        </p:spPr>
        <p:txBody>
          <a:bodyPr/>
          <a:lstStyle/>
          <a:p>
            <a:pPr lvl="1" eaLnBrk="1" hangingPunct="1">
              <a:lnSpc>
                <a:spcPct val="90000"/>
              </a:lnSpc>
            </a:pPr>
            <a:r>
              <a:rPr lang="en-US" sz="2000" dirty="0">
                <a:latin typeface="Arial" panose="020B0604020202020204" pitchFamily="34" charset="0"/>
                <a:cs typeface="Arial" panose="020B0604020202020204" pitchFamily="34" charset="0"/>
              </a:rPr>
              <a:t>What is a conceptual model again?</a:t>
            </a:r>
          </a:p>
          <a:p>
            <a:pPr lvl="2" eaLnBrk="1" hangingPunct="1">
              <a:lnSpc>
                <a:spcPct val="90000"/>
              </a:lnSpc>
            </a:pPr>
            <a:r>
              <a:rPr lang="en-US" sz="2000" dirty="0">
                <a:latin typeface="Arial" panose="020B0604020202020204" pitchFamily="34" charset="0"/>
                <a:cs typeface="Arial" panose="020B0604020202020204" pitchFamily="34" charset="0"/>
              </a:rPr>
              <a:t>Conceptual: </a:t>
            </a:r>
            <a:r>
              <a:rPr lang="en-US" sz="2000" i="1" dirty="0">
                <a:latin typeface="Arial" panose="020B0604020202020204" pitchFamily="34" charset="0"/>
                <a:cs typeface="Arial" panose="020B0604020202020204" pitchFamily="34" charset="0"/>
              </a:rPr>
              <a:t>semantic, meaning</a:t>
            </a:r>
          </a:p>
          <a:p>
            <a:pPr lvl="2" eaLnBrk="1" hangingPunct="1">
              <a:lnSpc>
                <a:spcPct val="90000"/>
              </a:lnSpc>
            </a:pPr>
            <a:r>
              <a:rPr lang="en-US" sz="2000" dirty="0">
                <a:latin typeface="Arial" panose="020B0604020202020204" pitchFamily="34" charset="0"/>
                <a:cs typeface="Arial" panose="020B0604020202020204" pitchFamily="34" charset="0"/>
              </a:rPr>
              <a:t>Conceptual / data model represents a </a:t>
            </a:r>
            <a:r>
              <a:rPr lang="en-US" sz="2000" dirty="0">
                <a:solidFill>
                  <a:srgbClr val="FF0000"/>
                </a:solidFill>
                <a:latin typeface="Arial" panose="020B0604020202020204" pitchFamily="34" charset="0"/>
                <a:cs typeface="Arial" panose="020B0604020202020204" pitchFamily="34" charset="0"/>
              </a:rPr>
              <a:t>global</a:t>
            </a:r>
            <a:r>
              <a:rPr lang="en-US" sz="2000" dirty="0">
                <a:latin typeface="Arial" panose="020B0604020202020204" pitchFamily="34" charset="0"/>
                <a:cs typeface="Arial" panose="020B0604020202020204" pitchFamily="34" charset="0"/>
              </a:rPr>
              <a:t> view of the data.</a:t>
            </a:r>
          </a:p>
          <a:p>
            <a:pPr lvl="2" eaLnBrk="1" hangingPunct="1">
              <a:lnSpc>
                <a:spcPct val="90000"/>
              </a:lnSpc>
            </a:pPr>
            <a:r>
              <a:rPr lang="en-US" sz="2000" dirty="0">
                <a:latin typeface="Arial" panose="020B0604020202020204" pitchFamily="34" charset="0"/>
                <a:cs typeface="Arial" panose="020B0604020202020204" pitchFamily="34" charset="0"/>
              </a:rPr>
              <a:t>Conceptual model serves as basis for </a:t>
            </a:r>
            <a:r>
              <a:rPr lang="en-US" sz="2000" dirty="0">
                <a:solidFill>
                  <a:srgbClr val="FF0000"/>
                </a:solidFill>
                <a:latin typeface="Arial" panose="020B0604020202020204" pitchFamily="34" charset="0"/>
                <a:cs typeface="Arial" panose="020B0604020202020204" pitchFamily="34" charset="0"/>
              </a:rPr>
              <a:t>identification of the major data objects, avoiding details </a:t>
            </a:r>
          </a:p>
          <a:p>
            <a:pPr lvl="2" eaLnBrk="1" hangingPunct="1">
              <a:lnSpc>
                <a:spcPct val="90000"/>
              </a:lnSpc>
            </a:pPr>
            <a:endParaRPr lang="en-US" sz="2000" i="1" dirty="0">
              <a:latin typeface="Arial" panose="020B0604020202020204" pitchFamily="34" charset="0"/>
              <a:cs typeface="Arial" panose="020B0604020202020204" pitchFamily="34" charset="0"/>
            </a:endParaRPr>
          </a:p>
          <a:p>
            <a:pPr lvl="1" eaLnBrk="1" hangingPunct="1">
              <a:lnSpc>
                <a:spcPct val="90000"/>
              </a:lnSpc>
            </a:pPr>
            <a:r>
              <a:rPr lang="en-US" sz="2000" dirty="0">
                <a:latin typeface="Arial" panose="020B0604020202020204" pitchFamily="34" charset="0"/>
                <a:cs typeface="Arial" panose="020B0604020202020204" pitchFamily="34" charset="0"/>
              </a:rPr>
              <a:t>Analogy: Think about blueprint for architects</a:t>
            </a:r>
          </a:p>
          <a:p>
            <a:pPr lvl="2" eaLnBrk="1" hangingPunct="1">
              <a:lnSpc>
                <a:spcPct val="90000"/>
              </a:lnSpc>
            </a:pPr>
            <a:r>
              <a:rPr lang="en-US" sz="2000" dirty="0">
                <a:latin typeface="Arial" panose="020B0604020202020204" pitchFamily="34" charset="0"/>
                <a:cs typeface="Arial" panose="020B0604020202020204" pitchFamily="34" charset="0"/>
              </a:rPr>
              <a:t>It describes how a building should look like</a:t>
            </a:r>
          </a:p>
          <a:p>
            <a:pPr lvl="2" eaLnBrk="1" hangingPunct="1">
              <a:lnSpc>
                <a:spcPct val="90000"/>
              </a:lnSpc>
            </a:pPr>
            <a:r>
              <a:rPr lang="en-US" sz="2000" dirty="0">
                <a:latin typeface="Arial" panose="020B0604020202020204" pitchFamily="34" charset="0"/>
                <a:cs typeface="Arial" panose="020B0604020202020204" pitchFamily="34" charset="0"/>
              </a:rPr>
              <a:t>It identifies major objects: How many bedrooms? How many levels? What does it look like on a sunny day? </a:t>
            </a:r>
          </a:p>
          <a:p>
            <a:pPr lvl="2" eaLnBrk="1" hangingPunct="1">
              <a:lnSpc>
                <a:spcPct val="90000"/>
              </a:lnSpc>
            </a:pPr>
            <a:r>
              <a:rPr lang="en-US" sz="2000" dirty="0">
                <a:latin typeface="Arial" panose="020B0604020202020204" pitchFamily="34" charset="0"/>
                <a:cs typeface="Arial" panose="020B0604020202020204" pitchFamily="34" charset="0"/>
              </a:rPr>
              <a:t>It avoids details: Size of the dining room? Carpet or tiles? Concrete or wood?</a:t>
            </a:r>
          </a:p>
          <a:p>
            <a:pPr lvl="2" eaLnBrk="1" hangingPunct="1">
              <a:lnSpc>
                <a:spcPct val="90000"/>
              </a:lnSpc>
            </a:pPr>
            <a:r>
              <a:rPr lang="en-US" sz="2000" dirty="0">
                <a:latin typeface="Arial" panose="020B0604020202020204" pitchFamily="34" charset="0"/>
                <a:cs typeface="Arial" panose="020B0604020202020204" pitchFamily="34" charset="0"/>
              </a:rPr>
              <a:t>It is sufficient to be used as a tool of communication</a:t>
            </a:r>
          </a:p>
          <a:p>
            <a:pPr lvl="2" eaLnBrk="1" hangingPunct="1">
              <a:lnSpc>
                <a:spcPct val="90000"/>
              </a:lnSpc>
            </a:pPr>
            <a:r>
              <a:rPr lang="en-US" sz="2000" dirty="0">
                <a:latin typeface="Arial" panose="020B0604020202020204" pitchFamily="34" charset="0"/>
                <a:cs typeface="Arial" panose="020B0604020202020204" pitchFamily="34" charset="0"/>
              </a:rPr>
              <a:t>But not so detailed such that a change would require complete rebuild of the system!</a:t>
            </a:r>
          </a:p>
          <a:p>
            <a:pPr lvl="1" eaLnBrk="1" hangingPunct="1">
              <a:lnSpc>
                <a:spcPct val="90000"/>
              </a:lnSpc>
            </a:pPr>
            <a:endParaRPr lang="en-US"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57140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457200" y="0"/>
            <a:ext cx="8229600" cy="9906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Conceptual Model, Cont.   </a:t>
            </a:r>
          </a:p>
        </p:txBody>
      </p:sp>
      <p:sp>
        <p:nvSpPr>
          <p:cNvPr id="67587" name="Rectangle 3" descr="Rectangle: Click to edit Master text styles&#10;Second level&#10;Third level&#10;Fourth level&#10;Fifth level"/>
          <p:cNvSpPr>
            <a:spLocks noGrp="1" noChangeArrowheads="1"/>
          </p:cNvSpPr>
          <p:nvPr>
            <p:ph type="body" idx="1"/>
          </p:nvPr>
        </p:nvSpPr>
        <p:spPr>
          <a:xfrm>
            <a:off x="762000" y="1371600"/>
            <a:ext cx="7772400" cy="4114800"/>
          </a:xfrm>
          <a:noFill/>
        </p:spPr>
        <p:txBody>
          <a:bodyPr/>
          <a:lstStyle/>
          <a:p>
            <a:pPr eaLnBrk="1" hangingPunct="1"/>
            <a:r>
              <a:rPr lang="en-US" sz="2400" dirty="0">
                <a:latin typeface="Arial" panose="020B0604020202020204" pitchFamily="34" charset="0"/>
                <a:cs typeface="Arial" panose="020B0604020202020204" pitchFamily="34" charset="0"/>
              </a:rPr>
              <a:t>What do we model in conceptual design?</a:t>
            </a:r>
          </a:p>
          <a:p>
            <a:pPr lvl="1" eaLnBrk="1" hangingPunct="1"/>
            <a:r>
              <a:rPr lang="en-US" sz="2400" dirty="0">
                <a:latin typeface="Arial" panose="020B0604020202020204" pitchFamily="34" charset="0"/>
                <a:cs typeface="Arial" panose="020B0604020202020204" pitchFamily="34" charset="0"/>
              </a:rPr>
              <a:t>The </a:t>
            </a:r>
            <a:r>
              <a:rPr lang="en-US" sz="2400" dirty="0">
                <a:solidFill>
                  <a:srgbClr val="FF0000"/>
                </a:solidFill>
                <a:latin typeface="Arial" panose="020B0604020202020204" pitchFamily="34" charset="0"/>
                <a:cs typeface="Arial" panose="020B0604020202020204" pitchFamily="34" charset="0"/>
              </a:rPr>
              <a:t>mini-world</a:t>
            </a:r>
            <a:r>
              <a:rPr lang="en-US" sz="2400" dirty="0">
                <a:latin typeface="Arial" panose="020B0604020202020204" pitchFamily="34" charset="0"/>
                <a:cs typeface="Arial" panose="020B0604020202020204" pitchFamily="34" charset="0"/>
              </a:rPr>
              <a:t>: Some part of the real world about which information will be stored in the database</a:t>
            </a:r>
          </a:p>
          <a:p>
            <a:pPr lvl="2" eaLnBrk="1" hangingPunct="1"/>
            <a:r>
              <a:rPr lang="en-US" dirty="0">
                <a:latin typeface="Arial" panose="020B0604020202020204" pitchFamily="34" charset="0"/>
                <a:cs typeface="Arial" panose="020B0604020202020204" pitchFamily="34" charset="0"/>
              </a:rPr>
              <a:t>Example: </a:t>
            </a:r>
          </a:p>
          <a:p>
            <a:pPr lvl="3" eaLnBrk="1" hangingPunct="1"/>
            <a:r>
              <a:rPr lang="en-US" sz="2400" dirty="0">
                <a:latin typeface="Arial" panose="020B0604020202020204" pitchFamily="34" charset="0"/>
                <a:cs typeface="Arial" panose="020B0604020202020204" pitchFamily="34" charset="0"/>
              </a:rPr>
              <a:t>For a bank, customer info., account info., etc.</a:t>
            </a:r>
          </a:p>
          <a:p>
            <a:pPr lvl="3" eaLnBrk="1" hangingPunct="1"/>
            <a:r>
              <a:rPr lang="en-US" sz="2400" dirty="0">
                <a:latin typeface="Arial" panose="020B0604020202020204" pitchFamily="34" charset="0"/>
                <a:cs typeface="Arial" panose="020B0604020202020204" pitchFamily="34" charset="0"/>
              </a:rPr>
              <a:t>For a bookstore, book info., customer info. </a:t>
            </a:r>
            <a:r>
              <a:rPr lang="en-US" sz="2400" dirty="0" err="1">
                <a:latin typeface="Arial" panose="020B0604020202020204" pitchFamily="34" charset="0"/>
                <a:cs typeface="Arial" panose="020B0604020202020204" pitchFamily="34" charset="0"/>
              </a:rPr>
              <a:t>etc</a:t>
            </a:r>
            <a:endParaRPr lang="en-US" sz="2400" dirty="0">
              <a:latin typeface="Arial" panose="020B0604020202020204" pitchFamily="34" charset="0"/>
              <a:cs typeface="Arial" panose="020B0604020202020204" pitchFamily="34" charset="0"/>
            </a:endParaRPr>
          </a:p>
          <a:p>
            <a:pPr lvl="3" eaLnBrk="1" hangingPunct="1"/>
            <a:r>
              <a:rPr lang="en-US" sz="2400" dirty="0">
                <a:latin typeface="Arial" panose="020B0604020202020204" pitchFamily="34" charset="0"/>
                <a:cs typeface="Arial" panose="020B0604020202020204" pitchFamily="34" charset="0"/>
              </a:rPr>
              <a:t>For a university?</a:t>
            </a:r>
          </a:p>
          <a:p>
            <a:pPr lvl="1" eaLnBrk="1" hangingPunct="1"/>
            <a:endParaRPr lang="en-US" sz="2400" dirty="0">
              <a:latin typeface="Arial" panose="020B0604020202020204" pitchFamily="34" charset="0"/>
              <a:cs typeface="Arial" panose="020B0604020202020204" pitchFamily="34" charset="0"/>
            </a:endParaRPr>
          </a:p>
          <a:p>
            <a:pPr lvl="1" eaLnBrk="1" hangingPunct="1"/>
            <a:r>
              <a:rPr lang="en-US" sz="2400" dirty="0">
                <a:latin typeface="Arial" panose="020B0604020202020204" pitchFamily="34" charset="0"/>
                <a:cs typeface="Arial" panose="020B0604020202020204" pitchFamily="34" charset="0"/>
              </a:rPr>
              <a:t>Mini-world is </a:t>
            </a:r>
            <a:r>
              <a:rPr lang="en-US" sz="2400" b="1" dirty="0">
                <a:solidFill>
                  <a:srgbClr val="FF0000"/>
                </a:solidFill>
                <a:latin typeface="Arial" panose="020B0604020202020204" pitchFamily="34" charset="0"/>
                <a:cs typeface="Arial" panose="020B0604020202020204" pitchFamily="34" charset="0"/>
              </a:rPr>
              <a:t>the scope of our modeling</a:t>
            </a:r>
          </a:p>
          <a:p>
            <a:pPr lvl="1" eaLnBrk="1" hangingPunct="1"/>
            <a:endParaRPr lang="en-US"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48891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33400" y="0"/>
            <a:ext cx="8229600" cy="990600"/>
          </a:xfrm>
        </p:spPr>
        <p:txBody>
          <a:bodyPr/>
          <a:lstStyle/>
          <a:p>
            <a:pPr eaLnBrk="1" hangingPunct="1"/>
            <a:r>
              <a:rPr lang="en-US" sz="3600" b="1" dirty="0">
                <a:solidFill>
                  <a:srgbClr val="FFFF00"/>
                </a:solidFill>
              </a:rPr>
              <a:t>ER Modeling   </a:t>
            </a:r>
          </a:p>
        </p:txBody>
      </p:sp>
      <p:sp>
        <p:nvSpPr>
          <p:cNvPr id="68611" name="Rectangle 3" descr="Rectangle: Click to edit Master text styles&#10;Second level&#10;Third level&#10;Fourth level&#10;Fifth level"/>
          <p:cNvSpPr>
            <a:spLocks noGrp="1" noChangeArrowheads="1"/>
          </p:cNvSpPr>
          <p:nvPr>
            <p:ph type="body" idx="1"/>
          </p:nvPr>
        </p:nvSpPr>
        <p:spPr>
          <a:xfrm>
            <a:off x="304800" y="1295400"/>
            <a:ext cx="7772400" cy="4114800"/>
          </a:xfrm>
          <a:noFill/>
        </p:spPr>
        <p:txBody>
          <a:bodyPr/>
          <a:lstStyle/>
          <a:p>
            <a:pPr marL="0" indent="0" eaLnBrk="1" hangingPunct="1">
              <a:lnSpc>
                <a:spcPct val="90000"/>
              </a:lnSpc>
              <a:buNone/>
            </a:pPr>
            <a:endParaRPr lang="en-US" sz="2400" dirty="0">
              <a:effectLst>
                <a:outerShdw blurRad="38100" dist="38100" dir="2700000" algn="tl">
                  <a:srgbClr val="000000">
                    <a:alpha val="43137"/>
                  </a:srgbClr>
                </a:outerShdw>
              </a:effectLst>
            </a:endParaRPr>
          </a:p>
          <a:p>
            <a:r>
              <a:rPr lang="en-US" sz="2400" b="1" dirty="0">
                <a:solidFill>
                  <a:srgbClr val="0066FF"/>
                </a:solidFill>
                <a:latin typeface="Arial" panose="020B0604020202020204" pitchFamily="34" charset="0"/>
                <a:cs typeface="Arial" panose="020B0604020202020204" pitchFamily="34" charset="0"/>
              </a:rPr>
              <a:t>Entity-Relationship model</a:t>
            </a:r>
            <a:r>
              <a:rPr lang="en-US" sz="2400" dirty="0">
                <a:latin typeface="Arial" panose="020B0604020202020204" pitchFamily="34" charset="0"/>
                <a:cs typeface="Arial" panose="020B0604020202020204" pitchFamily="34" charset="0"/>
              </a:rPr>
              <a:t> is a set of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concepts and graphical symbols that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can be used to create conceptual schemas.</a:t>
            </a:r>
          </a:p>
          <a:p>
            <a:pPr lvl="1" eaLnBrk="1" hangingPunct="1">
              <a:lnSpc>
                <a:spcPct val="90000"/>
              </a:lnSpc>
            </a:pPr>
            <a:endParaRPr lang="en-US" sz="2400" dirty="0">
              <a:latin typeface="Arial" panose="020B0604020202020204" pitchFamily="34" charset="0"/>
              <a:cs typeface="Arial" panose="020B0604020202020204" pitchFamily="34" charset="0"/>
            </a:endParaRPr>
          </a:p>
          <a:p>
            <a:pPr>
              <a:lnSpc>
                <a:spcPct val="90000"/>
              </a:lnSpc>
            </a:pPr>
            <a:r>
              <a:rPr lang="en-US" sz="2400" dirty="0">
                <a:latin typeface="Arial" panose="020B0604020202020204" pitchFamily="34" charset="0"/>
                <a:cs typeface="Arial" panose="020B0604020202020204" pitchFamily="34" charset="0"/>
              </a:rPr>
              <a:t>The most popular and </a:t>
            </a:r>
            <a:r>
              <a:rPr lang="en-US" sz="2400" i="1" dirty="0">
                <a:latin typeface="Arial" panose="020B0604020202020204" pitchFamily="34" charset="0"/>
                <a:cs typeface="Arial" panose="020B0604020202020204" pitchFamily="34" charset="0"/>
              </a:rPr>
              <a:t>de facto</a:t>
            </a:r>
            <a:r>
              <a:rPr lang="en-US" sz="2400" dirty="0">
                <a:latin typeface="Arial" panose="020B0604020202020204" pitchFamily="34" charset="0"/>
                <a:cs typeface="Arial" panose="020B0604020202020204" pitchFamily="34" charset="0"/>
              </a:rPr>
              <a:t> conceptual model in database design</a:t>
            </a:r>
          </a:p>
          <a:p>
            <a:pPr>
              <a:lnSpc>
                <a:spcPct val="90000"/>
              </a:lnSpc>
            </a:pPr>
            <a:endParaRPr lang="en-US" sz="2400" dirty="0">
              <a:latin typeface="Arial" panose="020B0604020202020204" pitchFamily="34" charset="0"/>
              <a:cs typeface="Arial" panose="020B0604020202020204" pitchFamily="34" charset="0"/>
            </a:endParaRPr>
          </a:p>
          <a:p>
            <a:pPr>
              <a:lnSpc>
                <a:spcPct val="90000"/>
              </a:lnSpc>
            </a:pPr>
            <a:r>
              <a:rPr lang="en-US" sz="2400" dirty="0">
                <a:latin typeface="Arial" panose="020B0604020202020204" pitchFamily="34" charset="0"/>
                <a:cs typeface="Arial" panose="020B0604020202020204" pitchFamily="34" charset="0"/>
              </a:rPr>
              <a:t>ER Modeling views a database as a </a:t>
            </a:r>
            <a:r>
              <a:rPr lang="en-US" sz="2400" dirty="0">
                <a:solidFill>
                  <a:srgbClr val="FF0000"/>
                </a:solidFill>
                <a:latin typeface="Arial" panose="020B0604020202020204" pitchFamily="34" charset="0"/>
                <a:cs typeface="Arial" panose="020B0604020202020204" pitchFamily="34" charset="0"/>
              </a:rPr>
              <a:t>collection of </a:t>
            </a:r>
            <a:r>
              <a:rPr lang="en-US" sz="2400" i="1" dirty="0">
                <a:solidFill>
                  <a:srgbClr val="FF0000"/>
                </a:solidFill>
                <a:latin typeface="Arial" panose="020B0604020202020204" pitchFamily="34" charset="0"/>
                <a:cs typeface="Arial" panose="020B0604020202020204" pitchFamily="34" charset="0"/>
              </a:rPr>
              <a:t>entities</a:t>
            </a:r>
            <a:r>
              <a:rPr lang="en-US" sz="2400" dirty="0">
                <a:solidFill>
                  <a:srgbClr val="FF0000"/>
                </a:solidFill>
                <a:latin typeface="Arial" panose="020B0604020202020204" pitchFamily="34" charset="0"/>
                <a:cs typeface="Arial" panose="020B0604020202020204" pitchFamily="34" charset="0"/>
              </a:rPr>
              <a:t> and </a:t>
            </a:r>
            <a:r>
              <a:rPr lang="en-US" sz="2400" i="1" dirty="0">
                <a:solidFill>
                  <a:srgbClr val="FF0000"/>
                </a:solidFill>
                <a:latin typeface="Arial" panose="020B0604020202020204" pitchFamily="34" charset="0"/>
                <a:cs typeface="Arial" panose="020B0604020202020204" pitchFamily="34" charset="0"/>
              </a:rPr>
              <a:t>relationships</a:t>
            </a:r>
            <a:r>
              <a:rPr lang="en-US" sz="2400" dirty="0">
                <a:solidFill>
                  <a:srgbClr val="FF0000"/>
                </a:solidFill>
                <a:latin typeface="Arial" panose="020B0604020202020204" pitchFamily="34" charset="0"/>
                <a:cs typeface="Arial" panose="020B0604020202020204" pitchFamily="34" charset="0"/>
              </a:rPr>
              <a:t> among them</a:t>
            </a:r>
            <a:endParaRPr lang="en-US" sz="2400" i="1" dirty="0">
              <a:solidFill>
                <a:srgbClr val="FF0000"/>
              </a:solidFill>
              <a:latin typeface="Arial" panose="020B0604020202020204" pitchFamily="34" charset="0"/>
              <a:cs typeface="Arial" panose="020B0604020202020204" pitchFamily="34" charset="0"/>
            </a:endParaRPr>
          </a:p>
        </p:txBody>
      </p:sp>
      <p:sp>
        <p:nvSpPr>
          <p:cNvPr id="11271" name="Text Box 10"/>
          <p:cNvSpPr txBox="1">
            <a:spLocks noChangeArrowheads="1"/>
          </p:cNvSpPr>
          <p:nvPr/>
        </p:nvSpPr>
        <p:spPr bwMode="auto">
          <a:xfrm>
            <a:off x="228600" y="6129010"/>
            <a:ext cx="8686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400" dirty="0">
                <a:solidFill>
                  <a:srgbClr val="CC0000"/>
                </a:solidFill>
              </a:rPr>
              <a:t>WARNING:</a:t>
            </a:r>
            <a:r>
              <a:rPr lang="en-US" sz="1400" dirty="0"/>
              <a:t> ER model is </a:t>
            </a:r>
            <a:r>
              <a:rPr lang="en-US" sz="1400" b="1" dirty="0">
                <a:solidFill>
                  <a:srgbClr val="FF0000"/>
                </a:solidFill>
              </a:rPr>
              <a:t>NOT</a:t>
            </a:r>
            <a:r>
              <a:rPr lang="en-US" sz="1400" dirty="0"/>
              <a:t> equal to conceptual model, it is only one of the many conceptual modeling methods!</a:t>
            </a:r>
          </a:p>
        </p:txBody>
      </p:sp>
    </p:spTree>
    <p:extLst>
      <p:ext uri="{BB962C8B-B14F-4D97-AF65-F5344CB8AC3E}">
        <p14:creationId xmlns:p14="http://schemas.microsoft.com/office/powerpoint/2010/main" val="1045838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33400" y="0"/>
            <a:ext cx="8229600" cy="990600"/>
          </a:xfrm>
        </p:spPr>
        <p:txBody>
          <a:bodyPr/>
          <a:lstStyle/>
          <a:p>
            <a:pPr eaLnBrk="1" hangingPunct="1"/>
            <a:r>
              <a:rPr lang="en-US" sz="3600" b="1" dirty="0">
                <a:solidFill>
                  <a:srgbClr val="FFFF00"/>
                </a:solidFill>
              </a:rPr>
              <a:t>ER Modeling   </a:t>
            </a:r>
          </a:p>
        </p:txBody>
      </p:sp>
      <p:sp>
        <p:nvSpPr>
          <p:cNvPr id="3" name="Rectangle 2"/>
          <p:cNvSpPr/>
          <p:nvPr/>
        </p:nvSpPr>
        <p:spPr>
          <a:xfrm>
            <a:off x="1981200" y="5016714"/>
            <a:ext cx="5105400"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1" eaLnBrk="1" hangingPunct="1">
              <a:lnSpc>
                <a:spcPct val="90000"/>
              </a:lnSpc>
            </a:pPr>
            <a:r>
              <a:rPr lang="en-US" sz="2000" dirty="0"/>
              <a:t>ERD serves as </a:t>
            </a:r>
            <a:r>
              <a:rPr lang="en-US" sz="2000" b="1" dirty="0">
                <a:solidFill>
                  <a:srgbClr val="FF0000"/>
                </a:solidFill>
              </a:rPr>
              <a:t>a </a:t>
            </a:r>
            <a:r>
              <a:rPr lang="en-US" sz="2000" b="1" i="1" dirty="0">
                <a:solidFill>
                  <a:srgbClr val="FF0000"/>
                </a:solidFill>
              </a:rPr>
              <a:t>communication tool</a:t>
            </a:r>
            <a:r>
              <a:rPr lang="en-US" sz="2000" b="1" dirty="0">
                <a:solidFill>
                  <a:srgbClr val="FF0000"/>
                </a:solidFill>
              </a:rPr>
              <a:t> </a:t>
            </a:r>
            <a:r>
              <a:rPr lang="en-US" sz="2000" dirty="0"/>
              <a:t>between the designers and the users!!</a:t>
            </a:r>
          </a:p>
        </p:txBody>
      </p:sp>
      <p:sp>
        <p:nvSpPr>
          <p:cNvPr id="8" name="AutoShape 21"/>
          <p:cNvSpPr>
            <a:spLocks noChangeArrowheads="1"/>
          </p:cNvSpPr>
          <p:nvPr/>
        </p:nvSpPr>
        <p:spPr bwMode="auto">
          <a:xfrm>
            <a:off x="457200" y="1613238"/>
            <a:ext cx="1295400" cy="1600200"/>
          </a:xfrm>
          <a:prstGeom prst="foldedCorner">
            <a:avLst>
              <a:gd name="adj" fmla="val 12500"/>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0" hangingPunct="0"/>
            <a:r>
              <a:rPr lang="en-US" sz="1600" b="1" dirty="0">
                <a:latin typeface="Times New Roman" pitchFamily="18" charset="0"/>
              </a:rPr>
              <a:t>Requirement </a:t>
            </a:r>
          </a:p>
          <a:p>
            <a:pPr algn="ctr" eaLnBrk="0" hangingPunct="0"/>
            <a:r>
              <a:rPr lang="en-US" sz="1600" b="1" dirty="0">
                <a:latin typeface="Times New Roman" pitchFamily="18" charset="0"/>
              </a:rPr>
              <a:t>Specification</a:t>
            </a:r>
          </a:p>
          <a:p>
            <a:pPr algn="ctr" eaLnBrk="0" hangingPunct="0"/>
            <a:r>
              <a:rPr lang="en-US" sz="1600" b="1" dirty="0">
                <a:latin typeface="Times New Roman" pitchFamily="18" charset="0"/>
              </a:rPr>
              <a:t>(English)</a:t>
            </a:r>
          </a:p>
        </p:txBody>
      </p:sp>
      <p:sp>
        <p:nvSpPr>
          <p:cNvPr id="4" name="TextBox 3"/>
          <p:cNvSpPr txBox="1"/>
          <p:nvPr/>
        </p:nvSpPr>
        <p:spPr>
          <a:xfrm>
            <a:off x="3096491" y="1813173"/>
            <a:ext cx="2514600" cy="120032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endPar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r>
              <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t>ER Modeling</a:t>
            </a:r>
          </a:p>
          <a:p>
            <a:pPr algn="ctr"/>
            <a:endPar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6" name="Straight Arrow Connector 5"/>
          <p:cNvCxnSpPr>
            <a:stCxn id="8" idx="3"/>
            <a:endCxn id="4" idx="1"/>
          </p:cNvCxnSpPr>
          <p:nvPr/>
        </p:nvCxnSpPr>
        <p:spPr>
          <a:xfrm>
            <a:off x="1752600" y="2413338"/>
            <a:ext cx="1343891"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12" name="Straight Arrow Connector 11"/>
          <p:cNvCxnSpPr/>
          <p:nvPr/>
        </p:nvCxnSpPr>
        <p:spPr>
          <a:xfrm>
            <a:off x="5642264" y="2423925"/>
            <a:ext cx="1343891"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00876" y="1418455"/>
            <a:ext cx="1914525" cy="1929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6954982" y="3378288"/>
            <a:ext cx="2133600" cy="646331"/>
          </a:xfrm>
          <a:prstGeom prst="rect">
            <a:avLst/>
          </a:prstGeom>
        </p:spPr>
        <p:txBody>
          <a:bodyPr wrap="square">
            <a:spAutoFit/>
          </a:bodyPr>
          <a:lstStyle/>
          <a:p>
            <a:pPr algn="ctr"/>
            <a:r>
              <a:rPr lang="en-US" i="1" dirty="0">
                <a:solidFill>
                  <a:prstClr val="black"/>
                </a:solidFill>
                <a:effectLst>
                  <a:outerShdw blurRad="38100" dist="38100" dir="2700000" algn="tl">
                    <a:srgbClr val="000000">
                      <a:alpha val="43137"/>
                    </a:srgbClr>
                  </a:outerShdw>
                </a:effectLst>
              </a:rPr>
              <a:t>ER Diagram (ERD) </a:t>
            </a:r>
            <a:r>
              <a:rPr lang="en-US" dirty="0">
                <a:solidFill>
                  <a:prstClr val="black"/>
                </a:solidFill>
                <a:effectLst>
                  <a:outerShdw blurRad="38100" dist="38100" dir="2700000" algn="tl">
                    <a:srgbClr val="000000">
                      <a:alpha val="43137"/>
                    </a:srgbClr>
                  </a:outerShdw>
                </a:effectLst>
              </a:rPr>
              <a:t>or </a:t>
            </a:r>
            <a:r>
              <a:rPr lang="en-US" i="1" dirty="0">
                <a:solidFill>
                  <a:prstClr val="black"/>
                </a:solidFill>
                <a:effectLst>
                  <a:outerShdw blurRad="38100" dist="38100" dir="2700000" algn="tl">
                    <a:srgbClr val="000000">
                      <a:alpha val="43137"/>
                    </a:srgbClr>
                  </a:outerShdw>
                </a:effectLst>
              </a:rPr>
              <a:t>ER Schema</a:t>
            </a:r>
            <a:endParaRPr lang="en-US" sz="1600" dirty="0">
              <a:effectLst>
                <a:outerShdw blurRad="38100" dist="38100" dir="2700000" algn="tl">
                  <a:srgbClr val="000000">
                    <a:alpha val="43137"/>
                  </a:srgbClr>
                </a:outerShdw>
              </a:effectLst>
            </a:endParaRPr>
          </a:p>
        </p:txBody>
      </p:sp>
      <p:sp>
        <p:nvSpPr>
          <p:cNvPr id="10" name="Rectangle 9"/>
          <p:cNvSpPr/>
          <p:nvPr/>
        </p:nvSpPr>
        <p:spPr>
          <a:xfrm>
            <a:off x="1981200" y="4193095"/>
            <a:ext cx="51054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1" eaLnBrk="1" hangingPunct="1">
              <a:lnSpc>
                <a:spcPct val="90000"/>
              </a:lnSpc>
            </a:pPr>
            <a:r>
              <a:rPr lang="en-US" sz="2000" dirty="0"/>
              <a:t>ERD serves as </a:t>
            </a:r>
            <a:r>
              <a:rPr lang="en-US" sz="2000" b="1" dirty="0">
                <a:solidFill>
                  <a:srgbClr val="FF0000"/>
                </a:solidFill>
              </a:rPr>
              <a:t>a </a:t>
            </a:r>
            <a:r>
              <a:rPr lang="en-US" sz="2000" b="1" i="1" dirty="0">
                <a:solidFill>
                  <a:srgbClr val="FF0000"/>
                </a:solidFill>
              </a:rPr>
              <a:t>design tool, planning tool &amp; documentation</a:t>
            </a:r>
            <a:r>
              <a:rPr lang="en-US" sz="2000" b="1" dirty="0">
                <a:solidFill>
                  <a:srgbClr val="FF0000"/>
                </a:solidFill>
              </a:rPr>
              <a:t> </a:t>
            </a:r>
            <a:r>
              <a:rPr lang="en-US" sz="2000" dirty="0"/>
              <a:t>for the designers!!</a:t>
            </a:r>
          </a:p>
        </p:txBody>
      </p:sp>
    </p:spTree>
    <p:extLst>
      <p:ext uri="{BB962C8B-B14F-4D97-AF65-F5344CB8AC3E}">
        <p14:creationId xmlns:p14="http://schemas.microsoft.com/office/powerpoint/2010/main" val="3925239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33400" y="0"/>
            <a:ext cx="8229600" cy="990600"/>
          </a:xfrm>
        </p:spPr>
        <p:txBody>
          <a:bodyPr/>
          <a:lstStyle/>
          <a:p>
            <a:pPr eaLnBrk="1" hangingPunct="1"/>
            <a:r>
              <a:rPr lang="en-US" sz="3200" b="1" dirty="0">
                <a:solidFill>
                  <a:srgbClr val="FFFF00"/>
                </a:solidFill>
              </a:rPr>
              <a:t>ER Modeling: A Tale of TOO MANY versions…    </a:t>
            </a:r>
          </a:p>
        </p:txBody>
      </p:sp>
      <p:sp>
        <p:nvSpPr>
          <p:cNvPr id="2" name="Rectangle 1"/>
          <p:cNvSpPr/>
          <p:nvPr/>
        </p:nvSpPr>
        <p:spPr>
          <a:xfrm>
            <a:off x="228600" y="1295400"/>
            <a:ext cx="8686800" cy="4524315"/>
          </a:xfrm>
          <a:prstGeom prst="rect">
            <a:avLst/>
          </a:prstGeom>
        </p:spPr>
        <p:txBody>
          <a:bodyPr wrap="square">
            <a:spAutoFit/>
          </a:bodyPr>
          <a:lstStyle/>
          <a:p>
            <a:r>
              <a:rPr lang="en-US" sz="2000" dirty="0"/>
              <a:t>Versions</a:t>
            </a:r>
          </a:p>
          <a:p>
            <a:endParaRPr lang="en-US" sz="2000" dirty="0"/>
          </a:p>
          <a:p>
            <a:pPr lvl="1"/>
            <a:r>
              <a:rPr lang="en-US" sz="2000" b="1" dirty="0">
                <a:solidFill>
                  <a:srgbClr val="0066FF"/>
                </a:solidFill>
              </a:rPr>
              <a:t>Original E-R model</a:t>
            </a:r>
            <a:r>
              <a:rPr lang="en-US" sz="2000" dirty="0"/>
              <a:t> </a:t>
            </a:r>
            <a:r>
              <a:rPr lang="en-US" sz="2000" dirty="0">
                <a:cs typeface="Arial" charset="0"/>
              </a:rPr>
              <a:t>—</a:t>
            </a:r>
            <a:r>
              <a:rPr lang="en-US" sz="2000" dirty="0"/>
              <a:t> Peter Chen (1976)</a:t>
            </a:r>
          </a:p>
          <a:p>
            <a:pPr lvl="1"/>
            <a:endParaRPr lang="en-US" sz="2000" dirty="0"/>
          </a:p>
          <a:p>
            <a:pPr lvl="1"/>
            <a:r>
              <a:rPr lang="en-US" sz="2000" b="1" dirty="0">
                <a:solidFill>
                  <a:srgbClr val="0066FF"/>
                </a:solidFill>
              </a:rPr>
              <a:t>Extended E-R model </a:t>
            </a:r>
            <a:r>
              <a:rPr lang="en-US" sz="2000" dirty="0">
                <a:cs typeface="Arial" charset="0"/>
              </a:rPr>
              <a:t>—</a:t>
            </a:r>
            <a:r>
              <a:rPr lang="en-US" sz="2000" dirty="0"/>
              <a:t> Extensions to the Chen model</a:t>
            </a:r>
          </a:p>
          <a:p>
            <a:pPr lvl="1"/>
            <a:endParaRPr lang="en-US" sz="2000" dirty="0"/>
          </a:p>
          <a:p>
            <a:pPr lvl="1"/>
            <a:r>
              <a:rPr lang="en-US" sz="2000" b="1" dirty="0">
                <a:solidFill>
                  <a:srgbClr val="0066FF"/>
                </a:solidFill>
              </a:rPr>
              <a:t>Information Engineering (IE)</a:t>
            </a:r>
            <a:r>
              <a:rPr lang="en-US" sz="2000" dirty="0"/>
              <a:t> </a:t>
            </a:r>
            <a:r>
              <a:rPr lang="en-US" sz="2000" dirty="0">
                <a:cs typeface="Arial" charset="0"/>
              </a:rPr>
              <a:t>—</a:t>
            </a:r>
            <a:r>
              <a:rPr lang="en-US" sz="2000" dirty="0"/>
              <a:t> James Martin (1990); it uses “crow’s foot” notation, is easier to understand and </a:t>
            </a:r>
            <a:r>
              <a:rPr lang="en-US" sz="2000" b="1" dirty="0">
                <a:solidFill>
                  <a:srgbClr val="FF0000"/>
                </a:solidFill>
              </a:rPr>
              <a:t>we will use it</a:t>
            </a:r>
            <a:endParaRPr lang="en-US" sz="2000" dirty="0"/>
          </a:p>
          <a:p>
            <a:pPr lvl="1"/>
            <a:endParaRPr lang="en-US" sz="2000" dirty="0"/>
          </a:p>
          <a:p>
            <a:pPr lvl="1"/>
            <a:r>
              <a:rPr lang="en-US" sz="2000" b="1" dirty="0">
                <a:solidFill>
                  <a:srgbClr val="0066FF"/>
                </a:solidFill>
              </a:rPr>
              <a:t>IDEF1X</a:t>
            </a:r>
            <a:r>
              <a:rPr lang="en-US" sz="2000" dirty="0"/>
              <a:t> </a:t>
            </a:r>
            <a:r>
              <a:rPr lang="en-US" sz="2000" dirty="0">
                <a:cs typeface="Arial" charset="0"/>
              </a:rPr>
              <a:t>—</a:t>
            </a:r>
            <a:r>
              <a:rPr lang="en-US" sz="2000" dirty="0"/>
              <a:t> A national standard developed by the National Institute of Standards and Technology [see Appendix C]</a:t>
            </a:r>
          </a:p>
          <a:p>
            <a:pPr lvl="1"/>
            <a:endParaRPr lang="en-US" sz="2000" dirty="0"/>
          </a:p>
          <a:p>
            <a:pPr lvl="1"/>
            <a:r>
              <a:rPr lang="en-US" sz="2000" b="1" dirty="0">
                <a:solidFill>
                  <a:srgbClr val="0066FF"/>
                </a:solidFill>
              </a:rPr>
              <a:t>Unified Modeling Language (UML)</a:t>
            </a:r>
            <a:r>
              <a:rPr lang="en-US" sz="2000" dirty="0"/>
              <a:t> </a:t>
            </a:r>
            <a:r>
              <a:rPr lang="en-US" sz="2000" dirty="0">
                <a:cs typeface="Arial" charset="0"/>
              </a:rPr>
              <a:t>—</a:t>
            </a:r>
            <a:r>
              <a:rPr lang="en-US" sz="2000" dirty="0"/>
              <a:t> The Object Management Group; it supports object-oriented methodology [see Appendix D]</a:t>
            </a:r>
          </a:p>
        </p:txBody>
      </p:sp>
    </p:spTree>
    <p:extLst>
      <p:ext uri="{BB962C8B-B14F-4D97-AF65-F5344CB8AC3E}">
        <p14:creationId xmlns:p14="http://schemas.microsoft.com/office/powerpoint/2010/main" val="623210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33400" y="0"/>
            <a:ext cx="8229600" cy="990600"/>
          </a:xfrm>
        </p:spPr>
        <p:txBody>
          <a:bodyPr/>
          <a:lstStyle/>
          <a:p>
            <a:pPr eaLnBrk="1" hangingPunct="1"/>
            <a:r>
              <a:rPr lang="en-US" sz="3200" b="1" dirty="0">
                <a:solidFill>
                  <a:srgbClr val="FFFF00"/>
                </a:solidFill>
              </a:rPr>
              <a:t>ER Modeling: A Tale of TOO MANY versions…    </a:t>
            </a:r>
          </a:p>
        </p:txBody>
      </p:sp>
      <p:sp>
        <p:nvSpPr>
          <p:cNvPr id="2" name="Rectangle 1"/>
          <p:cNvSpPr/>
          <p:nvPr/>
        </p:nvSpPr>
        <p:spPr>
          <a:xfrm>
            <a:off x="228600" y="1295400"/>
            <a:ext cx="8686800" cy="4462760"/>
          </a:xfrm>
          <a:prstGeom prst="rect">
            <a:avLst/>
          </a:prstGeom>
        </p:spPr>
        <p:txBody>
          <a:bodyPr wrap="square">
            <a:spAutoFit/>
          </a:bodyPr>
          <a:lstStyle/>
          <a:p>
            <a:r>
              <a:rPr lang="en-US" sz="2400" dirty="0"/>
              <a:t>Our Plan</a:t>
            </a:r>
          </a:p>
          <a:p>
            <a:endParaRPr lang="en-US" sz="2400" dirty="0"/>
          </a:p>
          <a:p>
            <a:pPr marL="800100" lvl="1" indent="-342900">
              <a:buFont typeface="Arial" pitchFamily="34" charset="0"/>
              <a:buChar char="•"/>
            </a:pPr>
            <a:r>
              <a:rPr lang="en-US" sz="2400" dirty="0"/>
              <a:t>We will use two versions: The </a:t>
            </a:r>
            <a:r>
              <a:rPr lang="en-US" sz="2400" dirty="0">
                <a:solidFill>
                  <a:srgbClr val="FF0000"/>
                </a:solidFill>
              </a:rPr>
              <a:t>original version </a:t>
            </a:r>
            <a:r>
              <a:rPr lang="en-US" sz="2400" dirty="0"/>
              <a:t>and the </a:t>
            </a:r>
            <a:r>
              <a:rPr lang="en-US" sz="2400" dirty="0">
                <a:solidFill>
                  <a:srgbClr val="FF0000"/>
                </a:solidFill>
              </a:rPr>
              <a:t>Crow’s foot version. </a:t>
            </a:r>
          </a:p>
          <a:p>
            <a:pPr marL="800100" lvl="1" indent="-342900">
              <a:buFont typeface="Arial" pitchFamily="34" charset="0"/>
              <a:buChar char="•"/>
            </a:pPr>
            <a:endParaRPr lang="en-US" sz="2400" dirty="0"/>
          </a:p>
          <a:p>
            <a:pPr marL="800100" lvl="1" indent="-342900">
              <a:buFont typeface="Arial" pitchFamily="34" charset="0"/>
              <a:buChar char="•"/>
            </a:pPr>
            <a:r>
              <a:rPr lang="en-US" sz="2400" dirty="0"/>
              <a:t>The original version is the most intuitive and the easiest to learn, but drawing it for your homework could be a painful experience</a:t>
            </a:r>
          </a:p>
          <a:p>
            <a:pPr marL="800100" lvl="1" indent="-342900">
              <a:buFont typeface="Arial" pitchFamily="34" charset="0"/>
              <a:buChar char="•"/>
            </a:pPr>
            <a:endParaRPr lang="en-US" sz="2400" dirty="0"/>
          </a:p>
          <a:p>
            <a:pPr marL="800100" lvl="1" indent="-342900">
              <a:buFont typeface="Arial" pitchFamily="34" charset="0"/>
              <a:buChar char="•"/>
            </a:pPr>
            <a:r>
              <a:rPr lang="en-US" sz="2400" dirty="0"/>
              <a:t>The Crow’s foot, on the other hand, is easier to draw using Visio, but not ideal for beginner’s learning purpose</a:t>
            </a:r>
          </a:p>
          <a:p>
            <a:pPr lvl="1"/>
            <a:endParaRPr lang="en-US"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68099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533400" y="0"/>
            <a:ext cx="8229600" cy="9906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ER Modeling: Basic Constructs   </a:t>
            </a:r>
          </a:p>
        </p:txBody>
      </p:sp>
      <p:sp>
        <p:nvSpPr>
          <p:cNvPr id="69635" name="Rectangle 3" descr="Rectangle: Click to edit Master text styles&#10;Second level&#10;Third level&#10;Fourth level&#10;Fifth level"/>
          <p:cNvSpPr>
            <a:spLocks noGrp="1" noChangeArrowheads="1"/>
          </p:cNvSpPr>
          <p:nvPr>
            <p:ph type="body" idx="1"/>
          </p:nvPr>
        </p:nvSpPr>
        <p:spPr>
          <a:xfrm>
            <a:off x="685800" y="1295400"/>
            <a:ext cx="7772400" cy="4114800"/>
          </a:xfrm>
          <a:noFill/>
        </p:spPr>
        <p:txBody>
          <a:bodyPr/>
          <a:lstStyle/>
          <a:p>
            <a:pPr eaLnBrk="1" hangingPunct="1"/>
            <a:r>
              <a:rPr lang="en-US" sz="2400" dirty="0">
                <a:latin typeface="Arial" panose="020B0604020202020204" pitchFamily="34" charset="0"/>
                <a:cs typeface="Arial" panose="020B0604020202020204" pitchFamily="34" charset="0"/>
              </a:rPr>
              <a:t>Entity</a:t>
            </a:r>
          </a:p>
          <a:p>
            <a:pPr lvl="1" eaLnBrk="1" hangingPunct="1"/>
            <a:r>
              <a:rPr lang="en-US" sz="2400" dirty="0">
                <a:latin typeface="Arial" panose="020B0604020202020204" pitchFamily="34" charset="0"/>
                <a:cs typeface="Arial" panose="020B0604020202020204" pitchFamily="34" charset="0"/>
              </a:rPr>
              <a:t>The mini-world is made up of </a:t>
            </a:r>
            <a:r>
              <a:rPr lang="en-US" sz="2400" i="1" dirty="0">
                <a:solidFill>
                  <a:srgbClr val="FF0000"/>
                </a:solidFill>
                <a:latin typeface="Arial" panose="020B0604020202020204" pitchFamily="34" charset="0"/>
                <a:cs typeface="Arial" panose="020B0604020202020204" pitchFamily="34" charset="0"/>
              </a:rPr>
              <a:t>entities</a:t>
            </a:r>
          </a:p>
          <a:p>
            <a:pPr lvl="1" eaLnBrk="1" hangingPunct="1"/>
            <a:r>
              <a:rPr lang="en-US" sz="2400" i="1" dirty="0">
                <a:solidFill>
                  <a:srgbClr val="FF0000"/>
                </a:solidFill>
                <a:latin typeface="Arial" panose="020B0604020202020204" pitchFamily="34" charset="0"/>
                <a:cs typeface="Arial" panose="020B0604020202020204" pitchFamily="34" charset="0"/>
              </a:rPr>
              <a:t>Entity</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is an object in the mini-world about which the organization wants to collect data</a:t>
            </a:r>
          </a:p>
          <a:p>
            <a:pPr lvl="1" eaLnBrk="1" hangingPunct="1"/>
            <a:endParaRPr lang="en-US" sz="2400" dirty="0">
              <a:latin typeface="Arial" panose="020B0604020202020204" pitchFamily="34" charset="0"/>
              <a:cs typeface="Arial" panose="020B0604020202020204" pitchFamily="34" charset="0"/>
            </a:endParaRPr>
          </a:p>
          <a:p>
            <a:pPr eaLnBrk="1" hangingPunct="1"/>
            <a:r>
              <a:rPr lang="en-US" sz="2400" dirty="0">
                <a:latin typeface="Arial" panose="020B0604020202020204" pitchFamily="34" charset="0"/>
                <a:cs typeface="Arial" panose="020B0604020202020204" pitchFamily="34" charset="0"/>
              </a:rPr>
              <a:t>Relationships</a:t>
            </a:r>
          </a:p>
          <a:p>
            <a:pPr lvl="1" eaLnBrk="1" hangingPunct="1"/>
            <a:r>
              <a:rPr lang="en-US" sz="2400" i="1" dirty="0">
                <a:solidFill>
                  <a:srgbClr val="FF0000"/>
                </a:solidFill>
                <a:latin typeface="Arial" panose="020B0604020202020204" pitchFamily="34" charset="0"/>
                <a:cs typeface="Arial" panose="020B0604020202020204" pitchFamily="34" charset="0"/>
              </a:rPr>
              <a:t>Relationship</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exists among entities, associating them together</a:t>
            </a:r>
          </a:p>
          <a:p>
            <a:pPr lvl="1" eaLnBrk="1" hangingPunct="1"/>
            <a:endParaRPr lang="en-US" sz="2400" dirty="0">
              <a:latin typeface="Arial" panose="020B0604020202020204" pitchFamily="34" charset="0"/>
              <a:cs typeface="Arial" panose="020B0604020202020204" pitchFamily="34" charset="0"/>
            </a:endParaRPr>
          </a:p>
          <a:p>
            <a:pPr eaLnBrk="1" hangingPunct="1"/>
            <a:r>
              <a:rPr lang="en-US" sz="2400" dirty="0">
                <a:latin typeface="Arial" panose="020B0604020202020204" pitchFamily="34" charset="0"/>
                <a:cs typeface="Arial" panose="020B0604020202020204" pitchFamily="34" charset="0"/>
              </a:rPr>
              <a:t>Attributes</a:t>
            </a:r>
          </a:p>
          <a:p>
            <a:pPr lvl="1" eaLnBrk="1" hangingPunct="1"/>
            <a:r>
              <a:rPr lang="en-US" sz="2400" dirty="0">
                <a:solidFill>
                  <a:srgbClr val="FF0000"/>
                </a:solidFill>
                <a:latin typeface="Arial" panose="020B0604020202020204" pitchFamily="34" charset="0"/>
                <a:cs typeface="Arial" panose="020B0604020202020204" pitchFamily="34" charset="0"/>
              </a:rPr>
              <a:t>Entity</a:t>
            </a:r>
            <a:r>
              <a:rPr lang="en-US" sz="2400" dirty="0">
                <a:latin typeface="Arial" panose="020B0604020202020204" pitchFamily="34" charset="0"/>
                <a:cs typeface="Arial" panose="020B0604020202020204" pitchFamily="34" charset="0"/>
              </a:rPr>
              <a:t> and </a:t>
            </a:r>
            <a:r>
              <a:rPr lang="en-US" sz="2400" dirty="0">
                <a:solidFill>
                  <a:srgbClr val="FF0000"/>
                </a:solidFill>
                <a:latin typeface="Arial" panose="020B0604020202020204" pitchFamily="34" charset="0"/>
                <a:cs typeface="Arial" panose="020B0604020202020204" pitchFamily="34" charset="0"/>
              </a:rPr>
              <a:t>relationship</a:t>
            </a:r>
            <a:r>
              <a:rPr lang="en-US" sz="2400" dirty="0">
                <a:latin typeface="Arial" panose="020B0604020202020204" pitchFamily="34" charset="0"/>
                <a:cs typeface="Arial" panose="020B0604020202020204" pitchFamily="34" charset="0"/>
              </a:rPr>
              <a:t> can have attributes*</a:t>
            </a:r>
          </a:p>
          <a:p>
            <a:pPr eaLnBrk="1" hangingPunct="1"/>
            <a:endParaRPr lang="en-US" sz="2800" dirty="0">
              <a:effectLst>
                <a:outerShdw blurRad="38100" dist="38100" dir="2700000" algn="tl">
                  <a:srgbClr val="000000">
                    <a:alpha val="43137"/>
                  </a:srgbClr>
                </a:outerShdw>
              </a:effectLst>
            </a:endParaRPr>
          </a:p>
          <a:p>
            <a:pPr eaLnBrk="1" hangingPunct="1"/>
            <a:endParaRPr lang="en-US" sz="2800" dirty="0">
              <a:effectLst>
                <a:outerShdw blurRad="38100" dist="38100" dir="2700000" algn="tl">
                  <a:srgbClr val="000000">
                    <a:alpha val="43137"/>
                  </a:srgbClr>
                </a:outerShdw>
              </a:effectLst>
            </a:endParaRPr>
          </a:p>
        </p:txBody>
      </p:sp>
      <p:sp>
        <p:nvSpPr>
          <p:cNvPr id="4" name="Text Box 5"/>
          <p:cNvSpPr txBox="1">
            <a:spLocks noChangeArrowheads="1"/>
          </p:cNvSpPr>
          <p:nvPr/>
        </p:nvSpPr>
        <p:spPr bwMode="auto">
          <a:xfrm>
            <a:off x="3810000" y="6560127"/>
            <a:ext cx="533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400" dirty="0"/>
              <a:t>*: In the original ER model, relationship could have attributes</a:t>
            </a:r>
          </a:p>
        </p:txBody>
      </p:sp>
    </p:spTree>
    <p:extLst>
      <p:ext uri="{BB962C8B-B14F-4D97-AF65-F5344CB8AC3E}">
        <p14:creationId xmlns:p14="http://schemas.microsoft.com/office/powerpoint/2010/main" val="193970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0"/>
            <a:ext cx="8229600" cy="990600"/>
          </a:xfrm>
        </p:spPr>
        <p:txBody>
          <a:bodyPr/>
          <a:lstStyle/>
          <a:p>
            <a:pPr eaLnBrk="1" hangingPunct="1"/>
            <a:r>
              <a:rPr lang="en-US" sz="3600" b="1" dirty="0">
                <a:solidFill>
                  <a:srgbClr val="FFFF00"/>
                </a:solidFill>
                <a:effectLst>
                  <a:outerShdw blurRad="38100" dist="38100" dir="2700000" algn="tl">
                    <a:srgbClr val="000000">
                      <a:alpha val="43137"/>
                    </a:srgbClr>
                  </a:outerShdw>
                </a:effectLst>
              </a:rPr>
              <a:t>ER Modeling: A Case Study   </a:t>
            </a:r>
          </a:p>
        </p:txBody>
      </p:sp>
      <p:sp>
        <p:nvSpPr>
          <p:cNvPr id="70659" name="Rectangle 3" descr="Rectangle: Click to edit Master text styles&#10;Second level&#10;Third level&#10;Fourth level&#10;Fifth level"/>
          <p:cNvSpPr>
            <a:spLocks noGrp="1" noChangeArrowheads="1"/>
          </p:cNvSpPr>
          <p:nvPr>
            <p:ph type="body" idx="1"/>
          </p:nvPr>
        </p:nvSpPr>
        <p:spPr>
          <a:xfrm>
            <a:off x="457200" y="1219200"/>
            <a:ext cx="7772400" cy="4114800"/>
          </a:xfrm>
          <a:noFill/>
        </p:spPr>
        <p:txBody>
          <a:bodyPr/>
          <a:lstStyle/>
          <a:p>
            <a:pPr eaLnBrk="1" hangingPunct="1">
              <a:buFont typeface="Wingdings" pitchFamily="2" charset="2"/>
              <a:buNone/>
            </a:pPr>
            <a:endParaRPr lang="en-US" sz="2400"/>
          </a:p>
          <a:p>
            <a:pPr eaLnBrk="1" hangingPunct="1"/>
            <a:endParaRPr lang="en-US" sz="2400"/>
          </a:p>
        </p:txBody>
      </p:sp>
      <p:sp>
        <p:nvSpPr>
          <p:cNvPr id="13317" name="Text Box 4"/>
          <p:cNvSpPr txBox="1">
            <a:spLocks noChangeArrowheads="1"/>
          </p:cNvSpPr>
          <p:nvPr/>
        </p:nvSpPr>
        <p:spPr bwMode="auto">
          <a:xfrm>
            <a:off x="457200" y="1295400"/>
            <a:ext cx="8305800" cy="5109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dirty="0">
                <a:latin typeface="Arial" panose="020B0604020202020204" pitchFamily="34" charset="0"/>
                <a:cs typeface="Arial" panose="020B0604020202020204" pitchFamily="34" charset="0"/>
              </a:rPr>
              <a:t>You are to design a database for the Highlander Bookstore. Below is the description of the “mini-world”: </a:t>
            </a:r>
          </a:p>
          <a:p>
            <a:pPr indent="457200" eaLnBrk="1" hangingPunct="1">
              <a:spcBef>
                <a:spcPct val="50000"/>
              </a:spcBef>
            </a:pPr>
            <a:r>
              <a:rPr lang="en-US" sz="2000" dirty="0">
                <a:latin typeface="Arial" panose="020B0604020202020204" pitchFamily="34" charset="0"/>
                <a:cs typeface="Arial" panose="020B0604020202020204" pitchFamily="34" charset="0"/>
              </a:rPr>
              <a:t>The bookstore sells books and software to students. Each student has a student ID, name (First and Last), address, and phone number(s). A book has its title, ISBN, author, publisher, number of copies in stock and price. Software has its name, price, and required platforms (Windows or Mac)   </a:t>
            </a:r>
          </a:p>
          <a:p>
            <a:pPr eaLnBrk="1" hangingPunct="1">
              <a:spcBef>
                <a:spcPct val="50000"/>
              </a:spcBef>
            </a:pPr>
            <a:r>
              <a:rPr lang="en-US" sz="2000" dirty="0">
                <a:latin typeface="Arial" panose="020B0604020202020204" pitchFamily="34" charset="0"/>
                <a:cs typeface="Arial" panose="020B0604020202020204" pitchFamily="34" charset="0"/>
              </a:rPr>
              <a:t>When a student makes a purchase, he(she) may get a discount. The nature of the discount, copies of book purchased as well as the actual purchase price should be stored in your database. </a:t>
            </a:r>
          </a:p>
          <a:p>
            <a:pPr eaLnBrk="1" hangingPunct="1">
              <a:spcBef>
                <a:spcPct val="50000"/>
              </a:spcBef>
            </a:pPr>
            <a:r>
              <a:rPr lang="en-US" sz="2000" dirty="0">
                <a:latin typeface="Arial" panose="020B0604020202020204" pitchFamily="34" charset="0"/>
                <a:cs typeface="Arial" panose="020B0604020202020204" pitchFamily="34" charset="0"/>
              </a:rPr>
              <a:t>The bookstore hires employees. An employee has his employee ID, name, address, and phone number. If an employee is also a student,  he can make purchases at the bookstore. </a:t>
            </a:r>
          </a:p>
          <a:p>
            <a:pPr eaLnBrk="1" hangingPunct="1">
              <a:spcBef>
                <a:spcPct val="50000"/>
              </a:spcBef>
            </a:pPr>
            <a:endParaRPr lang="en-US" dirty="0"/>
          </a:p>
        </p:txBody>
      </p:sp>
    </p:spTree>
    <p:extLst>
      <p:ext uri="{BB962C8B-B14F-4D97-AF65-F5344CB8AC3E}">
        <p14:creationId xmlns:p14="http://schemas.microsoft.com/office/powerpoint/2010/main" val="3382166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dissolve">
                                      <p:cBhvr>
                                        <p:cTn id="7" dur="500"/>
                                        <p:tgtEl>
                                          <p:spTgt spid="706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457200" y="10391"/>
            <a:ext cx="8229600" cy="990600"/>
          </a:xfrm>
        </p:spPr>
        <p:txBody>
          <a:bodyPr/>
          <a:lstStyle/>
          <a:p>
            <a:pPr eaLnBrk="1" hangingPunct="1"/>
            <a:r>
              <a:rPr lang="en-US" sz="4000" b="1" dirty="0">
                <a:solidFill>
                  <a:srgbClr val="FFFF00"/>
                </a:solidFill>
              </a:rPr>
              <a:t>ER Modeling: Entity   </a:t>
            </a:r>
          </a:p>
        </p:txBody>
      </p:sp>
      <p:sp>
        <p:nvSpPr>
          <p:cNvPr id="71686" name="Rectangle 6" descr="Rectangle: Click to edit Master text styles&#10;Second level&#10;Third level&#10;Fourth level&#10;Fifth level"/>
          <p:cNvSpPr>
            <a:spLocks noChangeArrowheads="1"/>
          </p:cNvSpPr>
          <p:nvPr/>
        </p:nvSpPr>
        <p:spPr bwMode="auto">
          <a:xfrm>
            <a:off x="401781" y="3352800"/>
            <a:ext cx="7772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SzPct val="110000"/>
            </a:pPr>
            <a:endParaRPr lang="en-US" sz="2400" dirty="0">
              <a:effectLst>
                <a:outerShdw blurRad="38100" dist="38100" dir="2700000" algn="tl">
                  <a:srgbClr val="000000">
                    <a:alpha val="43137"/>
                  </a:srgbClr>
                </a:outerShdw>
              </a:effectLst>
            </a:endParaRPr>
          </a:p>
          <a:p>
            <a:pPr>
              <a:spcBef>
                <a:spcPct val="20000"/>
              </a:spcBef>
              <a:buClr>
                <a:schemeClr val="hlink"/>
              </a:buClr>
              <a:buSzPct val="110000"/>
            </a:pPr>
            <a:r>
              <a:rPr lang="en-US" sz="2400" dirty="0"/>
              <a:t>Entities in bookstore database ? </a:t>
            </a:r>
          </a:p>
          <a:p>
            <a:pPr marL="742950" lvl="1" indent="-285750">
              <a:spcBef>
                <a:spcPct val="20000"/>
              </a:spcBef>
              <a:buClr>
                <a:schemeClr val="tx1"/>
              </a:buClr>
              <a:buSzPct val="60000"/>
              <a:buFont typeface="Wingdings" pitchFamily="2" charset="2"/>
              <a:buNone/>
            </a:pPr>
            <a:endParaRPr lang="en-US" sz="2400" dirty="0">
              <a:effectLst>
                <a:outerShdw blurRad="38100" dist="38100" dir="2700000" algn="tl">
                  <a:srgbClr val="000000">
                    <a:alpha val="43137"/>
                  </a:srgbClr>
                </a:outerShdw>
              </a:effectLst>
            </a:endParaRPr>
          </a:p>
          <a:p>
            <a:pPr marL="742950" lvl="1" indent="-285750">
              <a:spcBef>
                <a:spcPct val="20000"/>
              </a:spcBef>
              <a:buClr>
                <a:schemeClr val="hlink"/>
              </a:buClr>
              <a:buSzPct val="110000"/>
              <a:buFont typeface="Wingdings" pitchFamily="2" charset="2"/>
              <a:buNone/>
            </a:pPr>
            <a:endParaRPr lang="en-US" sz="2000" dirty="0">
              <a:effectLst>
                <a:outerShdw blurRad="38100" dist="38100" dir="2700000" algn="tl">
                  <a:srgbClr val="000000">
                    <a:alpha val="43137"/>
                  </a:srgbClr>
                </a:outerShdw>
              </a:effectLst>
            </a:endParaRPr>
          </a:p>
        </p:txBody>
      </p:sp>
      <p:sp>
        <p:nvSpPr>
          <p:cNvPr id="2" name="Rectangle 1"/>
          <p:cNvSpPr/>
          <p:nvPr/>
        </p:nvSpPr>
        <p:spPr>
          <a:xfrm>
            <a:off x="457200" y="1219200"/>
            <a:ext cx="8382000" cy="2308324"/>
          </a:xfrm>
          <a:prstGeom prst="rect">
            <a:avLst/>
          </a:prstGeom>
        </p:spPr>
        <p:txBody>
          <a:bodyPr wrap="square">
            <a:spAutoFit/>
          </a:bodyPr>
          <a:lstStyle/>
          <a:p>
            <a:pPr marL="457200" indent="-457200" eaLnBrk="1" hangingPunct="1">
              <a:buFont typeface="Arial" pitchFamily="34" charset="0"/>
              <a:buChar char="•"/>
            </a:pPr>
            <a:r>
              <a:rPr lang="en-US" sz="2400" dirty="0"/>
              <a:t>Entity</a:t>
            </a:r>
          </a:p>
          <a:p>
            <a:pPr marL="457200" indent="-457200" eaLnBrk="1" hangingPunct="1">
              <a:buFont typeface="Arial" pitchFamily="34" charset="0"/>
              <a:buChar char="•"/>
            </a:pPr>
            <a:endParaRPr lang="en-US" sz="2400" dirty="0"/>
          </a:p>
          <a:p>
            <a:pPr marL="800100" lvl="1" indent="-342900" eaLnBrk="1" hangingPunct="1">
              <a:buFont typeface="Arial" pitchFamily="34" charset="0"/>
              <a:buChar char="•"/>
            </a:pPr>
            <a:r>
              <a:rPr lang="en-US" sz="2400" dirty="0"/>
              <a:t>The mini-world is made up of </a:t>
            </a:r>
            <a:r>
              <a:rPr lang="en-US" sz="2400" i="1" dirty="0">
                <a:solidFill>
                  <a:srgbClr val="FF0000"/>
                </a:solidFill>
              </a:rPr>
              <a:t>entities</a:t>
            </a:r>
          </a:p>
          <a:p>
            <a:pPr lvl="1" eaLnBrk="1" hangingPunct="1"/>
            <a:endParaRPr lang="en-US" sz="2400" i="1" dirty="0">
              <a:solidFill>
                <a:srgbClr val="FF0000"/>
              </a:solidFill>
            </a:endParaRPr>
          </a:p>
          <a:p>
            <a:pPr marL="800100" lvl="1" indent="-342900" eaLnBrk="1" hangingPunct="1">
              <a:buFont typeface="Arial" pitchFamily="34" charset="0"/>
              <a:buChar char="•"/>
            </a:pPr>
            <a:r>
              <a:rPr lang="en-US" sz="2400" i="1" dirty="0">
                <a:solidFill>
                  <a:srgbClr val="FF0000"/>
                </a:solidFill>
              </a:rPr>
              <a:t>Entity</a:t>
            </a:r>
            <a:r>
              <a:rPr lang="en-US" sz="2400" i="1" dirty="0"/>
              <a:t> </a:t>
            </a:r>
            <a:r>
              <a:rPr lang="en-US" sz="2400" dirty="0"/>
              <a:t>is an object in the mini-world about which the organization wants to collect data</a:t>
            </a:r>
          </a:p>
        </p:txBody>
      </p:sp>
      <p:sp>
        <p:nvSpPr>
          <p:cNvPr id="3" name="Rectangle 2"/>
          <p:cNvSpPr/>
          <p:nvPr/>
        </p:nvSpPr>
        <p:spPr>
          <a:xfrm>
            <a:off x="2445327" y="4827244"/>
            <a:ext cx="4405746" cy="13665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1">
              <a:spcBef>
                <a:spcPct val="20000"/>
              </a:spcBef>
              <a:buClr>
                <a:schemeClr val="tx1"/>
              </a:buClr>
              <a:buSzPct val="60000"/>
            </a:pPr>
            <a:r>
              <a:rPr lang="en-US" dirty="0">
                <a:effectLst>
                  <a:outerShdw blurRad="38100" dist="38100" dir="2700000" algn="tl">
                    <a:srgbClr val="000000">
                      <a:alpha val="43137"/>
                    </a:srgbClr>
                  </a:outerShdw>
                </a:effectLst>
              </a:rPr>
              <a:t>“Modern Database”, 6</a:t>
            </a:r>
            <a:r>
              <a:rPr lang="en-US" baseline="30000" dirty="0">
                <a:effectLst>
                  <a:outerShdw blurRad="38100" dist="38100" dir="2700000" algn="tl">
                    <a:srgbClr val="000000">
                      <a:alpha val="43137"/>
                    </a:srgbClr>
                  </a:outerShdw>
                </a:effectLst>
              </a:rPr>
              <a:t>th</a:t>
            </a:r>
            <a:r>
              <a:rPr lang="en-US" dirty="0">
                <a:effectLst>
                  <a:outerShdw blurRad="38100" dist="38100" dir="2700000" algn="tl">
                    <a:srgbClr val="000000">
                      <a:alpha val="43137"/>
                    </a:srgbClr>
                  </a:outerShdw>
                </a:effectLst>
              </a:rPr>
              <a:t> edition</a:t>
            </a:r>
          </a:p>
          <a:p>
            <a:pPr lvl="1">
              <a:spcBef>
                <a:spcPct val="20000"/>
              </a:spcBef>
              <a:buClr>
                <a:schemeClr val="tx1"/>
              </a:buClr>
              <a:buSzPct val="60000"/>
            </a:pPr>
            <a:r>
              <a:rPr lang="en-US" dirty="0">
                <a:effectLst>
                  <a:outerShdw blurRad="38100" dist="38100" dir="2700000" algn="tl">
                    <a:srgbClr val="000000">
                      <a:alpha val="43137"/>
                    </a:srgbClr>
                  </a:outerShdw>
                </a:effectLst>
              </a:rPr>
              <a:t>James Brown (a fictitious student)</a:t>
            </a:r>
          </a:p>
          <a:p>
            <a:pPr lvl="1">
              <a:spcBef>
                <a:spcPct val="20000"/>
              </a:spcBef>
              <a:buClr>
                <a:schemeClr val="tx1"/>
              </a:buClr>
              <a:buSzPct val="60000"/>
            </a:pPr>
            <a:r>
              <a:rPr lang="en-US" dirty="0">
                <a:effectLst>
                  <a:outerShdw blurRad="38100" dist="38100" dir="2700000" algn="tl">
                    <a:srgbClr val="000000">
                      <a:alpha val="43137"/>
                    </a:srgbClr>
                  </a:outerShdw>
                </a:effectLst>
              </a:rPr>
              <a:t>Windows 7, professional version</a:t>
            </a:r>
          </a:p>
          <a:p>
            <a:pPr lvl="1">
              <a:spcBef>
                <a:spcPct val="20000"/>
              </a:spcBef>
              <a:buClr>
                <a:schemeClr val="tx1"/>
              </a:buClr>
              <a:buSzPct val="60000"/>
            </a:pPr>
            <a:r>
              <a:rPr lang="en-US" dirty="0">
                <a:effectLst>
                  <a:outerShdw blurRad="38100" dist="38100" dir="2700000" algn="tl">
                    <a:srgbClr val="000000">
                      <a:alpha val="43137"/>
                    </a:srgbClr>
                  </a:outerShdw>
                </a:effectLst>
              </a:rPr>
              <a:t>Richard </a:t>
            </a:r>
            <a:r>
              <a:rPr lang="en-US" dirty="0" err="1">
                <a:effectLst>
                  <a:outerShdw blurRad="38100" dist="38100" dir="2700000" algn="tl">
                    <a:srgbClr val="000000">
                      <a:alpha val="43137"/>
                    </a:srgbClr>
                  </a:outerShdw>
                </a:effectLst>
              </a:rPr>
              <a:t>Slaten</a:t>
            </a:r>
            <a:r>
              <a:rPr lang="en-US" dirty="0">
                <a:effectLst>
                  <a:outerShdw blurRad="38100" dist="38100" dir="2700000" algn="tl">
                    <a:srgbClr val="000000">
                      <a:alpha val="43137"/>
                    </a:srgbClr>
                  </a:outerShdw>
                </a:effectLst>
              </a:rPr>
              <a:t> (a fictitious employee)</a:t>
            </a:r>
          </a:p>
        </p:txBody>
      </p:sp>
    </p:spTree>
    <p:extLst>
      <p:ext uri="{BB962C8B-B14F-4D97-AF65-F5344CB8AC3E}">
        <p14:creationId xmlns:p14="http://schemas.microsoft.com/office/powerpoint/2010/main" val="2891539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457200" y="0"/>
            <a:ext cx="8229600" cy="990600"/>
          </a:xfrm>
        </p:spPr>
        <p:txBody>
          <a:bodyPr/>
          <a:lstStyle/>
          <a:p>
            <a:pPr eaLnBrk="1" hangingPunct="1"/>
            <a:r>
              <a:rPr lang="en-US" sz="3600" b="1" dirty="0">
                <a:solidFill>
                  <a:srgbClr val="FFFF00"/>
                </a:solidFill>
                <a:effectLst>
                  <a:outerShdw blurRad="38100" dist="38100" dir="2700000" algn="tl">
                    <a:srgbClr val="000000">
                      <a:alpha val="43137"/>
                    </a:srgbClr>
                  </a:outerShdw>
                </a:effectLst>
              </a:rPr>
              <a:t>ER Modeling: Entity Class   </a:t>
            </a:r>
          </a:p>
        </p:txBody>
      </p:sp>
      <p:sp>
        <p:nvSpPr>
          <p:cNvPr id="72707" name="Rectangle 3" descr="Rectangle: Click to edit Master text styles&#10;Second level&#10;Third level&#10;Fourth level&#10;Fifth level"/>
          <p:cNvSpPr>
            <a:spLocks noChangeArrowheads="1"/>
          </p:cNvSpPr>
          <p:nvPr/>
        </p:nvSpPr>
        <p:spPr bwMode="auto">
          <a:xfrm>
            <a:off x="838200" y="1600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hlink"/>
              </a:buClr>
              <a:buSzPct val="110000"/>
              <a:buFont typeface="Wingdings" pitchFamily="2" charset="2"/>
              <a:buChar char="§"/>
            </a:pPr>
            <a:r>
              <a:rPr lang="en-US" sz="2400" dirty="0">
                <a:latin typeface="Arial" panose="020B0604020202020204" pitchFamily="34" charset="0"/>
                <a:cs typeface="Arial" panose="020B0604020202020204" pitchFamily="34" charset="0"/>
              </a:rPr>
              <a:t>Entity Class</a:t>
            </a:r>
          </a:p>
          <a:p>
            <a:pPr marL="800100" lvl="1" indent="-342900">
              <a:spcBef>
                <a:spcPct val="20000"/>
              </a:spcBef>
              <a:buClr>
                <a:schemeClr val="hlink"/>
              </a:buClr>
              <a:buSzPct val="110000"/>
              <a:buFont typeface="Wingdings" pitchFamily="2" charset="2"/>
              <a:buChar char="§"/>
            </a:pPr>
            <a:r>
              <a:rPr lang="en-US" sz="2400" dirty="0">
                <a:latin typeface="Arial" panose="020B0604020202020204" pitchFamily="34" charset="0"/>
                <a:cs typeface="Arial" panose="020B0604020202020204" pitchFamily="34" charset="0"/>
              </a:rPr>
              <a:t>A </a:t>
            </a:r>
            <a:r>
              <a:rPr lang="en-US" sz="2400" dirty="0">
                <a:solidFill>
                  <a:srgbClr val="FF0000"/>
                </a:solidFill>
                <a:latin typeface="Arial" panose="020B0604020202020204" pitchFamily="34" charset="0"/>
                <a:cs typeface="Arial" panose="020B0604020202020204" pitchFamily="34" charset="0"/>
              </a:rPr>
              <a:t>collection</a:t>
            </a:r>
            <a:r>
              <a:rPr lang="en-US" sz="2400" dirty="0">
                <a:latin typeface="Arial" panose="020B0604020202020204" pitchFamily="34" charset="0"/>
                <a:cs typeface="Arial" panose="020B0604020202020204" pitchFamily="34" charset="0"/>
              </a:rPr>
              <a:t> of entities that share common properties.</a:t>
            </a:r>
          </a:p>
          <a:p>
            <a:pPr marL="342900" indent="-342900">
              <a:spcBef>
                <a:spcPct val="20000"/>
              </a:spcBef>
              <a:buClr>
                <a:schemeClr val="hlink"/>
              </a:buClr>
              <a:buSzPct val="110000"/>
              <a:buFont typeface="Wingdings" pitchFamily="2" charset="2"/>
              <a:buChar char="§"/>
            </a:pPr>
            <a:r>
              <a:rPr lang="en-US" sz="2400" dirty="0">
                <a:latin typeface="Arial" panose="020B0604020202020204" pitchFamily="34" charset="0"/>
                <a:cs typeface="Arial" panose="020B0604020202020204" pitchFamily="34" charset="0"/>
              </a:rPr>
              <a:t>Entity classes in bookstore database</a:t>
            </a:r>
          </a:p>
          <a:p>
            <a:pPr marL="800100" lvl="1" indent="-342900">
              <a:spcBef>
                <a:spcPct val="20000"/>
              </a:spcBef>
              <a:buClr>
                <a:schemeClr val="tx1"/>
              </a:buClr>
              <a:buSzPct val="60000"/>
              <a:buFont typeface="Wingdings" pitchFamily="2" charset="2"/>
              <a:buChar char="§"/>
            </a:pPr>
            <a:r>
              <a:rPr lang="en-US" sz="2400" dirty="0">
                <a:latin typeface="Arial" panose="020B0604020202020204" pitchFamily="34" charset="0"/>
                <a:cs typeface="Arial" panose="020B0604020202020204" pitchFamily="34" charset="0"/>
              </a:rPr>
              <a:t>Book</a:t>
            </a:r>
          </a:p>
          <a:p>
            <a:pPr marL="800100" lvl="1" indent="-342900">
              <a:spcBef>
                <a:spcPct val="20000"/>
              </a:spcBef>
              <a:buClr>
                <a:schemeClr val="tx1"/>
              </a:buClr>
              <a:buSzPct val="60000"/>
              <a:buFont typeface="Wingdings" pitchFamily="2" charset="2"/>
              <a:buChar char="§"/>
            </a:pPr>
            <a:r>
              <a:rPr lang="en-US" sz="2400" dirty="0">
                <a:latin typeface="Arial" panose="020B0604020202020204" pitchFamily="34" charset="0"/>
                <a:cs typeface="Arial" panose="020B0604020202020204" pitchFamily="34" charset="0"/>
              </a:rPr>
              <a:t>Student</a:t>
            </a:r>
          </a:p>
          <a:p>
            <a:pPr marL="800100" lvl="1" indent="-342900">
              <a:spcBef>
                <a:spcPct val="20000"/>
              </a:spcBef>
              <a:buClr>
                <a:schemeClr val="tx1"/>
              </a:buClr>
              <a:buSzPct val="60000"/>
              <a:buFont typeface="Wingdings" pitchFamily="2" charset="2"/>
              <a:buChar char="§"/>
            </a:pPr>
            <a:r>
              <a:rPr lang="en-US" sz="2400" dirty="0">
                <a:latin typeface="Arial" panose="020B0604020202020204" pitchFamily="34" charset="0"/>
                <a:cs typeface="Arial" panose="020B0604020202020204" pitchFamily="34" charset="0"/>
              </a:rPr>
              <a:t>Software</a:t>
            </a:r>
          </a:p>
          <a:p>
            <a:pPr marL="800100" lvl="1" indent="-342900">
              <a:spcBef>
                <a:spcPct val="20000"/>
              </a:spcBef>
              <a:buClr>
                <a:schemeClr val="tx1"/>
              </a:buClr>
              <a:buSzPct val="60000"/>
              <a:buFont typeface="Wingdings" pitchFamily="2" charset="2"/>
              <a:buChar char="§"/>
            </a:pPr>
            <a:r>
              <a:rPr lang="en-US" sz="2400" dirty="0">
                <a:latin typeface="Arial" panose="020B0604020202020204" pitchFamily="34" charset="0"/>
                <a:cs typeface="Arial" panose="020B0604020202020204" pitchFamily="34" charset="0"/>
              </a:rPr>
              <a:t>Employee</a:t>
            </a:r>
          </a:p>
          <a:p>
            <a:pPr marL="342900" indent="-342900">
              <a:spcBef>
                <a:spcPct val="20000"/>
              </a:spcBef>
              <a:buClr>
                <a:schemeClr val="hlink"/>
              </a:buClr>
              <a:buSzPct val="110000"/>
              <a:buFont typeface="Wingdings" pitchFamily="2" charset="2"/>
              <a:buChar char="§"/>
            </a:pPr>
            <a:r>
              <a:rPr lang="en-US" sz="2400" dirty="0">
                <a:latin typeface="Arial" panose="020B0604020202020204" pitchFamily="34" charset="0"/>
                <a:cs typeface="Arial" panose="020B0604020202020204" pitchFamily="34" charset="0"/>
              </a:rPr>
              <a:t>We model </a:t>
            </a:r>
            <a:r>
              <a:rPr lang="en-US" sz="2400" i="1" dirty="0">
                <a:latin typeface="Arial" panose="020B0604020202020204" pitchFamily="34" charset="0"/>
                <a:cs typeface="Arial" panose="020B0604020202020204" pitchFamily="34" charset="0"/>
              </a:rPr>
              <a:t>entity classes</a:t>
            </a:r>
            <a:r>
              <a:rPr lang="en-US" sz="2400" dirty="0">
                <a:latin typeface="Arial" panose="020B0604020202020204" pitchFamily="34" charset="0"/>
                <a:cs typeface="Arial" panose="020B0604020202020204" pitchFamily="34" charset="0"/>
              </a:rPr>
              <a:t>, not </a:t>
            </a:r>
            <a:r>
              <a:rPr lang="en-US" sz="2400" i="1" dirty="0">
                <a:latin typeface="Arial" panose="020B0604020202020204" pitchFamily="34" charset="0"/>
                <a:cs typeface="Arial" panose="020B0604020202020204" pitchFamily="34" charset="0"/>
              </a:rPr>
              <a:t>entities</a:t>
            </a:r>
            <a:r>
              <a:rPr lang="en-US" sz="2400" dirty="0">
                <a:latin typeface="Arial" panose="020B0604020202020204" pitchFamily="34" charset="0"/>
                <a:cs typeface="Arial" panose="020B0604020202020204" pitchFamily="34" charset="0"/>
              </a:rPr>
              <a:t>!!</a:t>
            </a:r>
          </a:p>
          <a:p>
            <a:pPr marL="342900" indent="-342900">
              <a:spcBef>
                <a:spcPct val="20000"/>
              </a:spcBef>
              <a:buClr>
                <a:schemeClr val="hlink"/>
              </a:buClr>
              <a:buSzPct val="110000"/>
              <a:buFont typeface="Wingdings" pitchFamily="2" charset="2"/>
              <a:buChar char="§"/>
            </a:pPr>
            <a:r>
              <a:rPr lang="en-US" sz="2400" dirty="0">
                <a:latin typeface="Arial" panose="020B0604020202020204" pitchFamily="34" charset="0"/>
                <a:cs typeface="Arial" panose="020B0604020202020204" pitchFamily="34" charset="0"/>
              </a:rPr>
              <a:t>However, people often use the term “entity” to refer to both </a:t>
            </a:r>
            <a:r>
              <a:rPr lang="en-US" sz="2400" i="1" dirty="0">
                <a:latin typeface="Arial" panose="020B0604020202020204" pitchFamily="34" charset="0"/>
                <a:cs typeface="Arial" panose="020B0604020202020204" pitchFamily="34" charset="0"/>
              </a:rPr>
              <a:t>entity type</a:t>
            </a:r>
            <a:r>
              <a:rPr lang="en-US" sz="2400" dirty="0">
                <a:latin typeface="Arial" panose="020B0604020202020204" pitchFamily="34" charset="0"/>
                <a:cs typeface="Arial" panose="020B0604020202020204" pitchFamily="34" charset="0"/>
              </a:rPr>
              <a:t> and </a:t>
            </a:r>
            <a:r>
              <a:rPr lang="en-US" sz="2400" i="1" dirty="0">
                <a:latin typeface="Arial" panose="020B0604020202020204" pitchFamily="34" charset="0"/>
                <a:cs typeface="Arial" panose="020B0604020202020204" pitchFamily="34" charset="0"/>
              </a:rPr>
              <a:t>entity instance</a:t>
            </a:r>
            <a:endParaRPr lang="en-US" sz="2400" dirty="0">
              <a:latin typeface="Arial" panose="020B0604020202020204" pitchFamily="34" charset="0"/>
              <a:cs typeface="Arial" panose="020B0604020202020204" pitchFamily="34" charset="0"/>
            </a:endParaRPr>
          </a:p>
          <a:p>
            <a:pPr marL="742950" lvl="1" indent="-285750">
              <a:spcBef>
                <a:spcPct val="20000"/>
              </a:spcBef>
              <a:buClr>
                <a:schemeClr val="hlink"/>
              </a:buClr>
              <a:buSzPct val="110000"/>
              <a:buFont typeface="Wingdings" pitchFamily="2" charset="2"/>
              <a:buChar char="§"/>
            </a:pPr>
            <a:endParaRPr lang="en-US"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57097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33400" y="10391"/>
            <a:ext cx="8229600" cy="990600"/>
          </a:xfrm>
        </p:spPr>
        <p:txBody>
          <a:bodyPr/>
          <a:lstStyle/>
          <a:p>
            <a:pPr eaLnBrk="1" hangingPunct="1"/>
            <a:r>
              <a:rPr lang="en-US" sz="4000" b="1" dirty="0">
                <a:solidFill>
                  <a:srgbClr val="FFFF00"/>
                </a:solidFill>
              </a:rPr>
              <a:t>ER Modeling: Entity   </a:t>
            </a:r>
          </a:p>
        </p:txBody>
      </p:sp>
      <p:sp>
        <p:nvSpPr>
          <p:cNvPr id="16388" name="Rectangle 3" descr="Rectangle: Click to edit Master text styles&#10;Second level&#10;Third level&#10;Fourth level&#10;Fifth level"/>
          <p:cNvSpPr>
            <a:spLocks noChangeArrowheads="1"/>
          </p:cNvSpPr>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hlink"/>
              </a:buClr>
              <a:buSzPct val="110000"/>
              <a:buFont typeface="Wingdings" pitchFamily="2" charset="2"/>
              <a:buBlip>
                <a:blip r:embed="rId2"/>
              </a:buBlip>
            </a:pPr>
            <a:r>
              <a:rPr lang="en-US" sz="2000" dirty="0"/>
              <a:t>Notation: </a:t>
            </a:r>
          </a:p>
          <a:p>
            <a:pPr marL="342900" indent="-342900">
              <a:spcBef>
                <a:spcPct val="20000"/>
              </a:spcBef>
              <a:buClr>
                <a:schemeClr val="hlink"/>
              </a:buClr>
              <a:buSzPct val="110000"/>
              <a:buFont typeface="Wingdings" pitchFamily="2" charset="2"/>
              <a:buBlip>
                <a:blip r:embed="rId2"/>
              </a:buBlip>
            </a:pPr>
            <a:endParaRPr lang="en-US" sz="2000" dirty="0">
              <a:effectLst>
                <a:outerShdw blurRad="38100" dist="38100" dir="2700000" algn="tl">
                  <a:srgbClr val="000000">
                    <a:alpha val="43137"/>
                  </a:srgbClr>
                </a:outerShdw>
              </a:effectLst>
            </a:endParaRPr>
          </a:p>
          <a:p>
            <a:pPr marL="342900" indent="-342900">
              <a:spcBef>
                <a:spcPct val="20000"/>
              </a:spcBef>
              <a:buClr>
                <a:schemeClr val="hlink"/>
              </a:buClr>
              <a:buSzPct val="110000"/>
              <a:buFont typeface="Wingdings" pitchFamily="2" charset="2"/>
              <a:buBlip>
                <a:blip r:embed="rId2"/>
              </a:buBlip>
            </a:pPr>
            <a:endParaRPr lang="en-US" sz="2000" dirty="0">
              <a:effectLst>
                <a:outerShdw blurRad="38100" dist="38100" dir="2700000" algn="tl">
                  <a:srgbClr val="000000">
                    <a:alpha val="43137"/>
                  </a:srgbClr>
                </a:outerShdw>
              </a:effectLst>
            </a:endParaRPr>
          </a:p>
          <a:p>
            <a:pPr marL="342900" indent="-342900">
              <a:spcBef>
                <a:spcPct val="20000"/>
              </a:spcBef>
              <a:buClr>
                <a:schemeClr val="hlink"/>
              </a:buClr>
              <a:buSzPct val="110000"/>
              <a:buFont typeface="Wingdings" pitchFamily="2" charset="2"/>
              <a:buBlip>
                <a:blip r:embed="rId2"/>
              </a:buBlip>
            </a:pPr>
            <a:endParaRPr lang="en-US" sz="2000" dirty="0">
              <a:effectLst>
                <a:outerShdw blurRad="38100" dist="38100" dir="2700000" algn="tl">
                  <a:srgbClr val="000000">
                    <a:alpha val="43137"/>
                  </a:srgbClr>
                </a:outerShdw>
              </a:effectLst>
            </a:endParaRPr>
          </a:p>
          <a:p>
            <a:pPr marL="342900" indent="-342900">
              <a:spcBef>
                <a:spcPct val="20000"/>
              </a:spcBef>
              <a:buClr>
                <a:schemeClr val="hlink"/>
              </a:buClr>
              <a:buSzPct val="110000"/>
              <a:buFont typeface="Wingdings" pitchFamily="2" charset="2"/>
              <a:buBlip>
                <a:blip r:embed="rId2"/>
              </a:buBlip>
            </a:pPr>
            <a:r>
              <a:rPr lang="en-US" sz="2000" dirty="0"/>
              <a:t>In bookstore database (original version):</a:t>
            </a:r>
            <a:endParaRPr lang="en-US" sz="2400" dirty="0"/>
          </a:p>
          <a:p>
            <a:pPr marL="742950" lvl="1" indent="-285750">
              <a:spcBef>
                <a:spcPct val="20000"/>
              </a:spcBef>
              <a:buClr>
                <a:schemeClr val="hlink"/>
              </a:buClr>
              <a:buSzPct val="110000"/>
              <a:buFont typeface="Wingdings" pitchFamily="2" charset="2"/>
              <a:buNone/>
            </a:pPr>
            <a:endParaRPr lang="en-US" sz="2000" dirty="0">
              <a:effectLst>
                <a:outerShdw blurRad="38100" dist="38100" dir="2700000" algn="tl">
                  <a:srgbClr val="000000">
                    <a:alpha val="43137"/>
                  </a:srgbClr>
                </a:outerShdw>
              </a:effectLst>
            </a:endParaRPr>
          </a:p>
        </p:txBody>
      </p:sp>
      <p:grpSp>
        <p:nvGrpSpPr>
          <p:cNvPr id="2" name="Group 1"/>
          <p:cNvGrpSpPr/>
          <p:nvPr/>
        </p:nvGrpSpPr>
        <p:grpSpPr>
          <a:xfrm>
            <a:off x="2438400" y="1981200"/>
            <a:ext cx="1752600" cy="810714"/>
            <a:chOff x="3390900" y="1746682"/>
            <a:chExt cx="2209800" cy="1247086"/>
          </a:xfrm>
        </p:grpSpPr>
        <p:sp>
          <p:nvSpPr>
            <p:cNvPr id="16389" name="Rectangle 4"/>
            <p:cNvSpPr>
              <a:spLocks noChangeArrowheads="1"/>
            </p:cNvSpPr>
            <p:nvPr/>
          </p:nvSpPr>
          <p:spPr bwMode="auto">
            <a:xfrm>
              <a:off x="3390900" y="1746682"/>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16390" name="Text Box 5"/>
            <p:cNvSpPr txBox="1">
              <a:spLocks noChangeArrowheads="1"/>
            </p:cNvSpPr>
            <p:nvPr/>
          </p:nvSpPr>
          <p:spPr bwMode="auto">
            <a:xfrm>
              <a:off x="3460173" y="1960418"/>
              <a:ext cx="2137064" cy="103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400" b="1" dirty="0"/>
                <a:t>ENTITIY NAME</a:t>
              </a:r>
            </a:p>
          </p:txBody>
        </p:sp>
      </p:grpSp>
      <p:sp>
        <p:nvSpPr>
          <p:cNvPr id="16391" name="Rectangle 6"/>
          <p:cNvSpPr>
            <a:spLocks noChangeArrowheads="1"/>
          </p:cNvSpPr>
          <p:nvPr/>
        </p:nvSpPr>
        <p:spPr bwMode="auto">
          <a:xfrm>
            <a:off x="2514600" y="3886200"/>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2" name="Text Box 7"/>
          <p:cNvSpPr txBox="1">
            <a:spLocks noChangeArrowheads="1"/>
          </p:cNvSpPr>
          <p:nvPr/>
        </p:nvSpPr>
        <p:spPr bwMode="auto">
          <a:xfrm>
            <a:off x="2819400" y="41148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dirty="0"/>
              <a:t>BOOK</a:t>
            </a:r>
          </a:p>
        </p:txBody>
      </p:sp>
      <p:sp>
        <p:nvSpPr>
          <p:cNvPr id="16393" name="Rectangle 8"/>
          <p:cNvSpPr>
            <a:spLocks noChangeArrowheads="1"/>
          </p:cNvSpPr>
          <p:nvPr/>
        </p:nvSpPr>
        <p:spPr bwMode="auto">
          <a:xfrm>
            <a:off x="4953000" y="3886200"/>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4" name="Text Box 9"/>
          <p:cNvSpPr txBox="1">
            <a:spLocks noChangeArrowheads="1"/>
          </p:cNvSpPr>
          <p:nvPr/>
        </p:nvSpPr>
        <p:spPr bwMode="auto">
          <a:xfrm>
            <a:off x="5257800" y="41148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dirty="0"/>
              <a:t>STUDENT</a:t>
            </a:r>
          </a:p>
        </p:txBody>
      </p:sp>
      <p:sp>
        <p:nvSpPr>
          <p:cNvPr id="16395" name="Rectangle 10"/>
          <p:cNvSpPr>
            <a:spLocks noChangeArrowheads="1"/>
          </p:cNvSpPr>
          <p:nvPr/>
        </p:nvSpPr>
        <p:spPr bwMode="auto">
          <a:xfrm>
            <a:off x="2514600" y="4876800"/>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6" name="Text Box 11"/>
          <p:cNvSpPr txBox="1">
            <a:spLocks noChangeArrowheads="1"/>
          </p:cNvSpPr>
          <p:nvPr/>
        </p:nvSpPr>
        <p:spPr bwMode="auto">
          <a:xfrm>
            <a:off x="2819400" y="51054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dirty="0"/>
              <a:t>SOFTWARE</a:t>
            </a:r>
          </a:p>
        </p:txBody>
      </p:sp>
      <p:sp>
        <p:nvSpPr>
          <p:cNvPr id="16397" name="Rectangle 12"/>
          <p:cNvSpPr>
            <a:spLocks noChangeArrowheads="1"/>
          </p:cNvSpPr>
          <p:nvPr/>
        </p:nvSpPr>
        <p:spPr bwMode="auto">
          <a:xfrm>
            <a:off x="4953000" y="4876800"/>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8" name="Text Box 13"/>
          <p:cNvSpPr txBox="1">
            <a:spLocks noChangeArrowheads="1"/>
          </p:cNvSpPr>
          <p:nvPr/>
        </p:nvSpPr>
        <p:spPr bwMode="auto">
          <a:xfrm>
            <a:off x="5257800" y="51054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dirty="0"/>
              <a:t>EMPLOYEE</a:t>
            </a:r>
          </a:p>
        </p:txBody>
      </p:sp>
      <p:sp>
        <p:nvSpPr>
          <p:cNvPr id="16399" name="Text Box 14"/>
          <p:cNvSpPr txBox="1">
            <a:spLocks noChangeArrowheads="1"/>
          </p:cNvSpPr>
          <p:nvPr/>
        </p:nvSpPr>
        <p:spPr bwMode="auto">
          <a:xfrm>
            <a:off x="685800" y="6043035"/>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400" dirty="0">
                <a:solidFill>
                  <a:srgbClr val="CC0000"/>
                </a:solidFill>
              </a:rPr>
              <a:t>WARNING:</a:t>
            </a:r>
            <a:r>
              <a:rPr lang="en-US" sz="1400" dirty="0"/>
              <a:t> Throughout the class, we will use the term “entity” to refer to “entity class”, but you should remember that we are modeling entity classes ALL THE TIME!</a:t>
            </a:r>
          </a:p>
        </p:txBody>
      </p:sp>
      <p:grpSp>
        <p:nvGrpSpPr>
          <p:cNvPr id="16" name="Group 15"/>
          <p:cNvGrpSpPr/>
          <p:nvPr/>
        </p:nvGrpSpPr>
        <p:grpSpPr>
          <a:xfrm>
            <a:off x="5467887" y="1690432"/>
            <a:ext cx="1847313" cy="835672"/>
            <a:chOff x="3271479" y="1299405"/>
            <a:chExt cx="2329221" cy="1285477"/>
          </a:xfrm>
        </p:grpSpPr>
        <p:sp>
          <p:nvSpPr>
            <p:cNvPr id="17" name="Rectangle 4"/>
            <p:cNvSpPr>
              <a:spLocks noChangeArrowheads="1"/>
            </p:cNvSpPr>
            <p:nvPr/>
          </p:nvSpPr>
          <p:spPr bwMode="auto">
            <a:xfrm>
              <a:off x="3390900" y="1746682"/>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18" name="Text Box 5"/>
            <p:cNvSpPr txBox="1">
              <a:spLocks noChangeArrowheads="1"/>
            </p:cNvSpPr>
            <p:nvPr/>
          </p:nvSpPr>
          <p:spPr bwMode="auto">
            <a:xfrm>
              <a:off x="3271479" y="1299405"/>
              <a:ext cx="2137064" cy="1033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400" b="1" dirty="0"/>
                <a:t>ENTITIY NAME</a:t>
              </a:r>
            </a:p>
          </p:txBody>
        </p:sp>
      </p:grpSp>
      <p:sp>
        <p:nvSpPr>
          <p:cNvPr id="3" name="TextBox 2"/>
          <p:cNvSpPr txBox="1"/>
          <p:nvPr/>
        </p:nvSpPr>
        <p:spPr>
          <a:xfrm>
            <a:off x="2447179" y="2607248"/>
            <a:ext cx="1787669" cy="369332"/>
          </a:xfrm>
          <a:prstGeom prst="rect">
            <a:avLst/>
          </a:prstGeom>
          <a:noFill/>
        </p:spPr>
        <p:txBody>
          <a:bodyPr wrap="none" rtlCol="0">
            <a:spAutoFit/>
          </a:bodyPr>
          <a:lstStyle/>
          <a:p>
            <a:r>
              <a:rPr lang="en-US" dirty="0">
                <a:solidFill>
                  <a:srgbClr val="FF0000"/>
                </a:solidFill>
              </a:rPr>
              <a:t>Original version</a:t>
            </a:r>
          </a:p>
        </p:txBody>
      </p:sp>
      <p:sp>
        <p:nvSpPr>
          <p:cNvPr id="20" name="TextBox 19"/>
          <p:cNvSpPr txBox="1"/>
          <p:nvPr/>
        </p:nvSpPr>
        <p:spPr>
          <a:xfrm>
            <a:off x="5715000" y="2607248"/>
            <a:ext cx="1334661" cy="369332"/>
          </a:xfrm>
          <a:prstGeom prst="rect">
            <a:avLst/>
          </a:prstGeom>
          <a:noFill/>
        </p:spPr>
        <p:txBody>
          <a:bodyPr wrap="none" rtlCol="0">
            <a:spAutoFit/>
          </a:bodyPr>
          <a:lstStyle/>
          <a:p>
            <a:r>
              <a:rPr lang="en-US" dirty="0">
                <a:solidFill>
                  <a:srgbClr val="FF0000"/>
                </a:solidFill>
              </a:rPr>
              <a:t>Crow’s foot</a:t>
            </a:r>
          </a:p>
        </p:txBody>
      </p:sp>
    </p:spTree>
    <p:extLst>
      <p:ext uri="{BB962C8B-B14F-4D97-AF65-F5344CB8AC3E}">
        <p14:creationId xmlns:p14="http://schemas.microsoft.com/office/powerpoint/2010/main" val="1231879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381000" y="76200"/>
            <a:ext cx="8229600" cy="990600"/>
          </a:xfrm>
        </p:spPr>
        <p:txBody>
          <a:bodyPr/>
          <a:lstStyle/>
          <a:p>
            <a:pPr eaLnBrk="1" hangingPunct="1"/>
            <a:r>
              <a:rPr lang="en-US" sz="4000" b="1" dirty="0">
                <a:solidFill>
                  <a:srgbClr val="FFFF00"/>
                </a:solidFill>
              </a:rPr>
              <a:t>ER Modeling: Entity   </a:t>
            </a:r>
          </a:p>
        </p:txBody>
      </p:sp>
      <p:sp>
        <p:nvSpPr>
          <p:cNvPr id="17412" name="Rectangle 3" descr="Rectangle: Click to edit Master text styles&#10;Second level&#10;Third level&#10;Fourth level&#10;Fifth level"/>
          <p:cNvSpPr>
            <a:spLocks noChangeArrowheads="1"/>
          </p:cNvSpPr>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hlink"/>
              </a:buClr>
              <a:buSzPct val="110000"/>
              <a:buFont typeface="Wingdings" pitchFamily="2" charset="2"/>
              <a:buBlip>
                <a:blip r:embed="rId2"/>
              </a:buBlip>
            </a:pPr>
            <a:r>
              <a:rPr lang="en-US" sz="2400" dirty="0"/>
              <a:t>Naming Conventions</a:t>
            </a:r>
          </a:p>
          <a:p>
            <a:pPr marL="742950" lvl="1" indent="-285750">
              <a:spcBef>
                <a:spcPct val="20000"/>
              </a:spcBef>
              <a:buClr>
                <a:schemeClr val="hlink"/>
              </a:buClr>
              <a:buSzPct val="110000"/>
              <a:buFont typeface="Wingdings" pitchFamily="2" charset="2"/>
              <a:buBlip>
                <a:blip r:embed="rId2"/>
              </a:buBlip>
            </a:pPr>
            <a:r>
              <a:rPr lang="en-US" sz="2400" dirty="0"/>
              <a:t> </a:t>
            </a:r>
            <a:r>
              <a:rPr lang="en-US" sz="2400" dirty="0">
                <a:solidFill>
                  <a:srgbClr val="FF0000"/>
                </a:solidFill>
              </a:rPr>
              <a:t>Singular</a:t>
            </a:r>
            <a:r>
              <a:rPr lang="en-US" sz="2400" dirty="0"/>
              <a:t> noun</a:t>
            </a:r>
          </a:p>
          <a:p>
            <a:pPr marL="742950" lvl="1" indent="-285750">
              <a:spcBef>
                <a:spcPct val="20000"/>
              </a:spcBef>
              <a:buClr>
                <a:schemeClr val="hlink"/>
              </a:buClr>
              <a:buSzPct val="110000"/>
              <a:buFont typeface="Wingdings" pitchFamily="2" charset="2"/>
              <a:buBlip>
                <a:blip r:embed="rId2"/>
              </a:buBlip>
            </a:pPr>
            <a:r>
              <a:rPr lang="en-US" sz="2400" dirty="0"/>
              <a:t> Try to be specific and concise</a:t>
            </a:r>
          </a:p>
          <a:p>
            <a:pPr marL="742950" lvl="1" indent="-285750">
              <a:spcBef>
                <a:spcPct val="20000"/>
              </a:spcBef>
              <a:buClr>
                <a:schemeClr val="hlink"/>
              </a:buClr>
              <a:buSzPct val="110000"/>
              <a:buFont typeface="Wingdings" pitchFamily="2" charset="2"/>
              <a:buBlip>
                <a:blip r:embed="rId2"/>
              </a:buBlip>
            </a:pPr>
            <a:r>
              <a:rPr lang="en-US" sz="2400" dirty="0"/>
              <a:t> </a:t>
            </a:r>
            <a:r>
              <a:rPr lang="en-US" sz="2400" b="1" dirty="0"/>
              <a:t>No two entities should share the same name</a:t>
            </a:r>
          </a:p>
          <a:p>
            <a:pPr marL="342900" indent="-342900">
              <a:spcBef>
                <a:spcPct val="20000"/>
              </a:spcBef>
              <a:buClr>
                <a:schemeClr val="hlink"/>
              </a:buClr>
              <a:buSzPct val="110000"/>
              <a:buFont typeface="Wingdings" pitchFamily="2" charset="2"/>
              <a:buBlip>
                <a:blip r:embed="rId2"/>
              </a:buBlip>
            </a:pPr>
            <a:endParaRPr lang="en-US" sz="2400" dirty="0"/>
          </a:p>
          <a:p>
            <a:pPr marL="342900" indent="-342900">
              <a:spcBef>
                <a:spcPct val="20000"/>
              </a:spcBef>
              <a:buClr>
                <a:schemeClr val="hlink"/>
              </a:buClr>
              <a:buSzPct val="110000"/>
              <a:buFont typeface="Wingdings" pitchFamily="2" charset="2"/>
              <a:buBlip>
                <a:blip r:embed="rId2"/>
              </a:buBlip>
            </a:pPr>
            <a:r>
              <a:rPr lang="en-US" sz="2400" dirty="0"/>
              <a:t>More in the book</a:t>
            </a:r>
          </a:p>
        </p:txBody>
      </p:sp>
    </p:spTree>
    <p:extLst>
      <p:ext uri="{BB962C8B-B14F-4D97-AF65-F5344CB8AC3E}">
        <p14:creationId xmlns:p14="http://schemas.microsoft.com/office/powerpoint/2010/main" val="2945524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85800" y="20782"/>
            <a:ext cx="7772400" cy="1143000"/>
          </a:xfrm>
        </p:spPr>
        <p:txBody>
          <a:bodyPr/>
          <a:lstStyle/>
          <a:p>
            <a:pPr eaLnBrk="1" hangingPunct="1"/>
            <a:r>
              <a:rPr lang="en-US" sz="4000" b="1" dirty="0">
                <a:solidFill>
                  <a:srgbClr val="FFFF00"/>
                </a:solidFill>
                <a:effectLst>
                  <a:outerShdw blurRad="38100" dist="38100" dir="2700000" algn="tl">
                    <a:srgbClr val="000000">
                      <a:alpha val="43137"/>
                    </a:srgbClr>
                  </a:outerShdw>
                </a:effectLst>
              </a:rPr>
              <a:t>ER Modeling: Relationship</a:t>
            </a:r>
          </a:p>
        </p:txBody>
      </p:sp>
      <p:sp>
        <p:nvSpPr>
          <p:cNvPr id="18436" name="Rectangle 3" descr="Rectangle: Click to edit Master text styles&#10;Second level&#10;Third level&#10;Fourth level&#10;Fifth level"/>
          <p:cNvSpPr>
            <a:spLocks noGrp="1" noChangeArrowheads="1"/>
          </p:cNvSpPr>
          <p:nvPr>
            <p:ph type="body" idx="1"/>
          </p:nvPr>
        </p:nvSpPr>
        <p:spPr>
          <a:xfrm>
            <a:off x="457200" y="1524000"/>
            <a:ext cx="8229600" cy="4297363"/>
          </a:xfrm>
        </p:spPr>
        <p:txBody>
          <a:bodyPr/>
          <a:lstStyle/>
          <a:p>
            <a:pPr eaLnBrk="1" hangingPunct="1"/>
            <a:r>
              <a:rPr lang="en-US" sz="2400" dirty="0">
                <a:latin typeface="Arial" panose="020B0604020202020204" pitchFamily="34" charset="0"/>
                <a:cs typeface="Arial" panose="020B0604020202020204" pitchFamily="34" charset="0"/>
              </a:rPr>
              <a:t>Definition</a:t>
            </a:r>
          </a:p>
          <a:p>
            <a:pPr lvl="1" eaLnBrk="1" hangingPunct="1"/>
            <a:r>
              <a:rPr lang="en-US" sz="2400" dirty="0">
                <a:latin typeface="Arial" panose="020B0604020202020204" pitchFamily="34" charset="0"/>
                <a:cs typeface="Arial" panose="020B0604020202020204" pitchFamily="34" charset="0"/>
              </a:rPr>
              <a:t>An association among the </a:t>
            </a:r>
            <a:r>
              <a:rPr lang="en-US" sz="2400" i="1" dirty="0">
                <a:latin typeface="Arial" panose="020B0604020202020204" pitchFamily="34" charset="0"/>
                <a:cs typeface="Arial" panose="020B0604020202020204" pitchFamily="34" charset="0"/>
              </a:rPr>
              <a:t>instances</a:t>
            </a:r>
            <a:r>
              <a:rPr lang="en-US" sz="2400" dirty="0">
                <a:latin typeface="Arial" panose="020B0604020202020204" pitchFamily="34" charset="0"/>
                <a:cs typeface="Arial" panose="020B0604020202020204" pitchFamily="34" charset="0"/>
              </a:rPr>
              <a:t> of one or more entity classes that is of interest to the organization</a:t>
            </a:r>
          </a:p>
          <a:p>
            <a:pPr lvl="1" eaLnBrk="1" hangingPunct="1"/>
            <a:r>
              <a:rPr lang="en-US" sz="2400" dirty="0">
                <a:latin typeface="Arial" panose="020B0604020202020204" pitchFamily="34" charset="0"/>
                <a:cs typeface="Arial" panose="020B0604020202020204" pitchFamily="34" charset="0"/>
              </a:rPr>
              <a:t>Notice that a relationship is among entity </a:t>
            </a:r>
            <a:r>
              <a:rPr lang="en-US" sz="2400" i="1" dirty="0">
                <a:latin typeface="Arial" panose="020B0604020202020204" pitchFamily="34" charset="0"/>
                <a:cs typeface="Arial" panose="020B0604020202020204" pitchFamily="34" charset="0"/>
              </a:rPr>
              <a:t>instances</a:t>
            </a:r>
            <a:r>
              <a:rPr lang="en-US" sz="2400" dirty="0">
                <a:latin typeface="Arial" panose="020B0604020202020204" pitchFamily="34" charset="0"/>
                <a:cs typeface="Arial" panose="020B0604020202020204" pitchFamily="34" charset="0"/>
              </a:rPr>
              <a:t>, not </a:t>
            </a:r>
            <a:r>
              <a:rPr lang="en-US" sz="2400" i="1" dirty="0">
                <a:latin typeface="Arial" panose="020B0604020202020204" pitchFamily="34" charset="0"/>
                <a:cs typeface="Arial" panose="020B0604020202020204" pitchFamily="34" charset="0"/>
              </a:rPr>
              <a:t>entity classes</a:t>
            </a:r>
          </a:p>
          <a:p>
            <a:pPr lvl="1" eaLnBrk="1" hangingPunct="1"/>
            <a:endParaRPr lang="en-US" sz="2400" i="1" dirty="0">
              <a:latin typeface="Arial" panose="020B0604020202020204" pitchFamily="34" charset="0"/>
              <a:cs typeface="Arial" panose="020B0604020202020204" pitchFamily="34" charset="0"/>
            </a:endParaRPr>
          </a:p>
          <a:p>
            <a:pPr eaLnBrk="1" hangingPunct="1"/>
            <a:r>
              <a:rPr lang="en-US" sz="2400" dirty="0">
                <a:latin typeface="Arial" panose="020B0604020202020204" pitchFamily="34" charset="0"/>
                <a:cs typeface="Arial" panose="020B0604020202020204" pitchFamily="34" charset="0"/>
              </a:rPr>
              <a:t>Relationships in bookstore database</a:t>
            </a:r>
          </a:p>
          <a:p>
            <a:pPr lvl="1" eaLnBrk="1" hangingPunct="1"/>
            <a:r>
              <a:rPr lang="en-US" sz="2400" dirty="0">
                <a:latin typeface="Arial" panose="020B0604020202020204" pitchFamily="34" charset="0"/>
                <a:cs typeface="Arial" panose="020B0604020202020204" pitchFamily="34" charset="0"/>
              </a:rPr>
              <a:t>James Brown purchased “modern databases”</a:t>
            </a:r>
            <a:r>
              <a:rPr lang="en-US" sz="2400" dirty="0"/>
              <a:t> </a:t>
            </a:r>
          </a:p>
          <a:p>
            <a:pPr eaLnBrk="1" hangingPunct="1"/>
            <a:endParaRPr lang="en-US" sz="2800" dirty="0"/>
          </a:p>
          <a:p>
            <a:pPr eaLnBrk="1" hangingPunct="1"/>
            <a:endParaRPr lang="en-US" sz="2800" dirty="0"/>
          </a:p>
          <a:p>
            <a:pPr lvl="1" eaLnBrk="1" hangingPunct="1"/>
            <a:endParaRPr lang="en-US" sz="2400" dirty="0"/>
          </a:p>
        </p:txBody>
      </p:sp>
    </p:spTree>
    <p:extLst>
      <p:ext uri="{BB962C8B-B14F-4D97-AF65-F5344CB8AC3E}">
        <p14:creationId xmlns:p14="http://schemas.microsoft.com/office/powerpoint/2010/main" val="3033377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685800" y="-10391"/>
            <a:ext cx="7772400" cy="1143000"/>
          </a:xfrm>
        </p:spPr>
        <p:txBody>
          <a:bodyPr/>
          <a:lstStyle/>
          <a:p>
            <a:pPr eaLnBrk="1" hangingPunct="1"/>
            <a:r>
              <a:rPr lang="en-US" sz="3600" b="1" dirty="0">
                <a:solidFill>
                  <a:srgbClr val="FFFF00"/>
                </a:solidFill>
                <a:effectLst>
                  <a:outerShdw blurRad="38100" dist="38100" dir="2700000" algn="tl">
                    <a:srgbClr val="000000">
                      <a:alpha val="43137"/>
                    </a:srgbClr>
                  </a:outerShdw>
                </a:effectLst>
              </a:rPr>
              <a:t>ER Modeling: Relationship</a:t>
            </a:r>
          </a:p>
        </p:txBody>
      </p:sp>
      <p:sp>
        <p:nvSpPr>
          <p:cNvPr id="77827" name="Rectangle 3" descr="Rectangle: Click to edit Master text styles&#10;Second level&#10;Third level&#10;Fourth level&#10;Fifth level"/>
          <p:cNvSpPr>
            <a:spLocks noGrp="1" noChangeArrowheads="1"/>
          </p:cNvSpPr>
          <p:nvPr>
            <p:ph type="body" idx="1"/>
          </p:nvPr>
        </p:nvSpPr>
        <p:spPr>
          <a:xfrm>
            <a:off x="762000" y="1676400"/>
            <a:ext cx="8001000" cy="4114800"/>
          </a:xfrm>
        </p:spPr>
        <p:txBody>
          <a:bodyPr/>
          <a:lstStyle/>
          <a:p>
            <a:pPr marL="609600" indent="-609600" eaLnBrk="1" hangingPunct="1">
              <a:lnSpc>
                <a:spcPct val="90000"/>
              </a:lnSpc>
            </a:pPr>
            <a:r>
              <a:rPr lang="en-US" sz="2400" dirty="0">
                <a:latin typeface="Arial" panose="020B0604020202020204" pitchFamily="34" charset="0"/>
                <a:cs typeface="Arial" panose="020B0604020202020204" pitchFamily="34" charset="0"/>
              </a:rPr>
              <a:t>Relationship Class</a:t>
            </a:r>
          </a:p>
          <a:p>
            <a:pPr marL="990600" lvl="1" indent="-533400" eaLnBrk="1" hangingPunct="1">
              <a:lnSpc>
                <a:spcPct val="90000"/>
              </a:lnSpc>
              <a:spcBef>
                <a:spcPts val="0"/>
              </a:spcBef>
              <a:spcAft>
                <a:spcPts val="1200"/>
              </a:spcAft>
            </a:pPr>
            <a:r>
              <a:rPr lang="en-US" sz="2400" dirty="0">
                <a:latin typeface="Arial" panose="020B0604020202020204" pitchFamily="34" charset="0"/>
                <a:cs typeface="Arial" panose="020B0604020202020204" pitchFamily="34" charset="0"/>
              </a:rPr>
              <a:t>A collection of relationships that share common properties.</a:t>
            </a:r>
          </a:p>
          <a:p>
            <a:pPr marL="609600" indent="-609600" eaLnBrk="1" hangingPunct="1">
              <a:lnSpc>
                <a:spcPct val="90000"/>
              </a:lnSpc>
            </a:pPr>
            <a:r>
              <a:rPr lang="en-US" sz="2400" dirty="0">
                <a:latin typeface="Arial" panose="020B0604020202020204" pitchFamily="34" charset="0"/>
                <a:cs typeface="Arial" panose="020B0604020202020204" pitchFamily="34" charset="0"/>
              </a:rPr>
              <a:t>Relationship Class in bookstore database</a:t>
            </a:r>
          </a:p>
          <a:p>
            <a:pPr marL="990600" lvl="1" indent="-533400" eaLnBrk="1" hangingPunct="1">
              <a:lnSpc>
                <a:spcPct val="90000"/>
              </a:lnSpc>
            </a:pPr>
            <a:r>
              <a:rPr lang="en-US" sz="2400" dirty="0">
                <a:latin typeface="Arial" panose="020B0604020202020204" pitchFamily="34" charset="0"/>
                <a:cs typeface="Arial" panose="020B0604020202020204" pitchFamily="34" charset="0"/>
              </a:rPr>
              <a:t>Students </a:t>
            </a:r>
            <a:r>
              <a:rPr lang="en-US" sz="2400" b="1" dirty="0">
                <a:solidFill>
                  <a:srgbClr val="FF0000"/>
                </a:solidFill>
                <a:latin typeface="Arial" panose="020B0604020202020204" pitchFamily="34" charset="0"/>
                <a:cs typeface="Arial" panose="020B0604020202020204" pitchFamily="34" charset="0"/>
              </a:rPr>
              <a:t>buy</a:t>
            </a:r>
            <a:r>
              <a:rPr lang="en-US" sz="2400" dirty="0">
                <a:latin typeface="Arial" panose="020B0604020202020204" pitchFamily="34" charset="0"/>
                <a:cs typeface="Arial" panose="020B0604020202020204" pitchFamily="34" charset="0"/>
              </a:rPr>
              <a:t> books</a:t>
            </a:r>
          </a:p>
          <a:p>
            <a:pPr marL="990600" lvl="1" indent="-533400" eaLnBrk="1" hangingPunct="1">
              <a:lnSpc>
                <a:spcPct val="90000"/>
              </a:lnSpc>
              <a:spcBef>
                <a:spcPts val="0"/>
              </a:spcBef>
              <a:spcAft>
                <a:spcPts val="1200"/>
              </a:spcAft>
            </a:pPr>
            <a:r>
              <a:rPr lang="en-US" sz="2400" dirty="0">
                <a:latin typeface="Arial" panose="020B0604020202020204" pitchFamily="34" charset="0"/>
                <a:cs typeface="Arial" panose="020B0604020202020204" pitchFamily="34" charset="0"/>
              </a:rPr>
              <a:t>Students </a:t>
            </a:r>
            <a:r>
              <a:rPr lang="en-US" sz="2400" b="1" dirty="0">
                <a:solidFill>
                  <a:srgbClr val="FF0000"/>
                </a:solidFill>
                <a:latin typeface="Arial" panose="020B0604020202020204" pitchFamily="34" charset="0"/>
                <a:cs typeface="Arial" panose="020B0604020202020204" pitchFamily="34" charset="0"/>
              </a:rPr>
              <a:t>buy</a:t>
            </a:r>
            <a:r>
              <a:rPr lang="en-US" sz="2400" dirty="0">
                <a:latin typeface="Arial" panose="020B0604020202020204" pitchFamily="34" charset="0"/>
                <a:cs typeface="Arial" panose="020B0604020202020204" pitchFamily="34" charset="0"/>
              </a:rPr>
              <a:t> software</a:t>
            </a:r>
          </a:p>
          <a:p>
            <a:pPr marL="609600" indent="-609600" eaLnBrk="1" hangingPunct="1">
              <a:lnSpc>
                <a:spcPct val="90000"/>
              </a:lnSpc>
              <a:spcBef>
                <a:spcPts val="0"/>
              </a:spcBef>
              <a:spcAft>
                <a:spcPts val="1200"/>
              </a:spcAft>
            </a:pPr>
            <a:r>
              <a:rPr lang="en-US" sz="2400" dirty="0">
                <a:latin typeface="Arial" panose="020B0604020202020204" pitchFamily="34" charset="0"/>
                <a:cs typeface="Arial" panose="020B0604020202020204" pitchFamily="34" charset="0"/>
              </a:rPr>
              <a:t>We model </a:t>
            </a:r>
            <a:r>
              <a:rPr lang="en-US" sz="2400" i="1" dirty="0">
                <a:latin typeface="Arial" panose="020B0604020202020204" pitchFamily="34" charset="0"/>
                <a:cs typeface="Arial" panose="020B0604020202020204" pitchFamily="34" charset="0"/>
              </a:rPr>
              <a:t>relationship types</a:t>
            </a:r>
            <a:r>
              <a:rPr lang="en-US" sz="2400" dirty="0">
                <a:latin typeface="Arial" panose="020B0604020202020204" pitchFamily="34" charset="0"/>
                <a:cs typeface="Arial" panose="020B0604020202020204" pitchFamily="34" charset="0"/>
              </a:rPr>
              <a:t>, not</a:t>
            </a:r>
            <a:r>
              <a:rPr lang="en-US" sz="2400" i="1" dirty="0">
                <a:latin typeface="Arial" panose="020B0604020202020204" pitchFamily="34" charset="0"/>
                <a:cs typeface="Arial" panose="020B0604020202020204" pitchFamily="34" charset="0"/>
              </a:rPr>
              <a:t> relationships</a:t>
            </a:r>
            <a:endParaRPr lang="en-US" sz="2400" dirty="0">
              <a:latin typeface="Arial" panose="020B0604020202020204" pitchFamily="34" charset="0"/>
              <a:cs typeface="Arial" panose="020B0604020202020204" pitchFamily="34" charset="0"/>
            </a:endParaRPr>
          </a:p>
          <a:p>
            <a:pPr marL="609600" indent="-609600" eaLnBrk="1" hangingPunct="1">
              <a:lnSpc>
                <a:spcPct val="90000"/>
              </a:lnSpc>
            </a:pPr>
            <a:r>
              <a:rPr lang="en-US" sz="2400" dirty="0">
                <a:latin typeface="Arial" panose="020B0604020202020204" pitchFamily="34" charset="0"/>
                <a:cs typeface="Arial" panose="020B0604020202020204" pitchFamily="34" charset="0"/>
              </a:rPr>
              <a:t>However, people often use the term “relationship” to refer to both </a:t>
            </a:r>
            <a:r>
              <a:rPr lang="en-US" sz="2400" i="1" dirty="0">
                <a:latin typeface="Arial" panose="020B0604020202020204" pitchFamily="34" charset="0"/>
                <a:cs typeface="Arial" panose="020B0604020202020204" pitchFamily="34" charset="0"/>
              </a:rPr>
              <a:t>relationship type</a:t>
            </a:r>
            <a:r>
              <a:rPr lang="en-US" sz="2400" dirty="0">
                <a:latin typeface="Arial" panose="020B0604020202020204" pitchFamily="34" charset="0"/>
                <a:cs typeface="Arial" panose="020B0604020202020204" pitchFamily="34" charset="0"/>
              </a:rPr>
              <a:t> and </a:t>
            </a:r>
            <a:r>
              <a:rPr lang="en-US" sz="2400" i="1" dirty="0">
                <a:latin typeface="Arial" panose="020B0604020202020204" pitchFamily="34" charset="0"/>
                <a:cs typeface="Arial" panose="020B0604020202020204" pitchFamily="34" charset="0"/>
              </a:rPr>
              <a:t>relationship instance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466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723900" y="0"/>
            <a:ext cx="7772400" cy="1143000"/>
          </a:xfrm>
        </p:spPr>
        <p:txBody>
          <a:bodyPr/>
          <a:lstStyle/>
          <a:p>
            <a:pPr eaLnBrk="1" hangingPunct="1"/>
            <a:r>
              <a:rPr lang="en-US" sz="4000" b="1" dirty="0">
                <a:solidFill>
                  <a:srgbClr val="FFFF00"/>
                </a:solidFill>
                <a:effectLst>
                  <a:outerShdw blurRad="38100" dist="38100" dir="2700000" algn="tl">
                    <a:srgbClr val="000000">
                      <a:alpha val="43137"/>
                    </a:srgbClr>
                  </a:outerShdw>
                </a:effectLst>
              </a:rPr>
              <a:t>ER Modeling: Relationship</a:t>
            </a:r>
          </a:p>
        </p:txBody>
      </p:sp>
      <p:sp>
        <p:nvSpPr>
          <p:cNvPr id="20484" name="Rectangle 3" descr="Rectangle: Click to edit Master text styles&#10;Second level&#10;Third level&#10;Fourth level&#10;Fifth level"/>
          <p:cNvSpPr>
            <a:spLocks noGrp="1" noChangeArrowheads="1"/>
          </p:cNvSpPr>
          <p:nvPr>
            <p:ph type="body" idx="1"/>
          </p:nvPr>
        </p:nvSpPr>
        <p:spPr/>
        <p:txBody>
          <a:bodyPr/>
          <a:lstStyle/>
          <a:p>
            <a:pPr marL="609600" indent="-609600" eaLnBrk="1" hangingPunct="1"/>
            <a:r>
              <a:rPr lang="en-US" sz="2400" dirty="0">
                <a:latin typeface="Arial" panose="020B0604020202020204" pitchFamily="34" charset="0"/>
                <a:cs typeface="Arial" panose="020B0604020202020204" pitchFamily="34" charset="0"/>
              </a:rPr>
              <a:t>Notation</a:t>
            </a:r>
          </a:p>
          <a:p>
            <a:pPr marL="609600" indent="-609600" eaLnBrk="1" hangingPunct="1"/>
            <a:endParaRPr lang="en-US" sz="2400" dirty="0">
              <a:latin typeface="Arial" panose="020B0604020202020204" pitchFamily="34" charset="0"/>
              <a:cs typeface="Arial" panose="020B0604020202020204" pitchFamily="34" charset="0"/>
            </a:endParaRPr>
          </a:p>
          <a:p>
            <a:pPr marL="990600" lvl="1" indent="-533400" eaLnBrk="1" hangingPunct="1"/>
            <a:endParaRPr lang="en-US" sz="2400" dirty="0">
              <a:latin typeface="Arial" panose="020B0604020202020204" pitchFamily="34" charset="0"/>
              <a:cs typeface="Arial" panose="020B0604020202020204" pitchFamily="34" charset="0"/>
            </a:endParaRPr>
          </a:p>
          <a:p>
            <a:pPr marL="609600" indent="-609600" eaLnBrk="1" hangingPunct="1"/>
            <a:endParaRPr lang="en-US" sz="2400" dirty="0">
              <a:latin typeface="Arial" panose="020B0604020202020204" pitchFamily="34" charset="0"/>
              <a:cs typeface="Arial" panose="020B0604020202020204" pitchFamily="34" charset="0"/>
            </a:endParaRPr>
          </a:p>
          <a:p>
            <a:pPr marL="609600" indent="-609600" eaLnBrk="1" hangingPunct="1"/>
            <a:endParaRPr lang="en-US" sz="2400" dirty="0">
              <a:latin typeface="Arial" panose="020B0604020202020204" pitchFamily="34" charset="0"/>
              <a:cs typeface="Arial" panose="020B0604020202020204" pitchFamily="34" charset="0"/>
            </a:endParaRPr>
          </a:p>
          <a:p>
            <a:pPr marL="609600" indent="-609600" eaLnBrk="1" hangingPunct="1"/>
            <a:r>
              <a:rPr lang="en-US" sz="2400" dirty="0">
                <a:latin typeface="Arial" panose="020B0604020202020204" pitchFamily="34" charset="0"/>
                <a:cs typeface="Arial" panose="020B0604020202020204" pitchFamily="34" charset="0"/>
              </a:rPr>
              <a:t>In bookstore database (original version):</a:t>
            </a:r>
          </a:p>
          <a:p>
            <a:pPr marL="990600" lvl="1" indent="-533400" eaLnBrk="1" hangingPunct="1"/>
            <a:endParaRPr lang="en-US" sz="2400" dirty="0">
              <a:latin typeface="Arial" panose="020B0604020202020204" pitchFamily="34" charset="0"/>
              <a:cs typeface="Arial" panose="020B0604020202020204" pitchFamily="34" charset="0"/>
            </a:endParaRPr>
          </a:p>
          <a:p>
            <a:pPr marL="990600" lvl="1" indent="-533400" eaLnBrk="1" hangingPunct="1"/>
            <a:endParaRPr lang="en-US" sz="2000" dirty="0"/>
          </a:p>
        </p:txBody>
      </p:sp>
      <p:grpSp>
        <p:nvGrpSpPr>
          <p:cNvPr id="2" name="Group 1"/>
          <p:cNvGrpSpPr/>
          <p:nvPr/>
        </p:nvGrpSpPr>
        <p:grpSpPr>
          <a:xfrm>
            <a:off x="1676400" y="2209800"/>
            <a:ext cx="5105400" cy="1524000"/>
            <a:chOff x="3692236" y="2209800"/>
            <a:chExt cx="5105400" cy="1524000"/>
          </a:xfrm>
        </p:grpSpPr>
        <p:sp>
          <p:nvSpPr>
            <p:cNvPr id="20485" name="AutoShape 4"/>
            <p:cNvSpPr>
              <a:spLocks noChangeArrowheads="1"/>
            </p:cNvSpPr>
            <p:nvPr/>
          </p:nvSpPr>
          <p:spPr bwMode="auto">
            <a:xfrm>
              <a:off x="3733800" y="2209800"/>
              <a:ext cx="1676400" cy="1524000"/>
            </a:xfrm>
            <a:prstGeom prst="diamond">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86" name="Text Box 5"/>
            <p:cNvSpPr txBox="1">
              <a:spLocks noChangeArrowheads="1"/>
            </p:cNvSpPr>
            <p:nvPr/>
          </p:nvSpPr>
          <p:spPr bwMode="auto">
            <a:xfrm>
              <a:off x="3692236" y="2718955"/>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800" i="1" dirty="0"/>
                <a:t>Relationship name</a:t>
              </a:r>
            </a:p>
          </p:txBody>
        </p:sp>
        <p:sp>
          <p:nvSpPr>
            <p:cNvPr id="14" name="Text Box 5"/>
            <p:cNvSpPr txBox="1">
              <a:spLocks noChangeArrowheads="1"/>
            </p:cNvSpPr>
            <p:nvPr/>
          </p:nvSpPr>
          <p:spPr bwMode="auto">
            <a:xfrm>
              <a:off x="7045036" y="2435423"/>
              <a:ext cx="1752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400" i="1" dirty="0"/>
                <a:t>Relationship name</a:t>
              </a:r>
            </a:p>
          </p:txBody>
        </p:sp>
      </p:grpSp>
      <p:grpSp>
        <p:nvGrpSpPr>
          <p:cNvPr id="3" name="Group 2"/>
          <p:cNvGrpSpPr/>
          <p:nvPr/>
        </p:nvGrpSpPr>
        <p:grpSpPr>
          <a:xfrm>
            <a:off x="6629400" y="4191000"/>
            <a:ext cx="1752600" cy="1524000"/>
            <a:chOff x="5659582" y="3886200"/>
            <a:chExt cx="1752600" cy="1524000"/>
          </a:xfrm>
        </p:grpSpPr>
        <p:sp>
          <p:nvSpPr>
            <p:cNvPr id="20487" name="AutoShape 6"/>
            <p:cNvSpPr>
              <a:spLocks noChangeArrowheads="1"/>
            </p:cNvSpPr>
            <p:nvPr/>
          </p:nvSpPr>
          <p:spPr bwMode="auto">
            <a:xfrm>
              <a:off x="5715000" y="3886200"/>
              <a:ext cx="1676400" cy="1524000"/>
            </a:xfrm>
            <a:prstGeom prst="diamond">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88" name="Text Box 7"/>
            <p:cNvSpPr txBox="1">
              <a:spLocks noChangeArrowheads="1"/>
            </p:cNvSpPr>
            <p:nvPr/>
          </p:nvSpPr>
          <p:spPr bwMode="auto">
            <a:xfrm>
              <a:off x="5659582" y="4429991"/>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i="1" dirty="0"/>
                <a:t>purchases</a:t>
              </a:r>
            </a:p>
          </p:txBody>
        </p:sp>
      </p:grpSp>
      <p:sp>
        <p:nvSpPr>
          <p:cNvPr id="20489" name="Text Box 8"/>
          <p:cNvSpPr txBox="1">
            <a:spLocks noChangeArrowheads="1"/>
          </p:cNvSpPr>
          <p:nvPr/>
        </p:nvSpPr>
        <p:spPr bwMode="auto">
          <a:xfrm>
            <a:off x="533400" y="6156325"/>
            <a:ext cx="807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400" dirty="0">
                <a:solidFill>
                  <a:srgbClr val="CC0000"/>
                </a:solidFill>
              </a:rPr>
              <a:t>WARNING:</a:t>
            </a:r>
            <a:r>
              <a:rPr lang="en-US" sz="1400" dirty="0"/>
              <a:t> Throughout the class, we will use the term “relationship” to refer to “relationship class”, but you should remember that we are modeling relationship classes ALL THE TIME!</a:t>
            </a:r>
          </a:p>
        </p:txBody>
      </p:sp>
      <p:sp>
        <p:nvSpPr>
          <p:cNvPr id="10" name="Line 6"/>
          <p:cNvSpPr>
            <a:spLocks noChangeShapeType="1"/>
          </p:cNvSpPr>
          <p:nvPr/>
        </p:nvSpPr>
        <p:spPr bwMode="auto">
          <a:xfrm>
            <a:off x="5181600" y="2715491"/>
            <a:ext cx="2514600" cy="346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 name="TextBox 15"/>
          <p:cNvSpPr txBox="1"/>
          <p:nvPr/>
        </p:nvSpPr>
        <p:spPr>
          <a:xfrm>
            <a:off x="2971800" y="3364468"/>
            <a:ext cx="1787669" cy="369332"/>
          </a:xfrm>
          <a:prstGeom prst="rect">
            <a:avLst/>
          </a:prstGeom>
          <a:noFill/>
        </p:spPr>
        <p:txBody>
          <a:bodyPr wrap="none" rtlCol="0">
            <a:spAutoFit/>
          </a:bodyPr>
          <a:lstStyle/>
          <a:p>
            <a:r>
              <a:rPr lang="en-US" dirty="0">
                <a:solidFill>
                  <a:srgbClr val="FF0000"/>
                </a:solidFill>
              </a:rPr>
              <a:t>Original version</a:t>
            </a:r>
          </a:p>
        </p:txBody>
      </p:sp>
      <p:sp>
        <p:nvSpPr>
          <p:cNvPr id="17" name="TextBox 16"/>
          <p:cNvSpPr txBox="1"/>
          <p:nvPr/>
        </p:nvSpPr>
        <p:spPr>
          <a:xfrm>
            <a:off x="6438900" y="2971800"/>
            <a:ext cx="1334661" cy="369332"/>
          </a:xfrm>
          <a:prstGeom prst="rect">
            <a:avLst/>
          </a:prstGeom>
          <a:noFill/>
        </p:spPr>
        <p:txBody>
          <a:bodyPr wrap="none" rtlCol="0">
            <a:spAutoFit/>
          </a:bodyPr>
          <a:lstStyle/>
          <a:p>
            <a:r>
              <a:rPr lang="en-US" dirty="0">
                <a:solidFill>
                  <a:srgbClr val="FF0000"/>
                </a:solidFill>
              </a:rPr>
              <a:t>Crow’s foot</a:t>
            </a:r>
          </a:p>
        </p:txBody>
      </p:sp>
    </p:spTree>
    <p:extLst>
      <p:ext uri="{BB962C8B-B14F-4D97-AF65-F5344CB8AC3E}">
        <p14:creationId xmlns:p14="http://schemas.microsoft.com/office/powerpoint/2010/main" val="2091471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762000" y="0"/>
            <a:ext cx="7772400" cy="1143000"/>
          </a:xfrm>
        </p:spPr>
        <p:txBody>
          <a:bodyPr/>
          <a:lstStyle/>
          <a:p>
            <a:pPr eaLnBrk="1" hangingPunct="1"/>
            <a:r>
              <a:rPr lang="en-US" sz="4000" b="1">
                <a:solidFill>
                  <a:srgbClr val="FFFF00"/>
                </a:solidFill>
              </a:rPr>
              <a:t>ER Modeling: Attributes</a:t>
            </a:r>
          </a:p>
        </p:txBody>
      </p:sp>
      <p:sp>
        <p:nvSpPr>
          <p:cNvPr id="79875" name="Rectangle 3" descr="Rectangle: Click to edit Master text styles&#10;Second level&#10;Third level&#10;Fourth level&#10;Fifth level"/>
          <p:cNvSpPr>
            <a:spLocks noGrp="1" noChangeArrowheads="1"/>
          </p:cNvSpPr>
          <p:nvPr>
            <p:ph type="body" idx="1"/>
          </p:nvPr>
        </p:nvSpPr>
        <p:spPr>
          <a:xfrm>
            <a:off x="457200" y="1143000"/>
            <a:ext cx="8001000" cy="4114800"/>
          </a:xfrm>
        </p:spPr>
        <p:txBody>
          <a:bodyPr/>
          <a:lstStyle/>
          <a:p>
            <a:pPr marL="609600" indent="-609600" eaLnBrk="1" hangingPunct="1"/>
            <a:r>
              <a:rPr lang="en-US" sz="2000" dirty="0">
                <a:latin typeface="Arial" panose="020B0604020202020204" pitchFamily="34" charset="0"/>
                <a:cs typeface="Arial" panose="020B0604020202020204" pitchFamily="34" charset="0"/>
              </a:rPr>
              <a:t>Definition</a:t>
            </a:r>
          </a:p>
          <a:p>
            <a:pPr marL="990600" lvl="1" indent="-533400" eaLnBrk="1" hangingPunct="1"/>
            <a:r>
              <a:rPr lang="en-US" sz="2000" dirty="0">
                <a:latin typeface="Arial" panose="020B0604020202020204" pitchFamily="34" charset="0"/>
                <a:cs typeface="Arial" panose="020B0604020202020204" pitchFamily="34" charset="0"/>
              </a:rPr>
              <a:t>A property or characteristic of an entity type </a:t>
            </a:r>
            <a:r>
              <a:rPr lang="en-US" sz="2000" dirty="0">
                <a:solidFill>
                  <a:srgbClr val="FF0000"/>
                </a:solidFill>
                <a:latin typeface="Arial" panose="020B0604020202020204" pitchFamily="34" charset="0"/>
                <a:cs typeface="Arial" panose="020B0604020202020204" pitchFamily="34" charset="0"/>
              </a:rPr>
              <a:t>or</a:t>
            </a:r>
            <a:r>
              <a:rPr lang="en-US" sz="2000" dirty="0">
                <a:latin typeface="Arial" panose="020B0604020202020204" pitchFamily="34" charset="0"/>
                <a:cs typeface="Arial" panose="020B0604020202020204" pitchFamily="34" charset="0"/>
              </a:rPr>
              <a:t> relationship classes</a:t>
            </a:r>
          </a:p>
          <a:p>
            <a:pPr marL="990600" lvl="1" indent="-533400" eaLnBrk="1" hangingPunct="1"/>
            <a:r>
              <a:rPr lang="en-US" sz="2000" dirty="0">
                <a:latin typeface="Arial" panose="020B0604020202020204" pitchFamily="34" charset="0"/>
                <a:cs typeface="Arial" panose="020B0604020202020204" pitchFamily="34" charset="0"/>
              </a:rPr>
              <a:t>Notice that attribute is associated with </a:t>
            </a:r>
            <a:r>
              <a:rPr lang="en-US" sz="2000" i="1" dirty="0">
                <a:latin typeface="Arial" panose="020B0604020202020204" pitchFamily="34" charset="0"/>
                <a:cs typeface="Arial" panose="020B0604020202020204" pitchFamily="34" charset="0"/>
              </a:rPr>
              <a:t>classes</a:t>
            </a:r>
            <a:r>
              <a:rPr lang="en-US" sz="2000" dirty="0">
                <a:latin typeface="Arial" panose="020B0604020202020204" pitchFamily="34" charset="0"/>
                <a:cs typeface="Arial" panose="020B0604020202020204" pitchFamily="34" charset="0"/>
              </a:rPr>
              <a:t>, not </a:t>
            </a:r>
            <a:r>
              <a:rPr lang="en-US" sz="2000" i="1" dirty="0">
                <a:latin typeface="Arial" panose="020B0604020202020204" pitchFamily="34" charset="0"/>
                <a:cs typeface="Arial" panose="020B0604020202020204" pitchFamily="34" charset="0"/>
              </a:rPr>
              <a:t>instances </a:t>
            </a:r>
          </a:p>
          <a:p>
            <a:pPr marL="609600" indent="-609600" eaLnBrk="1" hangingPunct="1"/>
            <a:endParaRPr lang="en-US" sz="2000" dirty="0">
              <a:latin typeface="Arial" panose="020B0604020202020204" pitchFamily="34" charset="0"/>
              <a:cs typeface="Arial" panose="020B0604020202020204" pitchFamily="34" charset="0"/>
            </a:endParaRPr>
          </a:p>
          <a:p>
            <a:pPr marL="609600" indent="-609600" eaLnBrk="1" hangingPunct="1"/>
            <a:r>
              <a:rPr lang="en-US" sz="2000" dirty="0">
                <a:latin typeface="Arial" panose="020B0604020202020204" pitchFamily="34" charset="0"/>
                <a:cs typeface="Arial" panose="020B0604020202020204" pitchFamily="34" charset="0"/>
              </a:rPr>
              <a:t>Attributes examples in bookstore database</a:t>
            </a:r>
          </a:p>
          <a:p>
            <a:pPr marL="990600" lvl="1" indent="-533400" eaLnBrk="1" hangingPunct="1"/>
            <a:r>
              <a:rPr lang="en-US" sz="2000" dirty="0">
                <a:latin typeface="Arial" panose="020B0604020202020204" pitchFamily="34" charset="0"/>
                <a:cs typeface="Arial" panose="020B0604020202020204" pitchFamily="34" charset="0"/>
              </a:rPr>
              <a:t>What attributes does the entity class “student” have? </a:t>
            </a:r>
          </a:p>
          <a:p>
            <a:pPr marL="1371600" lvl="2" indent="-457200" eaLnBrk="1" hangingPunct="1"/>
            <a:r>
              <a:rPr lang="en-US" sz="2000" dirty="0">
                <a:latin typeface="Arial" panose="020B0604020202020204" pitchFamily="34" charset="0"/>
                <a:cs typeface="Arial" panose="020B0604020202020204" pitchFamily="34" charset="0"/>
              </a:rPr>
              <a:t>Name, ID, address, phone numbers</a:t>
            </a:r>
          </a:p>
          <a:p>
            <a:pPr marL="990600" lvl="1" indent="-533400" eaLnBrk="1" hangingPunct="1"/>
            <a:r>
              <a:rPr lang="en-US" sz="2000" dirty="0">
                <a:latin typeface="Arial" panose="020B0604020202020204" pitchFamily="34" charset="0"/>
                <a:cs typeface="Arial" panose="020B0604020202020204" pitchFamily="34" charset="0"/>
              </a:rPr>
              <a:t>What attributes does the </a:t>
            </a:r>
            <a:r>
              <a:rPr lang="en-US" sz="2000" dirty="0">
                <a:solidFill>
                  <a:srgbClr val="FF0000"/>
                </a:solidFill>
                <a:latin typeface="Arial" panose="020B0604020202020204" pitchFamily="34" charset="0"/>
                <a:cs typeface="Arial" panose="020B0604020202020204" pitchFamily="34" charset="0"/>
              </a:rPr>
              <a:t>relationship</a:t>
            </a:r>
            <a:r>
              <a:rPr lang="en-US" sz="2000" dirty="0">
                <a:latin typeface="Arial" panose="020B0604020202020204" pitchFamily="34" charset="0"/>
                <a:cs typeface="Arial" panose="020B0604020202020204" pitchFamily="34" charset="0"/>
              </a:rPr>
              <a:t> class “purchase” have?</a:t>
            </a:r>
          </a:p>
          <a:p>
            <a:pPr marL="1371600" lvl="2" indent="-457200" eaLnBrk="1" hangingPunct="1"/>
            <a:r>
              <a:rPr lang="en-US" sz="2000" dirty="0">
                <a:latin typeface="Arial" panose="020B0604020202020204" pitchFamily="34" charset="0"/>
                <a:cs typeface="Arial" panose="020B0604020202020204" pitchFamily="34" charset="0"/>
              </a:rPr>
              <a:t>Date, discount type, purchase price, number of copies purchased</a:t>
            </a:r>
          </a:p>
        </p:txBody>
      </p:sp>
    </p:spTree>
    <p:extLst>
      <p:ext uri="{BB962C8B-B14F-4D97-AF65-F5344CB8AC3E}">
        <p14:creationId xmlns:p14="http://schemas.microsoft.com/office/powerpoint/2010/main" val="2549203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762000" y="0"/>
            <a:ext cx="7772400" cy="1143000"/>
          </a:xfrm>
        </p:spPr>
        <p:txBody>
          <a:bodyPr/>
          <a:lstStyle/>
          <a:p>
            <a:pPr eaLnBrk="1" hangingPunct="1"/>
            <a:r>
              <a:rPr lang="en-US" sz="4000" b="1">
                <a:solidFill>
                  <a:srgbClr val="FFFF00"/>
                </a:solidFill>
              </a:rPr>
              <a:t>ER Modeling: Attributes</a:t>
            </a:r>
          </a:p>
        </p:txBody>
      </p:sp>
      <p:sp>
        <p:nvSpPr>
          <p:cNvPr id="79875" name="Rectangle 3" descr="Rectangle: Click to edit Master text styles&#10;Second level&#10;Third level&#10;Fourth level&#10;Fifth level"/>
          <p:cNvSpPr>
            <a:spLocks noGrp="1" noChangeArrowheads="1"/>
          </p:cNvSpPr>
          <p:nvPr>
            <p:ph type="body" idx="1"/>
          </p:nvPr>
        </p:nvSpPr>
        <p:spPr>
          <a:xfrm>
            <a:off x="533400" y="1371600"/>
            <a:ext cx="8001000" cy="4114800"/>
          </a:xfrm>
        </p:spPr>
        <p:txBody>
          <a:bodyPr/>
          <a:lstStyle/>
          <a:p>
            <a:pPr marL="609600" indent="-609600" eaLnBrk="1" hangingPunct="1"/>
            <a:r>
              <a:rPr lang="en-US" sz="2400" dirty="0">
                <a:latin typeface="Arial" panose="020B0604020202020204" pitchFamily="34" charset="0"/>
                <a:cs typeface="Arial" panose="020B0604020202020204" pitchFamily="34" charset="0"/>
              </a:rPr>
              <a:t>Attributes have </a:t>
            </a:r>
            <a:r>
              <a:rPr lang="en-US" sz="2400" dirty="0">
                <a:solidFill>
                  <a:srgbClr val="FF0000"/>
                </a:solidFill>
                <a:latin typeface="Arial" panose="020B0604020202020204" pitchFamily="34" charset="0"/>
                <a:cs typeface="Arial" panose="020B0604020202020204" pitchFamily="34" charset="0"/>
              </a:rPr>
              <a:t>domains</a:t>
            </a:r>
          </a:p>
          <a:p>
            <a:pPr lvl="1">
              <a:buClr>
                <a:srgbClr val="602162"/>
              </a:buClr>
              <a:buSzPct val="70000"/>
              <a:buFont typeface="Arial" pitchFamily="34" charset="0"/>
              <a:buChar char="–"/>
            </a:pPr>
            <a:r>
              <a:rPr lang="en-US" sz="2400" dirty="0">
                <a:solidFill>
                  <a:srgbClr val="000000"/>
                </a:solidFill>
                <a:latin typeface="Arial" pitchFamily="34" charset="0"/>
                <a:cs typeface="Arial" panose="020B0604020202020204" pitchFamily="34" charset="0"/>
              </a:rPr>
              <a:t>The </a:t>
            </a:r>
            <a:r>
              <a:rPr lang="en-US" sz="2400" dirty="0">
                <a:solidFill>
                  <a:srgbClr val="FF0000"/>
                </a:solidFill>
                <a:latin typeface="Arial" pitchFamily="34" charset="0"/>
                <a:cs typeface="Arial" panose="020B0604020202020204" pitchFamily="34" charset="0"/>
              </a:rPr>
              <a:t>domain</a:t>
            </a:r>
            <a:r>
              <a:rPr lang="en-US" sz="2400" dirty="0">
                <a:solidFill>
                  <a:srgbClr val="000000"/>
                </a:solidFill>
                <a:latin typeface="Arial" pitchFamily="34" charset="0"/>
                <a:cs typeface="Arial" panose="020B0604020202020204" pitchFamily="34" charset="0"/>
              </a:rPr>
              <a:t> is the attribute's set of possible values.</a:t>
            </a:r>
          </a:p>
          <a:p>
            <a:pPr lvl="1">
              <a:buClr>
                <a:srgbClr val="602162"/>
              </a:buClr>
              <a:buSzPct val="70000"/>
              <a:buFont typeface="Arial" pitchFamily="34" charset="0"/>
              <a:buChar char="–"/>
            </a:pPr>
            <a:endParaRPr lang="en-US" sz="2400" dirty="0">
              <a:solidFill>
                <a:srgbClr val="000000"/>
              </a:solidFill>
              <a:latin typeface="Arial" pitchFamily="34" charset="0"/>
              <a:cs typeface="Arial" panose="020B0604020202020204" pitchFamily="34" charset="0"/>
            </a:endParaRPr>
          </a:p>
          <a:p>
            <a:pPr lvl="1">
              <a:buClr>
                <a:srgbClr val="602162"/>
              </a:buClr>
              <a:buSzPct val="70000"/>
              <a:buFont typeface="Arial" pitchFamily="34" charset="0"/>
              <a:buChar char="–"/>
            </a:pPr>
            <a:r>
              <a:rPr lang="en-US" sz="2400" dirty="0">
                <a:solidFill>
                  <a:srgbClr val="000000"/>
                </a:solidFill>
                <a:latin typeface="Arial" pitchFamily="34" charset="0"/>
                <a:cs typeface="Arial" panose="020B0604020202020204" pitchFamily="34" charset="0"/>
              </a:rPr>
              <a:t>The domain of the attribute "Grade Point Average" is a real number between 0.0 and 4.0</a:t>
            </a:r>
          </a:p>
          <a:p>
            <a:pPr lvl="1">
              <a:buClr>
                <a:srgbClr val="602162"/>
              </a:buClr>
              <a:buSzPct val="70000"/>
              <a:buFont typeface="Arial" pitchFamily="34" charset="0"/>
              <a:buChar char="–"/>
            </a:pPr>
            <a:endParaRPr lang="en-US" sz="2400" dirty="0">
              <a:solidFill>
                <a:srgbClr val="000000"/>
              </a:solidFill>
              <a:latin typeface="Arial" pitchFamily="34" charset="0"/>
              <a:cs typeface="Arial" panose="020B0604020202020204" pitchFamily="34" charset="0"/>
            </a:endParaRPr>
          </a:p>
          <a:p>
            <a:pPr lvl="1">
              <a:buClr>
                <a:srgbClr val="602162"/>
              </a:buClr>
              <a:buSzPct val="70000"/>
              <a:buFont typeface="Arial" pitchFamily="34" charset="0"/>
              <a:buChar char="–"/>
            </a:pPr>
            <a:r>
              <a:rPr lang="en-US" sz="2400" dirty="0">
                <a:solidFill>
                  <a:srgbClr val="000000"/>
                </a:solidFill>
                <a:latin typeface="Arial" pitchFamily="34" charset="0"/>
                <a:cs typeface="Arial" panose="020B0604020202020204" pitchFamily="34" charset="0"/>
              </a:rPr>
              <a:t>The domain of the attribute “Sex" contains </a:t>
            </a:r>
            <a:r>
              <a:rPr lang="en-US" sz="2400">
                <a:solidFill>
                  <a:srgbClr val="000000"/>
                </a:solidFill>
                <a:latin typeface="Arial" pitchFamily="34" charset="0"/>
                <a:cs typeface="Arial" panose="020B0604020202020204" pitchFamily="34" charset="0"/>
              </a:rPr>
              <a:t>Male and </a:t>
            </a:r>
            <a:r>
              <a:rPr lang="en-US" sz="2400" dirty="0">
                <a:solidFill>
                  <a:srgbClr val="000000"/>
                </a:solidFill>
                <a:latin typeface="Arial" pitchFamily="34" charset="0"/>
                <a:cs typeface="Arial" panose="020B0604020202020204" pitchFamily="34" charset="0"/>
              </a:rPr>
              <a:t>Female --- however…</a:t>
            </a:r>
          </a:p>
          <a:p>
            <a:pPr lvl="1">
              <a:buClr>
                <a:srgbClr val="602162"/>
              </a:buClr>
              <a:buSzPct val="70000"/>
              <a:buFont typeface="Arial" pitchFamily="34" charset="0"/>
              <a:buChar char="–"/>
            </a:pPr>
            <a:endParaRPr lang="en-US" sz="2400" dirty="0">
              <a:solidFill>
                <a:srgbClr val="000000"/>
              </a:solidFill>
              <a:latin typeface="Arial" pitchFamily="34" charset="0"/>
              <a:cs typeface="Arial" panose="020B0604020202020204" pitchFamily="34" charset="0"/>
            </a:endParaRPr>
          </a:p>
          <a:p>
            <a:pPr lvl="1">
              <a:buClr>
                <a:srgbClr val="602162"/>
              </a:buClr>
              <a:buSzPct val="70000"/>
              <a:buFont typeface="Arial" pitchFamily="34" charset="0"/>
              <a:buChar char="–"/>
            </a:pPr>
            <a:r>
              <a:rPr lang="en-US" sz="2400" dirty="0">
                <a:solidFill>
                  <a:srgbClr val="000000"/>
                </a:solidFill>
                <a:latin typeface="Arial" pitchFamily="34" charset="0"/>
                <a:cs typeface="Arial" panose="020B0604020202020204" pitchFamily="34" charset="0"/>
              </a:rPr>
              <a:t>The domain of the attribute “birth date” in a customer database?</a:t>
            </a:r>
          </a:p>
          <a:p>
            <a:pPr marL="609600" indent="-609600" eaLnBrk="1" hangingPunct="1"/>
            <a:endParaRPr lang="en-US" sz="18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30483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09600" y="10391"/>
            <a:ext cx="7772400" cy="1143000"/>
          </a:xfrm>
        </p:spPr>
        <p:txBody>
          <a:bodyPr/>
          <a:lstStyle/>
          <a:p>
            <a:pPr eaLnBrk="1" hangingPunct="1"/>
            <a:r>
              <a:rPr lang="en-US" sz="4000" b="1" dirty="0">
                <a:solidFill>
                  <a:srgbClr val="FFFF00"/>
                </a:solidFill>
                <a:effectLst>
                  <a:outerShdw blurRad="38100" dist="38100" dir="2700000" algn="tl">
                    <a:srgbClr val="000000">
                      <a:alpha val="43137"/>
                    </a:srgbClr>
                  </a:outerShdw>
                </a:effectLst>
              </a:rPr>
              <a:t>ER Modeling: Attributes</a:t>
            </a:r>
          </a:p>
        </p:txBody>
      </p:sp>
      <p:sp>
        <p:nvSpPr>
          <p:cNvPr id="80899" name="Rectangle 3" descr="Rectangle: Click to edit Master text styles&#10;Second level&#10;Third level&#10;Fourth level&#10;Fifth level"/>
          <p:cNvSpPr>
            <a:spLocks noGrp="1" noChangeArrowheads="1"/>
          </p:cNvSpPr>
          <p:nvPr>
            <p:ph type="body" idx="1"/>
          </p:nvPr>
        </p:nvSpPr>
        <p:spPr>
          <a:xfrm>
            <a:off x="762000" y="1905000"/>
            <a:ext cx="8001000" cy="4114800"/>
          </a:xfrm>
        </p:spPr>
        <p:txBody>
          <a:bodyPr/>
          <a:lstStyle/>
          <a:p>
            <a:pPr marL="609600" indent="-609600" eaLnBrk="1" hangingPunct="1"/>
            <a:r>
              <a:rPr lang="en-US" sz="2400" b="1" dirty="0">
                <a:latin typeface="Arial" panose="020B0604020202020204" pitchFamily="34" charset="0"/>
                <a:cs typeface="Arial" panose="020B0604020202020204" pitchFamily="34" charset="0"/>
              </a:rPr>
              <a:t>Notation (original style):</a:t>
            </a:r>
          </a:p>
          <a:p>
            <a:pPr marL="609600" indent="-609600" eaLnBrk="1" hangingPunct="1"/>
            <a:endParaRPr lang="en-US" sz="2400" b="1" dirty="0">
              <a:latin typeface="Arial" panose="020B0604020202020204" pitchFamily="34" charset="0"/>
              <a:cs typeface="Arial" panose="020B0604020202020204" pitchFamily="34" charset="0"/>
            </a:endParaRPr>
          </a:p>
          <a:p>
            <a:pPr marL="609600" indent="-609600" eaLnBrk="1" hangingPunct="1"/>
            <a:endParaRPr lang="en-US" sz="2400" b="1" dirty="0">
              <a:latin typeface="Arial" panose="020B0604020202020204" pitchFamily="34" charset="0"/>
              <a:cs typeface="Arial" panose="020B0604020202020204" pitchFamily="34" charset="0"/>
            </a:endParaRPr>
          </a:p>
          <a:p>
            <a:pPr marL="609600" indent="-609600" eaLnBrk="1" hangingPunct="1"/>
            <a:endParaRPr lang="en-US" sz="2400" b="1" dirty="0">
              <a:latin typeface="Arial" panose="020B0604020202020204" pitchFamily="34" charset="0"/>
              <a:cs typeface="Arial" panose="020B0604020202020204" pitchFamily="34" charset="0"/>
            </a:endParaRPr>
          </a:p>
          <a:p>
            <a:pPr marL="609600" indent="-609600" eaLnBrk="1" hangingPunct="1"/>
            <a:r>
              <a:rPr lang="en-US" sz="2400" b="1" dirty="0">
                <a:latin typeface="Arial" panose="020B0604020202020204" pitchFamily="34" charset="0"/>
                <a:cs typeface="Arial" panose="020B0604020202020204" pitchFamily="34" charset="0"/>
              </a:rPr>
              <a:t>Notation (Visio / crow’s foot style):</a:t>
            </a:r>
          </a:p>
          <a:p>
            <a:pPr marL="609600" indent="-609600" eaLnBrk="1" hangingPunct="1"/>
            <a:endParaRPr lang="en-US" sz="2400" dirty="0">
              <a:latin typeface="Arial" panose="020B0604020202020204" pitchFamily="34" charset="0"/>
              <a:cs typeface="Arial" panose="020B0604020202020204" pitchFamily="34" charset="0"/>
            </a:endParaRPr>
          </a:p>
          <a:p>
            <a:pPr marL="609600" indent="-609600" eaLnBrk="1" hangingPunct="1"/>
            <a:endParaRPr lang="en-US" sz="2400" dirty="0"/>
          </a:p>
        </p:txBody>
      </p:sp>
      <p:sp>
        <p:nvSpPr>
          <p:cNvPr id="22533" name="Oval 4"/>
          <p:cNvSpPr>
            <a:spLocks noChangeArrowheads="1"/>
          </p:cNvSpPr>
          <p:nvPr/>
        </p:nvSpPr>
        <p:spPr bwMode="auto">
          <a:xfrm>
            <a:off x="2133600" y="2743200"/>
            <a:ext cx="2133600" cy="685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34" name="Text Box 5"/>
          <p:cNvSpPr txBox="1">
            <a:spLocks noChangeArrowheads="1"/>
          </p:cNvSpPr>
          <p:nvPr/>
        </p:nvSpPr>
        <p:spPr bwMode="auto">
          <a:xfrm>
            <a:off x="2133600" y="28956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i="1" dirty="0"/>
              <a:t>Attribute</a:t>
            </a:r>
          </a:p>
        </p:txBody>
      </p:sp>
      <p:sp>
        <p:nvSpPr>
          <p:cNvPr id="22535" name="Line 6"/>
          <p:cNvSpPr>
            <a:spLocks noChangeShapeType="1"/>
          </p:cNvSpPr>
          <p:nvPr/>
        </p:nvSpPr>
        <p:spPr bwMode="auto">
          <a:xfrm>
            <a:off x="4267200" y="3124200"/>
            <a:ext cx="762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536" name="Rectangle 7"/>
          <p:cNvSpPr>
            <a:spLocks noChangeArrowheads="1"/>
          </p:cNvSpPr>
          <p:nvPr/>
        </p:nvSpPr>
        <p:spPr bwMode="auto">
          <a:xfrm>
            <a:off x="5029200" y="2667000"/>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37" name="Text Box 8"/>
          <p:cNvSpPr txBox="1">
            <a:spLocks noChangeArrowheads="1"/>
          </p:cNvSpPr>
          <p:nvPr/>
        </p:nvSpPr>
        <p:spPr bwMode="auto">
          <a:xfrm>
            <a:off x="5334000" y="2895600"/>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dirty="0"/>
              <a:t>ENTITY</a:t>
            </a:r>
          </a:p>
        </p:txBody>
      </p:sp>
      <p:sp>
        <p:nvSpPr>
          <p:cNvPr id="20" name="Rectangle 7"/>
          <p:cNvSpPr>
            <a:spLocks noChangeArrowheads="1"/>
          </p:cNvSpPr>
          <p:nvPr/>
        </p:nvSpPr>
        <p:spPr bwMode="auto">
          <a:xfrm>
            <a:off x="2209800" y="4952999"/>
            <a:ext cx="2209800" cy="176645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 name="Rectangle 1"/>
          <p:cNvSpPr/>
          <p:nvPr/>
        </p:nvSpPr>
        <p:spPr>
          <a:xfrm>
            <a:off x="2194997" y="4560699"/>
            <a:ext cx="1098378" cy="400110"/>
          </a:xfrm>
          <a:prstGeom prst="rect">
            <a:avLst/>
          </a:prstGeom>
        </p:spPr>
        <p:txBody>
          <a:bodyPr wrap="none">
            <a:spAutoFit/>
          </a:bodyPr>
          <a:lstStyle/>
          <a:p>
            <a:r>
              <a:rPr lang="en-US" sz="2000" b="1" dirty="0"/>
              <a:t>ENTITY</a:t>
            </a:r>
          </a:p>
        </p:txBody>
      </p:sp>
      <p:cxnSp>
        <p:nvCxnSpPr>
          <p:cNvPr id="4" name="Straight Connector 3"/>
          <p:cNvCxnSpPr/>
          <p:nvPr/>
        </p:nvCxnSpPr>
        <p:spPr>
          <a:xfrm>
            <a:off x="2223655" y="5410200"/>
            <a:ext cx="2209800"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 Box 5"/>
          <p:cNvSpPr txBox="1">
            <a:spLocks noChangeArrowheads="1"/>
          </p:cNvSpPr>
          <p:nvPr/>
        </p:nvSpPr>
        <p:spPr bwMode="auto">
          <a:xfrm>
            <a:off x="2209800" y="54102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i="1" dirty="0"/>
              <a:t>Other Attributes</a:t>
            </a:r>
          </a:p>
        </p:txBody>
      </p:sp>
      <p:sp>
        <p:nvSpPr>
          <p:cNvPr id="25" name="Text Box 5"/>
          <p:cNvSpPr txBox="1">
            <a:spLocks noChangeArrowheads="1"/>
          </p:cNvSpPr>
          <p:nvPr/>
        </p:nvSpPr>
        <p:spPr bwMode="auto">
          <a:xfrm>
            <a:off x="2237509" y="4952999"/>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b="1" i="1" dirty="0"/>
              <a:t>Identifier</a:t>
            </a:r>
          </a:p>
        </p:txBody>
      </p:sp>
    </p:spTree>
    <p:extLst>
      <p:ext uri="{BB962C8B-B14F-4D97-AF65-F5344CB8AC3E}">
        <p14:creationId xmlns:p14="http://schemas.microsoft.com/office/powerpoint/2010/main" val="2752313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09600" y="10391"/>
            <a:ext cx="7772400" cy="1143000"/>
          </a:xfrm>
        </p:spPr>
        <p:txBody>
          <a:bodyPr/>
          <a:lstStyle/>
          <a:p>
            <a:pPr eaLnBrk="1" hangingPunct="1"/>
            <a:r>
              <a:rPr lang="en-US" sz="4000" b="1" dirty="0">
                <a:solidFill>
                  <a:srgbClr val="FFFF00"/>
                </a:solidFill>
                <a:effectLst>
                  <a:outerShdw blurRad="38100" dist="38100" dir="2700000" algn="tl">
                    <a:srgbClr val="000000">
                      <a:alpha val="43137"/>
                    </a:srgbClr>
                  </a:outerShdw>
                </a:effectLst>
              </a:rPr>
              <a:t>ER Modeling: Attributes</a:t>
            </a:r>
          </a:p>
        </p:txBody>
      </p:sp>
      <p:pic>
        <p:nvPicPr>
          <p:cNvPr id="14" name="Picture 5" descr="Fig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447800"/>
            <a:ext cx="7696200" cy="3209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945573" y="5057745"/>
            <a:ext cx="7436427" cy="400110"/>
          </a:xfrm>
          <a:prstGeom prst="rect">
            <a:avLst/>
          </a:prstGeom>
        </p:spPr>
        <p:txBody>
          <a:bodyPr wrap="square">
            <a:spAutoFit/>
          </a:bodyPr>
          <a:lstStyle/>
          <a:p>
            <a:pPr marL="533400" indent="-533400"/>
            <a:r>
              <a:rPr lang="en-US" sz="2000" dirty="0">
                <a:latin typeface="Arial" panose="020B0604020202020204" pitchFamily="34" charset="0"/>
                <a:cs typeface="Arial" panose="020B0604020202020204" pitchFamily="34" charset="0"/>
              </a:rPr>
              <a:t>We will use style “b” for homework assignments</a:t>
            </a:r>
          </a:p>
        </p:txBody>
      </p:sp>
    </p:spTree>
    <p:extLst>
      <p:ext uri="{BB962C8B-B14F-4D97-AF65-F5344CB8AC3E}">
        <p14:creationId xmlns:p14="http://schemas.microsoft.com/office/powerpoint/2010/main" val="1995248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09600" y="10391"/>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Attributes: Identifiers</a:t>
            </a:r>
          </a:p>
        </p:txBody>
      </p:sp>
      <p:sp>
        <p:nvSpPr>
          <p:cNvPr id="21" name="Text Box 7"/>
          <p:cNvSpPr txBox="1">
            <a:spLocks noChangeArrowheads="1"/>
          </p:cNvSpPr>
          <p:nvPr/>
        </p:nvSpPr>
        <p:spPr bwMode="auto">
          <a:xfrm>
            <a:off x="223838" y="1371601"/>
            <a:ext cx="8843962"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457200" indent="-457200" defTabSz="514350" eaLnBrk="0" hangingPunct="0">
              <a:defRPr sz="2400">
                <a:solidFill>
                  <a:schemeClr val="tx1"/>
                </a:solidFill>
                <a:latin typeface="Times New Roman" pitchFamily="18" charset="0"/>
              </a:defRPr>
            </a:lvl1pPr>
            <a:lvl2pPr marL="1138238" indent="-681038" defTabSz="514350" eaLnBrk="0" hangingPunct="0">
              <a:defRPr sz="2400">
                <a:solidFill>
                  <a:schemeClr val="tx1"/>
                </a:solidFill>
                <a:latin typeface="Times New Roman" pitchFamily="18" charset="0"/>
              </a:defRPr>
            </a:lvl2pPr>
            <a:lvl3pPr marL="1368425" indent="-454025" defTabSz="514350" eaLnBrk="0" hangingPunct="0">
              <a:defRPr sz="2400">
                <a:solidFill>
                  <a:schemeClr val="tx1"/>
                </a:solidFill>
                <a:latin typeface="Times New Roman" pitchFamily="18" charset="0"/>
              </a:defRPr>
            </a:lvl3pPr>
            <a:lvl4pPr marL="1600200" indent="-228600" defTabSz="514350" eaLnBrk="0" hangingPunct="0">
              <a:defRPr sz="2400">
                <a:solidFill>
                  <a:schemeClr val="tx1"/>
                </a:solidFill>
                <a:latin typeface="Times New Roman" pitchFamily="18" charset="0"/>
              </a:defRPr>
            </a:lvl4pPr>
            <a:lvl5pPr marL="2057400" indent="-228600" defTabSz="514350" eaLnBrk="0" hangingPunct="0">
              <a:defRPr sz="2400">
                <a:solidFill>
                  <a:schemeClr val="tx1"/>
                </a:solidFill>
                <a:latin typeface="Times New Roman" pitchFamily="18" charset="0"/>
              </a:defRPr>
            </a:lvl5pPr>
            <a:lvl6pPr marL="2514600" indent="-228600" algn="ctr" defTabSz="514350" eaLnBrk="0" fontAlgn="base" hangingPunct="0">
              <a:spcBef>
                <a:spcPct val="0"/>
              </a:spcBef>
              <a:spcAft>
                <a:spcPct val="0"/>
              </a:spcAft>
              <a:defRPr sz="2400">
                <a:solidFill>
                  <a:schemeClr val="tx1"/>
                </a:solidFill>
                <a:latin typeface="Times New Roman" pitchFamily="18" charset="0"/>
              </a:defRPr>
            </a:lvl6pPr>
            <a:lvl7pPr marL="2971800" indent="-228600" algn="ctr" defTabSz="514350" eaLnBrk="0" fontAlgn="base" hangingPunct="0">
              <a:spcBef>
                <a:spcPct val="0"/>
              </a:spcBef>
              <a:spcAft>
                <a:spcPct val="0"/>
              </a:spcAft>
              <a:defRPr sz="2400">
                <a:solidFill>
                  <a:schemeClr val="tx1"/>
                </a:solidFill>
                <a:latin typeface="Times New Roman" pitchFamily="18" charset="0"/>
              </a:defRPr>
            </a:lvl7pPr>
            <a:lvl8pPr marL="3429000" indent="-228600" algn="ctr" defTabSz="514350" eaLnBrk="0" fontAlgn="base" hangingPunct="0">
              <a:spcBef>
                <a:spcPct val="0"/>
              </a:spcBef>
              <a:spcAft>
                <a:spcPct val="0"/>
              </a:spcAft>
              <a:defRPr sz="2400">
                <a:solidFill>
                  <a:schemeClr val="tx1"/>
                </a:solidFill>
                <a:latin typeface="Times New Roman" pitchFamily="18" charset="0"/>
              </a:defRPr>
            </a:lvl8pPr>
            <a:lvl9pPr marL="3886200" indent="-228600" algn="ctr" defTabSz="514350" eaLnBrk="0" fontAlgn="base" hangingPunct="0">
              <a:spcBef>
                <a:spcPct val="0"/>
              </a:spcBef>
              <a:spcAft>
                <a:spcPct val="0"/>
              </a:spcAft>
              <a:defRPr sz="2400">
                <a:solidFill>
                  <a:schemeClr val="tx1"/>
                </a:solidFill>
                <a:latin typeface="Times New Roman" pitchFamily="18" charset="0"/>
              </a:defRPr>
            </a:lvl9pPr>
          </a:lstStyle>
          <a:p>
            <a:pPr algn="l" eaLnBrk="1" hangingPunct="1">
              <a:buClr>
                <a:schemeClr val="tx1"/>
              </a:buClr>
              <a:buFont typeface="Wingdings" pitchFamily="2" charset="2"/>
              <a:buChar char="§"/>
            </a:pPr>
            <a:r>
              <a:rPr lang="en-US" b="1" dirty="0">
                <a:solidFill>
                  <a:srgbClr val="FF0000"/>
                </a:solidFill>
                <a:latin typeface="Arial" panose="020B0604020202020204" pitchFamily="34" charset="0"/>
                <a:cs typeface="Arial" panose="020B0604020202020204" pitchFamily="34" charset="0"/>
              </a:rPr>
              <a:t>Identifiers</a:t>
            </a:r>
            <a:r>
              <a:rPr lang="en-US"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are attributes that name, or identify, entity instances.</a:t>
            </a:r>
          </a:p>
          <a:p>
            <a:pPr algn="l" eaLnBrk="1" hangingPunct="1">
              <a:buClr>
                <a:schemeClr val="tx1"/>
              </a:buClr>
              <a:buFont typeface="Wingdings" pitchFamily="2" charset="2"/>
              <a:buChar char="§"/>
            </a:pPr>
            <a:endParaRPr lang="en-US" dirty="0">
              <a:latin typeface="Arial" panose="020B0604020202020204" pitchFamily="34" charset="0"/>
              <a:cs typeface="Arial" panose="020B0604020202020204" pitchFamily="34" charset="0"/>
            </a:endParaRPr>
          </a:p>
          <a:p>
            <a:pPr algn="l" eaLnBrk="1" hangingPunct="1">
              <a:buClr>
                <a:schemeClr val="tx1"/>
              </a:buClr>
              <a:buFont typeface="Wingdings" pitchFamily="2" charset="2"/>
              <a:buChar char="§"/>
            </a:pPr>
            <a:r>
              <a:rPr lang="en-US" dirty="0">
                <a:latin typeface="Arial" panose="020B0604020202020204" pitchFamily="34" charset="0"/>
                <a:cs typeface="Arial" panose="020B0604020202020204" pitchFamily="34" charset="0"/>
              </a:rPr>
              <a:t>Identifier could contain one or MORE attributes </a:t>
            </a:r>
            <a:endParaRPr lang="en-US" b="1" dirty="0">
              <a:solidFill>
                <a:srgbClr val="000000"/>
              </a:solidFill>
              <a:latin typeface="Arial" panose="020B0604020202020204" pitchFamily="34" charset="0"/>
              <a:cs typeface="Arial" panose="020B0604020202020204" pitchFamily="34" charset="0"/>
            </a:endParaRPr>
          </a:p>
          <a:p>
            <a:pPr lvl="1" algn="l" eaLnBrk="1" hangingPunct="1">
              <a:buClr>
                <a:srgbClr val="602162"/>
              </a:buClr>
              <a:buSzPct val="90000"/>
              <a:buFont typeface="Wingdings" pitchFamily="2" charset="2"/>
              <a:buChar char="§"/>
            </a:pPr>
            <a:r>
              <a:rPr lang="en-US" i="1" dirty="0">
                <a:solidFill>
                  <a:srgbClr val="000000"/>
                </a:solidFill>
                <a:latin typeface="Arial" panose="020B0604020202020204" pitchFamily="34" charset="0"/>
                <a:cs typeface="Arial" panose="020B0604020202020204" pitchFamily="34" charset="0"/>
              </a:rPr>
              <a:t>For the STUDENT entity class?</a:t>
            </a:r>
            <a:endParaRPr lang="en-US" i="1" dirty="0">
              <a:solidFill>
                <a:srgbClr val="006000"/>
              </a:solidFill>
              <a:latin typeface="Arial" panose="020B0604020202020204" pitchFamily="34" charset="0"/>
              <a:cs typeface="Arial" panose="020B0604020202020204" pitchFamily="34" charset="0"/>
            </a:endParaRPr>
          </a:p>
          <a:p>
            <a:pPr lvl="2" algn="l" eaLnBrk="1" hangingPunct="1">
              <a:spcBef>
                <a:spcPct val="20000"/>
              </a:spcBef>
              <a:buClr>
                <a:srgbClr val="369EFC"/>
              </a:buClr>
              <a:buFont typeface="Wingdings" pitchFamily="2" charset="2"/>
              <a:buChar char="§"/>
            </a:pPr>
            <a:r>
              <a:rPr lang="en-US" b="1" i="1" dirty="0">
                <a:solidFill>
                  <a:srgbClr val="FF0000"/>
                </a:solidFill>
                <a:latin typeface="Arial" panose="020B0604020202020204" pitchFamily="34" charset="0"/>
                <a:cs typeface="Arial" panose="020B0604020202020204" pitchFamily="34" charset="0"/>
              </a:rPr>
              <a:t>Composite identifiers </a:t>
            </a:r>
            <a:r>
              <a:rPr lang="en-US" i="1" dirty="0">
                <a:latin typeface="Arial" panose="020B0604020202020204" pitchFamily="34" charset="0"/>
                <a:cs typeface="Arial" panose="020B0604020202020204" pitchFamily="34" charset="0"/>
              </a:rPr>
              <a:t>are identifiers that </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consist of two or more attributes</a:t>
            </a:r>
          </a:p>
          <a:p>
            <a:pPr marL="1371600" lvl="2" indent="-457200" algn="l" eaLnBrk="1" hangingPunct="1">
              <a:spcBef>
                <a:spcPct val="20000"/>
              </a:spcBef>
              <a:buClr>
                <a:srgbClr val="369EFC"/>
              </a:buClr>
              <a:buFont typeface="Wingdings" pitchFamily="2" charset="2"/>
              <a:buChar char="§"/>
            </a:pPr>
            <a:endParaRPr lang="en-US" b="1" i="1" dirty="0">
              <a:solidFill>
                <a:schemeClr val="tx2"/>
              </a:solidFill>
              <a:latin typeface="Arial" panose="020B0604020202020204" pitchFamily="34" charset="0"/>
              <a:cs typeface="Arial" panose="020B0604020202020204" pitchFamily="34" charset="0"/>
            </a:endParaRPr>
          </a:p>
          <a:p>
            <a:pPr algn="l" eaLnBrk="1" hangingPunct="1">
              <a:buClr>
                <a:srgbClr val="602162"/>
              </a:buClr>
              <a:buSzPct val="90000"/>
              <a:buFont typeface="Wingdings" pitchFamily="2" charset="2"/>
              <a:buChar char="§"/>
            </a:pPr>
            <a:r>
              <a:rPr lang="en-US" u="sng" dirty="0">
                <a:latin typeface="Arial" panose="020B0604020202020204" pitchFamily="34" charset="0"/>
                <a:cs typeface="Arial" panose="020B0604020202020204" pitchFamily="34" charset="0"/>
              </a:rPr>
              <a:t>Sneak Preview: </a:t>
            </a:r>
            <a:r>
              <a:rPr lang="en-US" dirty="0">
                <a:latin typeface="Arial" panose="020B0604020202020204" pitchFamily="34" charset="0"/>
                <a:cs typeface="Arial" panose="020B0604020202020204" pitchFamily="34" charset="0"/>
              </a:rPr>
              <a:t>Identifiers in data models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become ? in database designs</a:t>
            </a:r>
            <a:endParaRPr lang="en-US" i="1"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4105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762000" y="10391"/>
            <a:ext cx="7772400" cy="1143000"/>
          </a:xfrm>
        </p:spPr>
        <p:txBody>
          <a:bodyPr/>
          <a:lstStyle/>
          <a:p>
            <a:pPr eaLnBrk="1" hangingPunct="1"/>
            <a:r>
              <a:rPr lang="en-US" sz="4000" b="1" dirty="0">
                <a:solidFill>
                  <a:srgbClr val="FFFF00"/>
                </a:solidFill>
                <a:effectLst>
                  <a:outerShdw blurRad="38100" dist="38100" dir="2700000" algn="tl">
                    <a:srgbClr val="000000">
                      <a:alpha val="43137"/>
                    </a:srgbClr>
                  </a:outerShdw>
                </a:effectLst>
              </a:rPr>
              <a:t>ER Modeling: Identifiers</a:t>
            </a:r>
          </a:p>
        </p:txBody>
      </p:sp>
      <p:sp>
        <p:nvSpPr>
          <p:cNvPr id="104451" name="Rectangle 3" descr="Rectangle: Click to edit Master text styles&#10;Second level&#10;Third level&#10;Fourth level&#10;Fifth level"/>
          <p:cNvSpPr>
            <a:spLocks noGrp="1" noChangeArrowheads="1"/>
          </p:cNvSpPr>
          <p:nvPr>
            <p:ph type="body" idx="1"/>
          </p:nvPr>
        </p:nvSpPr>
        <p:spPr>
          <a:xfrm>
            <a:off x="647700" y="1447800"/>
            <a:ext cx="8001000" cy="4114800"/>
          </a:xfrm>
        </p:spPr>
        <p:txBody>
          <a:bodyPr/>
          <a:lstStyle/>
          <a:p>
            <a:pPr marL="609600" indent="-609600" eaLnBrk="1" hangingPunct="1"/>
            <a:r>
              <a:rPr lang="en-US" sz="2400" b="1" dirty="0">
                <a:latin typeface="Arial" panose="020B0604020202020204" pitchFamily="34" charset="0"/>
                <a:cs typeface="Arial" panose="020B0604020202020204" pitchFamily="34" charset="0"/>
              </a:rPr>
              <a:t>Practice</a:t>
            </a:r>
            <a:r>
              <a:rPr lang="en-US" sz="2400" dirty="0">
                <a:latin typeface="Arial" panose="020B0604020202020204" pitchFamily="34" charset="0"/>
                <a:cs typeface="Arial" panose="020B0604020202020204" pitchFamily="34" charset="0"/>
              </a:rPr>
              <a:t>:</a:t>
            </a:r>
          </a:p>
          <a:p>
            <a:pPr marL="1371600" lvl="2" indent="-457200" eaLnBrk="1" hangingPunct="1"/>
            <a:endParaRPr lang="en-US" sz="2800" i="1" dirty="0"/>
          </a:p>
        </p:txBody>
      </p:sp>
      <p:sp>
        <p:nvSpPr>
          <p:cNvPr id="25605" name="Text Box 9"/>
          <p:cNvSpPr txBox="1">
            <a:spLocks noChangeArrowheads="1"/>
          </p:cNvSpPr>
          <p:nvPr/>
        </p:nvSpPr>
        <p:spPr bwMode="auto">
          <a:xfrm>
            <a:off x="914400" y="2438400"/>
            <a:ext cx="74676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dirty="0">
                <a:latin typeface="Arial" panose="020B0604020202020204" pitchFamily="34" charset="0"/>
                <a:cs typeface="Arial" panose="020B0604020202020204" pitchFamily="34" charset="0"/>
              </a:rPr>
              <a:t>There are many classrooms in this building. Each room has a </a:t>
            </a:r>
            <a:r>
              <a:rPr lang="en-US" dirty="0">
                <a:solidFill>
                  <a:srgbClr val="CC0000"/>
                </a:solidFill>
                <a:latin typeface="Arial" panose="020B0604020202020204" pitchFamily="34" charset="0"/>
                <a:cs typeface="Arial" panose="020B0604020202020204" pitchFamily="34" charset="0"/>
              </a:rPr>
              <a:t>room number</a:t>
            </a:r>
            <a:r>
              <a:rPr lang="en-US" dirty="0">
                <a:latin typeface="Arial" panose="020B0604020202020204" pitchFamily="34" charset="0"/>
                <a:cs typeface="Arial" panose="020B0604020202020204" pitchFamily="34" charset="0"/>
              </a:rPr>
              <a:t> which is uniquely assigned. </a:t>
            </a:r>
          </a:p>
          <a:p>
            <a:pPr eaLnBrk="1" hangingPunct="1">
              <a:spcBef>
                <a:spcPct val="50000"/>
              </a:spcBef>
            </a:pPr>
            <a:r>
              <a:rPr lang="en-US" dirty="0">
                <a:latin typeface="Arial" panose="020B0604020202020204" pitchFamily="34" charset="0"/>
                <a:cs typeface="Arial" panose="020B0604020202020204" pitchFamily="34" charset="0"/>
              </a:rPr>
              <a:t>Each room has a </a:t>
            </a:r>
            <a:r>
              <a:rPr lang="en-US" dirty="0">
                <a:solidFill>
                  <a:srgbClr val="CC0000"/>
                </a:solidFill>
                <a:latin typeface="Arial" panose="020B0604020202020204" pitchFamily="34" charset="0"/>
                <a:cs typeface="Arial" panose="020B0604020202020204" pitchFamily="34" charset="0"/>
              </a:rPr>
              <a:t>capacity limit</a:t>
            </a:r>
            <a:r>
              <a:rPr lang="en-US" dirty="0">
                <a:latin typeface="Arial" panose="020B0604020202020204" pitchFamily="34" charset="0"/>
                <a:cs typeface="Arial" panose="020B0604020202020204" pitchFamily="34" charset="0"/>
              </a:rPr>
              <a:t>, a </a:t>
            </a:r>
            <a:r>
              <a:rPr lang="en-US" dirty="0">
                <a:solidFill>
                  <a:srgbClr val="CC0000"/>
                </a:solidFill>
                <a:latin typeface="Arial" panose="020B0604020202020204" pitchFamily="34" charset="0"/>
                <a:cs typeface="Arial" panose="020B0604020202020204" pitchFamily="34" charset="0"/>
              </a:rPr>
              <a:t>status </a:t>
            </a:r>
            <a:r>
              <a:rPr lang="en-US" dirty="0">
                <a:latin typeface="Arial" panose="020B0604020202020204" pitchFamily="34" charset="0"/>
                <a:cs typeface="Arial" panose="020B0604020202020204" pitchFamily="34" charset="0"/>
              </a:rPr>
              <a:t>(tech. or non-tech. room), and a equipment list. </a:t>
            </a:r>
          </a:p>
          <a:p>
            <a:pPr eaLnBrk="1" hangingPunct="1">
              <a:spcBef>
                <a:spcPct val="50000"/>
              </a:spcBef>
            </a:pPr>
            <a:r>
              <a:rPr lang="en-US" dirty="0">
                <a:latin typeface="Arial" panose="020B0604020202020204" pitchFamily="34" charset="0"/>
                <a:cs typeface="Arial" panose="020B0604020202020204" pitchFamily="34" charset="0"/>
              </a:rPr>
              <a:t>Interestingly, no two tech. room have the same capacity limit, and no two non-tech room have the same capacity limit either. </a:t>
            </a:r>
          </a:p>
        </p:txBody>
      </p:sp>
    </p:spTree>
    <p:extLst>
      <p:ext uri="{BB962C8B-B14F-4D97-AF65-F5344CB8AC3E}">
        <p14:creationId xmlns:p14="http://schemas.microsoft.com/office/powerpoint/2010/main" val="217004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09600" y="10391"/>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Attributes: Identifiers</a:t>
            </a:r>
          </a:p>
        </p:txBody>
      </p:sp>
      <p:graphicFrame>
        <p:nvGraphicFramePr>
          <p:cNvPr id="2" name="Object 1"/>
          <p:cNvGraphicFramePr>
            <a:graphicFrameLocks noChangeAspect="1"/>
          </p:cNvGraphicFramePr>
          <p:nvPr>
            <p:extLst>
              <p:ext uri="{D42A27DB-BD31-4B8C-83A1-F6EECF244321}">
                <p14:modId xmlns:p14="http://schemas.microsoft.com/office/powerpoint/2010/main" val="2912898515"/>
              </p:ext>
            </p:extLst>
          </p:nvPr>
        </p:nvGraphicFramePr>
        <p:xfrm>
          <a:off x="457200" y="3124200"/>
          <a:ext cx="7620000" cy="2894783"/>
        </p:xfrm>
        <a:graphic>
          <a:graphicData uri="http://schemas.openxmlformats.org/presentationml/2006/ole">
            <mc:AlternateContent xmlns:mc="http://schemas.openxmlformats.org/markup-compatibility/2006">
              <mc:Choice xmlns:v="urn:schemas-microsoft-com:vml" Requires="v">
                <p:oleObj name="Photo Editor Photo" r:id="rId2" imgW="5668166" imgH="2152951" progId="">
                  <p:embed/>
                </p:oleObj>
              </mc:Choice>
              <mc:Fallback>
                <p:oleObj name="Photo Editor Photo" r:id="rId2" imgW="5668166" imgH="2152951" progId="">
                  <p:embed/>
                  <p:pic>
                    <p:nvPicPr>
                      <p:cNvPr id="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124200"/>
                        <a:ext cx="7620000" cy="28947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6"/>
          <p:cNvSpPr txBox="1">
            <a:spLocks noChangeArrowheads="1"/>
          </p:cNvSpPr>
          <p:nvPr/>
        </p:nvSpPr>
        <p:spPr bwMode="auto">
          <a:xfrm>
            <a:off x="457200" y="1447800"/>
            <a:ext cx="8305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eaLnBrk="1" hangingPunct="1">
              <a:spcBef>
                <a:spcPct val="50000"/>
              </a:spcBef>
            </a:pPr>
            <a:r>
              <a:rPr lang="en-US" dirty="0">
                <a:latin typeface="Arial" panose="020B0604020202020204" pitchFamily="34" charset="0"/>
                <a:cs typeface="Arial" panose="020B0604020202020204" pitchFamily="34" charset="0"/>
              </a:rPr>
              <a:t>Depending on the size of our ER model, we might display the entity set name and ALL of the attributes, or the entity set name and the identifier, or just the entity set name:</a:t>
            </a:r>
          </a:p>
        </p:txBody>
      </p:sp>
    </p:spTree>
    <p:extLst>
      <p:ext uri="{BB962C8B-B14F-4D97-AF65-F5344CB8AC3E}">
        <p14:creationId xmlns:p14="http://schemas.microsoft.com/office/powerpoint/2010/main" val="1030681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09600" y="10391"/>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Attributes: Special Types</a:t>
            </a:r>
          </a:p>
        </p:txBody>
      </p:sp>
      <p:sp>
        <p:nvSpPr>
          <p:cNvPr id="80899" name="Rectangle 3" descr="Rectangle: Click to edit Master text styles&#10;Second level&#10;Third level&#10;Fourth level&#10;Fifth level"/>
          <p:cNvSpPr>
            <a:spLocks noGrp="1" noChangeArrowheads="1"/>
          </p:cNvSpPr>
          <p:nvPr>
            <p:ph type="body" idx="1"/>
          </p:nvPr>
        </p:nvSpPr>
        <p:spPr>
          <a:xfrm>
            <a:off x="381000" y="1213282"/>
            <a:ext cx="8001000" cy="4114800"/>
          </a:xfrm>
        </p:spPr>
        <p:txBody>
          <a:bodyPr/>
          <a:lstStyle/>
          <a:p>
            <a:r>
              <a:rPr lang="en-US" sz="2800" dirty="0">
                <a:latin typeface="Arial" panose="020B0604020202020204" pitchFamily="34" charset="0"/>
                <a:cs typeface="Arial" panose="020B0604020202020204" pitchFamily="34" charset="0"/>
              </a:rPr>
              <a:t>Simple vs. composite attributes</a:t>
            </a:r>
          </a:p>
          <a:p>
            <a:pPr lvl="1">
              <a:buClr>
                <a:srgbClr val="602162"/>
              </a:buClr>
              <a:buSzPct val="90000"/>
              <a:buFont typeface="Wingdings" pitchFamily="2" charset="2"/>
              <a:buChar char="§"/>
            </a:pPr>
            <a:r>
              <a:rPr lang="en-US" sz="1800" dirty="0">
                <a:solidFill>
                  <a:srgbClr val="000000"/>
                </a:solidFill>
                <a:latin typeface="Arial" panose="020B0604020202020204" pitchFamily="34" charset="0"/>
                <a:cs typeface="Arial" panose="020B0604020202020204" pitchFamily="34" charset="0"/>
              </a:rPr>
              <a:t>A </a:t>
            </a:r>
            <a:r>
              <a:rPr lang="en-US" sz="1800" b="1" dirty="0">
                <a:solidFill>
                  <a:srgbClr val="FF0000"/>
                </a:solidFill>
                <a:latin typeface="Arial" pitchFamily="34" charset="0"/>
                <a:cs typeface="Arial" panose="020B0604020202020204" pitchFamily="34" charset="0"/>
              </a:rPr>
              <a:t>Simple Attribute </a:t>
            </a:r>
            <a:r>
              <a:rPr lang="en-US" sz="1800" dirty="0">
                <a:solidFill>
                  <a:srgbClr val="000000"/>
                </a:solidFill>
                <a:latin typeface="Arial" pitchFamily="34" charset="0"/>
                <a:cs typeface="Arial" panose="020B0604020202020204" pitchFamily="34" charset="0"/>
              </a:rPr>
              <a:t>cannot be further divided into more attributes.</a:t>
            </a:r>
          </a:p>
          <a:p>
            <a:pPr lvl="2">
              <a:buClr>
                <a:srgbClr val="602162"/>
              </a:buClr>
              <a:buSzPct val="90000"/>
              <a:buFont typeface="Wingdings" pitchFamily="2" charset="2"/>
              <a:buChar char="§"/>
            </a:pPr>
            <a:r>
              <a:rPr lang="en-US" sz="1800" dirty="0">
                <a:solidFill>
                  <a:srgbClr val="000000"/>
                </a:solidFill>
                <a:latin typeface="Arial" pitchFamily="34" charset="0"/>
                <a:cs typeface="Arial" panose="020B0604020202020204" pitchFamily="34" charset="0"/>
              </a:rPr>
              <a:t>Sex, Age, etc.</a:t>
            </a:r>
          </a:p>
          <a:p>
            <a:pPr lvl="2">
              <a:buClr>
                <a:srgbClr val="602162"/>
              </a:buClr>
              <a:buSzPct val="90000"/>
              <a:buFont typeface="Wingdings" pitchFamily="2" charset="2"/>
              <a:buChar char="§"/>
            </a:pPr>
            <a:endParaRPr lang="en-US" sz="1800" dirty="0">
              <a:solidFill>
                <a:srgbClr val="000000"/>
              </a:solidFill>
              <a:latin typeface="Arial" pitchFamily="34" charset="0"/>
              <a:cs typeface="Arial" panose="020B0604020202020204" pitchFamily="34" charset="0"/>
            </a:endParaRPr>
          </a:p>
          <a:p>
            <a:pPr lvl="1">
              <a:buClr>
                <a:srgbClr val="602162"/>
              </a:buClr>
              <a:buSzPct val="90000"/>
              <a:buFont typeface="Wingdings" pitchFamily="2" charset="2"/>
              <a:buChar char="§"/>
            </a:pPr>
            <a:r>
              <a:rPr lang="en-US" sz="1800" dirty="0">
                <a:latin typeface="Arial" pitchFamily="34" charset="0"/>
                <a:cs typeface="Arial" panose="020B0604020202020204" pitchFamily="34" charset="0"/>
              </a:rPr>
              <a:t>A </a:t>
            </a:r>
            <a:r>
              <a:rPr lang="en-US" sz="1800" b="1" dirty="0">
                <a:solidFill>
                  <a:srgbClr val="FF0000"/>
                </a:solidFill>
                <a:latin typeface="Arial" pitchFamily="34" charset="0"/>
                <a:cs typeface="Arial" panose="020B0604020202020204" pitchFamily="34" charset="0"/>
              </a:rPr>
              <a:t>composite attribute </a:t>
            </a:r>
            <a:r>
              <a:rPr lang="en-US" sz="1800" dirty="0">
                <a:latin typeface="Arial" pitchFamily="34" charset="0"/>
                <a:cs typeface="Arial" panose="020B0604020202020204" pitchFamily="34" charset="0"/>
              </a:rPr>
              <a:t>is a logical grouping of simple attributes. </a:t>
            </a:r>
          </a:p>
          <a:p>
            <a:endParaRPr lang="en-US" sz="1800" dirty="0">
              <a:latin typeface="Arial" pitchFamily="34" charset="0"/>
              <a:cs typeface="Arial" panose="020B0604020202020204" pitchFamily="34" charset="0"/>
            </a:endParaRPr>
          </a:p>
          <a:p>
            <a:pPr marL="1371600" lvl="2" indent="-457200" eaLnBrk="1" hangingPunct="1"/>
            <a:r>
              <a:rPr lang="en-US" sz="1800" dirty="0">
                <a:latin typeface="Arial" pitchFamily="34" charset="0"/>
                <a:cs typeface="Arial" panose="020B0604020202020204" pitchFamily="34" charset="0"/>
              </a:rPr>
              <a:t>E.g., a name is composed of a first name and a last name</a:t>
            </a:r>
          </a:p>
          <a:p>
            <a:pPr marL="1371600" lvl="2" indent="-457200" eaLnBrk="1" hangingPunct="1"/>
            <a:endParaRPr lang="en-US" sz="1800" dirty="0"/>
          </a:p>
          <a:p>
            <a:pPr marL="1371600" lvl="2" indent="-457200" eaLnBrk="1" hangingPunct="1"/>
            <a:endParaRPr lang="en-US" sz="1800" dirty="0"/>
          </a:p>
          <a:p>
            <a:pPr marL="1371600" lvl="2" indent="-457200" eaLnBrk="1" hangingPunct="1"/>
            <a:endParaRPr lang="en-US" sz="1800" dirty="0"/>
          </a:p>
          <a:p>
            <a:pPr marL="1371600" lvl="2" indent="-457200" eaLnBrk="1" hangingPunct="1"/>
            <a:endParaRPr lang="en-US" sz="1800" dirty="0"/>
          </a:p>
          <a:p>
            <a:pPr marL="1371600" lvl="2" indent="-457200" eaLnBrk="1" hangingPunct="1"/>
            <a:endParaRPr lang="en-US" sz="1800" dirty="0"/>
          </a:p>
          <a:p>
            <a:pPr marL="1371600" lvl="2" indent="-457200" eaLnBrk="1" hangingPunct="1"/>
            <a:endParaRPr lang="en-US" sz="1800" dirty="0"/>
          </a:p>
          <a:p>
            <a:pPr marL="1371600" lvl="2" indent="-457200" eaLnBrk="1" hangingPunct="1"/>
            <a:endParaRPr lang="en-US" sz="1800" dirty="0"/>
          </a:p>
          <a:p>
            <a:pPr marL="1371600" lvl="2" indent="-457200" eaLnBrk="1" hangingPunct="1"/>
            <a:r>
              <a:rPr lang="en-US" sz="1800" dirty="0"/>
              <a:t>Any other example?</a:t>
            </a:r>
          </a:p>
        </p:txBody>
      </p:sp>
      <p:grpSp>
        <p:nvGrpSpPr>
          <p:cNvPr id="2" name="Group 1"/>
          <p:cNvGrpSpPr/>
          <p:nvPr/>
        </p:nvGrpSpPr>
        <p:grpSpPr>
          <a:xfrm>
            <a:off x="762000" y="4038600"/>
            <a:ext cx="4724400" cy="1325690"/>
            <a:chOff x="762000" y="4419600"/>
            <a:chExt cx="7315200" cy="1676400"/>
          </a:xfrm>
        </p:grpSpPr>
        <p:sp>
          <p:nvSpPr>
            <p:cNvPr id="80906" name="Oval 10"/>
            <p:cNvSpPr>
              <a:spLocks noChangeArrowheads="1"/>
            </p:cNvSpPr>
            <p:nvPr/>
          </p:nvSpPr>
          <p:spPr bwMode="auto">
            <a:xfrm>
              <a:off x="2971800" y="4953000"/>
              <a:ext cx="2133600" cy="685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80907" name="Text Box 11"/>
            <p:cNvSpPr txBox="1">
              <a:spLocks noChangeArrowheads="1"/>
            </p:cNvSpPr>
            <p:nvPr/>
          </p:nvSpPr>
          <p:spPr bwMode="auto">
            <a:xfrm>
              <a:off x="3276600" y="5105400"/>
              <a:ext cx="1600200" cy="39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400"/>
                <a:t>name</a:t>
              </a:r>
            </a:p>
          </p:txBody>
        </p:sp>
        <p:sp>
          <p:nvSpPr>
            <p:cNvPr id="80908" name="Line 12"/>
            <p:cNvSpPr>
              <a:spLocks noChangeShapeType="1"/>
            </p:cNvSpPr>
            <p:nvPr/>
          </p:nvSpPr>
          <p:spPr bwMode="auto">
            <a:xfrm>
              <a:off x="5105400" y="5334000"/>
              <a:ext cx="762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sz="1200"/>
            </a:p>
          </p:txBody>
        </p:sp>
        <p:sp>
          <p:nvSpPr>
            <p:cNvPr id="80909" name="Rectangle 13"/>
            <p:cNvSpPr>
              <a:spLocks noChangeArrowheads="1"/>
            </p:cNvSpPr>
            <p:nvPr/>
          </p:nvSpPr>
          <p:spPr bwMode="auto">
            <a:xfrm>
              <a:off x="5867400" y="4876800"/>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80910" name="Text Box 14"/>
            <p:cNvSpPr txBox="1">
              <a:spLocks noChangeArrowheads="1"/>
            </p:cNvSpPr>
            <p:nvPr/>
          </p:nvSpPr>
          <p:spPr bwMode="auto">
            <a:xfrm>
              <a:off x="6324600" y="5105400"/>
              <a:ext cx="1600200" cy="39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400" dirty="0"/>
                <a:t>STUDENT</a:t>
              </a:r>
            </a:p>
          </p:txBody>
        </p:sp>
        <p:sp>
          <p:nvSpPr>
            <p:cNvPr id="80911" name="Line 15"/>
            <p:cNvSpPr>
              <a:spLocks noChangeShapeType="1"/>
            </p:cNvSpPr>
            <p:nvPr/>
          </p:nvSpPr>
          <p:spPr bwMode="auto">
            <a:xfrm>
              <a:off x="2743200" y="4953000"/>
              <a:ext cx="2286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sz="1200"/>
            </a:p>
          </p:txBody>
        </p:sp>
        <p:sp>
          <p:nvSpPr>
            <p:cNvPr id="80912" name="Line 16"/>
            <p:cNvSpPr>
              <a:spLocks noChangeShapeType="1"/>
            </p:cNvSpPr>
            <p:nvPr/>
          </p:nvSpPr>
          <p:spPr bwMode="auto">
            <a:xfrm flipV="1">
              <a:off x="2743200" y="5257800"/>
              <a:ext cx="22860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sz="1200"/>
            </a:p>
          </p:txBody>
        </p:sp>
        <p:sp>
          <p:nvSpPr>
            <p:cNvPr id="80913" name="Oval 17"/>
            <p:cNvSpPr>
              <a:spLocks noChangeArrowheads="1"/>
            </p:cNvSpPr>
            <p:nvPr/>
          </p:nvSpPr>
          <p:spPr bwMode="auto">
            <a:xfrm>
              <a:off x="762000" y="4419600"/>
              <a:ext cx="2133600" cy="685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80914" name="Text Box 18"/>
            <p:cNvSpPr txBox="1">
              <a:spLocks noChangeArrowheads="1"/>
            </p:cNvSpPr>
            <p:nvPr/>
          </p:nvSpPr>
          <p:spPr bwMode="auto">
            <a:xfrm>
              <a:off x="1066800" y="4572000"/>
              <a:ext cx="1600200" cy="39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400"/>
                <a:t>First name</a:t>
              </a:r>
            </a:p>
          </p:txBody>
        </p:sp>
        <p:sp>
          <p:nvSpPr>
            <p:cNvPr id="80915" name="Oval 19"/>
            <p:cNvSpPr>
              <a:spLocks noChangeArrowheads="1"/>
            </p:cNvSpPr>
            <p:nvPr/>
          </p:nvSpPr>
          <p:spPr bwMode="auto">
            <a:xfrm>
              <a:off x="838200" y="5410200"/>
              <a:ext cx="2133600" cy="685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200"/>
            </a:p>
          </p:txBody>
        </p:sp>
        <p:sp>
          <p:nvSpPr>
            <p:cNvPr id="80916" name="Text Box 20"/>
            <p:cNvSpPr txBox="1">
              <a:spLocks noChangeArrowheads="1"/>
            </p:cNvSpPr>
            <p:nvPr/>
          </p:nvSpPr>
          <p:spPr bwMode="auto">
            <a:xfrm>
              <a:off x="1143000" y="5562600"/>
              <a:ext cx="1600200" cy="39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400"/>
                <a:t>Last name</a:t>
              </a:r>
            </a:p>
          </p:txBody>
        </p:sp>
      </p:grpSp>
      <p:sp>
        <p:nvSpPr>
          <p:cNvPr id="21" name="Rectangle 7"/>
          <p:cNvSpPr>
            <a:spLocks noChangeArrowheads="1"/>
          </p:cNvSpPr>
          <p:nvPr/>
        </p:nvSpPr>
        <p:spPr bwMode="auto">
          <a:xfrm>
            <a:off x="6553200" y="4214252"/>
            <a:ext cx="2209800" cy="176645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Rectangle 21"/>
          <p:cNvSpPr/>
          <p:nvPr/>
        </p:nvSpPr>
        <p:spPr>
          <a:xfrm>
            <a:off x="6538397" y="3821952"/>
            <a:ext cx="1399742" cy="400110"/>
          </a:xfrm>
          <a:prstGeom prst="rect">
            <a:avLst/>
          </a:prstGeom>
        </p:spPr>
        <p:txBody>
          <a:bodyPr wrap="none">
            <a:spAutoFit/>
          </a:bodyPr>
          <a:lstStyle/>
          <a:p>
            <a:r>
              <a:rPr lang="en-US" sz="2000" b="1" dirty="0"/>
              <a:t>STUDENT</a:t>
            </a:r>
          </a:p>
        </p:txBody>
      </p:sp>
      <p:cxnSp>
        <p:nvCxnSpPr>
          <p:cNvPr id="23" name="Straight Connector 22"/>
          <p:cNvCxnSpPr/>
          <p:nvPr/>
        </p:nvCxnSpPr>
        <p:spPr>
          <a:xfrm>
            <a:off x="6567055" y="4671453"/>
            <a:ext cx="2209800"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 Box 5"/>
          <p:cNvSpPr txBox="1">
            <a:spLocks noChangeArrowheads="1"/>
          </p:cNvSpPr>
          <p:nvPr/>
        </p:nvSpPr>
        <p:spPr bwMode="auto">
          <a:xfrm>
            <a:off x="6553200" y="4671453"/>
            <a:ext cx="20574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i="1" dirty="0"/>
              <a:t>First Name</a:t>
            </a:r>
          </a:p>
          <a:p>
            <a:pPr eaLnBrk="1" hangingPunct="1">
              <a:spcBef>
                <a:spcPct val="50000"/>
              </a:spcBef>
            </a:pPr>
            <a:r>
              <a:rPr lang="en-US" sz="2000" i="1" dirty="0"/>
              <a:t>Last Name</a:t>
            </a:r>
          </a:p>
        </p:txBody>
      </p:sp>
      <p:sp>
        <p:nvSpPr>
          <p:cNvPr id="25" name="Text Box 5"/>
          <p:cNvSpPr txBox="1">
            <a:spLocks noChangeArrowheads="1"/>
          </p:cNvSpPr>
          <p:nvPr/>
        </p:nvSpPr>
        <p:spPr bwMode="auto">
          <a:xfrm>
            <a:off x="6580909" y="4214252"/>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b="1" i="1" dirty="0"/>
              <a:t>Student ID</a:t>
            </a:r>
          </a:p>
        </p:txBody>
      </p:sp>
      <p:sp>
        <p:nvSpPr>
          <p:cNvPr id="3" name="TextBox 2"/>
          <p:cNvSpPr txBox="1"/>
          <p:nvPr/>
        </p:nvSpPr>
        <p:spPr>
          <a:xfrm>
            <a:off x="4054383" y="6096000"/>
            <a:ext cx="4930517"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Notice that only </a:t>
            </a:r>
            <a:r>
              <a:rPr lang="en-US" b="1" dirty="0">
                <a:solidFill>
                  <a:srgbClr val="FF0000"/>
                </a:solidFill>
              </a:rPr>
              <a:t>the lowest level </a:t>
            </a:r>
            <a:r>
              <a:rPr lang="en-US" dirty="0"/>
              <a:t>of composite </a:t>
            </a:r>
            <a:br>
              <a:rPr lang="en-US" dirty="0"/>
            </a:br>
            <a:r>
              <a:rPr lang="en-US" dirty="0"/>
              <a:t>attributes are included in the crow’s foot notation!</a:t>
            </a:r>
          </a:p>
        </p:txBody>
      </p:sp>
    </p:spTree>
    <p:extLst>
      <p:ext uri="{BB962C8B-B14F-4D97-AF65-F5344CB8AC3E}">
        <p14:creationId xmlns:p14="http://schemas.microsoft.com/office/powerpoint/2010/main" val="4252822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3" name="Rectangle 3" descr="Rectangle: Click to edit Master text styles&#10;Second level&#10;Third level&#10;Fourth level&#10;Fifth level"/>
          <p:cNvSpPr>
            <a:spLocks noGrp="1" noChangeArrowheads="1"/>
          </p:cNvSpPr>
          <p:nvPr>
            <p:ph type="body" idx="1"/>
          </p:nvPr>
        </p:nvSpPr>
        <p:spPr>
          <a:xfrm>
            <a:off x="685800" y="1295400"/>
            <a:ext cx="8001000" cy="4114800"/>
          </a:xfrm>
        </p:spPr>
        <p:txBody>
          <a:bodyPr/>
          <a:lstStyle/>
          <a:p>
            <a:pPr marL="514350" indent="-457200">
              <a:buFont typeface="Wingdings" pitchFamily="2" charset="2"/>
              <a:buChar char="§"/>
            </a:pPr>
            <a:r>
              <a:rPr lang="en-US" sz="2800" dirty="0">
                <a:latin typeface="Arial" panose="020B0604020202020204" pitchFamily="34" charset="0"/>
                <a:cs typeface="Arial" panose="020B0604020202020204" pitchFamily="34" charset="0"/>
              </a:rPr>
              <a:t>Single valued vs. multi-valued attributes</a:t>
            </a:r>
          </a:p>
          <a:p>
            <a:pPr marL="914400" lvl="1" indent="-457200">
              <a:buFont typeface="Wingdings" pitchFamily="2" charset="2"/>
              <a:buChar char="§"/>
            </a:pPr>
            <a:r>
              <a:rPr lang="en-US" sz="2000" dirty="0">
                <a:solidFill>
                  <a:srgbClr val="000000"/>
                </a:solidFill>
                <a:latin typeface="Arial" panose="020B0604020202020204" pitchFamily="34" charset="0"/>
                <a:cs typeface="Arial" panose="020B0604020202020204" pitchFamily="34" charset="0"/>
              </a:rPr>
              <a:t>A </a:t>
            </a:r>
            <a:r>
              <a:rPr lang="en-US" sz="2000" b="1" dirty="0">
                <a:solidFill>
                  <a:srgbClr val="000000"/>
                </a:solidFill>
                <a:latin typeface="Arial" panose="020B0604020202020204" pitchFamily="34" charset="0"/>
                <a:cs typeface="Arial" panose="020B0604020202020204" pitchFamily="34" charset="0"/>
              </a:rPr>
              <a:t>Single-Valued Attribute </a:t>
            </a:r>
            <a:r>
              <a:rPr lang="en-US" sz="2000" dirty="0">
                <a:solidFill>
                  <a:srgbClr val="000000"/>
                </a:solidFill>
                <a:latin typeface="Arial" panose="020B0604020202020204" pitchFamily="34" charset="0"/>
                <a:cs typeface="Arial" panose="020B0604020202020204" pitchFamily="34" charset="0"/>
              </a:rPr>
              <a:t>can have only a single value.</a:t>
            </a:r>
          </a:p>
          <a:p>
            <a:pPr lvl="2">
              <a:buClr>
                <a:srgbClr val="602162"/>
              </a:buClr>
              <a:buSzPct val="70000"/>
              <a:buFont typeface="Arial" pitchFamily="34" charset="0"/>
              <a:buChar char="–"/>
            </a:pPr>
            <a:r>
              <a:rPr lang="en-US" sz="2000" dirty="0">
                <a:solidFill>
                  <a:srgbClr val="000000"/>
                </a:solidFill>
                <a:latin typeface="Arial" panose="020B0604020202020204" pitchFamily="34" charset="0"/>
                <a:cs typeface="Arial" panose="020B0604020202020204" pitchFamily="34" charset="0"/>
              </a:rPr>
              <a:t>Example: Age is a single valued attribute of the entity person, because a person can have only one age.</a:t>
            </a:r>
          </a:p>
          <a:p>
            <a:pPr lvl="2">
              <a:buClr>
                <a:srgbClr val="602162"/>
              </a:buClr>
              <a:buSzPct val="70000"/>
              <a:buFont typeface="Arial" pitchFamily="34" charset="0"/>
              <a:buChar char="–"/>
            </a:pPr>
            <a:endParaRPr lang="en-US" sz="2000" dirty="0">
              <a:solidFill>
                <a:srgbClr val="000000"/>
              </a:solidFill>
              <a:latin typeface="Arial" panose="020B0604020202020204" pitchFamily="34" charset="0"/>
              <a:cs typeface="Arial" panose="020B0604020202020204" pitchFamily="34" charset="0"/>
            </a:endParaRPr>
          </a:p>
          <a:p>
            <a:pPr lvl="1">
              <a:buFont typeface="Wingdings" pitchFamily="2" charset="2"/>
              <a:buChar char="§"/>
            </a:pPr>
            <a:r>
              <a:rPr lang="en-US" sz="2000" b="1" dirty="0">
                <a:solidFill>
                  <a:srgbClr val="000000"/>
                </a:solidFill>
                <a:latin typeface="Arial" panose="020B0604020202020204" pitchFamily="34" charset="0"/>
                <a:cs typeface="Arial" panose="020B0604020202020204" pitchFamily="34" charset="0"/>
              </a:rPr>
              <a:t>  </a:t>
            </a:r>
            <a:r>
              <a:rPr lang="en-US" sz="2400" dirty="0">
                <a:solidFill>
                  <a:srgbClr val="000000"/>
                </a:solidFill>
                <a:latin typeface="Arial" panose="020B0604020202020204" pitchFamily="34" charset="0"/>
                <a:cs typeface="Arial" panose="020B0604020202020204" pitchFamily="34" charset="0"/>
              </a:rPr>
              <a:t>A</a:t>
            </a:r>
            <a:r>
              <a:rPr lang="en-US" sz="2400" dirty="0">
                <a:solidFill>
                  <a:srgbClr val="FF6088"/>
                </a:solidFill>
                <a:latin typeface="Arial" panose="020B0604020202020204" pitchFamily="34" charset="0"/>
                <a:cs typeface="Arial" panose="020B0604020202020204" pitchFamily="34" charset="0"/>
              </a:rPr>
              <a:t> </a:t>
            </a:r>
            <a:r>
              <a:rPr lang="en-US" sz="2400" b="1" dirty="0">
                <a:solidFill>
                  <a:srgbClr val="FF1F35"/>
                </a:solidFill>
                <a:latin typeface="Arial" panose="020B0604020202020204" pitchFamily="34" charset="0"/>
                <a:cs typeface="Arial" panose="020B0604020202020204" pitchFamily="34" charset="0"/>
              </a:rPr>
              <a:t>Multi-Valued</a:t>
            </a:r>
            <a:r>
              <a:rPr lang="en-US" sz="2400" dirty="0">
                <a:solidFill>
                  <a:srgbClr val="000000"/>
                </a:solidFill>
                <a:latin typeface="Arial" panose="020B0604020202020204" pitchFamily="34" charset="0"/>
                <a:cs typeface="Arial" panose="020B0604020202020204" pitchFamily="34" charset="0"/>
              </a:rPr>
              <a:t> Attribute can have many values.</a:t>
            </a:r>
            <a:endParaRPr lang="en-US" sz="2800" dirty="0">
              <a:latin typeface="Arial" panose="020B0604020202020204" pitchFamily="34" charset="0"/>
              <a:cs typeface="Arial" panose="020B0604020202020204" pitchFamily="34" charset="0"/>
            </a:endParaRPr>
          </a:p>
          <a:p>
            <a:pPr marL="1371600" lvl="2" indent="-457200" eaLnBrk="1" hangingPunct="1"/>
            <a:r>
              <a:rPr lang="en-US" sz="1800" dirty="0">
                <a:latin typeface="Arial" panose="020B0604020202020204" pitchFamily="34" charset="0"/>
                <a:cs typeface="Arial" panose="020B0604020202020204" pitchFamily="34" charset="0"/>
              </a:rPr>
              <a:t>Assume that an employee can have more than one phone number (Office and cell)</a:t>
            </a:r>
          </a:p>
          <a:p>
            <a:pPr marL="1371600" lvl="2" indent="-457200" eaLnBrk="1" hangingPunct="1"/>
            <a:endParaRPr lang="en-US" sz="1800" dirty="0"/>
          </a:p>
        </p:txBody>
      </p:sp>
      <p:grpSp>
        <p:nvGrpSpPr>
          <p:cNvPr id="3" name="Group 2"/>
          <p:cNvGrpSpPr/>
          <p:nvPr/>
        </p:nvGrpSpPr>
        <p:grpSpPr>
          <a:xfrm>
            <a:off x="2743200" y="4419600"/>
            <a:ext cx="4953000" cy="838200"/>
            <a:chOff x="2438400" y="5486400"/>
            <a:chExt cx="4953000" cy="838200"/>
          </a:xfrm>
        </p:grpSpPr>
        <p:sp>
          <p:nvSpPr>
            <p:cNvPr id="23558" name="Text Box 10"/>
            <p:cNvSpPr txBox="1">
              <a:spLocks noChangeArrowheads="1"/>
            </p:cNvSpPr>
            <p:nvPr/>
          </p:nvSpPr>
          <p:spPr bwMode="auto">
            <a:xfrm>
              <a:off x="2667000" y="57150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Phone</a:t>
              </a:r>
            </a:p>
          </p:txBody>
        </p:sp>
        <p:sp>
          <p:nvSpPr>
            <p:cNvPr id="23559" name="Line 11"/>
            <p:cNvSpPr>
              <a:spLocks noChangeShapeType="1"/>
            </p:cNvSpPr>
            <p:nvPr/>
          </p:nvSpPr>
          <p:spPr bwMode="auto">
            <a:xfrm>
              <a:off x="4267200" y="5943600"/>
              <a:ext cx="914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3560" name="Rectangle 12"/>
            <p:cNvSpPr>
              <a:spLocks noChangeArrowheads="1"/>
            </p:cNvSpPr>
            <p:nvPr/>
          </p:nvSpPr>
          <p:spPr bwMode="auto">
            <a:xfrm>
              <a:off x="5181600" y="5486400"/>
              <a:ext cx="2209800" cy="838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61" name="Text Box 13"/>
            <p:cNvSpPr txBox="1">
              <a:spLocks noChangeArrowheads="1"/>
            </p:cNvSpPr>
            <p:nvPr/>
          </p:nvSpPr>
          <p:spPr bwMode="auto">
            <a:xfrm>
              <a:off x="5638800" y="57150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2000"/>
                <a:t>Employee</a:t>
              </a:r>
            </a:p>
          </p:txBody>
        </p:sp>
        <p:sp>
          <p:nvSpPr>
            <p:cNvPr id="23562" name="Oval 20"/>
            <p:cNvSpPr>
              <a:spLocks noChangeArrowheads="1"/>
            </p:cNvSpPr>
            <p:nvPr/>
          </p:nvSpPr>
          <p:spPr bwMode="auto">
            <a:xfrm>
              <a:off x="2438400" y="5638800"/>
              <a:ext cx="1828800" cy="5334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Line 11"/>
            <p:cNvSpPr>
              <a:spLocks noChangeShapeType="1"/>
            </p:cNvSpPr>
            <p:nvPr/>
          </p:nvSpPr>
          <p:spPr bwMode="auto">
            <a:xfrm>
              <a:off x="4267200" y="5905500"/>
              <a:ext cx="914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22" name="Rectangle 2"/>
          <p:cNvSpPr>
            <a:spLocks noGrp="1" noChangeArrowheads="1"/>
          </p:cNvSpPr>
          <p:nvPr>
            <p:ph type="title"/>
          </p:nvPr>
        </p:nvSpPr>
        <p:spPr>
          <a:xfrm>
            <a:off x="609600" y="10391"/>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Attributes: Special Types</a:t>
            </a:r>
          </a:p>
        </p:txBody>
      </p:sp>
      <p:sp>
        <p:nvSpPr>
          <p:cNvPr id="4" name="Rectangle 3"/>
          <p:cNvSpPr/>
          <p:nvPr/>
        </p:nvSpPr>
        <p:spPr>
          <a:xfrm>
            <a:off x="1307522" y="5778787"/>
            <a:ext cx="6528955" cy="5847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1"/>
            <a:r>
              <a:rPr lang="en-US" sz="1600" dirty="0">
                <a:solidFill>
                  <a:srgbClr val="000000"/>
                </a:solidFill>
                <a:latin typeface="Arial" panose="020B0604020202020204" pitchFamily="34" charset="0"/>
                <a:cs typeface="Arial" panose="020B0604020202020204" pitchFamily="34" charset="0"/>
              </a:rPr>
              <a:t>The notation for multi-valued attribute is too complicated in Visio / Crow’s foot.  We will discuss it later</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28201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3" name="Rectangle 3" descr="Rectangle: Click to edit Master text styles&#10;Second level&#10;Third level&#10;Fourth level&#10;Fifth level"/>
          <p:cNvSpPr>
            <a:spLocks noGrp="1" noChangeArrowheads="1"/>
          </p:cNvSpPr>
          <p:nvPr>
            <p:ph type="body" idx="1"/>
          </p:nvPr>
        </p:nvSpPr>
        <p:spPr>
          <a:xfrm>
            <a:off x="685800" y="1295400"/>
            <a:ext cx="8001000" cy="4114800"/>
          </a:xfrm>
        </p:spPr>
        <p:txBody>
          <a:bodyPr/>
          <a:lstStyle/>
          <a:p>
            <a:pPr marL="514350" indent="-457200">
              <a:buFont typeface="Wingdings" pitchFamily="2" charset="2"/>
              <a:buChar char="§"/>
            </a:pPr>
            <a:r>
              <a:rPr lang="en-US" sz="2400" dirty="0">
                <a:latin typeface="Arial" panose="020B0604020202020204" pitchFamily="34" charset="0"/>
                <a:cs typeface="Arial" panose="020B0604020202020204" pitchFamily="34" charset="0"/>
              </a:rPr>
              <a:t>Multi-valued vs. composite</a:t>
            </a:r>
          </a:p>
          <a:p>
            <a:pPr marL="914400" lvl="1" indent="-457200">
              <a:buFont typeface="Wingdings" pitchFamily="2" charset="2"/>
              <a:buChar char="§"/>
            </a:pPr>
            <a:r>
              <a:rPr lang="en-US" sz="2400" dirty="0">
                <a:latin typeface="Arial" panose="020B0604020202020204" pitchFamily="34" charset="0"/>
                <a:cs typeface="Arial" panose="020B0604020202020204" pitchFamily="34" charset="0"/>
              </a:rPr>
              <a:t>A multi-value attribute has multiple </a:t>
            </a:r>
            <a:r>
              <a:rPr lang="en-US" sz="2400" dirty="0">
                <a:solidFill>
                  <a:srgbClr val="FF0000"/>
                </a:solidFill>
                <a:latin typeface="Arial" panose="020B0604020202020204" pitchFamily="34" charset="0"/>
                <a:cs typeface="Arial" panose="020B0604020202020204" pitchFamily="34" charset="0"/>
              </a:rPr>
              <a:t>values</a:t>
            </a:r>
            <a:r>
              <a:rPr lang="en-US" sz="2400" dirty="0">
                <a:latin typeface="Arial" panose="020B0604020202020204" pitchFamily="34" charset="0"/>
                <a:cs typeface="Arial" panose="020B0604020202020204" pitchFamily="34" charset="0"/>
              </a:rPr>
              <a:t> for the same </a:t>
            </a:r>
            <a:r>
              <a:rPr lang="en-US" sz="2400" dirty="0">
                <a:solidFill>
                  <a:srgbClr val="FF0000"/>
                </a:solidFill>
                <a:latin typeface="Arial" panose="020B0604020202020204" pitchFamily="34" charset="0"/>
                <a:cs typeface="Arial" panose="020B0604020202020204" pitchFamily="34" charset="0"/>
              </a:rPr>
              <a:t>attribute</a:t>
            </a:r>
          </a:p>
          <a:p>
            <a:pPr marL="914400" lvl="1" indent="-457200">
              <a:buFont typeface="Wingdings" pitchFamily="2" charset="2"/>
              <a:buChar char="§"/>
            </a:pPr>
            <a:r>
              <a:rPr lang="en-US" sz="2400" dirty="0">
                <a:latin typeface="Arial" panose="020B0604020202020204" pitchFamily="34" charset="0"/>
                <a:cs typeface="Arial" panose="020B0604020202020204" pitchFamily="34" charset="0"/>
              </a:rPr>
              <a:t>A composite attribute has multiple </a:t>
            </a:r>
            <a:r>
              <a:rPr lang="en-US" sz="2400" dirty="0">
                <a:solidFill>
                  <a:srgbClr val="FF0000"/>
                </a:solidFill>
                <a:latin typeface="Arial" panose="020B0604020202020204" pitchFamily="34" charset="0"/>
                <a:cs typeface="Arial" panose="020B0604020202020204" pitchFamily="34" charset="0"/>
              </a:rPr>
              <a:t>attributes, </a:t>
            </a:r>
            <a:r>
              <a:rPr lang="en-US" sz="2400" dirty="0">
                <a:latin typeface="Arial" panose="020B0604020202020204" pitchFamily="34" charset="0"/>
                <a:cs typeface="Arial" panose="020B0604020202020204" pitchFamily="34" charset="0"/>
              </a:rPr>
              <a:t>but each has a single </a:t>
            </a:r>
            <a:r>
              <a:rPr lang="en-US" sz="2400" dirty="0">
                <a:solidFill>
                  <a:srgbClr val="FF0000"/>
                </a:solidFill>
                <a:latin typeface="Arial" panose="020B0604020202020204" pitchFamily="34" charset="0"/>
                <a:cs typeface="Arial" panose="020B0604020202020204" pitchFamily="34" charset="0"/>
              </a:rPr>
              <a:t>value</a:t>
            </a:r>
            <a:r>
              <a:rPr lang="en-US" sz="2400" dirty="0">
                <a:latin typeface="Arial" panose="020B0604020202020204" pitchFamily="34" charset="0"/>
                <a:cs typeface="Arial" panose="020B0604020202020204" pitchFamily="34" charset="0"/>
              </a:rPr>
              <a:t>!</a:t>
            </a:r>
            <a:endParaRPr lang="en-US" sz="2400" dirty="0">
              <a:solidFill>
                <a:srgbClr val="FF0000"/>
              </a:solidFill>
              <a:latin typeface="Arial" panose="020B0604020202020204" pitchFamily="34" charset="0"/>
              <a:cs typeface="Arial" panose="020B0604020202020204" pitchFamily="34" charset="0"/>
            </a:endParaRPr>
          </a:p>
          <a:p>
            <a:pPr marL="914400" lvl="1" indent="-457200">
              <a:buFont typeface="Wingdings" pitchFamily="2" charset="2"/>
              <a:buChar char="§"/>
            </a:pPr>
            <a:endParaRPr lang="en-US" sz="2400" dirty="0">
              <a:solidFill>
                <a:srgbClr val="FF0000"/>
              </a:solidFill>
            </a:endParaRPr>
          </a:p>
          <a:p>
            <a:pPr marL="1371600" lvl="2" indent="-457200" eaLnBrk="1" hangingPunct="1"/>
            <a:endParaRPr lang="en-US" sz="1800" dirty="0"/>
          </a:p>
        </p:txBody>
      </p:sp>
      <p:sp>
        <p:nvSpPr>
          <p:cNvPr id="22" name="Rectangle 2"/>
          <p:cNvSpPr>
            <a:spLocks noGrp="1" noChangeArrowheads="1"/>
          </p:cNvSpPr>
          <p:nvPr>
            <p:ph type="title"/>
          </p:nvPr>
        </p:nvSpPr>
        <p:spPr>
          <a:xfrm>
            <a:off x="609600" y="10391"/>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Attributes: Special Types</a:t>
            </a:r>
          </a:p>
        </p:txBody>
      </p:sp>
      <p:graphicFrame>
        <p:nvGraphicFramePr>
          <p:cNvPr id="2" name="Table 1"/>
          <p:cNvGraphicFramePr>
            <a:graphicFrameLocks noGrp="1"/>
          </p:cNvGraphicFramePr>
          <p:nvPr>
            <p:extLst>
              <p:ext uri="{D42A27DB-BD31-4B8C-83A1-F6EECF244321}">
                <p14:modId xmlns:p14="http://schemas.microsoft.com/office/powerpoint/2010/main" val="2374222598"/>
              </p:ext>
            </p:extLst>
          </p:nvPr>
        </p:nvGraphicFramePr>
        <p:xfrm>
          <a:off x="2133600" y="3886200"/>
          <a:ext cx="990600" cy="106822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20000"/>
                    </a:ext>
                  </a:extLst>
                </a:gridCol>
              </a:tblGrid>
              <a:tr h="419585">
                <a:tc>
                  <a:txBody>
                    <a:bodyPr/>
                    <a:lstStyle/>
                    <a:p>
                      <a:pPr algn="ctr" fontAlgn="b"/>
                      <a:r>
                        <a:rPr lang="en-US" sz="1600" b="1" u="none" strike="noStrike" dirty="0">
                          <a:effectLst/>
                        </a:rPr>
                        <a:t>Phone Number</a:t>
                      </a:r>
                      <a:endParaRPr lang="en-US" sz="16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571015">
                <a:tc>
                  <a:txBody>
                    <a:bodyPr/>
                    <a:lstStyle/>
                    <a:p>
                      <a:pPr algn="ctr" fontAlgn="b"/>
                      <a:r>
                        <a:rPr lang="en-US" sz="1100" u="none" strike="noStrike" dirty="0">
                          <a:effectLst/>
                        </a:rPr>
                        <a:t>9736524454 </a:t>
                      </a:r>
                    </a:p>
                    <a:p>
                      <a:pPr algn="ctr" fontAlgn="b"/>
                      <a:r>
                        <a:rPr lang="en-US" sz="1100" u="none" strike="noStrike" dirty="0">
                          <a:effectLst/>
                        </a:rPr>
                        <a:t>9345235724</a:t>
                      </a:r>
                    </a:p>
                    <a:p>
                      <a:pPr algn="ctr" fontAlgn="b"/>
                      <a:r>
                        <a:rPr lang="en-US" sz="1100" u="none" strike="noStrike" dirty="0">
                          <a:effectLst/>
                        </a:rPr>
                        <a:t> 8424144633</a:t>
                      </a:r>
                      <a:endParaRPr lang="en-US" sz="11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bl>
          </a:graphicData>
        </a:graphic>
      </p:graphicFrame>
      <p:sp>
        <p:nvSpPr>
          <p:cNvPr id="5" name="Rectangle 4"/>
          <p:cNvSpPr/>
          <p:nvPr/>
        </p:nvSpPr>
        <p:spPr>
          <a:xfrm>
            <a:off x="1981200" y="5257800"/>
            <a:ext cx="1364476"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lgn="ctr"/>
            <a:r>
              <a:rPr lang="en-US" dirty="0"/>
              <a:t>multi-value </a:t>
            </a:r>
          </a:p>
        </p:txBody>
      </p:sp>
      <p:graphicFrame>
        <p:nvGraphicFramePr>
          <p:cNvPr id="6" name="Table 5"/>
          <p:cNvGraphicFramePr>
            <a:graphicFrameLocks noGrp="1"/>
          </p:cNvGraphicFramePr>
          <p:nvPr>
            <p:extLst>
              <p:ext uri="{D42A27DB-BD31-4B8C-83A1-F6EECF244321}">
                <p14:modId xmlns:p14="http://schemas.microsoft.com/office/powerpoint/2010/main" val="272615093"/>
              </p:ext>
            </p:extLst>
          </p:nvPr>
        </p:nvGraphicFramePr>
        <p:xfrm>
          <a:off x="5105400" y="3886200"/>
          <a:ext cx="2590800" cy="1015489"/>
        </p:xfrm>
        <a:graphic>
          <a:graphicData uri="http://schemas.openxmlformats.org/drawingml/2006/table">
            <a:tbl>
              <a:tblPr>
                <a:tableStyleId>{5C22544A-7EE6-4342-B048-85BDC9FD1C3A}</a:tableStyleId>
              </a:tblPr>
              <a:tblGrid>
                <a:gridCol w="86360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tblGrid>
              <a:tr h="336107">
                <a:tc gridSpan="3">
                  <a:txBody>
                    <a:bodyPr/>
                    <a:lstStyle/>
                    <a:p>
                      <a:pPr algn="ctr" fontAlgn="b"/>
                      <a:r>
                        <a:rPr lang="en-US" sz="2400" b="1" u="none" strike="noStrike" dirty="0">
                          <a:effectLst/>
                        </a:rPr>
                        <a:t>Address</a:t>
                      </a:r>
                      <a:endParaRPr lang="en-US" sz="2000" b="1" i="0" u="none" strike="noStrike" dirty="0">
                        <a:solidFill>
                          <a:srgbClr val="000000"/>
                        </a:solidFill>
                        <a:effectLst/>
                        <a:latin typeface="Calibri"/>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0102">
                <a:tc>
                  <a:txBody>
                    <a:bodyPr/>
                    <a:lstStyle/>
                    <a:p>
                      <a:pPr algn="ctr" fontAlgn="b"/>
                      <a:r>
                        <a:rPr lang="en-US" sz="2000" u="none" strike="noStrike">
                          <a:effectLst/>
                        </a:rPr>
                        <a:t>Street</a:t>
                      </a:r>
                      <a:endParaRPr lang="en-US" sz="2000" b="0" i="0" u="none" strike="noStrike">
                        <a:solidFill>
                          <a:srgbClr val="000000"/>
                        </a:solidFill>
                        <a:effectLst/>
                        <a:latin typeface="Calibri"/>
                      </a:endParaRPr>
                    </a:p>
                  </a:txBody>
                  <a:tcPr marL="9525" marR="9525" marT="9525" marB="0" anchor="b"/>
                </a:tc>
                <a:tc>
                  <a:txBody>
                    <a:bodyPr/>
                    <a:lstStyle/>
                    <a:p>
                      <a:pPr algn="ctr" fontAlgn="b"/>
                      <a:r>
                        <a:rPr lang="en-US" sz="2000" u="none" strike="noStrike">
                          <a:effectLst/>
                        </a:rPr>
                        <a:t>City</a:t>
                      </a:r>
                      <a:endParaRPr lang="en-US" sz="2000" b="0" i="0" u="none" strike="noStrike">
                        <a:solidFill>
                          <a:srgbClr val="000000"/>
                        </a:solidFill>
                        <a:effectLst/>
                        <a:latin typeface="Calibri"/>
                      </a:endParaRPr>
                    </a:p>
                  </a:txBody>
                  <a:tcPr marL="9525" marR="9525" marT="9525" marB="0" anchor="b"/>
                </a:tc>
                <a:tc>
                  <a:txBody>
                    <a:bodyPr/>
                    <a:lstStyle/>
                    <a:p>
                      <a:pPr algn="ctr" fontAlgn="b"/>
                      <a:r>
                        <a:rPr lang="en-US" sz="2000" u="none" strike="noStrike">
                          <a:effectLst/>
                        </a:rPr>
                        <a:t>State</a:t>
                      </a:r>
                      <a:endParaRPr lang="en-US" sz="20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r h="320102">
                <a:tc>
                  <a:txBody>
                    <a:bodyPr/>
                    <a:lstStyle/>
                    <a:p>
                      <a:pPr algn="ctr" fontAlgn="b"/>
                      <a:r>
                        <a:rPr lang="en-US" sz="1600" u="none" strike="noStrike" dirty="0">
                          <a:effectLst/>
                        </a:rPr>
                        <a:t>Main</a:t>
                      </a:r>
                      <a:endParaRPr lang="en-US" sz="1600" b="0" i="0" u="none" strike="noStrike" dirty="0">
                        <a:solidFill>
                          <a:srgbClr val="000000"/>
                        </a:solidFill>
                        <a:effectLst/>
                        <a:latin typeface="Calibri"/>
                      </a:endParaRPr>
                    </a:p>
                  </a:txBody>
                  <a:tcPr marL="9525" marR="9525" marT="9525" marB="0" anchor="b"/>
                </a:tc>
                <a:tc>
                  <a:txBody>
                    <a:bodyPr/>
                    <a:lstStyle/>
                    <a:p>
                      <a:pPr algn="ctr" fontAlgn="b"/>
                      <a:r>
                        <a:rPr lang="en-US" sz="1600" u="none" strike="noStrike" dirty="0">
                          <a:effectLst/>
                        </a:rPr>
                        <a:t>Union</a:t>
                      </a:r>
                      <a:endParaRPr lang="en-US" sz="1600" b="0" i="0" u="none" strike="noStrike" dirty="0">
                        <a:solidFill>
                          <a:srgbClr val="000000"/>
                        </a:solidFill>
                        <a:effectLst/>
                        <a:latin typeface="Calibri"/>
                      </a:endParaRPr>
                    </a:p>
                  </a:txBody>
                  <a:tcPr marL="9525" marR="9525" marT="9525" marB="0" anchor="b"/>
                </a:tc>
                <a:tc>
                  <a:txBody>
                    <a:bodyPr/>
                    <a:lstStyle/>
                    <a:p>
                      <a:pPr algn="ctr" fontAlgn="b"/>
                      <a:r>
                        <a:rPr lang="en-US" sz="1600" u="none" strike="noStrike" dirty="0">
                          <a:effectLst/>
                        </a:rPr>
                        <a:t>NJ</a:t>
                      </a:r>
                      <a:endParaRPr lang="en-US" sz="16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bl>
          </a:graphicData>
        </a:graphic>
      </p:graphicFrame>
      <p:sp>
        <p:nvSpPr>
          <p:cNvPr id="15" name="Rectangle 14"/>
          <p:cNvSpPr/>
          <p:nvPr/>
        </p:nvSpPr>
        <p:spPr>
          <a:xfrm>
            <a:off x="5739597" y="5224441"/>
            <a:ext cx="1162883"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lgn="ctr"/>
            <a:r>
              <a:rPr lang="en-US" dirty="0"/>
              <a:t>composite</a:t>
            </a:r>
          </a:p>
        </p:txBody>
      </p:sp>
    </p:spTree>
    <p:extLst>
      <p:ext uri="{BB962C8B-B14F-4D97-AF65-F5344CB8AC3E}">
        <p14:creationId xmlns:p14="http://schemas.microsoft.com/office/powerpoint/2010/main" val="2190798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3" name="Rectangle 3" descr="Rectangle: Click to edit Master text styles&#10;Second level&#10;Third level&#10;Fourth level&#10;Fifth level"/>
          <p:cNvSpPr>
            <a:spLocks noGrp="1" noChangeArrowheads="1"/>
          </p:cNvSpPr>
          <p:nvPr>
            <p:ph type="body" idx="1"/>
          </p:nvPr>
        </p:nvSpPr>
        <p:spPr>
          <a:xfrm>
            <a:off x="571500" y="1295400"/>
            <a:ext cx="8001000" cy="4114800"/>
          </a:xfrm>
        </p:spPr>
        <p:txBody>
          <a:bodyPr/>
          <a:lstStyle/>
          <a:p>
            <a:pPr marL="400050"/>
            <a:r>
              <a:rPr lang="en-US" sz="2800" dirty="0">
                <a:latin typeface="Arial" panose="020B0604020202020204" pitchFamily="34" charset="0"/>
                <a:cs typeface="Arial" panose="020B0604020202020204" pitchFamily="34" charset="0"/>
              </a:rPr>
              <a:t>Stored vs. derived attributes</a:t>
            </a:r>
          </a:p>
          <a:p>
            <a:pPr marL="800100" lvl="1"/>
            <a:r>
              <a:rPr lang="en-US" sz="2000" dirty="0">
                <a:solidFill>
                  <a:srgbClr val="000000"/>
                </a:solidFill>
                <a:latin typeface="Arial" panose="020B0604020202020204" pitchFamily="34" charset="0"/>
                <a:cs typeface="Arial" panose="020B0604020202020204" pitchFamily="34" charset="0"/>
              </a:rPr>
              <a:t>A </a:t>
            </a:r>
            <a:r>
              <a:rPr lang="en-US" sz="2000" b="1" dirty="0">
                <a:solidFill>
                  <a:srgbClr val="FF0000"/>
                </a:solidFill>
                <a:latin typeface="Arial" panose="020B0604020202020204" pitchFamily="34" charset="0"/>
                <a:cs typeface="Arial" panose="020B0604020202020204" pitchFamily="34" charset="0"/>
              </a:rPr>
              <a:t>Derived</a:t>
            </a:r>
            <a:r>
              <a:rPr lang="en-US" sz="2000" dirty="0">
                <a:solidFill>
                  <a:srgbClr val="000000"/>
                </a:solidFill>
                <a:latin typeface="Arial" panose="020B0604020202020204" pitchFamily="34" charset="0"/>
                <a:cs typeface="Arial" panose="020B0604020202020204" pitchFamily="34" charset="0"/>
              </a:rPr>
              <a:t> Attribute does not physically exist within the database, but is derived (computed) by an algorithm or computation.</a:t>
            </a:r>
          </a:p>
          <a:p>
            <a:pPr marL="1371600" lvl="2" indent="-457200" eaLnBrk="1" hangingPunct="1"/>
            <a:r>
              <a:rPr lang="en-US" sz="1800" dirty="0">
                <a:latin typeface="Arial" panose="020B0604020202020204" pitchFamily="34" charset="0"/>
                <a:cs typeface="Arial" panose="020B0604020202020204" pitchFamily="34" charset="0"/>
              </a:rPr>
              <a:t>Total sale amount for a purchase = purchase price * number of copies purchased</a:t>
            </a:r>
          </a:p>
        </p:txBody>
      </p:sp>
      <p:grpSp>
        <p:nvGrpSpPr>
          <p:cNvPr id="2" name="Group 1"/>
          <p:cNvGrpSpPr/>
          <p:nvPr/>
        </p:nvGrpSpPr>
        <p:grpSpPr>
          <a:xfrm>
            <a:off x="4267200" y="3505200"/>
            <a:ext cx="3657600" cy="1447800"/>
            <a:chOff x="4267200" y="3505200"/>
            <a:chExt cx="3657600" cy="1447800"/>
          </a:xfrm>
        </p:grpSpPr>
        <p:sp>
          <p:nvSpPr>
            <p:cNvPr id="81941" name="Oval 21"/>
            <p:cNvSpPr>
              <a:spLocks noChangeArrowheads="1"/>
            </p:cNvSpPr>
            <p:nvPr/>
          </p:nvSpPr>
          <p:spPr bwMode="auto">
            <a:xfrm>
              <a:off x="4495800" y="3962400"/>
              <a:ext cx="11430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942" name="Text Box 22"/>
            <p:cNvSpPr txBox="1">
              <a:spLocks noChangeArrowheads="1"/>
            </p:cNvSpPr>
            <p:nvPr/>
          </p:nvSpPr>
          <p:spPr bwMode="auto">
            <a:xfrm>
              <a:off x="4267200" y="39624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2000"/>
                <a:t>price</a:t>
              </a:r>
            </a:p>
          </p:txBody>
        </p:sp>
        <p:sp>
          <p:nvSpPr>
            <p:cNvPr id="81943" name="Line 23"/>
            <p:cNvSpPr>
              <a:spLocks noChangeShapeType="1"/>
            </p:cNvSpPr>
            <p:nvPr/>
          </p:nvSpPr>
          <p:spPr bwMode="auto">
            <a:xfrm>
              <a:off x="5638800" y="419100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1945" name="Text Box 25"/>
            <p:cNvSpPr txBox="1">
              <a:spLocks noChangeArrowheads="1"/>
            </p:cNvSpPr>
            <p:nvPr/>
          </p:nvSpPr>
          <p:spPr bwMode="auto">
            <a:xfrm>
              <a:off x="6324600" y="3962400"/>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a:t>purchase</a:t>
              </a:r>
            </a:p>
          </p:txBody>
        </p:sp>
        <p:sp>
          <p:nvSpPr>
            <p:cNvPr id="81952" name="AutoShape 32"/>
            <p:cNvSpPr>
              <a:spLocks noChangeArrowheads="1"/>
            </p:cNvSpPr>
            <p:nvPr/>
          </p:nvSpPr>
          <p:spPr bwMode="auto">
            <a:xfrm>
              <a:off x="6324600" y="3657600"/>
              <a:ext cx="1066800" cy="990600"/>
            </a:xfrm>
            <a:prstGeom prst="diamond">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953" name="Oval 33"/>
            <p:cNvSpPr>
              <a:spLocks noChangeArrowheads="1"/>
            </p:cNvSpPr>
            <p:nvPr/>
          </p:nvSpPr>
          <p:spPr bwMode="auto">
            <a:xfrm>
              <a:off x="4953000" y="4495800"/>
              <a:ext cx="11430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954" name="Text Box 34"/>
            <p:cNvSpPr txBox="1">
              <a:spLocks noChangeArrowheads="1"/>
            </p:cNvSpPr>
            <p:nvPr/>
          </p:nvSpPr>
          <p:spPr bwMode="auto">
            <a:xfrm>
              <a:off x="4724400" y="4572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600"/>
                <a:t># of copies</a:t>
              </a:r>
            </a:p>
          </p:txBody>
        </p:sp>
        <p:sp>
          <p:nvSpPr>
            <p:cNvPr id="81955" name="Line 35"/>
            <p:cNvSpPr>
              <a:spLocks noChangeShapeType="1"/>
            </p:cNvSpPr>
            <p:nvPr/>
          </p:nvSpPr>
          <p:spPr bwMode="auto">
            <a:xfrm flipV="1">
              <a:off x="6019800" y="4191000"/>
              <a:ext cx="3048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1956" name="Line 36"/>
            <p:cNvSpPr>
              <a:spLocks noChangeShapeType="1"/>
            </p:cNvSpPr>
            <p:nvPr/>
          </p:nvSpPr>
          <p:spPr bwMode="auto">
            <a:xfrm flipH="1" flipV="1">
              <a:off x="6096000" y="3886200"/>
              <a:ext cx="22860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1957" name="Oval 37"/>
            <p:cNvSpPr>
              <a:spLocks noChangeArrowheads="1"/>
            </p:cNvSpPr>
            <p:nvPr/>
          </p:nvSpPr>
          <p:spPr bwMode="auto">
            <a:xfrm>
              <a:off x="5105400" y="3505200"/>
              <a:ext cx="1143000" cy="457200"/>
            </a:xfrm>
            <a:prstGeom prst="ellipse">
              <a:avLst/>
            </a:prstGeom>
            <a:noFill/>
            <a:ln w="38100">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1958" name="Text Box 38"/>
            <p:cNvSpPr txBox="1">
              <a:spLocks noChangeArrowheads="1"/>
            </p:cNvSpPr>
            <p:nvPr/>
          </p:nvSpPr>
          <p:spPr bwMode="auto">
            <a:xfrm>
              <a:off x="4876800" y="35814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spcBef>
                  <a:spcPct val="50000"/>
                </a:spcBef>
              </a:pPr>
              <a:r>
                <a:rPr lang="en-US" sz="1600"/>
                <a:t>Total sale</a:t>
              </a:r>
            </a:p>
          </p:txBody>
        </p:sp>
      </p:grpSp>
      <p:sp>
        <p:nvSpPr>
          <p:cNvPr id="22" name="Rectangle 2"/>
          <p:cNvSpPr>
            <a:spLocks noGrp="1" noChangeArrowheads="1"/>
          </p:cNvSpPr>
          <p:nvPr>
            <p:ph type="title"/>
          </p:nvPr>
        </p:nvSpPr>
        <p:spPr>
          <a:xfrm>
            <a:off x="609600" y="10391"/>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Attributes: Special Types</a:t>
            </a:r>
          </a:p>
        </p:txBody>
      </p:sp>
      <p:sp>
        <p:nvSpPr>
          <p:cNvPr id="23" name="Rectangle 22"/>
          <p:cNvSpPr/>
          <p:nvPr/>
        </p:nvSpPr>
        <p:spPr>
          <a:xfrm>
            <a:off x="1395845" y="5605046"/>
            <a:ext cx="6528955" cy="33855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1"/>
            <a:r>
              <a:rPr lang="en-US" sz="1600" dirty="0">
                <a:solidFill>
                  <a:srgbClr val="000000"/>
                </a:solidFill>
              </a:rPr>
              <a:t>The notation for derived  attribute is simple: it is NOT included!</a:t>
            </a:r>
            <a:endParaRPr lang="en-US" dirty="0"/>
          </a:p>
        </p:txBody>
      </p:sp>
    </p:spTree>
    <p:extLst>
      <p:ext uri="{BB962C8B-B14F-4D97-AF65-F5344CB8AC3E}">
        <p14:creationId xmlns:p14="http://schemas.microsoft.com/office/powerpoint/2010/main" val="14691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685800" y="20782"/>
            <a:ext cx="7772400" cy="1143000"/>
          </a:xfrm>
        </p:spPr>
        <p:txBody>
          <a:bodyPr/>
          <a:lstStyle/>
          <a:p>
            <a:pPr eaLnBrk="1" hangingPunct="1"/>
            <a:r>
              <a:rPr lang="en-US" sz="4000" b="1" dirty="0">
                <a:solidFill>
                  <a:srgbClr val="FFFF00"/>
                </a:solidFill>
                <a:effectLst>
                  <a:outerShdw blurRad="38100" dist="38100" dir="2700000" algn="tl">
                    <a:srgbClr val="000000">
                      <a:alpha val="43137"/>
                    </a:srgbClr>
                  </a:outerShdw>
                </a:effectLst>
              </a:rPr>
              <a:t>ER Modeling: Recap </a:t>
            </a:r>
          </a:p>
        </p:txBody>
      </p:sp>
      <p:sp>
        <p:nvSpPr>
          <p:cNvPr id="83971" name="Rectangle 3" descr="Rectangle: Click to edit Master text styles&#10;Second level&#10;Third level&#10;Fourth level&#10;Fifth level"/>
          <p:cNvSpPr>
            <a:spLocks noGrp="1" noChangeArrowheads="1"/>
          </p:cNvSpPr>
          <p:nvPr>
            <p:ph type="body" idx="1"/>
          </p:nvPr>
        </p:nvSpPr>
        <p:spPr>
          <a:xfrm>
            <a:off x="762000" y="1905000"/>
            <a:ext cx="8001000" cy="4114800"/>
          </a:xfrm>
        </p:spPr>
        <p:txBody>
          <a:bodyPr/>
          <a:lstStyle/>
          <a:p>
            <a:pPr marL="609600" indent="-609600" eaLnBrk="1" hangingPunct="1">
              <a:lnSpc>
                <a:spcPct val="90000"/>
              </a:lnSpc>
            </a:pPr>
            <a:r>
              <a:rPr lang="en-US" sz="2000" dirty="0">
                <a:latin typeface="Arial" panose="020B0604020202020204" pitchFamily="34" charset="0"/>
                <a:cs typeface="Arial" panose="020B0604020202020204" pitchFamily="34" charset="0"/>
              </a:rPr>
              <a:t>Three constructs:</a:t>
            </a:r>
          </a:p>
          <a:p>
            <a:pPr marL="990600" lvl="1" indent="-533400" eaLnBrk="1" hangingPunct="1">
              <a:lnSpc>
                <a:spcPct val="90000"/>
              </a:lnSpc>
            </a:pPr>
            <a:r>
              <a:rPr lang="en-US" sz="2000" dirty="0">
                <a:latin typeface="Arial" panose="020B0604020202020204" pitchFamily="34" charset="0"/>
                <a:cs typeface="Arial" panose="020B0604020202020204" pitchFamily="34" charset="0"/>
              </a:rPr>
              <a:t>Entity: </a:t>
            </a:r>
          </a:p>
          <a:p>
            <a:pPr marL="990600" lvl="1" indent="-533400" eaLnBrk="1" hangingPunct="1">
              <a:lnSpc>
                <a:spcPct val="90000"/>
              </a:lnSpc>
            </a:pPr>
            <a:endParaRPr lang="en-US" sz="2000" dirty="0">
              <a:latin typeface="Arial" panose="020B0604020202020204" pitchFamily="34" charset="0"/>
              <a:cs typeface="Arial" panose="020B0604020202020204" pitchFamily="34" charset="0"/>
            </a:endParaRPr>
          </a:p>
          <a:p>
            <a:pPr marL="990600" lvl="1" indent="-533400" eaLnBrk="1" hangingPunct="1">
              <a:lnSpc>
                <a:spcPct val="90000"/>
              </a:lnSpc>
            </a:pPr>
            <a:r>
              <a:rPr lang="en-US" sz="2000" dirty="0">
                <a:latin typeface="Arial" panose="020B0604020202020204" pitchFamily="34" charset="0"/>
                <a:cs typeface="Arial" panose="020B0604020202020204" pitchFamily="34" charset="0"/>
              </a:rPr>
              <a:t>Relationship:</a:t>
            </a:r>
          </a:p>
          <a:p>
            <a:pPr marL="990600" lvl="1" indent="-533400" eaLnBrk="1" hangingPunct="1">
              <a:lnSpc>
                <a:spcPct val="90000"/>
              </a:lnSpc>
            </a:pPr>
            <a:endParaRPr lang="en-US" sz="2000" dirty="0">
              <a:latin typeface="Arial" panose="020B0604020202020204" pitchFamily="34" charset="0"/>
              <a:cs typeface="Arial" panose="020B0604020202020204" pitchFamily="34" charset="0"/>
            </a:endParaRPr>
          </a:p>
          <a:p>
            <a:pPr marL="990600" lvl="1" indent="-533400" eaLnBrk="1" hangingPunct="1">
              <a:lnSpc>
                <a:spcPct val="90000"/>
              </a:lnSpc>
            </a:pPr>
            <a:r>
              <a:rPr lang="en-US" sz="2000" dirty="0">
                <a:latin typeface="Arial" panose="020B0604020202020204" pitchFamily="34" charset="0"/>
                <a:cs typeface="Arial" panose="020B0604020202020204" pitchFamily="34" charset="0"/>
              </a:rPr>
              <a:t>Attributes:</a:t>
            </a:r>
          </a:p>
          <a:p>
            <a:pPr marL="990600" lvl="1" indent="-533400" eaLnBrk="1" hangingPunct="1">
              <a:lnSpc>
                <a:spcPct val="90000"/>
              </a:lnSpc>
            </a:pPr>
            <a:endParaRPr lang="en-US" sz="2000" dirty="0">
              <a:latin typeface="Arial" panose="020B0604020202020204" pitchFamily="34" charset="0"/>
              <a:cs typeface="Arial" panose="020B0604020202020204" pitchFamily="34" charset="0"/>
            </a:endParaRPr>
          </a:p>
          <a:p>
            <a:pPr marL="1371600" lvl="2" indent="-457200" eaLnBrk="1" hangingPunct="1">
              <a:lnSpc>
                <a:spcPct val="90000"/>
              </a:lnSpc>
            </a:pPr>
            <a:r>
              <a:rPr lang="en-US" sz="2000" dirty="0">
                <a:latin typeface="Arial" panose="020B0604020202020204" pitchFamily="34" charset="0"/>
                <a:cs typeface="Arial" panose="020B0604020202020204" pitchFamily="34" charset="0"/>
              </a:rPr>
              <a:t>Multi-value</a:t>
            </a:r>
          </a:p>
          <a:p>
            <a:pPr marL="1371600" lvl="2" indent="-457200" eaLnBrk="1" hangingPunct="1">
              <a:lnSpc>
                <a:spcPct val="90000"/>
              </a:lnSpc>
            </a:pPr>
            <a:endParaRPr lang="en-US" sz="2000" dirty="0">
              <a:latin typeface="Arial" panose="020B0604020202020204" pitchFamily="34" charset="0"/>
              <a:cs typeface="Arial" panose="020B0604020202020204" pitchFamily="34" charset="0"/>
            </a:endParaRPr>
          </a:p>
          <a:p>
            <a:pPr marL="1371600" lvl="2" indent="-457200" eaLnBrk="1" hangingPunct="1">
              <a:lnSpc>
                <a:spcPct val="90000"/>
              </a:lnSpc>
            </a:pPr>
            <a:r>
              <a:rPr lang="en-US" sz="2000" dirty="0">
                <a:latin typeface="Arial" panose="020B0604020202020204" pitchFamily="34" charset="0"/>
                <a:cs typeface="Arial" panose="020B0604020202020204" pitchFamily="34" charset="0"/>
              </a:rPr>
              <a:t>Derived</a:t>
            </a:r>
          </a:p>
          <a:p>
            <a:pPr marL="1371600" lvl="2" indent="-457200" eaLnBrk="1" hangingPunct="1">
              <a:lnSpc>
                <a:spcPct val="90000"/>
              </a:lnSpc>
            </a:pPr>
            <a:endParaRPr lang="en-US" sz="2000" dirty="0">
              <a:latin typeface="Arial" panose="020B0604020202020204" pitchFamily="34" charset="0"/>
              <a:cs typeface="Arial" panose="020B0604020202020204" pitchFamily="34" charset="0"/>
            </a:endParaRPr>
          </a:p>
          <a:p>
            <a:pPr marL="1371600" lvl="2" indent="-457200" eaLnBrk="1" hangingPunct="1">
              <a:lnSpc>
                <a:spcPct val="90000"/>
              </a:lnSpc>
            </a:pPr>
            <a:r>
              <a:rPr lang="en-US" sz="2000" dirty="0">
                <a:latin typeface="Arial" panose="020B0604020202020204" pitchFamily="34" charset="0"/>
                <a:cs typeface="Arial" panose="020B0604020202020204" pitchFamily="34" charset="0"/>
              </a:rPr>
              <a:t>Key (identifier)</a:t>
            </a:r>
          </a:p>
          <a:p>
            <a:pPr marL="1371600" lvl="2" indent="-457200" eaLnBrk="1" hangingPunct="1">
              <a:lnSpc>
                <a:spcPct val="90000"/>
              </a:lnSpc>
            </a:pPr>
            <a:endParaRPr lang="en-US" sz="1800" i="1" dirty="0"/>
          </a:p>
        </p:txBody>
      </p:sp>
      <p:sp>
        <p:nvSpPr>
          <p:cNvPr id="26629" name="Oval 4"/>
          <p:cNvSpPr>
            <a:spLocks noChangeArrowheads="1"/>
          </p:cNvSpPr>
          <p:nvPr/>
        </p:nvSpPr>
        <p:spPr bwMode="auto">
          <a:xfrm>
            <a:off x="3886200" y="3657600"/>
            <a:ext cx="1371600" cy="304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630" name="Rectangle 7"/>
          <p:cNvSpPr>
            <a:spLocks noChangeArrowheads="1"/>
          </p:cNvSpPr>
          <p:nvPr/>
        </p:nvSpPr>
        <p:spPr bwMode="auto">
          <a:xfrm>
            <a:off x="3886200" y="2209800"/>
            <a:ext cx="1447800" cy="381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631" name="AutoShape 9"/>
          <p:cNvSpPr>
            <a:spLocks noChangeArrowheads="1"/>
          </p:cNvSpPr>
          <p:nvPr/>
        </p:nvSpPr>
        <p:spPr bwMode="auto">
          <a:xfrm>
            <a:off x="3886200" y="2895600"/>
            <a:ext cx="1447800" cy="3048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632" name="Oval 10"/>
          <p:cNvSpPr>
            <a:spLocks noChangeArrowheads="1"/>
          </p:cNvSpPr>
          <p:nvPr/>
        </p:nvSpPr>
        <p:spPr bwMode="auto">
          <a:xfrm>
            <a:off x="3886200" y="4263736"/>
            <a:ext cx="1371600" cy="304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633" name="Oval 11"/>
          <p:cNvSpPr>
            <a:spLocks noChangeArrowheads="1"/>
          </p:cNvSpPr>
          <p:nvPr/>
        </p:nvSpPr>
        <p:spPr bwMode="auto">
          <a:xfrm>
            <a:off x="3886200" y="4953000"/>
            <a:ext cx="1371600" cy="304800"/>
          </a:xfrm>
          <a:prstGeom prst="ellipse">
            <a:avLst/>
          </a:prstGeom>
          <a:noFill/>
          <a:ln w="38100">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634" name="Oval 12"/>
          <p:cNvSpPr>
            <a:spLocks noChangeArrowheads="1"/>
          </p:cNvSpPr>
          <p:nvPr/>
        </p:nvSpPr>
        <p:spPr bwMode="auto">
          <a:xfrm>
            <a:off x="3962400" y="5638800"/>
            <a:ext cx="1219200" cy="3048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636" name="Line 14"/>
          <p:cNvSpPr>
            <a:spLocks noChangeShapeType="1"/>
          </p:cNvSpPr>
          <p:nvPr/>
        </p:nvSpPr>
        <p:spPr bwMode="auto">
          <a:xfrm>
            <a:off x="4038600" y="5791200"/>
            <a:ext cx="76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cxnSp>
        <p:nvCxnSpPr>
          <p:cNvPr id="3" name="Straight Connector 2"/>
          <p:cNvCxnSpPr>
            <a:endCxn id="26632" idx="6"/>
          </p:cNvCxnSpPr>
          <p:nvPr/>
        </p:nvCxnSpPr>
        <p:spPr>
          <a:xfrm flipH="1">
            <a:off x="5257800" y="4416136"/>
            <a:ext cx="800100"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p:nvPr/>
        </p:nvCxnSpPr>
        <p:spPr>
          <a:xfrm flipH="1">
            <a:off x="5105400" y="4343400"/>
            <a:ext cx="80010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01508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685800" y="0"/>
            <a:ext cx="8305800" cy="1143000"/>
          </a:xfrm>
        </p:spPr>
        <p:txBody>
          <a:bodyPr/>
          <a:lstStyle/>
          <a:p>
            <a:pPr eaLnBrk="1" hangingPunct="1"/>
            <a:r>
              <a:rPr lang="en-US" sz="3600" b="1" dirty="0">
                <a:solidFill>
                  <a:srgbClr val="FFFF00"/>
                </a:solidFill>
                <a:effectLst>
                  <a:outerShdw blurRad="38100" dist="38100" dir="2700000" algn="tl">
                    <a:srgbClr val="000000">
                      <a:alpha val="43137"/>
                    </a:srgbClr>
                  </a:outerShdw>
                </a:effectLst>
              </a:rPr>
              <a:t>Performing ER Modeling: Basic Procedure </a:t>
            </a:r>
          </a:p>
        </p:txBody>
      </p:sp>
      <p:sp>
        <p:nvSpPr>
          <p:cNvPr id="85004" name="Rectangle 12" descr="Rectangle: Click to edit Master text styles&#10;Second level&#10;Third level&#10;Fourth level&#10;Fifth level"/>
          <p:cNvSpPr>
            <a:spLocks noGrp="1" noChangeArrowheads="1"/>
          </p:cNvSpPr>
          <p:nvPr>
            <p:ph type="body" idx="1"/>
          </p:nvPr>
        </p:nvSpPr>
        <p:spPr>
          <a:xfrm>
            <a:off x="685800" y="1905000"/>
            <a:ext cx="8153400" cy="4114800"/>
          </a:xfrm>
        </p:spPr>
        <p:txBody>
          <a:bodyPr/>
          <a:lstStyle/>
          <a:p>
            <a:pPr eaLnBrk="1" hangingPunct="1"/>
            <a:r>
              <a:rPr lang="en-US" sz="2400" dirty="0"/>
              <a:t> </a:t>
            </a:r>
            <a:r>
              <a:rPr lang="en-US" sz="2400" dirty="0">
                <a:latin typeface="Arial" panose="020B0604020202020204" pitchFamily="34" charset="0"/>
                <a:cs typeface="Arial" panose="020B0604020202020204" pitchFamily="34" charset="0"/>
              </a:rPr>
              <a:t>Get the description of the mini-world through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requirement analysis</a:t>
            </a:r>
          </a:p>
          <a:p>
            <a:pPr eaLnBrk="1" hangingPunct="1"/>
            <a:r>
              <a:rPr lang="en-US" sz="2400" dirty="0">
                <a:latin typeface="Arial" panose="020B0604020202020204" pitchFamily="34" charset="0"/>
                <a:cs typeface="Arial" panose="020B0604020202020204" pitchFamily="34" charset="0"/>
              </a:rPr>
              <a:t> identify </a:t>
            </a:r>
            <a:r>
              <a:rPr lang="en-US" sz="2400" i="1" dirty="0">
                <a:latin typeface="Arial" panose="020B0604020202020204" pitchFamily="34" charset="0"/>
                <a:cs typeface="Arial" panose="020B0604020202020204" pitchFamily="34" charset="0"/>
              </a:rPr>
              <a:t>entities </a:t>
            </a:r>
            <a:r>
              <a:rPr lang="en-US" sz="2400" dirty="0">
                <a:latin typeface="Arial" panose="020B0604020202020204" pitchFamily="34" charset="0"/>
                <a:cs typeface="Arial" panose="020B0604020202020204" pitchFamily="34" charset="0"/>
              </a:rPr>
              <a:t>from the description</a:t>
            </a:r>
          </a:p>
          <a:p>
            <a:pPr eaLnBrk="1" hangingPunct="1"/>
            <a:r>
              <a:rPr lang="en-US" sz="2400" dirty="0">
                <a:latin typeface="Arial" panose="020B0604020202020204" pitchFamily="34" charset="0"/>
                <a:cs typeface="Arial" panose="020B0604020202020204" pitchFamily="34" charset="0"/>
              </a:rPr>
              <a:t> identify </a:t>
            </a:r>
            <a:r>
              <a:rPr lang="en-US" sz="2400" i="1" dirty="0">
                <a:latin typeface="Arial" panose="020B0604020202020204" pitchFamily="34" charset="0"/>
                <a:cs typeface="Arial" panose="020B0604020202020204" pitchFamily="34" charset="0"/>
              </a:rPr>
              <a:t>relationships </a:t>
            </a:r>
            <a:r>
              <a:rPr lang="en-US" sz="2400" dirty="0">
                <a:latin typeface="Arial" panose="020B0604020202020204" pitchFamily="34" charset="0"/>
                <a:cs typeface="Arial" panose="020B0604020202020204" pitchFamily="34" charset="0"/>
              </a:rPr>
              <a:t>among the entities</a:t>
            </a:r>
          </a:p>
          <a:p>
            <a:pPr eaLnBrk="1" hangingPunct="1"/>
            <a:r>
              <a:rPr lang="en-US" sz="2400" dirty="0">
                <a:latin typeface="Arial" panose="020B0604020202020204" pitchFamily="34" charset="0"/>
                <a:cs typeface="Arial" panose="020B0604020202020204" pitchFamily="34" charset="0"/>
              </a:rPr>
              <a:t> identify </a:t>
            </a:r>
            <a:r>
              <a:rPr lang="en-US" sz="2400" i="1" dirty="0">
                <a:latin typeface="Arial" panose="020B0604020202020204" pitchFamily="34" charset="0"/>
                <a:cs typeface="Arial" panose="020B0604020202020204" pitchFamily="34" charset="0"/>
              </a:rPr>
              <a:t>attributes </a:t>
            </a:r>
            <a:r>
              <a:rPr lang="en-US" sz="2400" dirty="0">
                <a:latin typeface="Arial" panose="020B0604020202020204" pitchFamily="34" charset="0"/>
                <a:cs typeface="Arial" panose="020B0604020202020204" pitchFamily="34" charset="0"/>
              </a:rPr>
              <a:t>for the entities and relationships</a:t>
            </a:r>
          </a:p>
          <a:p>
            <a:pPr eaLnBrk="1" hangingPunct="1"/>
            <a:r>
              <a:rPr lang="en-US" sz="2400" dirty="0">
                <a:latin typeface="Arial" panose="020B0604020202020204" pitchFamily="34" charset="0"/>
                <a:cs typeface="Arial" panose="020B0604020202020204" pitchFamily="34" charset="0"/>
              </a:rPr>
              <a:t> identify key (identifier) for each entity  </a:t>
            </a:r>
          </a:p>
          <a:p>
            <a:pPr eaLnBrk="1" hangingPunct="1"/>
            <a:r>
              <a:rPr lang="en-US" sz="2400" dirty="0">
                <a:latin typeface="Arial" panose="020B0604020202020204" pitchFamily="34" charset="0"/>
                <a:cs typeface="Arial" panose="020B0604020202020204" pitchFamily="34" charset="0"/>
              </a:rPr>
              <a:t> Draw the ERD</a:t>
            </a:r>
          </a:p>
        </p:txBody>
      </p:sp>
    </p:spTree>
    <p:extLst>
      <p:ext uri="{BB962C8B-B14F-4D97-AF65-F5344CB8AC3E}">
        <p14:creationId xmlns:p14="http://schemas.microsoft.com/office/powerpoint/2010/main" val="3470539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800" y="0"/>
            <a:ext cx="7772400" cy="1143000"/>
          </a:xfrm>
        </p:spPr>
        <p:txBody>
          <a:bodyPr/>
          <a:lstStyle/>
          <a:p>
            <a:pPr eaLnBrk="1" hangingPunct="1"/>
            <a:r>
              <a:rPr lang="en-US" sz="3600" b="1" dirty="0">
                <a:solidFill>
                  <a:srgbClr val="FFFF00"/>
                </a:solidFill>
              </a:rPr>
              <a:t>Performing ER Modeling: Rules </a:t>
            </a:r>
          </a:p>
        </p:txBody>
      </p:sp>
      <p:sp>
        <p:nvSpPr>
          <p:cNvPr id="28676" name="Rectangle 3" descr="Rectangle: Click to edit Master text styles&#10;Second level&#10;Third level&#10;Fourth level&#10;Fifth level"/>
          <p:cNvSpPr>
            <a:spLocks noGrp="1" noChangeArrowheads="1"/>
          </p:cNvSpPr>
          <p:nvPr>
            <p:ph type="body" idx="1"/>
          </p:nvPr>
        </p:nvSpPr>
        <p:spPr>
          <a:xfrm>
            <a:off x="685800" y="1752600"/>
            <a:ext cx="8153400" cy="4114800"/>
          </a:xfrm>
        </p:spPr>
        <p:txBody>
          <a:bodyPr/>
          <a:lstStyle/>
          <a:p>
            <a:pPr eaLnBrk="1" hangingPunct="1"/>
            <a:r>
              <a:rPr lang="en-US" sz="2000" dirty="0">
                <a:latin typeface="Arial" panose="020B0604020202020204" pitchFamily="34" charset="0"/>
                <a:cs typeface="Arial" panose="020B0604020202020204" pitchFamily="34" charset="0"/>
              </a:rPr>
              <a:t>No duplicated entity or relationship names</a:t>
            </a:r>
          </a:p>
          <a:p>
            <a:pPr eaLnBrk="1" hangingPunct="1"/>
            <a:r>
              <a:rPr lang="en-US" sz="2000" dirty="0">
                <a:latin typeface="Arial" panose="020B0604020202020204" pitchFamily="34" charset="0"/>
                <a:cs typeface="Arial" panose="020B0604020202020204" pitchFamily="34" charset="0"/>
              </a:rPr>
              <a:t>Use specific names for relationships, avoid words like “has”, “is”, etc.</a:t>
            </a:r>
          </a:p>
          <a:p>
            <a:pPr eaLnBrk="1" hangingPunct="1"/>
            <a:r>
              <a:rPr lang="en-US" sz="2000" dirty="0">
                <a:latin typeface="Arial" panose="020B0604020202020204" pitchFamily="34" charset="0"/>
                <a:cs typeface="Arial" panose="020B0604020202020204" pitchFamily="34" charset="0"/>
              </a:rPr>
              <a:t>Each statement in the requirement specification should be located somewhere in the ER diagram.</a:t>
            </a:r>
          </a:p>
          <a:p>
            <a:pPr eaLnBrk="1" hangingPunct="1"/>
            <a:r>
              <a:rPr lang="en-US" sz="2000" dirty="0">
                <a:latin typeface="Arial" panose="020B0604020202020204" pitchFamily="34" charset="0"/>
                <a:cs typeface="Arial" panose="020B0604020202020204" pitchFamily="34" charset="0"/>
              </a:rPr>
              <a:t>Each ER diagram construct should be located somewhere in the requirement specification.</a:t>
            </a:r>
          </a:p>
          <a:p>
            <a:pPr eaLnBrk="1" hangingPunct="1"/>
            <a:r>
              <a:rPr lang="en-US" sz="2000" b="1" i="1" dirty="0">
                <a:solidFill>
                  <a:srgbClr val="FF0000"/>
                </a:solidFill>
                <a:latin typeface="Arial" panose="020B0604020202020204" pitchFamily="34" charset="0"/>
                <a:cs typeface="Arial" panose="020B0604020202020204" pitchFamily="34" charset="0"/>
              </a:rPr>
              <a:t>“No more, no less.”: </a:t>
            </a:r>
            <a:r>
              <a:rPr lang="en-US" sz="2000" b="1" i="1" dirty="0">
                <a:solidFill>
                  <a:srgbClr val="002060"/>
                </a:solidFill>
                <a:latin typeface="Arial" panose="020B0604020202020204" pitchFamily="34" charset="0"/>
                <a:cs typeface="Arial" panose="020B0604020202020204" pitchFamily="34" charset="0"/>
              </a:rPr>
              <a:t>too much assume makes an </a:t>
            </a:r>
            <a:r>
              <a:rPr lang="en-US" sz="2000" b="1" i="1" dirty="0">
                <a:solidFill>
                  <a:srgbClr val="FF0000"/>
                </a:solidFill>
                <a:latin typeface="Arial" panose="020B0604020202020204" pitchFamily="34" charset="0"/>
                <a:cs typeface="Arial" panose="020B0604020202020204" pitchFamily="34" charset="0"/>
              </a:rPr>
              <a:t>ass</a:t>
            </a:r>
            <a:r>
              <a:rPr lang="en-US" sz="2000" b="1" i="1" dirty="0">
                <a:solidFill>
                  <a:srgbClr val="002060"/>
                </a:solidFill>
                <a:latin typeface="Arial" panose="020B0604020202020204" pitchFamily="34" charset="0"/>
                <a:cs typeface="Arial" panose="020B0604020202020204" pitchFamily="34" charset="0"/>
              </a:rPr>
              <a:t> out of </a:t>
            </a:r>
            <a:r>
              <a:rPr lang="en-US" sz="2000" b="1" i="1" dirty="0">
                <a:solidFill>
                  <a:srgbClr val="FF0000"/>
                </a:solidFill>
                <a:latin typeface="Arial" panose="020B0604020202020204" pitchFamily="34" charset="0"/>
                <a:cs typeface="Arial" panose="020B0604020202020204" pitchFamily="34" charset="0"/>
              </a:rPr>
              <a:t>u</a:t>
            </a:r>
            <a:r>
              <a:rPr lang="en-US" sz="2000" b="1" i="1" dirty="0">
                <a:solidFill>
                  <a:srgbClr val="002060"/>
                </a:solidFill>
                <a:latin typeface="Arial" panose="020B0604020202020204" pitchFamily="34" charset="0"/>
                <a:cs typeface="Arial" panose="020B0604020202020204" pitchFamily="34" charset="0"/>
              </a:rPr>
              <a:t> and </a:t>
            </a:r>
            <a:r>
              <a:rPr lang="en-US" sz="2000" b="1" i="1" dirty="0">
                <a:solidFill>
                  <a:srgbClr val="FF0000"/>
                </a:solidFill>
                <a:latin typeface="Arial" panose="020B0604020202020204" pitchFamily="34" charset="0"/>
                <a:cs typeface="Arial" panose="020B0604020202020204" pitchFamily="34" charset="0"/>
              </a:rPr>
              <a:t>me</a:t>
            </a:r>
            <a:r>
              <a:rPr lang="en-US" sz="2000" b="1" i="1" dirty="0">
                <a:solidFill>
                  <a:srgbClr val="002060"/>
                </a:solidFill>
                <a:latin typeface="Arial" panose="020B0604020202020204" pitchFamily="34" charset="0"/>
                <a:cs typeface="Arial" panose="020B0604020202020204" pitchFamily="34" charset="0"/>
              </a:rPr>
              <a:t>!</a:t>
            </a:r>
            <a:endParaRPr lang="en-US" sz="2000" b="1" dirty="0">
              <a:solidFill>
                <a:srgbClr val="002060"/>
              </a:solidFill>
              <a:latin typeface="Arial" panose="020B0604020202020204" pitchFamily="34" charset="0"/>
              <a:cs typeface="Arial" panose="020B0604020202020204" pitchFamily="34" charset="0"/>
            </a:endParaRPr>
          </a:p>
          <a:p>
            <a:pPr eaLnBrk="1" hangingPunct="1"/>
            <a:r>
              <a:rPr lang="en-US" sz="2000" dirty="0">
                <a:latin typeface="Arial" panose="020B0604020202020204" pitchFamily="34" charset="0"/>
                <a:cs typeface="Arial" panose="020B0604020202020204" pitchFamily="34" charset="0"/>
              </a:rPr>
              <a:t>Conceptual design often reveals inconsistencies and ambiguities in the requirement specification, which must be first resolved.</a:t>
            </a:r>
          </a:p>
          <a:p>
            <a:pPr eaLnBrk="1" hangingPunct="1"/>
            <a:endParaRPr lang="en-US" sz="2000" dirty="0"/>
          </a:p>
        </p:txBody>
      </p:sp>
    </p:spTree>
    <p:extLst>
      <p:ext uri="{BB962C8B-B14F-4D97-AF65-F5344CB8AC3E}">
        <p14:creationId xmlns:p14="http://schemas.microsoft.com/office/powerpoint/2010/main" val="806561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762000"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Tips and Tricks </a:t>
            </a:r>
          </a:p>
        </p:txBody>
      </p:sp>
      <p:sp>
        <p:nvSpPr>
          <p:cNvPr id="29700" name="Rectangle 3" descr="Rectangle: Click to edit Master text styles&#10;Second level&#10;Third level&#10;Fourth level&#10;Fifth level"/>
          <p:cNvSpPr>
            <a:spLocks noGrp="1" noChangeArrowheads="1"/>
          </p:cNvSpPr>
          <p:nvPr>
            <p:ph type="body" idx="1"/>
          </p:nvPr>
        </p:nvSpPr>
        <p:spPr>
          <a:xfrm>
            <a:off x="723900" y="1676400"/>
            <a:ext cx="8153400" cy="4114800"/>
          </a:xfrm>
        </p:spPr>
        <p:txBody>
          <a:bodyPr/>
          <a:lstStyle/>
          <a:p>
            <a:pPr eaLnBrk="1" hangingPunct="1"/>
            <a:r>
              <a:rPr lang="en-US" sz="2000" dirty="0"/>
              <a:t> </a:t>
            </a:r>
            <a:r>
              <a:rPr lang="en-US" sz="2000" dirty="0">
                <a:latin typeface="Arial" panose="020B0604020202020204" pitchFamily="34" charset="0"/>
                <a:cs typeface="Arial" panose="020B0604020202020204" pitchFamily="34" charset="0"/>
              </a:rPr>
              <a:t>Identify entities: entities are often </a:t>
            </a:r>
            <a:r>
              <a:rPr lang="en-US" sz="2000" dirty="0">
                <a:solidFill>
                  <a:srgbClr val="CC0000"/>
                </a:solidFill>
                <a:latin typeface="Arial" panose="020B0604020202020204" pitchFamily="34" charset="0"/>
                <a:cs typeface="Arial" panose="020B0604020202020204" pitchFamily="34" charset="0"/>
              </a:rPr>
              <a:t>nouns</a:t>
            </a:r>
            <a:r>
              <a:rPr lang="en-US" sz="2000" dirty="0">
                <a:latin typeface="Arial" panose="020B0604020202020204" pitchFamily="34" charset="0"/>
                <a:cs typeface="Arial" panose="020B0604020202020204" pitchFamily="34" charset="0"/>
              </a:rPr>
              <a:t> in the description</a:t>
            </a:r>
          </a:p>
        </p:txBody>
      </p:sp>
      <p:sp>
        <p:nvSpPr>
          <p:cNvPr id="29701" name="Rectangle 4"/>
          <p:cNvSpPr>
            <a:spLocks noChangeArrowheads="1"/>
          </p:cNvSpPr>
          <p:nvPr/>
        </p:nvSpPr>
        <p:spPr bwMode="auto">
          <a:xfrm>
            <a:off x="914400" y="2438400"/>
            <a:ext cx="77724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sz="2000" dirty="0"/>
              <a:t>The </a:t>
            </a:r>
            <a:r>
              <a:rPr lang="en-US" sz="2000" dirty="0">
                <a:solidFill>
                  <a:srgbClr val="CC0000"/>
                </a:solidFill>
              </a:rPr>
              <a:t>bookstore</a:t>
            </a:r>
            <a:r>
              <a:rPr lang="en-US" sz="2000" dirty="0"/>
              <a:t> sells </a:t>
            </a:r>
            <a:r>
              <a:rPr lang="en-US" sz="2000" dirty="0">
                <a:solidFill>
                  <a:srgbClr val="CC0000"/>
                </a:solidFill>
              </a:rPr>
              <a:t>books</a:t>
            </a:r>
            <a:r>
              <a:rPr lang="en-US" sz="2000" dirty="0"/>
              <a:t> and </a:t>
            </a:r>
            <a:r>
              <a:rPr lang="en-US" sz="2000" dirty="0">
                <a:solidFill>
                  <a:srgbClr val="CC0000"/>
                </a:solidFill>
              </a:rPr>
              <a:t>software</a:t>
            </a:r>
            <a:r>
              <a:rPr lang="en-US" sz="2000" dirty="0"/>
              <a:t> to </a:t>
            </a:r>
            <a:r>
              <a:rPr lang="en-US" sz="2000" dirty="0">
                <a:solidFill>
                  <a:srgbClr val="CC0000"/>
                </a:solidFill>
              </a:rPr>
              <a:t>students</a:t>
            </a:r>
            <a:r>
              <a:rPr lang="en-US" sz="2000" dirty="0"/>
              <a:t>. Each student has a </a:t>
            </a:r>
            <a:r>
              <a:rPr lang="en-US" sz="2000" dirty="0">
                <a:solidFill>
                  <a:srgbClr val="CC0000"/>
                </a:solidFill>
              </a:rPr>
              <a:t>student ID, name (First and Last), address, and phone number</a:t>
            </a:r>
            <a:r>
              <a:rPr lang="en-US" sz="2000" dirty="0"/>
              <a:t>(s). A book has its </a:t>
            </a:r>
            <a:r>
              <a:rPr lang="en-US" sz="2000" dirty="0">
                <a:solidFill>
                  <a:srgbClr val="CC0000"/>
                </a:solidFill>
              </a:rPr>
              <a:t>title, ISBN, author, publisher, number of copies in stock and price</a:t>
            </a:r>
            <a:r>
              <a:rPr lang="en-US" sz="2000" dirty="0"/>
              <a:t>. Software has its </a:t>
            </a:r>
            <a:r>
              <a:rPr lang="en-US" sz="2000" dirty="0">
                <a:solidFill>
                  <a:srgbClr val="CC0000"/>
                </a:solidFill>
              </a:rPr>
              <a:t>name, price, and required platforms</a:t>
            </a:r>
            <a:r>
              <a:rPr lang="en-US" sz="2000" dirty="0"/>
              <a:t> (Windows or Mac)   </a:t>
            </a:r>
          </a:p>
          <a:p>
            <a:pPr>
              <a:spcBef>
                <a:spcPct val="50000"/>
              </a:spcBef>
            </a:pPr>
            <a:r>
              <a:rPr lang="en-US" sz="2000" dirty="0"/>
              <a:t>When a student makes a </a:t>
            </a:r>
            <a:r>
              <a:rPr lang="en-US" sz="2000" dirty="0">
                <a:solidFill>
                  <a:srgbClr val="33CC33"/>
                </a:solidFill>
              </a:rPr>
              <a:t>purchase</a:t>
            </a:r>
            <a:r>
              <a:rPr lang="en-US" sz="2000" dirty="0"/>
              <a:t>, he(she) may get a </a:t>
            </a:r>
            <a:r>
              <a:rPr lang="en-US" sz="2000" dirty="0">
                <a:solidFill>
                  <a:srgbClr val="CC0000"/>
                </a:solidFill>
              </a:rPr>
              <a:t>discount</a:t>
            </a:r>
            <a:r>
              <a:rPr lang="en-US" sz="2000" dirty="0"/>
              <a:t>. The </a:t>
            </a:r>
            <a:r>
              <a:rPr lang="en-US" sz="2000" dirty="0">
                <a:solidFill>
                  <a:srgbClr val="CC0000"/>
                </a:solidFill>
              </a:rPr>
              <a:t>nature of the discount, copies of book purchased</a:t>
            </a:r>
            <a:r>
              <a:rPr lang="en-US" sz="2000" dirty="0"/>
              <a:t> as well as the </a:t>
            </a:r>
            <a:r>
              <a:rPr lang="en-US" sz="2000" dirty="0">
                <a:solidFill>
                  <a:srgbClr val="CC0000"/>
                </a:solidFill>
              </a:rPr>
              <a:t>actual purchase price</a:t>
            </a:r>
            <a:r>
              <a:rPr lang="en-US" sz="2000" dirty="0"/>
              <a:t> should be stored in your database. </a:t>
            </a:r>
          </a:p>
          <a:p>
            <a:pPr>
              <a:spcBef>
                <a:spcPct val="50000"/>
              </a:spcBef>
            </a:pPr>
            <a:r>
              <a:rPr lang="en-US" sz="2000" dirty="0"/>
              <a:t>The bookstore hires </a:t>
            </a:r>
            <a:r>
              <a:rPr lang="en-US" sz="2000" dirty="0">
                <a:solidFill>
                  <a:srgbClr val="CC0000"/>
                </a:solidFill>
              </a:rPr>
              <a:t>employees</a:t>
            </a:r>
            <a:r>
              <a:rPr lang="en-US" sz="2000" dirty="0"/>
              <a:t>. An employee has his </a:t>
            </a:r>
            <a:r>
              <a:rPr lang="en-US" sz="2000" dirty="0">
                <a:solidFill>
                  <a:srgbClr val="CC0000"/>
                </a:solidFill>
              </a:rPr>
              <a:t>employee ID, name, address, and phone number</a:t>
            </a:r>
            <a:r>
              <a:rPr lang="en-US" sz="2000" dirty="0"/>
              <a:t>. If an employee </a:t>
            </a:r>
            <a:r>
              <a:rPr lang="en-US" sz="2000" dirty="0">
                <a:solidFill>
                  <a:srgbClr val="33CC33"/>
                </a:solidFill>
              </a:rPr>
              <a:t>is</a:t>
            </a:r>
            <a:r>
              <a:rPr lang="en-US" sz="2000" dirty="0"/>
              <a:t> also a student,  he can make purchases at the bookstore. </a:t>
            </a:r>
          </a:p>
        </p:txBody>
      </p:sp>
    </p:spTree>
    <p:extLst>
      <p:ext uri="{BB962C8B-B14F-4D97-AF65-F5344CB8AC3E}">
        <p14:creationId xmlns:p14="http://schemas.microsoft.com/office/powerpoint/2010/main" val="1932217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762000"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Tips and Tricks </a:t>
            </a:r>
          </a:p>
        </p:txBody>
      </p:sp>
      <p:sp>
        <p:nvSpPr>
          <p:cNvPr id="30724" name="Rectangle 3" descr="Rectangle: Click to edit Master text styles&#10;Second level&#10;Third level&#10;Fourth level&#10;Fifth level"/>
          <p:cNvSpPr>
            <a:spLocks noGrp="1" noChangeArrowheads="1"/>
          </p:cNvSpPr>
          <p:nvPr>
            <p:ph type="body" idx="1"/>
          </p:nvPr>
        </p:nvSpPr>
        <p:spPr>
          <a:xfrm>
            <a:off x="685800" y="1752600"/>
            <a:ext cx="8153400" cy="4114800"/>
          </a:xfrm>
        </p:spPr>
        <p:txBody>
          <a:bodyPr/>
          <a:lstStyle/>
          <a:p>
            <a:pPr eaLnBrk="1" hangingPunct="1"/>
            <a:r>
              <a:rPr lang="en-US" sz="2400" dirty="0"/>
              <a:t> </a:t>
            </a:r>
            <a:r>
              <a:rPr lang="en-US" sz="2000" dirty="0">
                <a:latin typeface="Arial" panose="020B0604020202020204" pitchFamily="34" charset="0"/>
                <a:cs typeface="Arial" panose="020B0604020202020204" pitchFamily="34" charset="0"/>
              </a:rPr>
              <a:t>Identify entities: which nouns are entities? </a:t>
            </a:r>
          </a:p>
          <a:p>
            <a:pPr lvl="1" eaLnBrk="1" hangingPunct="1"/>
            <a:r>
              <a:rPr lang="en-US" sz="2000" dirty="0">
                <a:latin typeface="Arial" panose="020B0604020202020204" pitchFamily="34" charset="0"/>
                <a:cs typeface="Arial" panose="020B0604020202020204" pitchFamily="34" charset="0"/>
              </a:rPr>
              <a:t>The ones that are of interest to the users</a:t>
            </a:r>
          </a:p>
          <a:p>
            <a:pPr lvl="1" eaLnBrk="1" hangingPunct="1"/>
            <a:r>
              <a:rPr lang="en-US" sz="2000" dirty="0">
                <a:latin typeface="Arial" panose="020B0604020202020204" pitchFamily="34" charset="0"/>
                <a:cs typeface="Arial" panose="020B0604020202020204" pitchFamily="34" charset="0"/>
              </a:rPr>
              <a:t>If a noun “belongs” to another (A has B), then it is more likely to be an attribute. (B is likely to be an attribute of A)</a:t>
            </a:r>
          </a:p>
        </p:txBody>
      </p:sp>
      <p:sp>
        <p:nvSpPr>
          <p:cNvPr id="30725" name="Rectangle 5"/>
          <p:cNvSpPr>
            <a:spLocks noChangeArrowheads="1"/>
          </p:cNvSpPr>
          <p:nvPr/>
        </p:nvSpPr>
        <p:spPr bwMode="auto">
          <a:xfrm>
            <a:off x="152400" y="3429000"/>
            <a:ext cx="8991600"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endParaRPr lang="en-US" sz="1800" dirty="0"/>
          </a:p>
          <a:p>
            <a:pPr>
              <a:spcBef>
                <a:spcPct val="50000"/>
              </a:spcBef>
            </a:pPr>
            <a:r>
              <a:rPr lang="en-US" sz="1800" dirty="0">
                <a:solidFill>
                  <a:srgbClr val="CC0000"/>
                </a:solidFill>
              </a:rPr>
              <a:t>Books 	   </a:t>
            </a:r>
            <a:r>
              <a:rPr lang="en-US" sz="1800" dirty="0"/>
              <a:t>HAVE 	</a:t>
            </a:r>
            <a:r>
              <a:rPr lang="en-US" sz="1800" dirty="0">
                <a:solidFill>
                  <a:srgbClr val="CC0000"/>
                </a:solidFill>
              </a:rPr>
              <a:t>title, ISBN, author, publisher, number of copies in stock and price</a:t>
            </a:r>
            <a:r>
              <a:rPr lang="en-US" sz="1800" dirty="0"/>
              <a:t> </a:t>
            </a:r>
            <a:br>
              <a:rPr lang="en-US" sz="1800" dirty="0"/>
            </a:br>
            <a:r>
              <a:rPr lang="en-US" sz="1800" dirty="0">
                <a:solidFill>
                  <a:srgbClr val="CC0000"/>
                </a:solidFill>
              </a:rPr>
              <a:t>software</a:t>
            </a:r>
            <a:r>
              <a:rPr lang="en-US" sz="1800" dirty="0"/>
              <a:t>    HAS 	</a:t>
            </a:r>
            <a:r>
              <a:rPr lang="en-US" sz="1800" dirty="0">
                <a:solidFill>
                  <a:srgbClr val="CC0000"/>
                </a:solidFill>
              </a:rPr>
              <a:t>name, price, and required platforms</a:t>
            </a:r>
            <a:br>
              <a:rPr lang="en-US" dirty="0"/>
            </a:br>
            <a:r>
              <a:rPr lang="en-US" sz="1800" dirty="0">
                <a:solidFill>
                  <a:srgbClr val="CC0000"/>
                </a:solidFill>
              </a:rPr>
              <a:t>Students</a:t>
            </a:r>
            <a:r>
              <a:rPr lang="en-US" sz="1800" dirty="0"/>
              <a:t>    HAS	</a:t>
            </a:r>
            <a:r>
              <a:rPr lang="en-US" sz="1800" dirty="0">
                <a:solidFill>
                  <a:srgbClr val="CC0000"/>
                </a:solidFill>
              </a:rPr>
              <a:t>student ID, name (First and Last), address, and phone number</a:t>
            </a:r>
            <a:br>
              <a:rPr lang="en-US" sz="1800" dirty="0"/>
            </a:br>
            <a:r>
              <a:rPr lang="en-US" sz="1800" dirty="0">
                <a:solidFill>
                  <a:srgbClr val="CC0000"/>
                </a:solidFill>
              </a:rPr>
              <a:t>Employees</a:t>
            </a:r>
            <a:r>
              <a:rPr lang="en-US" sz="1800" dirty="0"/>
              <a:t> HAVE 	</a:t>
            </a:r>
            <a:r>
              <a:rPr lang="en-US" sz="1800" dirty="0">
                <a:solidFill>
                  <a:srgbClr val="CC0000"/>
                </a:solidFill>
              </a:rPr>
              <a:t>employee ID, name, address, and phone number</a:t>
            </a:r>
          </a:p>
          <a:p>
            <a:pPr>
              <a:spcBef>
                <a:spcPct val="50000"/>
              </a:spcBef>
            </a:pPr>
            <a:r>
              <a:rPr lang="en-US" sz="1800" dirty="0">
                <a:solidFill>
                  <a:srgbClr val="CC0000"/>
                </a:solidFill>
              </a:rPr>
              <a:t>bookstore</a:t>
            </a:r>
            <a:r>
              <a:rPr lang="en-US" sz="1800" dirty="0"/>
              <a:t> </a:t>
            </a:r>
            <a:br>
              <a:rPr lang="en-US" sz="1800" dirty="0"/>
            </a:br>
            <a:r>
              <a:rPr lang="en-US" sz="1800" dirty="0">
                <a:solidFill>
                  <a:srgbClr val="CC0000"/>
                </a:solidFill>
              </a:rPr>
              <a:t>discount</a:t>
            </a:r>
            <a:br>
              <a:rPr lang="en-US" sz="1800" dirty="0">
                <a:solidFill>
                  <a:srgbClr val="CC0000"/>
                </a:solidFill>
              </a:rPr>
            </a:br>
            <a:r>
              <a:rPr lang="en-US" sz="1800" dirty="0">
                <a:solidFill>
                  <a:srgbClr val="CC0000"/>
                </a:solidFill>
              </a:rPr>
              <a:t>Purchase   </a:t>
            </a:r>
            <a:r>
              <a:rPr lang="en-US" sz="1800" dirty="0"/>
              <a:t>HAS</a:t>
            </a:r>
            <a:r>
              <a:rPr lang="en-US" sz="1800" dirty="0">
                <a:solidFill>
                  <a:srgbClr val="CC0000"/>
                </a:solidFill>
              </a:rPr>
              <a:t>    nature of the discount, copies of book purchased,</a:t>
            </a:r>
            <a:r>
              <a:rPr lang="en-US" sz="1800" dirty="0"/>
              <a:t> </a:t>
            </a:r>
            <a:r>
              <a:rPr lang="en-US" sz="1800" dirty="0">
                <a:solidFill>
                  <a:srgbClr val="CC0000"/>
                </a:solidFill>
              </a:rPr>
              <a:t>actual purchase price</a:t>
            </a:r>
            <a:r>
              <a:rPr lang="en-US" sz="1800" dirty="0"/>
              <a:t> </a:t>
            </a:r>
          </a:p>
          <a:p>
            <a:pPr>
              <a:spcBef>
                <a:spcPct val="50000"/>
              </a:spcBef>
            </a:pPr>
            <a:endParaRPr lang="en-US" sz="1800" dirty="0"/>
          </a:p>
        </p:txBody>
      </p:sp>
    </p:spTree>
    <p:extLst>
      <p:ext uri="{BB962C8B-B14F-4D97-AF65-F5344CB8AC3E}">
        <p14:creationId xmlns:p14="http://schemas.microsoft.com/office/powerpoint/2010/main" val="191396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762000" y="0"/>
            <a:ext cx="7772400" cy="1143000"/>
          </a:xfrm>
        </p:spPr>
        <p:txBody>
          <a:bodyPr/>
          <a:lstStyle/>
          <a:p>
            <a:pPr eaLnBrk="1" hangingPunct="1"/>
            <a:r>
              <a:rPr lang="en-US" sz="3200" b="1" dirty="0">
                <a:solidFill>
                  <a:srgbClr val="FFFF00"/>
                </a:solidFill>
              </a:rPr>
              <a:t>Performing ER Modeling: Tips and Tricks </a:t>
            </a:r>
          </a:p>
        </p:txBody>
      </p:sp>
      <p:sp>
        <p:nvSpPr>
          <p:cNvPr id="31748" name="Rectangle 3" descr="Rectangle: Click to edit Master text styles&#10;Second level&#10;Third level&#10;Fourth level&#10;Fifth level"/>
          <p:cNvSpPr>
            <a:spLocks noGrp="1" noChangeArrowheads="1"/>
          </p:cNvSpPr>
          <p:nvPr>
            <p:ph type="body" idx="1"/>
          </p:nvPr>
        </p:nvSpPr>
        <p:spPr>
          <a:xfrm>
            <a:off x="685800" y="1905000"/>
            <a:ext cx="8153400" cy="4114800"/>
          </a:xfrm>
        </p:spPr>
        <p:txBody>
          <a:bodyPr/>
          <a:lstStyle/>
          <a:p>
            <a:pPr eaLnBrk="1" hangingPunct="1"/>
            <a:r>
              <a:rPr lang="en-US" sz="2400" dirty="0"/>
              <a:t> </a:t>
            </a:r>
            <a:r>
              <a:rPr lang="en-US" sz="2400" dirty="0">
                <a:latin typeface="Arial" panose="020B0604020202020204" pitchFamily="34" charset="0"/>
                <a:cs typeface="Arial" panose="020B0604020202020204" pitchFamily="34" charset="0"/>
              </a:rPr>
              <a:t>Identify entities: which nouns are entities? </a:t>
            </a:r>
          </a:p>
          <a:p>
            <a:pPr lvl="1" eaLnBrk="1" hangingPunct="1"/>
            <a:r>
              <a:rPr lang="en-US" sz="2000" dirty="0">
                <a:latin typeface="Arial" panose="020B0604020202020204" pitchFamily="34" charset="0"/>
                <a:cs typeface="Arial" panose="020B0604020202020204" pitchFamily="34" charset="0"/>
              </a:rPr>
              <a:t>It is clear that the first four are entities, their attributes are also found</a:t>
            </a:r>
          </a:p>
          <a:p>
            <a:pPr lvl="1" eaLnBrk="1" hangingPunct="1"/>
            <a:r>
              <a:rPr lang="en-US" sz="2000" dirty="0">
                <a:latin typeface="Arial" panose="020B0604020202020204" pitchFamily="34" charset="0"/>
                <a:cs typeface="Arial" panose="020B0604020202020204" pitchFamily="34" charset="0"/>
              </a:rPr>
              <a:t>Bookstore: It is the USER, or ORGANIZATION, which we are modeling, therefore, it is NOT  an entity</a:t>
            </a:r>
          </a:p>
        </p:txBody>
      </p:sp>
      <p:sp>
        <p:nvSpPr>
          <p:cNvPr id="31749" name="Rectangle 4"/>
          <p:cNvSpPr>
            <a:spLocks noChangeArrowheads="1"/>
          </p:cNvSpPr>
          <p:nvPr/>
        </p:nvSpPr>
        <p:spPr bwMode="auto">
          <a:xfrm>
            <a:off x="152400" y="3429000"/>
            <a:ext cx="8991600"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endParaRPr lang="en-US" sz="1800" dirty="0"/>
          </a:p>
          <a:p>
            <a:pPr>
              <a:spcBef>
                <a:spcPct val="50000"/>
              </a:spcBef>
            </a:pPr>
            <a:r>
              <a:rPr lang="en-US" sz="1800" dirty="0">
                <a:solidFill>
                  <a:srgbClr val="CC0000"/>
                </a:solidFill>
              </a:rPr>
              <a:t>Books 	   </a:t>
            </a:r>
            <a:r>
              <a:rPr lang="en-US" sz="1800" dirty="0"/>
              <a:t>HAVE 	</a:t>
            </a:r>
            <a:r>
              <a:rPr lang="en-US" sz="1800" dirty="0">
                <a:solidFill>
                  <a:srgbClr val="CC0000"/>
                </a:solidFill>
              </a:rPr>
              <a:t>title, ISBN, author, publisher, number of copies in stock and price</a:t>
            </a:r>
            <a:r>
              <a:rPr lang="en-US" sz="1800" dirty="0"/>
              <a:t> </a:t>
            </a:r>
            <a:br>
              <a:rPr lang="en-US" sz="1800" dirty="0"/>
            </a:br>
            <a:r>
              <a:rPr lang="en-US" sz="1800" dirty="0">
                <a:solidFill>
                  <a:srgbClr val="CC0000"/>
                </a:solidFill>
              </a:rPr>
              <a:t>software</a:t>
            </a:r>
            <a:r>
              <a:rPr lang="en-US" sz="1800" dirty="0"/>
              <a:t>    HAS 	</a:t>
            </a:r>
            <a:r>
              <a:rPr lang="en-US" sz="1800" dirty="0">
                <a:solidFill>
                  <a:srgbClr val="CC0000"/>
                </a:solidFill>
              </a:rPr>
              <a:t>name, price, and required platforms</a:t>
            </a:r>
            <a:br>
              <a:rPr lang="en-US" dirty="0"/>
            </a:br>
            <a:r>
              <a:rPr lang="en-US" sz="1800" dirty="0">
                <a:solidFill>
                  <a:srgbClr val="CC0000"/>
                </a:solidFill>
              </a:rPr>
              <a:t>Students</a:t>
            </a:r>
            <a:r>
              <a:rPr lang="en-US" sz="1800" dirty="0"/>
              <a:t>    HAS	</a:t>
            </a:r>
            <a:r>
              <a:rPr lang="en-US" sz="1800" dirty="0">
                <a:solidFill>
                  <a:srgbClr val="CC0000"/>
                </a:solidFill>
              </a:rPr>
              <a:t>student ID, name (First and Last), address, and phone number</a:t>
            </a:r>
            <a:br>
              <a:rPr lang="en-US" sz="1800" dirty="0"/>
            </a:br>
            <a:r>
              <a:rPr lang="en-US" sz="1800" dirty="0">
                <a:solidFill>
                  <a:srgbClr val="CC0000"/>
                </a:solidFill>
              </a:rPr>
              <a:t>Employees</a:t>
            </a:r>
            <a:r>
              <a:rPr lang="en-US" sz="1800" dirty="0"/>
              <a:t> HAVE 	</a:t>
            </a:r>
            <a:r>
              <a:rPr lang="en-US" sz="1800" dirty="0">
                <a:solidFill>
                  <a:srgbClr val="CC0000"/>
                </a:solidFill>
              </a:rPr>
              <a:t>employee ID, name, address, and phone number</a:t>
            </a:r>
          </a:p>
          <a:p>
            <a:pPr>
              <a:spcBef>
                <a:spcPct val="50000"/>
              </a:spcBef>
            </a:pPr>
            <a:r>
              <a:rPr lang="en-US" sz="1800" dirty="0">
                <a:solidFill>
                  <a:srgbClr val="CC0000"/>
                </a:solidFill>
              </a:rPr>
              <a:t>bookstore</a:t>
            </a:r>
            <a:r>
              <a:rPr lang="en-US" sz="1800" dirty="0"/>
              <a:t> </a:t>
            </a:r>
            <a:br>
              <a:rPr lang="en-US" sz="1800" dirty="0"/>
            </a:br>
            <a:r>
              <a:rPr lang="en-US" sz="1800" dirty="0">
                <a:solidFill>
                  <a:srgbClr val="CC0000"/>
                </a:solidFill>
              </a:rPr>
              <a:t>discount</a:t>
            </a:r>
            <a:br>
              <a:rPr lang="en-US" sz="1800" dirty="0">
                <a:solidFill>
                  <a:srgbClr val="CC0000"/>
                </a:solidFill>
              </a:rPr>
            </a:br>
            <a:r>
              <a:rPr lang="en-US" sz="1800" dirty="0">
                <a:solidFill>
                  <a:srgbClr val="CC0000"/>
                </a:solidFill>
              </a:rPr>
              <a:t>Purchase   </a:t>
            </a:r>
            <a:r>
              <a:rPr lang="en-US" sz="1800" dirty="0"/>
              <a:t>HAS</a:t>
            </a:r>
            <a:r>
              <a:rPr lang="en-US" sz="1800" dirty="0">
                <a:solidFill>
                  <a:srgbClr val="CC0000"/>
                </a:solidFill>
              </a:rPr>
              <a:t>    nature of the discount, copies of book purchased</a:t>
            </a:r>
            <a:r>
              <a:rPr lang="en-US" sz="1800" dirty="0"/>
              <a:t> , </a:t>
            </a:r>
            <a:r>
              <a:rPr lang="en-US" sz="1800" dirty="0">
                <a:solidFill>
                  <a:srgbClr val="CC0000"/>
                </a:solidFill>
              </a:rPr>
              <a:t>actual purchase price</a:t>
            </a:r>
            <a:r>
              <a:rPr lang="en-US" sz="1800" dirty="0"/>
              <a:t> </a:t>
            </a:r>
          </a:p>
          <a:p>
            <a:pPr>
              <a:spcBef>
                <a:spcPct val="50000"/>
              </a:spcBef>
            </a:pPr>
            <a:endParaRPr lang="en-US" sz="1800" dirty="0"/>
          </a:p>
        </p:txBody>
      </p:sp>
      <p:cxnSp>
        <p:nvCxnSpPr>
          <p:cNvPr id="3" name="Straight Connector 2"/>
          <p:cNvCxnSpPr/>
          <p:nvPr/>
        </p:nvCxnSpPr>
        <p:spPr>
          <a:xfrm flipH="1">
            <a:off x="90054" y="5282045"/>
            <a:ext cx="14478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181877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762000"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Tips and Tricks </a:t>
            </a:r>
          </a:p>
        </p:txBody>
      </p:sp>
      <p:sp>
        <p:nvSpPr>
          <p:cNvPr id="32772" name="Rectangle 3" descr="Rectangle: Click to edit Master text styles&#10;Second level&#10;Third level&#10;Fourth level&#10;Fifth level"/>
          <p:cNvSpPr>
            <a:spLocks noGrp="1" noChangeArrowheads="1"/>
          </p:cNvSpPr>
          <p:nvPr>
            <p:ph type="body" idx="1"/>
          </p:nvPr>
        </p:nvSpPr>
        <p:spPr>
          <a:xfrm>
            <a:off x="685800" y="1905000"/>
            <a:ext cx="8153400" cy="4114800"/>
          </a:xfrm>
        </p:spPr>
        <p:txBody>
          <a:bodyPr/>
          <a:lstStyle/>
          <a:p>
            <a:pPr eaLnBrk="1" hangingPunct="1"/>
            <a:r>
              <a:rPr lang="en-US" sz="2400" dirty="0"/>
              <a:t> </a:t>
            </a:r>
            <a:r>
              <a:rPr lang="en-US" sz="2400" dirty="0">
                <a:latin typeface="Arial" panose="020B0604020202020204" pitchFamily="34" charset="0"/>
                <a:cs typeface="Arial" panose="020B0604020202020204" pitchFamily="34" charset="0"/>
              </a:rPr>
              <a:t>Identify entities: which nouns are entities? </a:t>
            </a:r>
          </a:p>
          <a:p>
            <a:pPr lvl="1" eaLnBrk="1" hangingPunct="1"/>
            <a:r>
              <a:rPr lang="en-US" sz="2000" dirty="0">
                <a:latin typeface="Arial" panose="020B0604020202020204" pitchFamily="34" charset="0"/>
                <a:cs typeface="Arial" panose="020B0604020202020204" pitchFamily="34" charset="0"/>
              </a:rPr>
              <a:t>Discount: Do we have enough information (attributes) to make it an entity? – It does not make sense to design an entity with no attributes</a:t>
            </a:r>
          </a:p>
          <a:p>
            <a:pPr lvl="1" eaLnBrk="1" hangingPunct="1"/>
            <a:r>
              <a:rPr lang="en-US" sz="2000" dirty="0">
                <a:latin typeface="Arial" panose="020B0604020202020204" pitchFamily="34" charset="0"/>
                <a:cs typeface="Arial" panose="020B0604020202020204" pitchFamily="34" charset="0"/>
              </a:rPr>
              <a:t>Purchase: pay EXTREME attention here. Purchase could be a </a:t>
            </a:r>
            <a:r>
              <a:rPr lang="en-US" sz="2000" i="1" dirty="0">
                <a:solidFill>
                  <a:srgbClr val="CC0000"/>
                </a:solidFill>
                <a:latin typeface="Arial" panose="020B0604020202020204" pitchFamily="34" charset="0"/>
                <a:cs typeface="Arial" panose="020B0604020202020204" pitchFamily="34" charset="0"/>
              </a:rPr>
              <a:t>verb</a:t>
            </a:r>
            <a:r>
              <a:rPr lang="en-US" sz="2000" i="1" dirty="0">
                <a:latin typeface="Arial" panose="020B0604020202020204" pitchFamily="34" charset="0"/>
                <a:cs typeface="Arial" panose="020B0604020202020204" pitchFamily="34" charset="0"/>
              </a:rPr>
              <a:t>.</a:t>
            </a:r>
            <a:endParaRPr lang="en-US" sz="2000" i="1" dirty="0">
              <a:solidFill>
                <a:srgbClr val="CC0000"/>
              </a:solidFill>
              <a:latin typeface="Arial" panose="020B0604020202020204" pitchFamily="34" charset="0"/>
              <a:cs typeface="Arial" panose="020B0604020202020204" pitchFamily="34" charset="0"/>
            </a:endParaRPr>
          </a:p>
          <a:p>
            <a:pPr lvl="1" eaLnBrk="1" hangingPunct="1"/>
            <a:endParaRPr lang="en-US" sz="2000" i="1" dirty="0">
              <a:solidFill>
                <a:srgbClr val="CC0000"/>
              </a:solidFill>
              <a:latin typeface="Arial" panose="020B0604020202020204" pitchFamily="34" charset="0"/>
              <a:cs typeface="Arial" panose="020B0604020202020204" pitchFamily="34" charset="0"/>
            </a:endParaRPr>
          </a:p>
        </p:txBody>
      </p:sp>
      <p:sp>
        <p:nvSpPr>
          <p:cNvPr id="32773" name="Rectangle 4"/>
          <p:cNvSpPr>
            <a:spLocks noChangeArrowheads="1"/>
          </p:cNvSpPr>
          <p:nvPr/>
        </p:nvSpPr>
        <p:spPr bwMode="auto">
          <a:xfrm>
            <a:off x="1066800" y="4191000"/>
            <a:ext cx="7162800"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endParaRPr lang="en-US" sz="1800" dirty="0"/>
          </a:p>
          <a:p>
            <a:pPr>
              <a:spcBef>
                <a:spcPct val="50000"/>
              </a:spcBef>
            </a:pPr>
            <a:r>
              <a:rPr lang="en-US" sz="1800" dirty="0">
                <a:solidFill>
                  <a:srgbClr val="CC0000"/>
                </a:solidFill>
              </a:rPr>
              <a:t>discount</a:t>
            </a:r>
            <a:br>
              <a:rPr lang="en-US" sz="1800" dirty="0">
                <a:solidFill>
                  <a:srgbClr val="CC0000"/>
                </a:solidFill>
              </a:rPr>
            </a:br>
            <a:r>
              <a:rPr lang="en-US" sz="1800" dirty="0">
                <a:solidFill>
                  <a:srgbClr val="CC0000"/>
                </a:solidFill>
              </a:rPr>
              <a:t>Purchase   </a:t>
            </a:r>
            <a:r>
              <a:rPr lang="en-US" sz="1800" dirty="0"/>
              <a:t>HAS</a:t>
            </a:r>
            <a:r>
              <a:rPr lang="en-US" sz="1800" dirty="0">
                <a:solidFill>
                  <a:srgbClr val="CC0000"/>
                </a:solidFill>
              </a:rPr>
              <a:t>    nature of the discount, copies of book purchased,</a:t>
            </a:r>
            <a:r>
              <a:rPr lang="en-US" sz="1800" dirty="0"/>
              <a:t> </a:t>
            </a:r>
            <a:r>
              <a:rPr lang="en-US" sz="1800" dirty="0">
                <a:solidFill>
                  <a:srgbClr val="CC0000"/>
                </a:solidFill>
              </a:rPr>
              <a:t>actual purchase price</a:t>
            </a:r>
            <a:r>
              <a:rPr lang="en-US" sz="1800" dirty="0"/>
              <a:t> </a:t>
            </a:r>
          </a:p>
          <a:p>
            <a:pPr>
              <a:spcBef>
                <a:spcPct val="50000"/>
              </a:spcBef>
            </a:pPr>
            <a:endParaRPr lang="en-US" sz="1800" dirty="0"/>
          </a:p>
        </p:txBody>
      </p:sp>
    </p:spTree>
    <p:extLst>
      <p:ext uri="{BB962C8B-B14F-4D97-AF65-F5344CB8AC3E}">
        <p14:creationId xmlns:p14="http://schemas.microsoft.com/office/powerpoint/2010/main" val="3573396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685800"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Tips and Tricks </a:t>
            </a:r>
          </a:p>
        </p:txBody>
      </p:sp>
      <p:sp>
        <p:nvSpPr>
          <p:cNvPr id="33796" name="Rectangle 3" descr="Rectangle: Click to edit Master text styles&#10;Second level&#10;Third level&#10;Fourth level&#10;Fifth level"/>
          <p:cNvSpPr>
            <a:spLocks noGrp="1" noChangeArrowheads="1"/>
          </p:cNvSpPr>
          <p:nvPr>
            <p:ph type="body" idx="1"/>
          </p:nvPr>
        </p:nvSpPr>
        <p:spPr>
          <a:xfrm>
            <a:off x="685800" y="1905000"/>
            <a:ext cx="8153400" cy="4114800"/>
          </a:xfrm>
        </p:spPr>
        <p:txBody>
          <a:bodyPr/>
          <a:lstStyle/>
          <a:p>
            <a:pPr eaLnBrk="1" hangingPunct="1"/>
            <a:r>
              <a:rPr lang="en-US" sz="2000" dirty="0"/>
              <a:t> </a:t>
            </a:r>
            <a:r>
              <a:rPr lang="en-US" sz="2000" dirty="0">
                <a:latin typeface="Arial" panose="020B0604020202020204" pitchFamily="34" charset="0"/>
                <a:cs typeface="Arial" panose="020B0604020202020204" pitchFamily="34" charset="0"/>
              </a:rPr>
              <a:t>Identify relationships: </a:t>
            </a:r>
            <a:r>
              <a:rPr lang="en-US" sz="2000" b="1" dirty="0">
                <a:solidFill>
                  <a:srgbClr val="33CC33"/>
                </a:solidFill>
                <a:latin typeface="Arial" panose="020B0604020202020204" pitchFamily="34" charset="0"/>
                <a:cs typeface="Arial" panose="020B0604020202020204" pitchFamily="34" charset="0"/>
              </a:rPr>
              <a:t>Verbs</a:t>
            </a:r>
          </a:p>
          <a:p>
            <a:pPr lvl="1" eaLnBrk="1" hangingPunct="1"/>
            <a:r>
              <a:rPr lang="en-US" sz="2000" b="1" dirty="0">
                <a:solidFill>
                  <a:srgbClr val="33CC33"/>
                </a:solidFill>
                <a:latin typeface="Arial" panose="020B0604020202020204" pitchFamily="34" charset="0"/>
                <a:cs typeface="Arial" panose="020B0604020202020204" pitchFamily="34" charset="0"/>
              </a:rPr>
              <a:t>Purchase</a:t>
            </a:r>
            <a:r>
              <a:rPr lang="en-US" sz="2000" dirty="0">
                <a:latin typeface="Arial" panose="020B0604020202020204" pitchFamily="34" charset="0"/>
                <a:cs typeface="Arial" panose="020B0604020202020204" pitchFamily="34" charset="0"/>
              </a:rPr>
              <a:t>: Is it better as a relationship or an entity? </a:t>
            </a:r>
          </a:p>
          <a:p>
            <a:pPr lvl="2" eaLnBrk="1" hangingPunct="1"/>
            <a:r>
              <a:rPr lang="en-US" sz="2000" dirty="0">
                <a:latin typeface="Arial" panose="020B0604020202020204" pitchFamily="34" charset="0"/>
                <a:cs typeface="Arial" panose="020B0604020202020204" pitchFamily="34" charset="0"/>
              </a:rPr>
              <a:t>It ties students to books and software, therefore, it is better as a relationship</a:t>
            </a:r>
          </a:p>
          <a:p>
            <a:pPr lvl="2" eaLnBrk="1" hangingPunct="1"/>
            <a:r>
              <a:rPr lang="en-US" sz="2000" dirty="0">
                <a:latin typeface="Arial" panose="020B0604020202020204" pitchFamily="34" charset="0"/>
                <a:cs typeface="Arial" panose="020B0604020202020204" pitchFamily="34" charset="0"/>
              </a:rPr>
              <a:t>It has </a:t>
            </a:r>
            <a:r>
              <a:rPr lang="en-US" sz="2000" dirty="0">
                <a:solidFill>
                  <a:srgbClr val="CC0000"/>
                </a:solidFill>
                <a:latin typeface="Arial" panose="020B0604020202020204" pitchFamily="34" charset="0"/>
                <a:cs typeface="Arial" panose="020B0604020202020204" pitchFamily="34" charset="0"/>
              </a:rPr>
              <a:t>nature of the discount, </a:t>
            </a:r>
            <a:r>
              <a:rPr lang="en-US" sz="2000" dirty="0">
                <a:latin typeface="Arial" panose="020B0604020202020204" pitchFamily="34" charset="0"/>
                <a:cs typeface="Arial" panose="020B0604020202020204" pitchFamily="34" charset="0"/>
              </a:rPr>
              <a:t> </a:t>
            </a:r>
            <a:r>
              <a:rPr lang="en-US" sz="2000" dirty="0">
                <a:solidFill>
                  <a:srgbClr val="CC0000"/>
                </a:solidFill>
                <a:latin typeface="Arial" panose="020B0604020202020204" pitchFamily="34" charset="0"/>
                <a:cs typeface="Arial" panose="020B0604020202020204" pitchFamily="34" charset="0"/>
              </a:rPr>
              <a:t>actual purchase price</a:t>
            </a:r>
            <a:r>
              <a:rPr lang="en-US" sz="2000" dirty="0">
                <a:latin typeface="Arial" panose="020B0604020202020204" pitchFamily="34" charset="0"/>
                <a:cs typeface="Arial" panose="020B0604020202020204" pitchFamily="34" charset="0"/>
              </a:rPr>
              <a:t> as attributes</a:t>
            </a:r>
          </a:p>
          <a:p>
            <a:pPr lvl="1" eaLnBrk="1" hangingPunct="1"/>
            <a:r>
              <a:rPr lang="en-US" sz="2000" b="1" dirty="0">
                <a:solidFill>
                  <a:srgbClr val="33CC33"/>
                </a:solidFill>
                <a:latin typeface="Arial" panose="020B0604020202020204" pitchFamily="34" charset="0"/>
                <a:cs typeface="Arial" panose="020B0604020202020204" pitchFamily="34" charset="0"/>
              </a:rPr>
              <a:t>Is</a:t>
            </a:r>
            <a:r>
              <a:rPr lang="en-US" sz="2000" dirty="0">
                <a:solidFill>
                  <a:srgbClr val="33CC33"/>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Obviously a relationship here</a:t>
            </a:r>
            <a:endParaRPr lang="en-US" sz="2000" dirty="0">
              <a:solidFill>
                <a:srgbClr val="33CC33"/>
              </a:solidFill>
              <a:latin typeface="Arial" panose="020B0604020202020204" pitchFamily="34" charset="0"/>
              <a:cs typeface="Arial" panose="020B0604020202020204" pitchFamily="34" charset="0"/>
            </a:endParaRPr>
          </a:p>
          <a:p>
            <a:pPr lvl="1" eaLnBrk="1" hangingPunct="1"/>
            <a:endParaRPr lang="en-US" sz="2000" dirty="0">
              <a:solidFill>
                <a:srgbClr val="33CC33"/>
              </a:solidFill>
              <a:latin typeface="Arial" panose="020B0604020202020204" pitchFamily="34" charset="0"/>
              <a:cs typeface="Arial" panose="020B0604020202020204" pitchFamily="34" charset="0"/>
            </a:endParaRPr>
          </a:p>
        </p:txBody>
      </p:sp>
      <p:sp>
        <p:nvSpPr>
          <p:cNvPr id="33797" name="Rectangle 4"/>
          <p:cNvSpPr>
            <a:spLocks noChangeArrowheads="1"/>
          </p:cNvSpPr>
          <p:nvPr/>
        </p:nvSpPr>
        <p:spPr bwMode="auto">
          <a:xfrm>
            <a:off x="1143000" y="4572000"/>
            <a:ext cx="71628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sz="1800" b="1" dirty="0">
                <a:solidFill>
                  <a:srgbClr val="33CC33"/>
                </a:solidFill>
              </a:rPr>
              <a:t>Purchase</a:t>
            </a:r>
            <a:r>
              <a:rPr lang="en-US" sz="1800" dirty="0">
                <a:solidFill>
                  <a:srgbClr val="33CC33"/>
                </a:solidFill>
              </a:rPr>
              <a:t>  </a:t>
            </a:r>
            <a:r>
              <a:rPr lang="en-US" sz="1800" dirty="0">
                <a:solidFill>
                  <a:srgbClr val="CC0000"/>
                </a:solidFill>
              </a:rPr>
              <a:t> </a:t>
            </a:r>
            <a:r>
              <a:rPr lang="en-US" sz="1800" dirty="0"/>
              <a:t>HAS</a:t>
            </a:r>
            <a:r>
              <a:rPr lang="en-US" sz="1800" dirty="0">
                <a:solidFill>
                  <a:srgbClr val="CC0000"/>
                </a:solidFill>
              </a:rPr>
              <a:t>   nature of the discount, copies of book purchased</a:t>
            </a:r>
            <a:r>
              <a:rPr lang="en-US" sz="1800" dirty="0"/>
              <a:t> , </a:t>
            </a:r>
            <a:r>
              <a:rPr lang="en-US" sz="1800" dirty="0">
                <a:solidFill>
                  <a:srgbClr val="CC0000"/>
                </a:solidFill>
              </a:rPr>
              <a:t>actual purchase price</a:t>
            </a:r>
            <a:r>
              <a:rPr lang="en-US" sz="1800" dirty="0"/>
              <a:t> </a:t>
            </a:r>
          </a:p>
          <a:p>
            <a:pPr>
              <a:spcBef>
                <a:spcPct val="50000"/>
              </a:spcBef>
            </a:pPr>
            <a:r>
              <a:rPr lang="en-US" sz="1800" dirty="0"/>
              <a:t>an employee </a:t>
            </a:r>
            <a:r>
              <a:rPr lang="en-US" sz="1800" b="1" dirty="0">
                <a:solidFill>
                  <a:srgbClr val="33CC33"/>
                </a:solidFill>
              </a:rPr>
              <a:t>is</a:t>
            </a:r>
            <a:r>
              <a:rPr lang="en-US" sz="1800" dirty="0"/>
              <a:t> also a student</a:t>
            </a:r>
          </a:p>
          <a:p>
            <a:pPr>
              <a:spcBef>
                <a:spcPct val="50000"/>
              </a:spcBef>
            </a:pPr>
            <a:endParaRPr lang="en-US" sz="1800" dirty="0"/>
          </a:p>
        </p:txBody>
      </p:sp>
    </p:spTree>
    <p:extLst>
      <p:ext uri="{BB962C8B-B14F-4D97-AF65-F5344CB8AC3E}">
        <p14:creationId xmlns:p14="http://schemas.microsoft.com/office/powerpoint/2010/main" val="26089503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685800" y="20782"/>
            <a:ext cx="7772400" cy="1143000"/>
          </a:xfrm>
        </p:spPr>
        <p:txBody>
          <a:bodyPr/>
          <a:lstStyle/>
          <a:p>
            <a:pPr eaLnBrk="1" hangingPunct="1"/>
            <a:r>
              <a:rPr lang="en-US" sz="3200" b="1" dirty="0">
                <a:solidFill>
                  <a:srgbClr val="FFFF00"/>
                </a:solidFill>
              </a:rPr>
              <a:t>Performing ER Modeling: Tips and Tricks </a:t>
            </a:r>
          </a:p>
        </p:txBody>
      </p:sp>
      <p:sp>
        <p:nvSpPr>
          <p:cNvPr id="34820" name="Rectangle 3" descr="Rectangle: Click to edit Master text styles&#10;Second level&#10;Third level&#10;Fourth level&#10;Fifth level"/>
          <p:cNvSpPr>
            <a:spLocks noGrp="1" noChangeArrowheads="1"/>
          </p:cNvSpPr>
          <p:nvPr>
            <p:ph type="body" idx="1"/>
          </p:nvPr>
        </p:nvSpPr>
        <p:spPr>
          <a:xfrm>
            <a:off x="685800" y="1905000"/>
            <a:ext cx="8153400" cy="4114800"/>
          </a:xfrm>
        </p:spPr>
        <p:txBody>
          <a:bodyPr/>
          <a:lstStyle/>
          <a:p>
            <a:pPr eaLnBrk="1" hangingPunct="1"/>
            <a:r>
              <a:rPr lang="en-US" sz="2400" dirty="0">
                <a:latin typeface="Arial" panose="020B0604020202020204" pitchFamily="34" charset="0"/>
                <a:cs typeface="Arial" panose="020B0604020202020204" pitchFamily="34" charset="0"/>
              </a:rPr>
              <a:t>WARNING: The above tricks are used to aid you in your design. Do NOT follow strictly! </a:t>
            </a:r>
          </a:p>
          <a:p>
            <a:pPr lvl="1" eaLnBrk="1" hangingPunct="1"/>
            <a:r>
              <a:rPr lang="en-US" sz="2400" dirty="0">
                <a:latin typeface="Arial" panose="020B0604020202020204" pitchFamily="34" charset="0"/>
                <a:cs typeface="Arial" panose="020B0604020202020204" pitchFamily="34" charset="0"/>
              </a:rPr>
              <a:t>Example: If A has B, B might also be modeled as an entity – refer to the exercise at the end of this lecture</a:t>
            </a:r>
          </a:p>
          <a:p>
            <a:pPr eaLnBrk="1" hangingPunct="1"/>
            <a:endParaRPr lang="en-US" sz="2400" dirty="0">
              <a:latin typeface="Arial" panose="020B0604020202020204" pitchFamily="34" charset="0"/>
              <a:cs typeface="Arial" panose="020B0604020202020204" pitchFamily="34" charset="0"/>
            </a:endParaRPr>
          </a:p>
          <a:p>
            <a:pPr eaLnBrk="1" hangingPunct="1"/>
            <a:r>
              <a:rPr lang="en-US" sz="2400" dirty="0">
                <a:latin typeface="Arial" panose="020B0604020202020204" pitchFamily="34" charset="0"/>
                <a:cs typeface="Arial" panose="020B0604020202020204" pitchFamily="34" charset="0"/>
              </a:rPr>
              <a:t>After you extract the nouns and verbs, analyze carefully the assumptions in the mini-world to determine how to correctly model it</a:t>
            </a:r>
            <a:endParaRPr lang="en-US" sz="2400" i="1" dirty="0">
              <a:solidFill>
                <a:srgbClr val="CC0000"/>
              </a:solidFill>
              <a:latin typeface="Arial" panose="020B0604020202020204" pitchFamily="34" charset="0"/>
              <a:cs typeface="Arial" panose="020B0604020202020204" pitchFamily="34" charset="0"/>
            </a:endParaRPr>
          </a:p>
          <a:p>
            <a:pPr lvl="1" eaLnBrk="1" hangingPunct="1"/>
            <a:endParaRPr lang="en-US" sz="2000" i="1" dirty="0">
              <a:solidFill>
                <a:srgbClr val="CC0000"/>
              </a:solidFill>
            </a:endParaRPr>
          </a:p>
        </p:txBody>
      </p:sp>
    </p:spTree>
    <p:extLst>
      <p:ext uri="{BB962C8B-B14F-4D97-AF65-F5344CB8AC3E}">
        <p14:creationId xmlns:p14="http://schemas.microsoft.com/office/powerpoint/2010/main" val="3224978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611188"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a:t>
            </a:r>
          </a:p>
        </p:txBody>
      </p:sp>
      <p:sp>
        <p:nvSpPr>
          <p:cNvPr id="35844" name="Rectangle 346" descr="Rectangle: Click to edit Master text styles&#10;Second level&#10;Third level&#10;Fourth level&#10;Fifth level"/>
          <p:cNvSpPr>
            <a:spLocks noGrp="1" noChangeArrowheads="1"/>
          </p:cNvSpPr>
          <p:nvPr>
            <p:ph type="body" idx="1"/>
          </p:nvPr>
        </p:nvSpPr>
        <p:spPr>
          <a:xfrm>
            <a:off x="609600" y="1828800"/>
            <a:ext cx="8153400" cy="4114800"/>
          </a:xfrm>
          <a:noFill/>
        </p:spPr>
        <p:txBody>
          <a:bodyPr/>
          <a:lstStyle/>
          <a:p>
            <a:pPr eaLnBrk="1" hangingPunct="1"/>
            <a:r>
              <a:rPr lang="en-US" sz="2400"/>
              <a:t> Finally… </a:t>
            </a:r>
            <a:endParaRPr lang="en-US" sz="2400" i="1">
              <a:solidFill>
                <a:srgbClr val="CC0000"/>
              </a:solidFill>
            </a:endParaRPr>
          </a:p>
          <a:p>
            <a:pPr lvl="1" eaLnBrk="1" hangingPunct="1"/>
            <a:endParaRPr lang="en-US" sz="2000" i="1">
              <a:solidFill>
                <a:srgbClr val="CC0000"/>
              </a:solidFill>
            </a:endParaRPr>
          </a:p>
        </p:txBody>
      </p:sp>
      <p:sp>
        <p:nvSpPr>
          <p:cNvPr id="35845" name="Rectangle 360"/>
          <p:cNvSpPr>
            <a:spLocks noChangeArrowheads="1"/>
          </p:cNvSpPr>
          <p:nvPr/>
        </p:nvSpPr>
        <p:spPr bwMode="auto">
          <a:xfrm>
            <a:off x="1981200" y="4456113"/>
            <a:ext cx="1069975" cy="2667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200" dirty="0">
                <a:latin typeface="Times New Roman" pitchFamily="18" charset="0"/>
              </a:rPr>
              <a:t>BOOK</a:t>
            </a:r>
          </a:p>
        </p:txBody>
      </p:sp>
      <p:sp>
        <p:nvSpPr>
          <p:cNvPr id="35846" name="Oval 361"/>
          <p:cNvSpPr>
            <a:spLocks noChangeArrowheads="1"/>
          </p:cNvSpPr>
          <p:nvPr/>
        </p:nvSpPr>
        <p:spPr bwMode="auto">
          <a:xfrm>
            <a:off x="685800" y="41148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u="sng">
                <a:latin typeface="Times New Roman" pitchFamily="18" charset="0"/>
              </a:rPr>
              <a:t>ISBN</a:t>
            </a:r>
            <a:endParaRPr lang="en-US" sz="1200">
              <a:latin typeface="Times New Roman" pitchFamily="18" charset="0"/>
            </a:endParaRPr>
          </a:p>
        </p:txBody>
      </p:sp>
      <p:sp>
        <p:nvSpPr>
          <p:cNvPr id="35847" name="Oval 362"/>
          <p:cNvSpPr>
            <a:spLocks noChangeArrowheads="1"/>
          </p:cNvSpPr>
          <p:nvPr/>
        </p:nvSpPr>
        <p:spPr bwMode="auto">
          <a:xfrm>
            <a:off x="685800" y="47244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AUTHOR</a:t>
            </a:r>
          </a:p>
        </p:txBody>
      </p:sp>
      <p:sp>
        <p:nvSpPr>
          <p:cNvPr id="35848" name="Oval 363"/>
          <p:cNvSpPr>
            <a:spLocks noChangeArrowheads="1"/>
          </p:cNvSpPr>
          <p:nvPr/>
        </p:nvSpPr>
        <p:spPr bwMode="auto">
          <a:xfrm>
            <a:off x="685800" y="44196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TITLE</a:t>
            </a:r>
          </a:p>
        </p:txBody>
      </p:sp>
      <p:cxnSp>
        <p:nvCxnSpPr>
          <p:cNvPr id="35849" name="AutoShape 364"/>
          <p:cNvCxnSpPr>
            <a:cxnSpLocks noChangeShapeType="1"/>
            <a:stCxn id="35846" idx="6"/>
            <a:endCxn id="35845" idx="1"/>
          </p:cNvCxnSpPr>
          <p:nvPr/>
        </p:nvCxnSpPr>
        <p:spPr bwMode="auto">
          <a:xfrm>
            <a:off x="1563688" y="4248150"/>
            <a:ext cx="417512" cy="34131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50" name="AutoShape 365"/>
          <p:cNvCxnSpPr>
            <a:cxnSpLocks noChangeShapeType="1"/>
            <a:stCxn id="35848" idx="6"/>
            <a:endCxn id="35845" idx="1"/>
          </p:cNvCxnSpPr>
          <p:nvPr/>
        </p:nvCxnSpPr>
        <p:spPr bwMode="auto">
          <a:xfrm>
            <a:off x="1563688" y="4552950"/>
            <a:ext cx="417512" cy="3651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51" name="AutoShape 366"/>
          <p:cNvCxnSpPr>
            <a:cxnSpLocks noChangeShapeType="1"/>
            <a:stCxn id="35847" idx="6"/>
            <a:endCxn id="35845" idx="1"/>
          </p:cNvCxnSpPr>
          <p:nvPr/>
        </p:nvCxnSpPr>
        <p:spPr bwMode="auto">
          <a:xfrm flipV="1">
            <a:off x="1563688" y="4589463"/>
            <a:ext cx="417512" cy="2682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52" name="Oval 367"/>
          <p:cNvSpPr>
            <a:spLocks noChangeArrowheads="1"/>
          </p:cNvSpPr>
          <p:nvPr/>
        </p:nvSpPr>
        <p:spPr bwMode="auto">
          <a:xfrm>
            <a:off x="685800" y="5141913"/>
            <a:ext cx="877888" cy="2651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PUBLISHER</a:t>
            </a:r>
          </a:p>
        </p:txBody>
      </p:sp>
      <p:sp>
        <p:nvSpPr>
          <p:cNvPr id="35853" name="Oval 368"/>
          <p:cNvSpPr>
            <a:spLocks noChangeArrowheads="1"/>
          </p:cNvSpPr>
          <p:nvPr/>
        </p:nvSpPr>
        <p:spPr bwMode="auto">
          <a:xfrm>
            <a:off x="685800" y="5522913"/>
            <a:ext cx="877888" cy="2651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STOCK</a:t>
            </a:r>
          </a:p>
        </p:txBody>
      </p:sp>
      <p:sp>
        <p:nvSpPr>
          <p:cNvPr id="35854" name="Oval 369"/>
          <p:cNvSpPr>
            <a:spLocks noChangeArrowheads="1"/>
          </p:cNvSpPr>
          <p:nvPr/>
        </p:nvSpPr>
        <p:spPr bwMode="auto">
          <a:xfrm>
            <a:off x="685800" y="5903913"/>
            <a:ext cx="877888" cy="2651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PRICE</a:t>
            </a:r>
          </a:p>
        </p:txBody>
      </p:sp>
      <p:cxnSp>
        <p:nvCxnSpPr>
          <p:cNvPr id="35855" name="AutoShape 370"/>
          <p:cNvCxnSpPr>
            <a:cxnSpLocks noChangeShapeType="1"/>
            <a:stCxn id="35854" idx="6"/>
            <a:endCxn id="35845" idx="1"/>
          </p:cNvCxnSpPr>
          <p:nvPr/>
        </p:nvCxnSpPr>
        <p:spPr bwMode="auto">
          <a:xfrm flipV="1">
            <a:off x="1563688" y="4589463"/>
            <a:ext cx="417512" cy="1447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56" name="AutoShape 371"/>
          <p:cNvCxnSpPr>
            <a:cxnSpLocks noChangeShapeType="1"/>
            <a:stCxn id="35852" idx="6"/>
            <a:endCxn id="35845" idx="1"/>
          </p:cNvCxnSpPr>
          <p:nvPr/>
        </p:nvCxnSpPr>
        <p:spPr bwMode="auto">
          <a:xfrm flipV="1">
            <a:off x="1563688" y="4589463"/>
            <a:ext cx="417512" cy="685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57" name="AutoShape 372"/>
          <p:cNvCxnSpPr>
            <a:cxnSpLocks noChangeShapeType="1"/>
            <a:stCxn id="35853" idx="6"/>
            <a:endCxn id="35845" idx="1"/>
          </p:cNvCxnSpPr>
          <p:nvPr/>
        </p:nvCxnSpPr>
        <p:spPr bwMode="auto">
          <a:xfrm flipV="1">
            <a:off x="1563688" y="4589463"/>
            <a:ext cx="417512" cy="1066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58" name="Rectangle 373"/>
          <p:cNvSpPr>
            <a:spLocks noChangeArrowheads="1"/>
          </p:cNvSpPr>
          <p:nvPr/>
        </p:nvSpPr>
        <p:spPr bwMode="auto">
          <a:xfrm>
            <a:off x="5943600" y="6096000"/>
            <a:ext cx="1069975" cy="2667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200">
                <a:latin typeface="Times New Roman" pitchFamily="18" charset="0"/>
              </a:rPr>
              <a:t>SOFTWARE</a:t>
            </a:r>
          </a:p>
        </p:txBody>
      </p:sp>
      <p:sp>
        <p:nvSpPr>
          <p:cNvPr id="35859" name="Oval 374"/>
          <p:cNvSpPr>
            <a:spLocks noChangeArrowheads="1"/>
          </p:cNvSpPr>
          <p:nvPr/>
        </p:nvSpPr>
        <p:spPr bwMode="auto">
          <a:xfrm>
            <a:off x="7620000" y="54864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u="sng">
                <a:latin typeface="Times New Roman" pitchFamily="18" charset="0"/>
              </a:rPr>
              <a:t>NAME</a:t>
            </a:r>
            <a:endParaRPr lang="en-US" sz="1200">
              <a:latin typeface="Times New Roman" pitchFamily="18" charset="0"/>
            </a:endParaRPr>
          </a:p>
        </p:txBody>
      </p:sp>
      <p:sp>
        <p:nvSpPr>
          <p:cNvPr id="35860" name="Oval 375"/>
          <p:cNvSpPr>
            <a:spLocks noChangeArrowheads="1"/>
          </p:cNvSpPr>
          <p:nvPr/>
        </p:nvSpPr>
        <p:spPr bwMode="auto">
          <a:xfrm>
            <a:off x="7620000" y="57912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PLATFORM</a:t>
            </a:r>
          </a:p>
        </p:txBody>
      </p:sp>
      <p:cxnSp>
        <p:nvCxnSpPr>
          <p:cNvPr id="35861" name="AutoShape 376"/>
          <p:cNvCxnSpPr>
            <a:cxnSpLocks noChangeShapeType="1"/>
            <a:stCxn id="35859" idx="2"/>
            <a:endCxn id="35858" idx="3"/>
          </p:cNvCxnSpPr>
          <p:nvPr/>
        </p:nvCxnSpPr>
        <p:spPr bwMode="auto">
          <a:xfrm flipH="1">
            <a:off x="7013575" y="5619750"/>
            <a:ext cx="606425" cy="609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62" name="AutoShape 377"/>
          <p:cNvCxnSpPr>
            <a:cxnSpLocks noChangeShapeType="1"/>
            <a:stCxn id="35860" idx="2"/>
            <a:endCxn id="35858" idx="3"/>
          </p:cNvCxnSpPr>
          <p:nvPr/>
        </p:nvCxnSpPr>
        <p:spPr bwMode="auto">
          <a:xfrm flipH="1">
            <a:off x="7013575" y="5924550"/>
            <a:ext cx="606425"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63" name="Oval 378"/>
          <p:cNvSpPr>
            <a:spLocks noChangeArrowheads="1"/>
          </p:cNvSpPr>
          <p:nvPr/>
        </p:nvSpPr>
        <p:spPr bwMode="auto">
          <a:xfrm>
            <a:off x="7620000" y="61722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PRICE</a:t>
            </a:r>
          </a:p>
        </p:txBody>
      </p:sp>
      <p:cxnSp>
        <p:nvCxnSpPr>
          <p:cNvPr id="35864" name="AutoShape 379"/>
          <p:cNvCxnSpPr>
            <a:cxnSpLocks noChangeShapeType="1"/>
            <a:stCxn id="35863" idx="2"/>
            <a:endCxn id="35858" idx="3"/>
          </p:cNvCxnSpPr>
          <p:nvPr/>
        </p:nvCxnSpPr>
        <p:spPr bwMode="auto">
          <a:xfrm flipH="1" flipV="1">
            <a:off x="7013575" y="6229350"/>
            <a:ext cx="606425" cy="762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65" name="AutoShape 380"/>
          <p:cNvSpPr>
            <a:spLocks noChangeArrowheads="1"/>
          </p:cNvSpPr>
          <p:nvPr/>
        </p:nvSpPr>
        <p:spPr bwMode="auto">
          <a:xfrm>
            <a:off x="3124200" y="3810000"/>
            <a:ext cx="1257300" cy="4191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PURCHASES</a:t>
            </a:r>
          </a:p>
        </p:txBody>
      </p:sp>
      <p:sp>
        <p:nvSpPr>
          <p:cNvPr id="35866" name="AutoShape 381"/>
          <p:cNvSpPr>
            <a:spLocks noChangeArrowheads="1"/>
          </p:cNvSpPr>
          <p:nvPr/>
        </p:nvSpPr>
        <p:spPr bwMode="auto">
          <a:xfrm>
            <a:off x="5105400" y="4495800"/>
            <a:ext cx="1257300" cy="4191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PURCHASES</a:t>
            </a:r>
          </a:p>
        </p:txBody>
      </p:sp>
      <p:sp>
        <p:nvSpPr>
          <p:cNvPr id="35867" name="Oval 382"/>
          <p:cNvSpPr>
            <a:spLocks noChangeArrowheads="1"/>
          </p:cNvSpPr>
          <p:nvPr/>
        </p:nvSpPr>
        <p:spPr bwMode="auto">
          <a:xfrm>
            <a:off x="2362200" y="50292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QTY</a:t>
            </a:r>
          </a:p>
        </p:txBody>
      </p:sp>
      <p:cxnSp>
        <p:nvCxnSpPr>
          <p:cNvPr id="35868" name="AutoShape 383"/>
          <p:cNvCxnSpPr>
            <a:cxnSpLocks noChangeShapeType="1"/>
            <a:stCxn id="35865" idx="2"/>
            <a:endCxn id="35867" idx="6"/>
          </p:cNvCxnSpPr>
          <p:nvPr/>
        </p:nvCxnSpPr>
        <p:spPr bwMode="auto">
          <a:xfrm flipH="1">
            <a:off x="3240088" y="4229100"/>
            <a:ext cx="512762" cy="9334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69" name="Oval 384"/>
          <p:cNvSpPr>
            <a:spLocks noChangeArrowheads="1"/>
          </p:cNvSpPr>
          <p:nvPr/>
        </p:nvSpPr>
        <p:spPr bwMode="auto">
          <a:xfrm>
            <a:off x="4419600" y="49530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QTY</a:t>
            </a:r>
          </a:p>
        </p:txBody>
      </p:sp>
      <p:cxnSp>
        <p:nvCxnSpPr>
          <p:cNvPr id="35870" name="AutoShape 385"/>
          <p:cNvCxnSpPr>
            <a:cxnSpLocks noChangeShapeType="1"/>
            <a:stCxn id="35866" idx="2"/>
            <a:endCxn id="35869" idx="6"/>
          </p:cNvCxnSpPr>
          <p:nvPr/>
        </p:nvCxnSpPr>
        <p:spPr bwMode="auto">
          <a:xfrm flipH="1">
            <a:off x="5297488" y="4914900"/>
            <a:ext cx="436562" cy="1714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71" name="Line 386"/>
          <p:cNvSpPr>
            <a:spLocks noChangeShapeType="1"/>
          </p:cNvSpPr>
          <p:nvPr/>
        </p:nvSpPr>
        <p:spPr bwMode="auto">
          <a:xfrm flipH="1">
            <a:off x="2514600" y="40386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5872" name="Line 387"/>
          <p:cNvSpPr>
            <a:spLocks noChangeShapeType="1"/>
          </p:cNvSpPr>
          <p:nvPr/>
        </p:nvSpPr>
        <p:spPr bwMode="auto">
          <a:xfrm flipH="1">
            <a:off x="4343400" y="3886200"/>
            <a:ext cx="6858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5873" name="Line 388"/>
          <p:cNvSpPr>
            <a:spLocks noChangeShapeType="1"/>
          </p:cNvSpPr>
          <p:nvPr/>
        </p:nvSpPr>
        <p:spPr bwMode="auto">
          <a:xfrm>
            <a:off x="5562600" y="4038600"/>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5874" name="Line 389"/>
          <p:cNvSpPr>
            <a:spLocks noChangeShapeType="1"/>
          </p:cNvSpPr>
          <p:nvPr/>
        </p:nvSpPr>
        <p:spPr bwMode="auto">
          <a:xfrm>
            <a:off x="5715000" y="4876800"/>
            <a:ext cx="76200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5875" name="Oval 390"/>
          <p:cNvSpPr>
            <a:spLocks noChangeArrowheads="1"/>
          </p:cNvSpPr>
          <p:nvPr/>
        </p:nvSpPr>
        <p:spPr bwMode="auto">
          <a:xfrm>
            <a:off x="3124200" y="53340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PRICE</a:t>
            </a:r>
          </a:p>
        </p:txBody>
      </p:sp>
      <p:sp>
        <p:nvSpPr>
          <p:cNvPr id="35876" name="Oval 391"/>
          <p:cNvSpPr>
            <a:spLocks noChangeArrowheads="1"/>
          </p:cNvSpPr>
          <p:nvPr/>
        </p:nvSpPr>
        <p:spPr bwMode="auto">
          <a:xfrm>
            <a:off x="3810000" y="5638800"/>
            <a:ext cx="12192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DISCOUNT_TYPE</a:t>
            </a:r>
          </a:p>
        </p:txBody>
      </p:sp>
      <p:cxnSp>
        <p:nvCxnSpPr>
          <p:cNvPr id="35877" name="AutoShape 392"/>
          <p:cNvCxnSpPr>
            <a:cxnSpLocks noChangeShapeType="1"/>
            <a:stCxn id="35865" idx="2"/>
            <a:endCxn id="35875" idx="0"/>
          </p:cNvCxnSpPr>
          <p:nvPr/>
        </p:nvCxnSpPr>
        <p:spPr bwMode="auto">
          <a:xfrm flipH="1">
            <a:off x="3563938" y="4229100"/>
            <a:ext cx="188912" cy="11049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78" name="AutoShape 393"/>
          <p:cNvCxnSpPr>
            <a:cxnSpLocks noChangeShapeType="1"/>
            <a:stCxn id="35865" idx="2"/>
            <a:endCxn id="35876" idx="0"/>
          </p:cNvCxnSpPr>
          <p:nvPr/>
        </p:nvCxnSpPr>
        <p:spPr bwMode="auto">
          <a:xfrm>
            <a:off x="3752850" y="4229100"/>
            <a:ext cx="666750" cy="14097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79" name="Oval 394"/>
          <p:cNvSpPr>
            <a:spLocks noChangeArrowheads="1"/>
          </p:cNvSpPr>
          <p:nvPr/>
        </p:nvSpPr>
        <p:spPr bwMode="auto">
          <a:xfrm>
            <a:off x="3276600" y="3124200"/>
            <a:ext cx="877888" cy="265113"/>
          </a:xfrm>
          <a:prstGeom prst="ellipse">
            <a:avLst/>
          </a:prstGeom>
          <a:noFill/>
          <a:ln w="952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Total</a:t>
            </a:r>
          </a:p>
        </p:txBody>
      </p:sp>
      <p:cxnSp>
        <p:nvCxnSpPr>
          <p:cNvPr id="35880" name="AutoShape 395"/>
          <p:cNvCxnSpPr>
            <a:cxnSpLocks noChangeShapeType="1"/>
            <a:stCxn id="35879" idx="4"/>
            <a:endCxn id="35865" idx="0"/>
          </p:cNvCxnSpPr>
          <p:nvPr/>
        </p:nvCxnSpPr>
        <p:spPr bwMode="auto">
          <a:xfrm>
            <a:off x="3716338" y="3389313"/>
            <a:ext cx="36512" cy="42068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81" name="Oval 396"/>
          <p:cNvSpPr>
            <a:spLocks noChangeArrowheads="1"/>
          </p:cNvSpPr>
          <p:nvPr/>
        </p:nvSpPr>
        <p:spPr bwMode="auto">
          <a:xfrm>
            <a:off x="4953000" y="53340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PRICE</a:t>
            </a:r>
          </a:p>
        </p:txBody>
      </p:sp>
      <p:sp>
        <p:nvSpPr>
          <p:cNvPr id="35882" name="Oval 397"/>
          <p:cNvSpPr>
            <a:spLocks noChangeArrowheads="1"/>
          </p:cNvSpPr>
          <p:nvPr/>
        </p:nvSpPr>
        <p:spPr bwMode="auto">
          <a:xfrm>
            <a:off x="6172200" y="5181600"/>
            <a:ext cx="12192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DISCOUNT_TYPE</a:t>
            </a:r>
          </a:p>
        </p:txBody>
      </p:sp>
      <p:cxnSp>
        <p:nvCxnSpPr>
          <p:cNvPr id="35883" name="AutoShape 398"/>
          <p:cNvCxnSpPr>
            <a:cxnSpLocks noChangeShapeType="1"/>
            <a:stCxn id="35874" idx="0"/>
            <a:endCxn id="35881" idx="0"/>
          </p:cNvCxnSpPr>
          <p:nvPr/>
        </p:nvCxnSpPr>
        <p:spPr bwMode="auto">
          <a:xfrm flipH="1">
            <a:off x="5392738" y="4876800"/>
            <a:ext cx="322262" cy="4572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84" name="AutoShape 399"/>
          <p:cNvCxnSpPr>
            <a:cxnSpLocks noChangeShapeType="1"/>
            <a:stCxn id="35874" idx="0"/>
            <a:endCxn id="35882" idx="0"/>
          </p:cNvCxnSpPr>
          <p:nvPr/>
        </p:nvCxnSpPr>
        <p:spPr bwMode="auto">
          <a:xfrm>
            <a:off x="5715000" y="4876800"/>
            <a:ext cx="1066800"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85" name="Oval 400"/>
          <p:cNvSpPr>
            <a:spLocks noChangeArrowheads="1"/>
          </p:cNvSpPr>
          <p:nvPr/>
        </p:nvSpPr>
        <p:spPr bwMode="auto">
          <a:xfrm>
            <a:off x="7010400" y="4724400"/>
            <a:ext cx="877888" cy="265113"/>
          </a:xfrm>
          <a:prstGeom prst="ellipse">
            <a:avLst/>
          </a:prstGeom>
          <a:noFill/>
          <a:ln w="952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Total</a:t>
            </a:r>
          </a:p>
        </p:txBody>
      </p:sp>
      <p:cxnSp>
        <p:nvCxnSpPr>
          <p:cNvPr id="35886" name="AutoShape 401"/>
          <p:cNvCxnSpPr>
            <a:cxnSpLocks noChangeShapeType="1"/>
            <a:stCxn id="35874" idx="0"/>
            <a:endCxn id="35885" idx="2"/>
          </p:cNvCxnSpPr>
          <p:nvPr/>
        </p:nvCxnSpPr>
        <p:spPr bwMode="auto">
          <a:xfrm flipV="1">
            <a:off x="5715000" y="4857750"/>
            <a:ext cx="1295400" cy="190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87" name="Rectangle 416"/>
          <p:cNvSpPr>
            <a:spLocks noChangeArrowheads="1"/>
          </p:cNvSpPr>
          <p:nvPr/>
        </p:nvSpPr>
        <p:spPr bwMode="auto">
          <a:xfrm>
            <a:off x="5029200" y="3733800"/>
            <a:ext cx="1066800" cy="2667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200" dirty="0">
                <a:latin typeface="Times New Roman" pitchFamily="18" charset="0"/>
              </a:rPr>
              <a:t>STUDENT</a:t>
            </a:r>
          </a:p>
        </p:txBody>
      </p:sp>
      <p:sp>
        <p:nvSpPr>
          <p:cNvPr id="35888" name="Oval 417"/>
          <p:cNvSpPr>
            <a:spLocks noChangeArrowheads="1"/>
          </p:cNvSpPr>
          <p:nvPr/>
        </p:nvSpPr>
        <p:spPr bwMode="auto">
          <a:xfrm>
            <a:off x="6477000" y="3773488"/>
            <a:ext cx="877888" cy="2651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ADDRESS</a:t>
            </a:r>
          </a:p>
        </p:txBody>
      </p:sp>
      <p:sp>
        <p:nvSpPr>
          <p:cNvPr id="35889" name="Oval 418"/>
          <p:cNvSpPr>
            <a:spLocks noChangeArrowheads="1"/>
          </p:cNvSpPr>
          <p:nvPr/>
        </p:nvSpPr>
        <p:spPr bwMode="auto">
          <a:xfrm>
            <a:off x="6513513" y="4114800"/>
            <a:ext cx="877887"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PHONE</a:t>
            </a:r>
          </a:p>
        </p:txBody>
      </p:sp>
      <p:sp>
        <p:nvSpPr>
          <p:cNvPr id="35890" name="Oval 419"/>
          <p:cNvSpPr>
            <a:spLocks noChangeArrowheads="1"/>
          </p:cNvSpPr>
          <p:nvPr/>
        </p:nvSpPr>
        <p:spPr bwMode="auto">
          <a:xfrm>
            <a:off x="6477000" y="31242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u="sng">
                <a:latin typeface="Times New Roman" pitchFamily="18" charset="0"/>
              </a:rPr>
              <a:t>SID</a:t>
            </a:r>
            <a:endParaRPr lang="en-US" sz="1200">
              <a:latin typeface="Times New Roman" pitchFamily="18" charset="0"/>
            </a:endParaRPr>
          </a:p>
        </p:txBody>
      </p:sp>
      <p:sp>
        <p:nvSpPr>
          <p:cNvPr id="35891" name="Oval 420"/>
          <p:cNvSpPr>
            <a:spLocks noChangeArrowheads="1"/>
          </p:cNvSpPr>
          <p:nvPr/>
        </p:nvSpPr>
        <p:spPr bwMode="auto">
          <a:xfrm>
            <a:off x="6477000" y="34290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SNAME</a:t>
            </a:r>
          </a:p>
        </p:txBody>
      </p:sp>
      <p:cxnSp>
        <p:nvCxnSpPr>
          <p:cNvPr id="35892" name="AutoShape 421"/>
          <p:cNvCxnSpPr>
            <a:cxnSpLocks noChangeShapeType="1"/>
            <a:stCxn id="35887" idx="3"/>
            <a:endCxn id="35889" idx="2"/>
          </p:cNvCxnSpPr>
          <p:nvPr/>
        </p:nvCxnSpPr>
        <p:spPr bwMode="auto">
          <a:xfrm>
            <a:off x="6096000" y="3867150"/>
            <a:ext cx="417513" cy="381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93" name="AutoShape 422"/>
          <p:cNvCxnSpPr>
            <a:cxnSpLocks noChangeShapeType="1"/>
            <a:stCxn id="35887" idx="3"/>
            <a:endCxn id="35891" idx="3"/>
          </p:cNvCxnSpPr>
          <p:nvPr/>
        </p:nvCxnSpPr>
        <p:spPr bwMode="auto">
          <a:xfrm flipV="1">
            <a:off x="6096000" y="3656013"/>
            <a:ext cx="509588" cy="2111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94" name="AutoShape 423"/>
          <p:cNvCxnSpPr>
            <a:cxnSpLocks noChangeShapeType="1"/>
            <a:stCxn id="35887" idx="3"/>
            <a:endCxn id="35888" idx="2"/>
          </p:cNvCxnSpPr>
          <p:nvPr/>
        </p:nvCxnSpPr>
        <p:spPr bwMode="auto">
          <a:xfrm>
            <a:off x="6096000" y="3867150"/>
            <a:ext cx="381000" cy="396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95" name="AutoShape 424"/>
          <p:cNvCxnSpPr>
            <a:cxnSpLocks noChangeShapeType="1"/>
            <a:stCxn id="35887" idx="3"/>
            <a:endCxn id="35890" idx="2"/>
          </p:cNvCxnSpPr>
          <p:nvPr/>
        </p:nvCxnSpPr>
        <p:spPr bwMode="auto">
          <a:xfrm flipV="1">
            <a:off x="6096000" y="3257550"/>
            <a:ext cx="381000" cy="609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896" name="Oval 425"/>
          <p:cNvSpPr>
            <a:spLocks noChangeArrowheads="1"/>
          </p:cNvSpPr>
          <p:nvPr/>
        </p:nvSpPr>
        <p:spPr bwMode="auto">
          <a:xfrm>
            <a:off x="7505700" y="36576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FNAME</a:t>
            </a:r>
          </a:p>
        </p:txBody>
      </p:sp>
      <p:sp>
        <p:nvSpPr>
          <p:cNvPr id="35897" name="Oval 426"/>
          <p:cNvSpPr>
            <a:spLocks noChangeArrowheads="1"/>
          </p:cNvSpPr>
          <p:nvPr/>
        </p:nvSpPr>
        <p:spPr bwMode="auto">
          <a:xfrm>
            <a:off x="7505700" y="31242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LNAME</a:t>
            </a:r>
          </a:p>
        </p:txBody>
      </p:sp>
      <p:cxnSp>
        <p:nvCxnSpPr>
          <p:cNvPr id="35898" name="AutoShape 427"/>
          <p:cNvCxnSpPr>
            <a:cxnSpLocks noChangeShapeType="1"/>
            <a:stCxn id="35891" idx="6"/>
            <a:endCxn id="35897" idx="2"/>
          </p:cNvCxnSpPr>
          <p:nvPr/>
        </p:nvCxnSpPr>
        <p:spPr bwMode="auto">
          <a:xfrm flipV="1">
            <a:off x="7354888" y="3257550"/>
            <a:ext cx="150812"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899" name="AutoShape 428"/>
          <p:cNvCxnSpPr>
            <a:cxnSpLocks noChangeShapeType="1"/>
            <a:stCxn id="35896" idx="2"/>
            <a:endCxn id="35891" idx="6"/>
          </p:cNvCxnSpPr>
          <p:nvPr/>
        </p:nvCxnSpPr>
        <p:spPr bwMode="auto">
          <a:xfrm flipH="1" flipV="1">
            <a:off x="7354888" y="3562350"/>
            <a:ext cx="150812" cy="228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900" name="Rectangle 430"/>
          <p:cNvSpPr>
            <a:spLocks noChangeArrowheads="1"/>
          </p:cNvSpPr>
          <p:nvPr/>
        </p:nvSpPr>
        <p:spPr bwMode="auto">
          <a:xfrm>
            <a:off x="4876800" y="2133600"/>
            <a:ext cx="1066800" cy="2667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200">
                <a:latin typeface="Times New Roman" pitchFamily="18" charset="0"/>
              </a:rPr>
              <a:t>EMPLOYEE</a:t>
            </a:r>
          </a:p>
        </p:txBody>
      </p:sp>
      <p:sp>
        <p:nvSpPr>
          <p:cNvPr id="35901" name="Oval 431"/>
          <p:cNvSpPr>
            <a:spLocks noChangeArrowheads="1"/>
          </p:cNvSpPr>
          <p:nvPr/>
        </p:nvSpPr>
        <p:spPr bwMode="auto">
          <a:xfrm>
            <a:off x="6324600" y="2173288"/>
            <a:ext cx="877888" cy="2651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ADDRESS</a:t>
            </a:r>
          </a:p>
        </p:txBody>
      </p:sp>
      <p:sp>
        <p:nvSpPr>
          <p:cNvPr id="35902" name="Oval 432"/>
          <p:cNvSpPr>
            <a:spLocks noChangeArrowheads="1"/>
          </p:cNvSpPr>
          <p:nvPr/>
        </p:nvSpPr>
        <p:spPr bwMode="auto">
          <a:xfrm>
            <a:off x="6361113" y="2514600"/>
            <a:ext cx="877887"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PHONE</a:t>
            </a:r>
          </a:p>
        </p:txBody>
      </p:sp>
      <p:sp>
        <p:nvSpPr>
          <p:cNvPr id="35903" name="Oval 433"/>
          <p:cNvSpPr>
            <a:spLocks noChangeArrowheads="1"/>
          </p:cNvSpPr>
          <p:nvPr/>
        </p:nvSpPr>
        <p:spPr bwMode="auto">
          <a:xfrm>
            <a:off x="6324600" y="15240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u="sng">
                <a:latin typeface="Times New Roman" pitchFamily="18" charset="0"/>
              </a:rPr>
              <a:t>EID</a:t>
            </a:r>
            <a:endParaRPr lang="en-US" sz="1200">
              <a:latin typeface="Times New Roman" pitchFamily="18" charset="0"/>
            </a:endParaRPr>
          </a:p>
        </p:txBody>
      </p:sp>
      <p:sp>
        <p:nvSpPr>
          <p:cNvPr id="35904" name="Oval 434"/>
          <p:cNvSpPr>
            <a:spLocks noChangeArrowheads="1"/>
          </p:cNvSpPr>
          <p:nvPr/>
        </p:nvSpPr>
        <p:spPr bwMode="auto">
          <a:xfrm>
            <a:off x="6324600" y="18288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ENAME</a:t>
            </a:r>
          </a:p>
        </p:txBody>
      </p:sp>
      <p:cxnSp>
        <p:nvCxnSpPr>
          <p:cNvPr id="35905" name="AutoShape 435"/>
          <p:cNvCxnSpPr>
            <a:cxnSpLocks noChangeShapeType="1"/>
            <a:stCxn id="35900" idx="3"/>
            <a:endCxn id="35902" idx="2"/>
          </p:cNvCxnSpPr>
          <p:nvPr/>
        </p:nvCxnSpPr>
        <p:spPr bwMode="auto">
          <a:xfrm>
            <a:off x="5943600" y="2266950"/>
            <a:ext cx="417513" cy="381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906" name="AutoShape 436"/>
          <p:cNvCxnSpPr>
            <a:cxnSpLocks noChangeShapeType="1"/>
            <a:stCxn id="35900" idx="3"/>
            <a:endCxn id="35904" idx="3"/>
          </p:cNvCxnSpPr>
          <p:nvPr/>
        </p:nvCxnSpPr>
        <p:spPr bwMode="auto">
          <a:xfrm flipV="1">
            <a:off x="5943600" y="2055813"/>
            <a:ext cx="509588" cy="2111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907" name="AutoShape 437"/>
          <p:cNvCxnSpPr>
            <a:cxnSpLocks noChangeShapeType="1"/>
            <a:stCxn id="35900" idx="3"/>
            <a:endCxn id="35901" idx="2"/>
          </p:cNvCxnSpPr>
          <p:nvPr/>
        </p:nvCxnSpPr>
        <p:spPr bwMode="auto">
          <a:xfrm>
            <a:off x="5943600" y="2266950"/>
            <a:ext cx="381000" cy="396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908" name="AutoShape 438"/>
          <p:cNvCxnSpPr>
            <a:cxnSpLocks noChangeShapeType="1"/>
            <a:stCxn id="35900" idx="3"/>
            <a:endCxn id="35903" idx="2"/>
          </p:cNvCxnSpPr>
          <p:nvPr/>
        </p:nvCxnSpPr>
        <p:spPr bwMode="auto">
          <a:xfrm flipV="1">
            <a:off x="5943600" y="1657350"/>
            <a:ext cx="381000" cy="609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909" name="Oval 439"/>
          <p:cNvSpPr>
            <a:spLocks noChangeArrowheads="1"/>
          </p:cNvSpPr>
          <p:nvPr/>
        </p:nvSpPr>
        <p:spPr bwMode="auto">
          <a:xfrm>
            <a:off x="7353300" y="20574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FNAME</a:t>
            </a:r>
          </a:p>
        </p:txBody>
      </p:sp>
      <p:sp>
        <p:nvSpPr>
          <p:cNvPr id="35910" name="Oval 440"/>
          <p:cNvSpPr>
            <a:spLocks noChangeArrowheads="1"/>
          </p:cNvSpPr>
          <p:nvPr/>
        </p:nvSpPr>
        <p:spPr bwMode="auto">
          <a:xfrm>
            <a:off x="7353300" y="15240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LNAME</a:t>
            </a:r>
          </a:p>
        </p:txBody>
      </p:sp>
      <p:cxnSp>
        <p:nvCxnSpPr>
          <p:cNvPr id="35911" name="AutoShape 441"/>
          <p:cNvCxnSpPr>
            <a:cxnSpLocks noChangeShapeType="1"/>
            <a:stCxn id="35904" idx="6"/>
            <a:endCxn id="35910" idx="2"/>
          </p:cNvCxnSpPr>
          <p:nvPr/>
        </p:nvCxnSpPr>
        <p:spPr bwMode="auto">
          <a:xfrm flipV="1">
            <a:off x="7202488" y="1657350"/>
            <a:ext cx="150812" cy="3048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912" name="AutoShape 442"/>
          <p:cNvCxnSpPr>
            <a:cxnSpLocks noChangeShapeType="1"/>
            <a:stCxn id="35909" idx="2"/>
            <a:endCxn id="35904" idx="6"/>
          </p:cNvCxnSpPr>
          <p:nvPr/>
        </p:nvCxnSpPr>
        <p:spPr bwMode="auto">
          <a:xfrm flipH="1" flipV="1">
            <a:off x="7202488" y="1962150"/>
            <a:ext cx="150812" cy="2286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913" name="Oval 443"/>
          <p:cNvSpPr>
            <a:spLocks noChangeArrowheads="1"/>
          </p:cNvSpPr>
          <p:nvPr/>
        </p:nvSpPr>
        <p:spPr bwMode="auto">
          <a:xfrm>
            <a:off x="6324600" y="2438400"/>
            <a:ext cx="10668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914" name="AutoShape 444"/>
          <p:cNvSpPr>
            <a:spLocks noChangeArrowheads="1"/>
          </p:cNvSpPr>
          <p:nvPr/>
        </p:nvSpPr>
        <p:spPr bwMode="auto">
          <a:xfrm>
            <a:off x="4876800" y="2895600"/>
            <a:ext cx="1257300" cy="4191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a:latin typeface="Times New Roman" pitchFamily="18" charset="0"/>
              </a:rPr>
              <a:t>MAY BE</a:t>
            </a:r>
          </a:p>
        </p:txBody>
      </p:sp>
      <p:sp>
        <p:nvSpPr>
          <p:cNvPr id="35915" name="Line 445"/>
          <p:cNvSpPr>
            <a:spLocks noChangeShapeType="1"/>
          </p:cNvSpPr>
          <p:nvPr/>
        </p:nvSpPr>
        <p:spPr bwMode="auto">
          <a:xfrm>
            <a:off x="5486400" y="3276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5916" name="Line 446"/>
          <p:cNvSpPr>
            <a:spLocks noChangeShapeType="1"/>
          </p:cNvSpPr>
          <p:nvPr/>
        </p:nvSpPr>
        <p:spPr bwMode="auto">
          <a:xfrm>
            <a:off x="5486400" y="2438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20511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685800"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Are we done? </a:t>
            </a:r>
          </a:p>
        </p:txBody>
      </p:sp>
      <p:sp>
        <p:nvSpPr>
          <p:cNvPr id="36868" name="Rectangle 3" descr="Rectangle: Click to edit Master text styles&#10;Second level&#10;Third level&#10;Fourth level&#10;Fifth level"/>
          <p:cNvSpPr>
            <a:spLocks noGrp="1" noChangeArrowheads="1"/>
          </p:cNvSpPr>
          <p:nvPr>
            <p:ph type="body" idx="1"/>
          </p:nvPr>
        </p:nvSpPr>
        <p:spPr>
          <a:xfrm>
            <a:off x="609600" y="1676400"/>
            <a:ext cx="8153400" cy="4114800"/>
          </a:xfrm>
        </p:spPr>
        <p:txBody>
          <a:bodyPr/>
          <a:lstStyle/>
          <a:p>
            <a:pPr eaLnBrk="1" hangingPunct="1"/>
            <a:r>
              <a:rPr lang="en-US" sz="2800" dirty="0"/>
              <a:t> </a:t>
            </a:r>
            <a:r>
              <a:rPr lang="en-US" sz="2400" dirty="0">
                <a:latin typeface="Arial" panose="020B0604020202020204" pitchFamily="34" charset="0"/>
                <a:cs typeface="Arial" panose="020B0604020202020204" pitchFamily="34" charset="0"/>
              </a:rPr>
              <a:t>No we’re not.</a:t>
            </a:r>
          </a:p>
          <a:p>
            <a:pPr lvl="1" eaLnBrk="1" hangingPunct="1"/>
            <a:r>
              <a:rPr lang="en-US" sz="2400" dirty="0">
                <a:latin typeface="Arial" panose="020B0604020202020204" pitchFamily="34" charset="0"/>
                <a:cs typeface="Arial" panose="020B0604020202020204" pitchFamily="34" charset="0"/>
              </a:rPr>
              <a:t>There are two relationships with the same name and practically the same attributes. Is that good?</a:t>
            </a:r>
          </a:p>
          <a:p>
            <a:pPr lvl="1" eaLnBrk="1" hangingPunct="1"/>
            <a:r>
              <a:rPr lang="en-US" sz="2400" dirty="0">
                <a:latin typeface="Arial" panose="020B0604020202020204" pitchFamily="34" charset="0"/>
                <a:cs typeface="Arial" panose="020B0604020202020204" pitchFamily="34" charset="0"/>
              </a:rPr>
              <a:t>How do we specify the relationships to a greater detail? Cardinality, Degree, etc..  </a:t>
            </a:r>
          </a:p>
          <a:p>
            <a:pPr eaLnBrk="1" hangingPunct="1"/>
            <a:endParaRPr lang="en-US" sz="2400" dirty="0">
              <a:latin typeface="Arial" panose="020B0604020202020204" pitchFamily="34" charset="0"/>
              <a:cs typeface="Arial" panose="020B0604020202020204" pitchFamily="34" charset="0"/>
            </a:endParaRPr>
          </a:p>
          <a:p>
            <a:pPr eaLnBrk="1" hangingPunct="1"/>
            <a:r>
              <a:rPr lang="en-US" sz="2400" dirty="0">
                <a:latin typeface="Arial" panose="020B0604020202020204" pitchFamily="34" charset="0"/>
                <a:cs typeface="Arial" panose="020B0604020202020204" pitchFamily="34" charset="0"/>
              </a:rPr>
              <a:t>We will solve these issues in the next two classes</a:t>
            </a:r>
          </a:p>
          <a:p>
            <a:pPr lvl="2" eaLnBrk="1" hangingPunct="1">
              <a:buFont typeface="Wingdings" pitchFamily="2" charset="2"/>
              <a:buNone/>
            </a:pPr>
            <a:endParaRPr lang="en-US" sz="2000" dirty="0"/>
          </a:p>
          <a:p>
            <a:pPr lvl="1" eaLnBrk="1" hangingPunct="1"/>
            <a:endParaRPr lang="en-US" sz="2400" dirty="0"/>
          </a:p>
        </p:txBody>
      </p:sp>
    </p:spTree>
    <p:extLst>
      <p:ext uri="{BB962C8B-B14F-4D97-AF65-F5344CB8AC3E}">
        <p14:creationId xmlns:p14="http://schemas.microsoft.com/office/powerpoint/2010/main" val="39275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685800"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Exercise </a:t>
            </a:r>
          </a:p>
        </p:txBody>
      </p:sp>
      <p:sp>
        <p:nvSpPr>
          <p:cNvPr id="37892" name="Rectangle 3" descr="Rectangle: Click to edit Master text styles&#10;Second level&#10;Third level&#10;Fourth level&#10;Fifth level"/>
          <p:cNvSpPr>
            <a:spLocks noGrp="1" noChangeArrowheads="1"/>
          </p:cNvSpPr>
          <p:nvPr>
            <p:ph type="body" idx="1"/>
          </p:nvPr>
        </p:nvSpPr>
        <p:spPr>
          <a:xfrm>
            <a:off x="609600" y="1828800"/>
            <a:ext cx="8153400" cy="4114800"/>
          </a:xfrm>
        </p:spPr>
        <p:txBody>
          <a:bodyPr/>
          <a:lstStyle/>
          <a:p>
            <a:pPr marL="457200" lvl="1" indent="0" eaLnBrk="1" hangingPunct="1">
              <a:buNone/>
            </a:pPr>
            <a:endParaRPr lang="en-US" sz="2000" dirty="0"/>
          </a:p>
          <a:p>
            <a:pPr lvl="1" eaLnBrk="1" hangingPunct="1"/>
            <a:endParaRPr lang="en-US" sz="2000" dirty="0"/>
          </a:p>
        </p:txBody>
      </p:sp>
      <p:sp>
        <p:nvSpPr>
          <p:cNvPr id="37893" name="Rectangle 4"/>
          <p:cNvSpPr>
            <a:spLocks noChangeArrowheads="1"/>
          </p:cNvSpPr>
          <p:nvPr/>
        </p:nvSpPr>
        <p:spPr bwMode="auto">
          <a:xfrm>
            <a:off x="703118" y="1905000"/>
            <a:ext cx="805988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r>
              <a:rPr lang="en-US" sz="2000" dirty="0">
                <a:latin typeface="Arial" panose="020B0604020202020204" pitchFamily="34" charset="0"/>
                <a:cs typeface="Arial" panose="020B0604020202020204" pitchFamily="34" charset="0"/>
              </a:rPr>
              <a:t>You are designing a database for the registrar’s office that captures students’ grade information for courses. For each student, you need to capture his / her UCID, Name (including Last name and First name), Sex, Age, Major, Admission date, and Class (derived from the admission date).</a:t>
            </a:r>
          </a:p>
          <a:p>
            <a:pPr indent="457200"/>
            <a:r>
              <a:rPr lang="en-US" sz="2000" dirty="0">
                <a:latin typeface="Arial" panose="020B0604020202020204" pitchFamily="34" charset="0"/>
                <a:cs typeface="Arial" panose="020B0604020202020204" pitchFamily="34" charset="0"/>
              </a:rPr>
              <a:t>For each course, you need to store the (unique) course number, course title, credit, department offering the course, time of the course, and classroom.</a:t>
            </a:r>
          </a:p>
          <a:p>
            <a:pPr indent="457200"/>
            <a:r>
              <a:rPr lang="en-US" sz="2000" dirty="0">
                <a:latin typeface="Arial" panose="020B0604020202020204" pitchFamily="34" charset="0"/>
                <a:cs typeface="Arial" panose="020B0604020202020204" pitchFamily="34" charset="0"/>
              </a:rPr>
              <a:t>Some courses have other courses as prerequisite, and this relationship needs to be captured, too. </a:t>
            </a:r>
          </a:p>
          <a:p>
            <a:pPr indent="457200"/>
            <a:r>
              <a:rPr lang="en-US" sz="2000" dirty="0">
                <a:latin typeface="Arial" panose="020B0604020202020204" pitchFamily="34" charset="0"/>
                <a:cs typeface="Arial" panose="020B0604020202020204" pitchFamily="34" charset="0"/>
              </a:rPr>
              <a:t>You also need to store the final grade a student gets for each course he / she took before and the semester he/she took it. </a:t>
            </a:r>
          </a:p>
        </p:txBody>
      </p:sp>
    </p:spTree>
    <p:extLst>
      <p:ext uri="{BB962C8B-B14F-4D97-AF65-F5344CB8AC3E}">
        <p14:creationId xmlns:p14="http://schemas.microsoft.com/office/powerpoint/2010/main" val="3179132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685800" y="0"/>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Exercise </a:t>
            </a:r>
          </a:p>
        </p:txBody>
      </p:sp>
      <p:sp>
        <p:nvSpPr>
          <p:cNvPr id="38916" name="Rectangle 3" descr="Rectangle: Click to edit Master text styles&#10;Second level&#10;Third level&#10;Fourth level&#10;Fifth level"/>
          <p:cNvSpPr>
            <a:spLocks noGrp="1" noChangeArrowheads="1"/>
          </p:cNvSpPr>
          <p:nvPr>
            <p:ph type="body" idx="1"/>
          </p:nvPr>
        </p:nvSpPr>
        <p:spPr>
          <a:xfrm>
            <a:off x="609600" y="1828800"/>
            <a:ext cx="8153400" cy="4114800"/>
          </a:xfrm>
        </p:spPr>
        <p:txBody>
          <a:bodyPr/>
          <a:lstStyle/>
          <a:p>
            <a:pPr eaLnBrk="1" hangingPunct="1">
              <a:lnSpc>
                <a:spcPct val="90000"/>
              </a:lnSpc>
            </a:pPr>
            <a:r>
              <a:rPr lang="en-US" sz="2000" dirty="0">
                <a:latin typeface="Arial" panose="020B0604020202020204" pitchFamily="34" charset="0"/>
                <a:cs typeface="Arial" panose="020B0604020202020204" pitchFamily="34" charset="0"/>
              </a:rPr>
              <a:t>Entities? </a:t>
            </a:r>
          </a:p>
          <a:p>
            <a:pPr lvl="1" eaLnBrk="1" hangingPunct="1">
              <a:lnSpc>
                <a:spcPct val="90000"/>
              </a:lnSpc>
            </a:pPr>
            <a:r>
              <a:rPr lang="en-US" sz="2000" dirty="0">
                <a:latin typeface="Arial" panose="020B0604020202020204" pitchFamily="34" charset="0"/>
                <a:cs typeface="Arial" panose="020B0604020202020204" pitchFamily="34" charset="0"/>
              </a:rPr>
              <a:t>Student, Course, Takes</a:t>
            </a:r>
          </a:p>
          <a:p>
            <a:pPr eaLnBrk="1" hangingPunct="1">
              <a:lnSpc>
                <a:spcPct val="90000"/>
              </a:lnSpc>
            </a:pPr>
            <a:r>
              <a:rPr lang="en-US" sz="2000" dirty="0">
                <a:latin typeface="Arial" panose="020B0604020202020204" pitchFamily="34" charset="0"/>
                <a:cs typeface="Arial" panose="020B0604020202020204" pitchFamily="34" charset="0"/>
              </a:rPr>
              <a:t>Relationships?</a:t>
            </a:r>
          </a:p>
          <a:p>
            <a:pPr lvl="1">
              <a:lnSpc>
                <a:spcPct val="90000"/>
              </a:lnSpc>
            </a:pPr>
            <a:r>
              <a:rPr lang="en-US" sz="2000" dirty="0">
                <a:latin typeface="Arial" panose="020B0604020202020204" pitchFamily="34" charset="0"/>
                <a:cs typeface="Arial" panose="020B0604020202020204" pitchFamily="34" charset="0"/>
              </a:rPr>
              <a:t>A student </a:t>
            </a:r>
            <a:r>
              <a:rPr lang="en-US" sz="2000" dirty="0">
                <a:solidFill>
                  <a:srgbClr val="CC0000"/>
                </a:solidFill>
                <a:latin typeface="Arial" panose="020B0604020202020204" pitchFamily="34" charset="0"/>
                <a:cs typeface="Arial" panose="020B0604020202020204" pitchFamily="34" charset="0"/>
              </a:rPr>
              <a:t>takes </a:t>
            </a:r>
            <a:r>
              <a:rPr lang="en-US" sz="2000" dirty="0">
                <a:latin typeface="Arial" panose="020B0604020202020204" pitchFamily="34" charset="0"/>
                <a:cs typeface="Arial" panose="020B0604020202020204" pitchFamily="34" charset="0"/>
              </a:rPr>
              <a:t>a course</a:t>
            </a:r>
          </a:p>
          <a:p>
            <a:pPr lvl="1" eaLnBrk="1" hangingPunct="1">
              <a:lnSpc>
                <a:spcPct val="90000"/>
              </a:lnSpc>
            </a:pPr>
            <a:r>
              <a:rPr lang="en-US" sz="2000" dirty="0">
                <a:latin typeface="Arial" panose="020B0604020202020204" pitchFamily="34" charset="0"/>
                <a:cs typeface="Arial" panose="020B0604020202020204" pitchFamily="34" charset="0"/>
              </a:rPr>
              <a:t>A course </a:t>
            </a:r>
            <a:r>
              <a:rPr lang="en-US" sz="2000" dirty="0">
                <a:solidFill>
                  <a:srgbClr val="FF0000"/>
                </a:solidFill>
                <a:latin typeface="Arial" panose="020B0604020202020204" pitchFamily="34" charset="0"/>
                <a:cs typeface="Arial" panose="020B0604020202020204" pitchFamily="34" charset="0"/>
              </a:rPr>
              <a:t>is the prerequisite of </a:t>
            </a:r>
            <a:r>
              <a:rPr lang="en-US" sz="2000" dirty="0">
                <a:latin typeface="Arial" panose="020B0604020202020204" pitchFamily="34" charset="0"/>
                <a:cs typeface="Arial" panose="020B0604020202020204" pitchFamily="34" charset="0"/>
              </a:rPr>
              <a:t>another course</a:t>
            </a:r>
          </a:p>
          <a:p>
            <a:pPr eaLnBrk="1" hangingPunct="1">
              <a:lnSpc>
                <a:spcPct val="90000"/>
              </a:lnSpc>
            </a:pPr>
            <a:r>
              <a:rPr lang="en-US" sz="2000" dirty="0">
                <a:latin typeface="Arial" panose="020B0604020202020204" pitchFamily="34" charset="0"/>
                <a:cs typeface="Arial" panose="020B0604020202020204" pitchFamily="34" charset="0"/>
              </a:rPr>
              <a:t>Attributes:</a:t>
            </a:r>
          </a:p>
          <a:p>
            <a:pPr lvl="1">
              <a:lnSpc>
                <a:spcPct val="90000"/>
              </a:lnSpc>
            </a:pPr>
            <a:r>
              <a:rPr lang="en-US" sz="2000" b="1" dirty="0">
                <a:solidFill>
                  <a:srgbClr val="FF0000"/>
                </a:solidFill>
                <a:latin typeface="Arial" panose="020B0604020202020204" pitchFamily="34" charset="0"/>
                <a:cs typeface="Arial" panose="020B0604020202020204" pitchFamily="34" charset="0"/>
              </a:rPr>
              <a:t>STUDENT</a:t>
            </a:r>
            <a:r>
              <a:rPr lang="en-US" sz="2000" dirty="0">
                <a:latin typeface="Arial" panose="020B0604020202020204" pitchFamily="34" charset="0"/>
                <a:cs typeface="Arial" panose="020B0604020202020204" pitchFamily="34" charset="0"/>
              </a:rPr>
              <a:t>: UCID, Name (composite attribute including Last name and First name), Sex, Age, Major, Admission date, and Class (derived attribute). </a:t>
            </a:r>
          </a:p>
          <a:p>
            <a:pPr lvl="1">
              <a:lnSpc>
                <a:spcPct val="90000"/>
              </a:lnSpc>
            </a:pPr>
            <a:r>
              <a:rPr lang="en-US" sz="2000" b="1" dirty="0">
                <a:solidFill>
                  <a:srgbClr val="FF0000"/>
                </a:solidFill>
                <a:latin typeface="Arial" panose="020B0604020202020204" pitchFamily="34" charset="0"/>
                <a:cs typeface="Arial" panose="020B0604020202020204" pitchFamily="34" charset="0"/>
              </a:rPr>
              <a:t>COURSE</a:t>
            </a:r>
            <a:r>
              <a:rPr lang="en-US" sz="2000" dirty="0">
                <a:latin typeface="Arial" panose="020B0604020202020204" pitchFamily="34" charset="0"/>
                <a:cs typeface="Arial" panose="020B0604020202020204" pitchFamily="34" charset="0"/>
              </a:rPr>
              <a:t>: Number, Title, Department, Credit, Time, Room</a:t>
            </a:r>
          </a:p>
          <a:p>
            <a:pPr lvl="1" eaLnBrk="1" hangingPunct="1">
              <a:lnSpc>
                <a:spcPct val="90000"/>
              </a:lnSpc>
            </a:pPr>
            <a:r>
              <a:rPr lang="en-US" sz="2000" b="1" dirty="0">
                <a:solidFill>
                  <a:srgbClr val="FF0000"/>
                </a:solidFill>
                <a:latin typeface="Arial" panose="020B0604020202020204" pitchFamily="34" charset="0"/>
                <a:cs typeface="Arial" panose="020B0604020202020204" pitchFamily="34" charset="0"/>
              </a:rPr>
              <a:t>TAKES</a:t>
            </a:r>
            <a:r>
              <a:rPr lang="en-US" sz="2000" dirty="0">
                <a:latin typeface="Arial" panose="020B0604020202020204" pitchFamily="34" charset="0"/>
                <a:cs typeface="Arial" panose="020B0604020202020204" pitchFamily="34" charset="0"/>
              </a:rPr>
              <a:t>: Grade, Semester</a:t>
            </a:r>
          </a:p>
        </p:txBody>
      </p:sp>
    </p:spTree>
    <p:extLst>
      <p:ext uri="{BB962C8B-B14F-4D97-AF65-F5344CB8AC3E}">
        <p14:creationId xmlns:p14="http://schemas.microsoft.com/office/powerpoint/2010/main" val="658038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762000" y="-34636"/>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Performing ER Modeling: Exercise </a:t>
            </a:r>
          </a:p>
        </p:txBody>
      </p:sp>
      <p:sp>
        <p:nvSpPr>
          <p:cNvPr id="39940" name="Rectangle 4"/>
          <p:cNvSpPr>
            <a:spLocks noChangeArrowheads="1"/>
          </p:cNvSpPr>
          <p:nvPr/>
        </p:nvSpPr>
        <p:spPr bwMode="auto">
          <a:xfrm>
            <a:off x="3963987" y="1972469"/>
            <a:ext cx="1066800" cy="2667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200" dirty="0">
                <a:latin typeface="Times New Roman" pitchFamily="18" charset="0"/>
              </a:rPr>
              <a:t>STUDENT</a:t>
            </a:r>
          </a:p>
        </p:txBody>
      </p:sp>
      <p:sp>
        <p:nvSpPr>
          <p:cNvPr id="39941" name="Oval 5"/>
          <p:cNvSpPr>
            <a:spLocks noChangeArrowheads="1"/>
          </p:cNvSpPr>
          <p:nvPr/>
        </p:nvSpPr>
        <p:spPr bwMode="auto">
          <a:xfrm>
            <a:off x="5867400" y="1982788"/>
            <a:ext cx="877888" cy="2651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Age</a:t>
            </a:r>
          </a:p>
        </p:txBody>
      </p:sp>
      <p:sp>
        <p:nvSpPr>
          <p:cNvPr id="39942" name="Oval 6"/>
          <p:cNvSpPr>
            <a:spLocks noChangeArrowheads="1"/>
          </p:cNvSpPr>
          <p:nvPr/>
        </p:nvSpPr>
        <p:spPr bwMode="auto">
          <a:xfrm>
            <a:off x="5903913" y="2324100"/>
            <a:ext cx="877887"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Name</a:t>
            </a:r>
          </a:p>
        </p:txBody>
      </p:sp>
      <p:sp>
        <p:nvSpPr>
          <p:cNvPr id="39943" name="Oval 7"/>
          <p:cNvSpPr>
            <a:spLocks noChangeArrowheads="1"/>
          </p:cNvSpPr>
          <p:nvPr/>
        </p:nvSpPr>
        <p:spPr bwMode="auto">
          <a:xfrm>
            <a:off x="5867400" y="16383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Sex</a:t>
            </a:r>
          </a:p>
        </p:txBody>
      </p:sp>
      <p:sp>
        <p:nvSpPr>
          <p:cNvPr id="39944" name="Oval 8"/>
          <p:cNvSpPr>
            <a:spLocks noChangeArrowheads="1"/>
          </p:cNvSpPr>
          <p:nvPr/>
        </p:nvSpPr>
        <p:spPr bwMode="auto">
          <a:xfrm>
            <a:off x="5867400" y="12573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u="sng" dirty="0">
                <a:latin typeface="Times New Roman" pitchFamily="18" charset="0"/>
              </a:rPr>
              <a:t>UCID</a:t>
            </a:r>
          </a:p>
        </p:txBody>
      </p:sp>
      <p:cxnSp>
        <p:nvCxnSpPr>
          <p:cNvPr id="39945" name="AutoShape 9"/>
          <p:cNvCxnSpPr>
            <a:cxnSpLocks noChangeShapeType="1"/>
            <a:stCxn id="39940" idx="3"/>
            <a:endCxn id="39942" idx="2"/>
          </p:cNvCxnSpPr>
          <p:nvPr/>
        </p:nvCxnSpPr>
        <p:spPr bwMode="auto">
          <a:xfrm>
            <a:off x="5030787" y="2105819"/>
            <a:ext cx="873126" cy="35083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46" name="AutoShape 10"/>
          <p:cNvCxnSpPr>
            <a:cxnSpLocks noChangeShapeType="1"/>
            <a:stCxn id="39940" idx="3"/>
            <a:endCxn id="39944" idx="3"/>
          </p:cNvCxnSpPr>
          <p:nvPr/>
        </p:nvCxnSpPr>
        <p:spPr bwMode="auto">
          <a:xfrm flipV="1">
            <a:off x="5030787" y="1483588"/>
            <a:ext cx="965177" cy="622231"/>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47" name="AutoShape 11"/>
          <p:cNvCxnSpPr>
            <a:cxnSpLocks noChangeShapeType="1"/>
            <a:stCxn id="39940" idx="3"/>
            <a:endCxn id="39941" idx="2"/>
          </p:cNvCxnSpPr>
          <p:nvPr/>
        </p:nvCxnSpPr>
        <p:spPr bwMode="auto">
          <a:xfrm>
            <a:off x="5030787" y="2105819"/>
            <a:ext cx="836613" cy="9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48" name="AutoShape 12"/>
          <p:cNvCxnSpPr>
            <a:cxnSpLocks noChangeShapeType="1"/>
            <a:stCxn id="39940" idx="3"/>
            <a:endCxn id="39943" idx="2"/>
          </p:cNvCxnSpPr>
          <p:nvPr/>
        </p:nvCxnSpPr>
        <p:spPr bwMode="auto">
          <a:xfrm flipV="1">
            <a:off x="5030787" y="1770857"/>
            <a:ext cx="836613" cy="334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9949" name="Rectangle 17"/>
          <p:cNvSpPr>
            <a:spLocks noChangeArrowheads="1"/>
          </p:cNvSpPr>
          <p:nvPr/>
        </p:nvSpPr>
        <p:spPr bwMode="auto">
          <a:xfrm>
            <a:off x="3965859" y="4281054"/>
            <a:ext cx="1069975" cy="2667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200" dirty="0">
                <a:latin typeface="Times New Roman" pitchFamily="18" charset="0"/>
              </a:rPr>
              <a:t>COURSE</a:t>
            </a:r>
          </a:p>
        </p:txBody>
      </p:sp>
      <p:sp>
        <p:nvSpPr>
          <p:cNvPr id="39950" name="Oval 18"/>
          <p:cNvSpPr>
            <a:spLocks noChangeArrowheads="1"/>
          </p:cNvSpPr>
          <p:nvPr/>
        </p:nvSpPr>
        <p:spPr bwMode="auto">
          <a:xfrm>
            <a:off x="7115896" y="3983037"/>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u="sng" dirty="0">
                <a:latin typeface="Times New Roman" pitchFamily="18" charset="0"/>
              </a:rPr>
              <a:t>Number</a:t>
            </a:r>
            <a:endParaRPr lang="en-US" sz="1200" dirty="0">
              <a:latin typeface="Times New Roman" pitchFamily="18" charset="0"/>
            </a:endParaRPr>
          </a:p>
        </p:txBody>
      </p:sp>
      <p:sp>
        <p:nvSpPr>
          <p:cNvPr id="39951" name="Oval 19"/>
          <p:cNvSpPr>
            <a:spLocks noChangeArrowheads="1"/>
          </p:cNvSpPr>
          <p:nvPr/>
        </p:nvSpPr>
        <p:spPr bwMode="auto">
          <a:xfrm>
            <a:off x="7124700" y="4306887"/>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Title</a:t>
            </a:r>
          </a:p>
        </p:txBody>
      </p:sp>
      <p:cxnSp>
        <p:nvCxnSpPr>
          <p:cNvPr id="39952" name="AutoShape 20"/>
          <p:cNvCxnSpPr>
            <a:cxnSpLocks noChangeShapeType="1"/>
            <a:stCxn id="39950" idx="2"/>
            <a:endCxn id="39949" idx="3"/>
          </p:cNvCxnSpPr>
          <p:nvPr/>
        </p:nvCxnSpPr>
        <p:spPr bwMode="auto">
          <a:xfrm flipH="1">
            <a:off x="5035834" y="4115594"/>
            <a:ext cx="2080062" cy="29881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53" name="AutoShape 21"/>
          <p:cNvCxnSpPr>
            <a:cxnSpLocks noChangeShapeType="1"/>
            <a:stCxn id="39951" idx="2"/>
            <a:endCxn id="39949" idx="3"/>
          </p:cNvCxnSpPr>
          <p:nvPr/>
        </p:nvCxnSpPr>
        <p:spPr bwMode="auto">
          <a:xfrm flipH="1" flipV="1">
            <a:off x="5035834" y="4414404"/>
            <a:ext cx="2088866" cy="250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9954" name="Oval 22"/>
          <p:cNvSpPr>
            <a:spLocks noChangeArrowheads="1"/>
          </p:cNvSpPr>
          <p:nvPr/>
        </p:nvSpPr>
        <p:spPr bwMode="auto">
          <a:xfrm>
            <a:off x="7123112" y="46482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Dept.</a:t>
            </a:r>
          </a:p>
        </p:txBody>
      </p:sp>
      <p:cxnSp>
        <p:nvCxnSpPr>
          <p:cNvPr id="39955" name="AutoShape 23"/>
          <p:cNvCxnSpPr>
            <a:cxnSpLocks noChangeShapeType="1"/>
            <a:stCxn id="39954" idx="2"/>
            <a:endCxn id="39949" idx="3"/>
          </p:cNvCxnSpPr>
          <p:nvPr/>
        </p:nvCxnSpPr>
        <p:spPr bwMode="auto">
          <a:xfrm flipH="1" flipV="1">
            <a:off x="5035834" y="4414404"/>
            <a:ext cx="2087278" cy="36635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9956" name="AutoShape 24"/>
          <p:cNvSpPr>
            <a:spLocks noChangeArrowheads="1"/>
          </p:cNvSpPr>
          <p:nvPr/>
        </p:nvSpPr>
        <p:spPr bwMode="auto">
          <a:xfrm>
            <a:off x="3757896" y="5064702"/>
            <a:ext cx="1485900" cy="495300"/>
          </a:xfrm>
          <a:prstGeom prst="diamond">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100" dirty="0">
                <a:latin typeface="Times New Roman" pitchFamily="18" charset="0"/>
              </a:rPr>
              <a:t>IS PREREQUISITE</a:t>
            </a:r>
          </a:p>
        </p:txBody>
      </p:sp>
      <p:sp>
        <p:nvSpPr>
          <p:cNvPr id="39957" name="Line 26"/>
          <p:cNvSpPr>
            <a:spLocks noChangeShapeType="1"/>
          </p:cNvSpPr>
          <p:nvPr/>
        </p:nvSpPr>
        <p:spPr bwMode="auto">
          <a:xfrm flipH="1">
            <a:off x="4497387" y="3716337"/>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9958" name="Line 34"/>
          <p:cNvSpPr>
            <a:spLocks noChangeShapeType="1"/>
          </p:cNvSpPr>
          <p:nvPr/>
        </p:nvSpPr>
        <p:spPr bwMode="auto">
          <a:xfrm flipH="1">
            <a:off x="4497387" y="2239168"/>
            <a:ext cx="0" cy="10167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9959" name="AutoShape 35"/>
          <p:cNvSpPr>
            <a:spLocks noChangeArrowheads="1"/>
          </p:cNvSpPr>
          <p:nvPr/>
        </p:nvSpPr>
        <p:spPr bwMode="auto">
          <a:xfrm>
            <a:off x="3754437" y="3322564"/>
            <a:ext cx="1485900" cy="419100"/>
          </a:xfrm>
          <a:prstGeom prst="diamond">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r>
              <a:rPr lang="en-US" sz="1200" dirty="0">
                <a:latin typeface="Times New Roman" pitchFamily="18" charset="0"/>
              </a:rPr>
              <a:t>TAKES</a:t>
            </a:r>
          </a:p>
        </p:txBody>
      </p:sp>
      <p:sp>
        <p:nvSpPr>
          <p:cNvPr id="39960" name="Line 36"/>
          <p:cNvSpPr>
            <a:spLocks noChangeShapeType="1"/>
          </p:cNvSpPr>
          <p:nvPr/>
        </p:nvSpPr>
        <p:spPr bwMode="auto">
          <a:xfrm flipH="1">
            <a:off x="4498396" y="4547754"/>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cxnSp>
        <p:nvCxnSpPr>
          <p:cNvPr id="39961" name="AutoShape 38"/>
          <p:cNvCxnSpPr>
            <a:cxnSpLocks noChangeShapeType="1"/>
            <a:stCxn id="39956" idx="2"/>
            <a:endCxn id="39949" idx="1"/>
          </p:cNvCxnSpPr>
          <p:nvPr/>
        </p:nvCxnSpPr>
        <p:spPr bwMode="auto">
          <a:xfrm rot="5400000" flipH="1">
            <a:off x="3660554" y="4719710"/>
            <a:ext cx="1145598" cy="534987"/>
          </a:xfrm>
          <a:prstGeom prst="bentConnector4">
            <a:avLst>
              <a:gd name="adj1" fmla="val -19955"/>
              <a:gd name="adj2" fmla="val 18160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39962" name="Oval 39"/>
          <p:cNvSpPr>
            <a:spLocks noChangeArrowheads="1"/>
          </p:cNvSpPr>
          <p:nvPr/>
        </p:nvSpPr>
        <p:spPr bwMode="auto">
          <a:xfrm>
            <a:off x="7086600" y="49530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Credit</a:t>
            </a:r>
          </a:p>
        </p:txBody>
      </p:sp>
      <p:sp>
        <p:nvSpPr>
          <p:cNvPr id="39963" name="Oval 40"/>
          <p:cNvSpPr>
            <a:spLocks noChangeArrowheads="1"/>
          </p:cNvSpPr>
          <p:nvPr/>
        </p:nvSpPr>
        <p:spPr bwMode="auto">
          <a:xfrm>
            <a:off x="7086600" y="52578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Time</a:t>
            </a:r>
          </a:p>
        </p:txBody>
      </p:sp>
      <p:sp>
        <p:nvSpPr>
          <p:cNvPr id="39964" name="Oval 41"/>
          <p:cNvSpPr>
            <a:spLocks noChangeArrowheads="1"/>
          </p:cNvSpPr>
          <p:nvPr/>
        </p:nvSpPr>
        <p:spPr bwMode="auto">
          <a:xfrm>
            <a:off x="7086600" y="5562600"/>
            <a:ext cx="877888"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Room</a:t>
            </a:r>
          </a:p>
        </p:txBody>
      </p:sp>
      <p:cxnSp>
        <p:nvCxnSpPr>
          <p:cNvPr id="39966" name="AutoShape 43"/>
          <p:cNvCxnSpPr>
            <a:cxnSpLocks noChangeShapeType="1"/>
            <a:stCxn id="39962" idx="2"/>
            <a:endCxn id="39949" idx="3"/>
          </p:cNvCxnSpPr>
          <p:nvPr/>
        </p:nvCxnSpPr>
        <p:spPr bwMode="auto">
          <a:xfrm flipH="1" flipV="1">
            <a:off x="5035834" y="4414404"/>
            <a:ext cx="2050766" cy="67115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68" name="AutoShape 45"/>
          <p:cNvCxnSpPr>
            <a:cxnSpLocks noChangeShapeType="1"/>
            <a:stCxn id="39963" idx="2"/>
            <a:endCxn id="39949" idx="3"/>
          </p:cNvCxnSpPr>
          <p:nvPr/>
        </p:nvCxnSpPr>
        <p:spPr bwMode="auto">
          <a:xfrm flipH="1" flipV="1">
            <a:off x="5035834" y="4414404"/>
            <a:ext cx="2050766" cy="97595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69" name="AutoShape 46"/>
          <p:cNvCxnSpPr>
            <a:cxnSpLocks noChangeShapeType="1"/>
            <a:stCxn id="39964" idx="2"/>
            <a:endCxn id="39949" idx="3"/>
          </p:cNvCxnSpPr>
          <p:nvPr/>
        </p:nvCxnSpPr>
        <p:spPr bwMode="auto">
          <a:xfrm flipH="1" flipV="1">
            <a:off x="5035834" y="4414404"/>
            <a:ext cx="2050766" cy="130059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45" name="Oval 5"/>
          <p:cNvSpPr>
            <a:spLocks noChangeArrowheads="1"/>
          </p:cNvSpPr>
          <p:nvPr/>
        </p:nvSpPr>
        <p:spPr bwMode="auto">
          <a:xfrm>
            <a:off x="7124700" y="2058988"/>
            <a:ext cx="877888" cy="2651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err="1">
                <a:latin typeface="Times New Roman" pitchFamily="18" charset="0"/>
              </a:rPr>
              <a:t>FName</a:t>
            </a:r>
            <a:endParaRPr lang="en-US" sz="1200" dirty="0">
              <a:latin typeface="Times New Roman" pitchFamily="18" charset="0"/>
            </a:endParaRPr>
          </a:p>
        </p:txBody>
      </p:sp>
      <p:sp>
        <p:nvSpPr>
          <p:cNvPr id="46" name="Oval 6"/>
          <p:cNvSpPr>
            <a:spLocks noChangeArrowheads="1"/>
          </p:cNvSpPr>
          <p:nvPr/>
        </p:nvSpPr>
        <p:spPr bwMode="auto">
          <a:xfrm>
            <a:off x="7124700" y="2514600"/>
            <a:ext cx="877887"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err="1">
                <a:latin typeface="Times New Roman" pitchFamily="18" charset="0"/>
              </a:rPr>
              <a:t>LName</a:t>
            </a:r>
            <a:endParaRPr lang="en-US" sz="1200" dirty="0">
              <a:latin typeface="Times New Roman" pitchFamily="18" charset="0"/>
            </a:endParaRPr>
          </a:p>
        </p:txBody>
      </p:sp>
      <p:cxnSp>
        <p:nvCxnSpPr>
          <p:cNvPr id="47" name="AutoShape 11"/>
          <p:cNvCxnSpPr>
            <a:cxnSpLocks noChangeShapeType="1"/>
            <a:stCxn id="39942" idx="6"/>
            <a:endCxn id="45" idx="2"/>
          </p:cNvCxnSpPr>
          <p:nvPr/>
        </p:nvCxnSpPr>
        <p:spPr bwMode="auto">
          <a:xfrm flipV="1">
            <a:off x="6781800" y="2191544"/>
            <a:ext cx="342900" cy="26511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0" name="AutoShape 11"/>
          <p:cNvCxnSpPr>
            <a:cxnSpLocks noChangeShapeType="1"/>
            <a:stCxn id="39942" idx="6"/>
            <a:endCxn id="46" idx="2"/>
          </p:cNvCxnSpPr>
          <p:nvPr/>
        </p:nvCxnSpPr>
        <p:spPr bwMode="auto">
          <a:xfrm>
            <a:off x="6781800" y="2456657"/>
            <a:ext cx="342900" cy="1905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9" name="Oval 18"/>
          <p:cNvSpPr>
            <a:spLocks noChangeArrowheads="1"/>
          </p:cNvSpPr>
          <p:nvPr/>
        </p:nvSpPr>
        <p:spPr bwMode="auto">
          <a:xfrm>
            <a:off x="5898573" y="2659134"/>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Major</a:t>
            </a:r>
          </a:p>
        </p:txBody>
      </p:sp>
      <p:sp>
        <p:nvSpPr>
          <p:cNvPr id="60" name="Oval 18"/>
          <p:cNvSpPr>
            <a:spLocks noChangeArrowheads="1"/>
          </p:cNvSpPr>
          <p:nvPr/>
        </p:nvSpPr>
        <p:spPr bwMode="auto">
          <a:xfrm>
            <a:off x="5891320" y="2990850"/>
            <a:ext cx="1195893" cy="26511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Admission Date</a:t>
            </a:r>
          </a:p>
        </p:txBody>
      </p:sp>
      <p:cxnSp>
        <p:nvCxnSpPr>
          <p:cNvPr id="61" name="AutoShape 9"/>
          <p:cNvCxnSpPr>
            <a:cxnSpLocks noChangeShapeType="1"/>
            <a:stCxn id="39940" idx="3"/>
            <a:endCxn id="59" idx="2"/>
          </p:cNvCxnSpPr>
          <p:nvPr/>
        </p:nvCxnSpPr>
        <p:spPr bwMode="auto">
          <a:xfrm>
            <a:off x="5030787" y="2105819"/>
            <a:ext cx="867786" cy="68587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2" name="AutoShape 9"/>
          <p:cNvCxnSpPr>
            <a:cxnSpLocks noChangeShapeType="1"/>
            <a:stCxn id="39940" idx="3"/>
            <a:endCxn id="60" idx="2"/>
          </p:cNvCxnSpPr>
          <p:nvPr/>
        </p:nvCxnSpPr>
        <p:spPr bwMode="auto">
          <a:xfrm>
            <a:off x="5030787" y="2105819"/>
            <a:ext cx="860533" cy="10175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1" name="Oval 18"/>
          <p:cNvSpPr>
            <a:spLocks noChangeArrowheads="1"/>
          </p:cNvSpPr>
          <p:nvPr/>
        </p:nvSpPr>
        <p:spPr bwMode="auto">
          <a:xfrm>
            <a:off x="5975182" y="3325090"/>
            <a:ext cx="877888" cy="265113"/>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Class</a:t>
            </a:r>
          </a:p>
        </p:txBody>
      </p:sp>
      <p:cxnSp>
        <p:nvCxnSpPr>
          <p:cNvPr id="82" name="AutoShape 9"/>
          <p:cNvCxnSpPr>
            <a:cxnSpLocks noChangeShapeType="1"/>
            <a:stCxn id="39940" idx="3"/>
            <a:endCxn id="81" idx="2"/>
          </p:cNvCxnSpPr>
          <p:nvPr/>
        </p:nvCxnSpPr>
        <p:spPr bwMode="auto">
          <a:xfrm>
            <a:off x="5030787" y="2105819"/>
            <a:ext cx="944395" cy="135182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94" name="Oval 19"/>
          <p:cNvSpPr>
            <a:spLocks noChangeArrowheads="1"/>
          </p:cNvSpPr>
          <p:nvPr/>
        </p:nvSpPr>
        <p:spPr bwMode="auto">
          <a:xfrm>
            <a:off x="2322512" y="3200400"/>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Grade</a:t>
            </a:r>
          </a:p>
        </p:txBody>
      </p:sp>
      <p:sp>
        <p:nvSpPr>
          <p:cNvPr id="95" name="Oval 22"/>
          <p:cNvSpPr>
            <a:spLocks noChangeArrowheads="1"/>
          </p:cNvSpPr>
          <p:nvPr/>
        </p:nvSpPr>
        <p:spPr bwMode="auto">
          <a:xfrm>
            <a:off x="2320924" y="3541713"/>
            <a:ext cx="877888" cy="2651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sz="1200" dirty="0">
                <a:latin typeface="Times New Roman" pitchFamily="18" charset="0"/>
              </a:rPr>
              <a:t>Semester</a:t>
            </a:r>
          </a:p>
        </p:txBody>
      </p:sp>
      <p:cxnSp>
        <p:nvCxnSpPr>
          <p:cNvPr id="96" name="AutoShape 9"/>
          <p:cNvCxnSpPr>
            <a:cxnSpLocks noChangeShapeType="1"/>
            <a:stCxn id="94" idx="6"/>
          </p:cNvCxnSpPr>
          <p:nvPr/>
        </p:nvCxnSpPr>
        <p:spPr bwMode="auto">
          <a:xfrm>
            <a:off x="3200400" y="3332957"/>
            <a:ext cx="554037" cy="20875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98" name="AutoShape 9"/>
          <p:cNvCxnSpPr>
            <a:cxnSpLocks noChangeShapeType="1"/>
            <a:stCxn id="95" idx="6"/>
            <a:endCxn id="39959" idx="1"/>
          </p:cNvCxnSpPr>
          <p:nvPr/>
        </p:nvCxnSpPr>
        <p:spPr bwMode="auto">
          <a:xfrm flipV="1">
            <a:off x="3198812" y="3532114"/>
            <a:ext cx="555625" cy="14215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92097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685800" y="-20782"/>
            <a:ext cx="7772400" cy="1143000"/>
          </a:xfrm>
        </p:spPr>
        <p:txBody>
          <a:bodyPr/>
          <a:lstStyle/>
          <a:p>
            <a:pPr eaLnBrk="1" hangingPunct="1"/>
            <a:r>
              <a:rPr lang="en-US" sz="3200" b="1" dirty="0">
                <a:solidFill>
                  <a:srgbClr val="FFFF00"/>
                </a:solidFill>
                <a:effectLst>
                  <a:outerShdw blurRad="38100" dist="38100" dir="2700000" algn="tl">
                    <a:srgbClr val="000000">
                      <a:alpha val="43137"/>
                    </a:srgbClr>
                  </a:outerShdw>
                </a:effectLst>
              </a:rPr>
              <a:t>Why didn’t we use Crow’s Foot?</a:t>
            </a:r>
          </a:p>
        </p:txBody>
      </p:sp>
      <p:sp>
        <p:nvSpPr>
          <p:cNvPr id="40964" name="Rectangle 43" descr="Rectangle: Click to edit Master text styles&#10;Second level&#10;Third level&#10;Fourth level&#10;Fifth level"/>
          <p:cNvSpPr>
            <a:spLocks noGrp="1" noChangeArrowheads="1"/>
          </p:cNvSpPr>
          <p:nvPr>
            <p:ph type="body" idx="1"/>
          </p:nvPr>
        </p:nvSpPr>
        <p:spPr>
          <a:xfrm>
            <a:off x="609600" y="1828800"/>
            <a:ext cx="8153400" cy="4114800"/>
          </a:xfrm>
          <a:noFill/>
        </p:spPr>
        <p:txBody>
          <a:bodyPr/>
          <a:lstStyle/>
          <a:p>
            <a:pPr eaLnBrk="1" hangingPunct="1"/>
            <a:r>
              <a:rPr lang="en-US" sz="2000" dirty="0">
                <a:latin typeface="Arial" panose="020B0604020202020204" pitchFamily="34" charset="0"/>
                <a:cs typeface="Arial" panose="020B0604020202020204" pitchFamily="34" charset="0"/>
              </a:rPr>
              <a:t>In Crow’s Foot notation, </a:t>
            </a:r>
            <a:r>
              <a:rPr lang="en-US" sz="2000" b="1" dirty="0">
                <a:solidFill>
                  <a:srgbClr val="FF0000"/>
                </a:solidFill>
                <a:latin typeface="Arial" panose="020B0604020202020204" pitchFamily="34" charset="0"/>
                <a:cs typeface="Arial" panose="020B0604020202020204" pitchFamily="34" charset="0"/>
              </a:rPr>
              <a:t>relationship cannot have attributes</a:t>
            </a:r>
            <a:r>
              <a:rPr lang="en-US" sz="20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Logically, the original version is more natural (relationships could have attributes that describe them)</a:t>
            </a:r>
          </a:p>
          <a:p>
            <a:pPr lvl="1"/>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Logistically, Crow’s foot is better for later “translation” of the data model into relational model (tables).</a:t>
            </a:r>
          </a:p>
          <a:p>
            <a:pPr lvl="1"/>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In the next class, we will see how Crow’s Foot model solves the relationship-with-attributes problem.</a:t>
            </a:r>
          </a:p>
        </p:txBody>
      </p:sp>
    </p:spTree>
    <p:extLst>
      <p:ext uri="{BB962C8B-B14F-4D97-AF65-F5344CB8AC3E}">
        <p14:creationId xmlns:p14="http://schemas.microsoft.com/office/powerpoint/2010/main" val="40025645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685800" y="-20782"/>
            <a:ext cx="7772400" cy="1143000"/>
          </a:xfrm>
        </p:spPr>
        <p:txBody>
          <a:bodyPr/>
          <a:lstStyle/>
          <a:p>
            <a:pPr eaLnBrk="1" hangingPunct="1"/>
            <a:r>
              <a:rPr lang="en-US" sz="3200" b="1">
                <a:solidFill>
                  <a:srgbClr val="FFFF00"/>
                </a:solidFill>
                <a:effectLst>
                  <a:outerShdw blurRad="38100" dist="38100" dir="2700000" algn="tl">
                    <a:srgbClr val="000000">
                      <a:alpha val="43137"/>
                    </a:srgbClr>
                  </a:outerShdw>
                </a:effectLst>
              </a:rPr>
              <a:t>Performing ER Modeling: Exercise </a:t>
            </a:r>
          </a:p>
        </p:txBody>
      </p:sp>
      <p:sp>
        <p:nvSpPr>
          <p:cNvPr id="40964" name="Rectangle 43" descr="Rectangle: Click to edit Master text styles&#10;Second level&#10;Third level&#10;Fourth level&#10;Fifth level"/>
          <p:cNvSpPr>
            <a:spLocks noGrp="1" noChangeArrowheads="1"/>
          </p:cNvSpPr>
          <p:nvPr>
            <p:ph type="body" idx="1"/>
          </p:nvPr>
        </p:nvSpPr>
        <p:spPr>
          <a:xfrm>
            <a:off x="609600" y="1828800"/>
            <a:ext cx="8153400" cy="4114800"/>
          </a:xfrm>
          <a:noFill/>
        </p:spPr>
        <p:txBody>
          <a:bodyPr/>
          <a:lstStyle/>
          <a:p>
            <a:pPr eaLnBrk="1" hangingPunct="1"/>
            <a:r>
              <a:rPr lang="en-US" sz="2000" dirty="0">
                <a:latin typeface="Arial" panose="020B0604020202020204" pitchFamily="34" charset="0"/>
                <a:cs typeface="Arial" panose="020B0604020202020204" pitchFamily="34" charset="0"/>
              </a:rPr>
              <a:t>Lessons:</a:t>
            </a:r>
          </a:p>
          <a:p>
            <a:pPr lvl="1" eaLnBrk="1" hangingPunct="1"/>
            <a:r>
              <a:rPr lang="en-US" sz="2000" dirty="0">
                <a:latin typeface="Arial" panose="020B0604020202020204" pitchFamily="34" charset="0"/>
                <a:cs typeface="Arial" panose="020B0604020202020204" pitchFamily="34" charset="0"/>
              </a:rPr>
              <a:t>Many relationships are “hidden”, don’t just only look at the words. Really get to the MEANING of the words. (conceptual!)</a:t>
            </a:r>
          </a:p>
          <a:p>
            <a:pPr lvl="1" eaLnBrk="1" hangingPunct="1"/>
            <a:r>
              <a:rPr lang="en-US" sz="2000" dirty="0">
                <a:latin typeface="Arial" panose="020B0604020202020204" pitchFamily="34" charset="0"/>
                <a:cs typeface="Arial" panose="020B0604020202020204" pitchFamily="34" charset="0"/>
              </a:rPr>
              <a:t>Relationships may or may NOT have attributes dependent on the rules in the mini-world</a:t>
            </a:r>
          </a:p>
          <a:p>
            <a:pPr lvl="1" eaLnBrk="1" hangingPunct="1"/>
            <a:r>
              <a:rPr lang="en-US" sz="2000" dirty="0">
                <a:latin typeface="Arial" panose="020B0604020202020204" pitchFamily="34" charset="0"/>
                <a:cs typeface="Arial" panose="020B0604020202020204" pitchFamily="34" charset="0"/>
              </a:rPr>
              <a:t>Entities MUST have attributes</a:t>
            </a:r>
          </a:p>
          <a:p>
            <a:pPr lvl="1" eaLnBrk="1" hangingPunct="1"/>
            <a:r>
              <a:rPr lang="en-US" sz="2000" dirty="0">
                <a:latin typeface="Arial" panose="020B0604020202020204" pitchFamily="34" charset="0"/>
                <a:cs typeface="Arial" panose="020B0604020202020204" pitchFamily="34" charset="0"/>
              </a:rPr>
              <a:t>All entities should have </a:t>
            </a:r>
            <a:r>
              <a:rPr lang="en-US" sz="2000" b="1" i="1" dirty="0">
                <a:solidFill>
                  <a:srgbClr val="FF0000"/>
                </a:solidFill>
                <a:latin typeface="Arial" panose="020B0604020202020204" pitchFamily="34" charset="0"/>
                <a:cs typeface="Arial" panose="020B0604020202020204" pitchFamily="34" charset="0"/>
              </a:rPr>
              <a:t>identifier</a:t>
            </a:r>
            <a:r>
              <a:rPr lang="en-US" sz="2000" b="1" dirty="0">
                <a:solidFill>
                  <a:srgbClr val="FF0000"/>
                </a:solidFill>
                <a:latin typeface="Arial" panose="020B0604020202020204" pitchFamily="34" charset="0"/>
                <a:cs typeface="Arial" panose="020B0604020202020204" pitchFamily="34" charset="0"/>
              </a:rPr>
              <a:t> </a:t>
            </a:r>
          </a:p>
          <a:p>
            <a:pPr lvl="1" eaLnBrk="1" hangingPunct="1"/>
            <a:r>
              <a:rPr lang="en-US" sz="2000" i="1" dirty="0">
                <a:latin typeface="Arial" panose="020B0604020202020204" pitchFamily="34" charset="0"/>
                <a:cs typeface="Arial" panose="020B0604020202020204" pitchFamily="34" charset="0"/>
              </a:rPr>
              <a:t>A relationship</a:t>
            </a:r>
            <a:r>
              <a:rPr lang="en-US" sz="2000" dirty="0">
                <a:latin typeface="Arial" panose="020B0604020202020204" pitchFamily="34" charset="0"/>
                <a:cs typeface="Arial" panose="020B0604020202020204" pitchFamily="34" charset="0"/>
              </a:rPr>
              <a:t> does </a:t>
            </a:r>
            <a:r>
              <a:rPr lang="en-US" sz="2000" b="1" dirty="0">
                <a:solidFill>
                  <a:srgbClr val="FF0000"/>
                </a:solidFill>
                <a:latin typeface="Arial" panose="020B0604020202020204" pitchFamily="34" charset="0"/>
                <a:cs typeface="Arial" panose="020B0604020202020204" pitchFamily="34" charset="0"/>
              </a:rPr>
              <a:t>not</a:t>
            </a:r>
            <a:r>
              <a:rPr lang="en-US" sz="2000" dirty="0">
                <a:latin typeface="Arial" panose="020B0604020202020204" pitchFamily="34" charset="0"/>
                <a:cs typeface="Arial" panose="020B0604020202020204" pitchFamily="34" charset="0"/>
              </a:rPr>
              <a:t> have an identifier</a:t>
            </a:r>
            <a:endParaRPr lang="en-US" sz="20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1723290"/>
      </p:ext>
    </p:extLst>
  </p:cSld>
  <p:clrMapOvr>
    <a:masterClrMapping/>
  </p:clrMapOvr>
</p:sld>
</file>

<file path=ppt/theme/theme1.xml><?xml version="1.0" encoding="utf-8"?>
<a:theme xmlns:a="http://schemas.openxmlformats.org/drawingml/2006/main" name="TS10198302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BFB53C9-35A9-467F-919A-22BB23375DA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TS101983022</Template>
  <TotalTime>1012</TotalTime>
  <Words>3349</Words>
  <Application>Microsoft Office PowerPoint</Application>
  <PresentationFormat>On-screen Show (4:3)</PresentationFormat>
  <Paragraphs>497</Paragraphs>
  <Slides>50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6" baseType="lpstr">
      <vt:lpstr>Arial</vt:lpstr>
      <vt:lpstr>Calibri</vt:lpstr>
      <vt:lpstr>Times New Roman</vt:lpstr>
      <vt:lpstr>Wingdings</vt:lpstr>
      <vt:lpstr>TS101983022</vt:lpstr>
      <vt:lpstr>Photo Editor Photo</vt:lpstr>
      <vt:lpstr>IS 331  Database Design, Management and Applications</vt:lpstr>
      <vt:lpstr>Learning Objectives </vt:lpstr>
      <vt:lpstr>Learning Objectives (II) </vt:lpstr>
      <vt:lpstr>Agenda</vt:lpstr>
      <vt:lpstr>Remember Database Development Lifecycle?  </vt:lpstr>
      <vt:lpstr>Road Map for Conceptual Design</vt:lpstr>
      <vt:lpstr>Conceptual Model   </vt:lpstr>
      <vt:lpstr>Data Model   </vt:lpstr>
      <vt:lpstr>Conceptual Model vs the Data Model</vt:lpstr>
      <vt:lpstr>Conceptual Model, Cont.   </vt:lpstr>
      <vt:lpstr>ER Modeling   </vt:lpstr>
      <vt:lpstr>ER Modeling   </vt:lpstr>
      <vt:lpstr>ER Modeling: A Tale of TOO MANY versions…    </vt:lpstr>
      <vt:lpstr>ER Modeling: A Tale of TOO MANY versions…    </vt:lpstr>
      <vt:lpstr>ER Modeling: Basic Constructs   </vt:lpstr>
      <vt:lpstr>ER Modeling: A Case Study   </vt:lpstr>
      <vt:lpstr>ER Modeling: Entity   </vt:lpstr>
      <vt:lpstr>ER Modeling: Entity Class   </vt:lpstr>
      <vt:lpstr>ER Modeling: Entity   </vt:lpstr>
      <vt:lpstr>ER Modeling: Entity   </vt:lpstr>
      <vt:lpstr>ER Modeling: Relationship</vt:lpstr>
      <vt:lpstr>ER Modeling: Relationship</vt:lpstr>
      <vt:lpstr>ER Modeling: Relationship</vt:lpstr>
      <vt:lpstr>ER Modeling: Attributes</vt:lpstr>
      <vt:lpstr>ER Modeling: Attributes</vt:lpstr>
      <vt:lpstr>ER Modeling: Attributes</vt:lpstr>
      <vt:lpstr>ER Modeling: Attributes</vt:lpstr>
      <vt:lpstr>Attributes: Identifiers</vt:lpstr>
      <vt:lpstr>ER Modeling: Identifiers</vt:lpstr>
      <vt:lpstr>Attributes: Identifiers</vt:lpstr>
      <vt:lpstr>Attributes: Special Types</vt:lpstr>
      <vt:lpstr>Attributes: Special Types</vt:lpstr>
      <vt:lpstr>Attributes: Special Types</vt:lpstr>
      <vt:lpstr>Attributes: Special Types</vt:lpstr>
      <vt:lpstr>ER Modeling: Recap </vt:lpstr>
      <vt:lpstr>Performing ER Modeling: Basic Procedure </vt:lpstr>
      <vt:lpstr>Performing ER Modeling: Rules </vt:lpstr>
      <vt:lpstr>Performing ER Modeling: Tips and Tricks </vt:lpstr>
      <vt:lpstr>Performing ER Modeling: Tips and Tricks </vt:lpstr>
      <vt:lpstr>Performing ER Modeling: Tips and Tricks </vt:lpstr>
      <vt:lpstr>Performing ER Modeling: Tips and Tricks </vt:lpstr>
      <vt:lpstr>Performing ER Modeling: Tips and Tricks </vt:lpstr>
      <vt:lpstr>Performing ER Modeling: Tips and Tricks </vt:lpstr>
      <vt:lpstr>Performing ER Modeling</vt:lpstr>
      <vt:lpstr>Performing ER Modeling: Are we done? </vt:lpstr>
      <vt:lpstr>Performing ER Modeling: Exercise </vt:lpstr>
      <vt:lpstr>Performing ER Modeling: Exercise </vt:lpstr>
      <vt:lpstr>Performing ER Modeling: Exercise </vt:lpstr>
      <vt:lpstr>Why didn’t we use Crow’s Foot?</vt:lpstr>
      <vt:lpstr>Performing ER Modeling: Exercise </vt:lpstr>
    </vt:vector>
  </TitlesOfParts>
  <Company>Lehigh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Lin Lin</dc:creator>
  <cp:lastModifiedBy>Art Hendela</cp:lastModifiedBy>
  <cp:revision>303</cp:revision>
  <cp:lastPrinted>2017-01-18T15:46:20Z</cp:lastPrinted>
  <dcterms:created xsi:type="dcterms:W3CDTF">2012-09-02T01:42:14Z</dcterms:created>
  <dcterms:modified xsi:type="dcterms:W3CDTF">2024-09-09T22:26:19Z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TC019830229991</vt:lpwstr>
  </property>
</Properties>
</file>