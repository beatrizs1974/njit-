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22"/>
  </p:notesMasterIdLst>
  <p:handoutMasterIdLst>
    <p:handoutMasterId r:id="rId23"/>
  </p:handoutMasterIdLst>
  <p:sldIdLst>
    <p:sldId id="256" r:id="rId3"/>
    <p:sldId id="257" r:id="rId4"/>
    <p:sldId id="258" r:id="rId5"/>
    <p:sldId id="259" r:id="rId6"/>
    <p:sldId id="260" r:id="rId7"/>
    <p:sldId id="282" r:id="rId8"/>
    <p:sldId id="283" r:id="rId9"/>
    <p:sldId id="286" r:id="rId10"/>
    <p:sldId id="261" r:id="rId11"/>
    <p:sldId id="288" r:id="rId12"/>
    <p:sldId id="290" r:id="rId13"/>
    <p:sldId id="289" r:id="rId14"/>
    <p:sldId id="292" r:id="rId15"/>
    <p:sldId id="294" r:id="rId16"/>
    <p:sldId id="291" r:id="rId17"/>
    <p:sldId id="274" r:id="rId18"/>
    <p:sldId id="296" r:id="rId19"/>
    <p:sldId id="297" r:id="rId20"/>
    <p:sldId id="298" r:id="rId2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92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DC8F69-D355-43B1-90FB-D8C656E349A7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B90CA-578F-498D-AC80-928A20A4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2040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46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0F9888-3879-4F22-AF80-4177AA4AC351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3E6D5-0B56-4E95-B722-0CB6C0A3DFB2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FFF54-01E0-4551-9739-57A7061C7C08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AD2CFF-A0B0-4311-A3BC-DA4ED30FECE4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2968AA-672A-4F83-8CBC-80A82B39BD57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4DC351-E228-4CFD-9822-9AA74CDFB27E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B6B7A-DD0C-47D2-AB40-2FCF80BF4872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A7482-F815-4503-A2A0-9B4E6F587FB9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DC3AE-F697-4CAB-BB32-676A80268F9B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95FAD3-E4D3-41AF-A684-34713DD70029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88E4D-B080-487F-B7C6-C1728A511627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2411DB9-75D0-41F5-ABD3-D260E26E5BCC}" type="datetime1">
              <a:rPr lang="en-US" smtClean="0"/>
              <a:pPr>
                <a:defRPr/>
              </a:pPr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152400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19812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cs typeface="Arial" charset="0"/>
              </a:rPr>
              <a:t>Dr. Art Hendela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762000" y="2667000"/>
            <a:ext cx="7467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5:  Conceptual</a:t>
            </a:r>
            <a:r>
              <a:rPr kumimoji="0" lang="en-US" sz="32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Design (III)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381000" y="3505200"/>
            <a:ext cx="27432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Requirement Analysis</a:t>
            </a:r>
            <a:r>
              <a:rPr lang="en-US" sz="2000"/>
              <a:t> 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676400" y="4114800"/>
            <a:ext cx="2590800" cy="40640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Conceptual Design</a:t>
            </a:r>
            <a:r>
              <a:rPr lang="en-US" sz="2000"/>
              <a:t> 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895600" y="4648200"/>
            <a:ext cx="2514600" cy="406400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Logical Design</a:t>
            </a:r>
            <a:r>
              <a:rPr lang="en-US" sz="2000"/>
              <a:t> 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114800" y="5257800"/>
            <a:ext cx="24384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Physical Design 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5181600" y="5791200"/>
            <a:ext cx="22860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Implementation 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324600" y="6324600"/>
            <a:ext cx="1981200" cy="376238"/>
          </a:xfrm>
          <a:prstGeom prst="rect">
            <a:avLst/>
          </a:prstGeom>
          <a:solidFill>
            <a:srgbClr val="EAEAEA"/>
          </a:solidFill>
          <a:ln w="9525">
            <a:solidFill>
              <a:srgbClr val="080808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/>
              <a:t>Maintenance </a:t>
            </a:r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3200400" y="4572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>
            <a:off x="4419600" y="5105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4" name="Line 16"/>
          <p:cNvSpPr>
            <a:spLocks noChangeShapeType="1"/>
          </p:cNvSpPr>
          <p:nvPr/>
        </p:nvSpPr>
        <p:spPr bwMode="auto">
          <a:xfrm>
            <a:off x="5486400" y="57150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5" name="Line 17"/>
          <p:cNvSpPr>
            <a:spLocks noChangeShapeType="1"/>
          </p:cNvSpPr>
          <p:nvPr/>
        </p:nvSpPr>
        <p:spPr bwMode="auto">
          <a:xfrm>
            <a:off x="6705600" y="6248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" name="Line 18"/>
          <p:cNvSpPr>
            <a:spLocks noChangeShapeType="1"/>
          </p:cNvSpPr>
          <p:nvPr/>
        </p:nvSpPr>
        <p:spPr bwMode="auto">
          <a:xfrm>
            <a:off x="2438400" y="3962400"/>
            <a:ext cx="76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 Objectives</a:t>
            </a:r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</a:p>
        </p:txBody>
      </p:sp>
      <p:sp>
        <p:nvSpPr>
          <p:cNvPr id="3481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297363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Understand the concepts of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subtype, </a:t>
            </a:r>
            <a:r>
              <a:rPr lang="en-US" sz="24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inheritance, discriminator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sub/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represent them using appropriate notations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different types of inheritance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Generate EER Models which might have inheritance relationships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</a:p>
          <a:p>
            <a:endParaRPr lang="en-US" sz="24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0109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634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Enhanced Entity Relationship Modeling (EER)</a:t>
            </a:r>
          </a:p>
          <a:p>
            <a:pPr lvl="1"/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subtype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Definition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Notation</a:t>
            </a:r>
          </a:p>
          <a:p>
            <a:pPr lvl="2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Completeness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disjointness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 to perform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EER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modeling</a:t>
            </a:r>
          </a:p>
        </p:txBody>
      </p:sp>
    </p:spTree>
    <p:extLst>
      <p:ext uri="{BB962C8B-B14F-4D97-AF65-F5344CB8AC3E}">
        <p14:creationId xmlns:p14="http://schemas.microsoft.com/office/powerpoint/2010/main" val="3425583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0391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 are we?</a:t>
            </a:r>
          </a:p>
        </p:txBody>
      </p:sp>
      <p:sp>
        <p:nvSpPr>
          <p:cNvPr id="43" name="Text Box 1051"/>
          <p:cNvSpPr txBox="1">
            <a:spLocks noChangeArrowheads="1"/>
          </p:cNvSpPr>
          <p:nvPr/>
        </p:nvSpPr>
        <p:spPr bwMode="auto">
          <a:xfrm>
            <a:off x="342900" y="1752600"/>
            <a:ext cx="1905000" cy="7078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Conceptual Design </a:t>
            </a:r>
          </a:p>
        </p:txBody>
      </p:sp>
      <p:sp>
        <p:nvSpPr>
          <p:cNvPr id="44" name="Line 1052"/>
          <p:cNvSpPr>
            <a:spLocks noChangeShapeType="1"/>
          </p:cNvSpPr>
          <p:nvPr/>
        </p:nvSpPr>
        <p:spPr bwMode="auto">
          <a:xfrm>
            <a:off x="2362200" y="2667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5" name="Text Box 1053"/>
          <p:cNvSpPr txBox="1">
            <a:spLocks noChangeArrowheads="1"/>
          </p:cNvSpPr>
          <p:nvPr/>
        </p:nvSpPr>
        <p:spPr bwMode="auto">
          <a:xfrm>
            <a:off x="2667000" y="2514600"/>
            <a:ext cx="914400" cy="376238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/>
              <a:t>Entity</a:t>
            </a:r>
          </a:p>
        </p:txBody>
      </p:sp>
      <p:sp>
        <p:nvSpPr>
          <p:cNvPr id="46" name="Line 1056"/>
          <p:cNvSpPr>
            <a:spLocks noChangeShapeType="1"/>
          </p:cNvSpPr>
          <p:nvPr/>
        </p:nvSpPr>
        <p:spPr bwMode="auto">
          <a:xfrm>
            <a:off x="2057400" y="3581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7" name="Line 1057"/>
          <p:cNvSpPr>
            <a:spLocks noChangeShapeType="1"/>
          </p:cNvSpPr>
          <p:nvPr/>
        </p:nvSpPr>
        <p:spPr bwMode="auto">
          <a:xfrm>
            <a:off x="2362200" y="44958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" name="Line 1058"/>
          <p:cNvSpPr>
            <a:spLocks noChangeShapeType="1"/>
          </p:cNvSpPr>
          <p:nvPr/>
        </p:nvSpPr>
        <p:spPr bwMode="auto">
          <a:xfrm>
            <a:off x="2362200" y="2667000"/>
            <a:ext cx="0" cy="1828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9" name="Text Box 1072"/>
          <p:cNvSpPr txBox="1">
            <a:spLocks noChangeArrowheads="1"/>
          </p:cNvSpPr>
          <p:nvPr/>
        </p:nvSpPr>
        <p:spPr bwMode="auto">
          <a:xfrm>
            <a:off x="533400" y="3429000"/>
            <a:ext cx="1524000" cy="461665"/>
          </a:xfrm>
          <a:prstGeom prst="rect">
            <a:avLst/>
          </a:prstGeom>
          <a:solidFill>
            <a:srgbClr val="00B050"/>
          </a:solidFill>
          <a:ln>
            <a:headEnd/>
            <a:tailEnd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ER Model</a:t>
            </a:r>
          </a:p>
        </p:txBody>
      </p:sp>
      <p:sp>
        <p:nvSpPr>
          <p:cNvPr id="50" name="Line 1073"/>
          <p:cNvSpPr>
            <a:spLocks noChangeShapeType="1"/>
          </p:cNvSpPr>
          <p:nvPr/>
        </p:nvSpPr>
        <p:spPr bwMode="auto">
          <a:xfrm>
            <a:off x="1295400" y="25146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1" name="Text Box 1074"/>
          <p:cNvSpPr txBox="1">
            <a:spLocks noChangeArrowheads="1"/>
          </p:cNvSpPr>
          <p:nvPr/>
        </p:nvSpPr>
        <p:spPr bwMode="auto">
          <a:xfrm>
            <a:off x="2667000" y="3352800"/>
            <a:ext cx="12954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>
                    <a:lumMod val="50000"/>
                  </a:schemeClr>
                </a:solidFill>
              </a:rPr>
              <a:t>Attributes</a:t>
            </a:r>
          </a:p>
        </p:txBody>
      </p:sp>
      <p:sp>
        <p:nvSpPr>
          <p:cNvPr id="52" name="Text Box 1075"/>
          <p:cNvSpPr txBox="1">
            <a:spLocks noChangeArrowheads="1"/>
          </p:cNvSpPr>
          <p:nvPr/>
        </p:nvSpPr>
        <p:spPr bwMode="auto">
          <a:xfrm>
            <a:off x="2667000" y="4267200"/>
            <a:ext cx="15240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Relationship</a:t>
            </a:r>
          </a:p>
        </p:txBody>
      </p:sp>
      <p:sp>
        <p:nvSpPr>
          <p:cNvPr id="53" name="Text Box 1080"/>
          <p:cNvSpPr txBox="1">
            <a:spLocks noChangeArrowheads="1"/>
          </p:cNvSpPr>
          <p:nvPr/>
        </p:nvSpPr>
        <p:spPr bwMode="auto">
          <a:xfrm>
            <a:off x="4267200" y="1524000"/>
            <a:ext cx="21336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</a:rPr>
              <a:t>Basics</a:t>
            </a:r>
          </a:p>
        </p:txBody>
      </p:sp>
      <p:sp>
        <p:nvSpPr>
          <p:cNvPr id="54" name="Text Box 1081"/>
          <p:cNvSpPr txBox="1">
            <a:spLocks noChangeArrowheads="1"/>
          </p:cNvSpPr>
          <p:nvPr/>
        </p:nvSpPr>
        <p:spPr bwMode="auto">
          <a:xfrm>
            <a:off x="4267200" y="2057400"/>
            <a:ext cx="2133600" cy="70788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2000" dirty="0">
                <a:ln w="12700">
                  <a:noFill/>
                  <a:prstDash val="solid"/>
                </a:ln>
                <a:solidFill>
                  <a:schemeClr val="bg1">
                    <a:lumMod val="65000"/>
                  </a:schemeClr>
                </a:solidFill>
              </a:rPr>
              <a:t>Two advanced types of Entity</a:t>
            </a:r>
          </a:p>
        </p:txBody>
      </p:sp>
      <p:sp>
        <p:nvSpPr>
          <p:cNvPr id="55" name="Text Box 1082"/>
          <p:cNvSpPr txBox="1">
            <a:spLocks noChangeArrowheads="1"/>
          </p:cNvSpPr>
          <p:nvPr/>
        </p:nvSpPr>
        <p:spPr bwMode="auto">
          <a:xfrm>
            <a:off x="4267200" y="2819400"/>
            <a:ext cx="2133600" cy="37623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Super/subtypes</a:t>
            </a:r>
          </a:p>
        </p:txBody>
      </p:sp>
      <p:sp>
        <p:nvSpPr>
          <p:cNvPr id="56" name="Line 1083"/>
          <p:cNvSpPr>
            <a:spLocks noChangeShapeType="1"/>
          </p:cNvSpPr>
          <p:nvPr/>
        </p:nvSpPr>
        <p:spPr bwMode="auto">
          <a:xfrm>
            <a:off x="3886200" y="1752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7" name="Line 1084"/>
          <p:cNvSpPr>
            <a:spLocks noChangeShapeType="1"/>
          </p:cNvSpPr>
          <p:nvPr/>
        </p:nvSpPr>
        <p:spPr bwMode="auto">
          <a:xfrm>
            <a:off x="3581400" y="2590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8" name="Line 1085"/>
          <p:cNvSpPr>
            <a:spLocks noChangeShapeType="1"/>
          </p:cNvSpPr>
          <p:nvPr/>
        </p:nvSpPr>
        <p:spPr bwMode="auto">
          <a:xfrm>
            <a:off x="3886200" y="30480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59" name="Line 1086"/>
          <p:cNvSpPr>
            <a:spLocks noChangeShapeType="1"/>
          </p:cNvSpPr>
          <p:nvPr/>
        </p:nvSpPr>
        <p:spPr bwMode="auto">
          <a:xfrm>
            <a:off x="3886200" y="1752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0" name="Text Box 1087"/>
          <p:cNvSpPr txBox="1">
            <a:spLocks noChangeArrowheads="1"/>
          </p:cNvSpPr>
          <p:nvPr/>
        </p:nvSpPr>
        <p:spPr bwMode="auto">
          <a:xfrm>
            <a:off x="4495800" y="3962400"/>
            <a:ext cx="2133600" cy="37623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solidFill>
                  <a:schemeClr val="bg1">
                    <a:lumMod val="65000"/>
                  </a:schemeClr>
                </a:solidFill>
              </a:rPr>
              <a:t>Basics</a:t>
            </a:r>
          </a:p>
        </p:txBody>
      </p:sp>
      <p:sp>
        <p:nvSpPr>
          <p:cNvPr id="61" name="Text Box 1088"/>
          <p:cNvSpPr txBox="1">
            <a:spLocks noChangeArrowheads="1"/>
          </p:cNvSpPr>
          <p:nvPr/>
        </p:nvSpPr>
        <p:spPr bwMode="auto">
          <a:xfrm>
            <a:off x="4495800" y="4876800"/>
            <a:ext cx="21336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1">
                    <a:lumMod val="5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Cardinality and Participation</a:t>
            </a:r>
          </a:p>
        </p:txBody>
      </p:sp>
      <p:sp>
        <p:nvSpPr>
          <p:cNvPr id="62" name="Line 1090"/>
          <p:cNvSpPr>
            <a:spLocks noChangeShapeType="1"/>
          </p:cNvSpPr>
          <p:nvPr/>
        </p:nvSpPr>
        <p:spPr bwMode="auto">
          <a:xfrm>
            <a:off x="4343400" y="5257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3" name="Line 1091"/>
          <p:cNvSpPr>
            <a:spLocks noChangeShapeType="1"/>
          </p:cNvSpPr>
          <p:nvPr/>
        </p:nvSpPr>
        <p:spPr bwMode="auto">
          <a:xfrm>
            <a:off x="4343400" y="40386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4" name="Line 1092"/>
          <p:cNvSpPr>
            <a:spLocks noChangeShapeType="1"/>
          </p:cNvSpPr>
          <p:nvPr/>
        </p:nvSpPr>
        <p:spPr bwMode="auto">
          <a:xfrm>
            <a:off x="4343400" y="4038600"/>
            <a:ext cx="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5" name="Line 1094"/>
          <p:cNvSpPr>
            <a:spLocks noChangeShapeType="1"/>
          </p:cNvSpPr>
          <p:nvPr/>
        </p:nvSpPr>
        <p:spPr bwMode="auto">
          <a:xfrm>
            <a:off x="4191000" y="44958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66" name="Rectangle 1097"/>
          <p:cNvSpPr>
            <a:spLocks noChangeArrowheads="1"/>
          </p:cNvSpPr>
          <p:nvPr/>
        </p:nvSpPr>
        <p:spPr bwMode="auto">
          <a:xfrm>
            <a:off x="4191000" y="2765287"/>
            <a:ext cx="2286000" cy="511314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Line 1099"/>
          <p:cNvSpPr>
            <a:spLocks noChangeShapeType="1"/>
          </p:cNvSpPr>
          <p:nvPr/>
        </p:nvSpPr>
        <p:spPr bwMode="auto">
          <a:xfrm flipV="1">
            <a:off x="6400801" y="2197028"/>
            <a:ext cx="1151656" cy="85097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71" name="Text Box 1102"/>
          <p:cNvSpPr txBox="1">
            <a:spLocks noChangeArrowheads="1"/>
          </p:cNvSpPr>
          <p:nvPr/>
        </p:nvSpPr>
        <p:spPr bwMode="auto">
          <a:xfrm>
            <a:off x="7620000" y="3200400"/>
            <a:ext cx="1295400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ER Modeling</a:t>
            </a:r>
          </a:p>
        </p:txBody>
      </p:sp>
      <p:sp>
        <p:nvSpPr>
          <p:cNvPr id="72" name="Rectangle 1103"/>
          <p:cNvSpPr>
            <a:spLocks noChangeArrowheads="1"/>
          </p:cNvSpPr>
          <p:nvPr/>
        </p:nvSpPr>
        <p:spPr bwMode="auto">
          <a:xfrm>
            <a:off x="7517822" y="1663628"/>
            <a:ext cx="1447800" cy="1066800"/>
          </a:xfrm>
          <a:prstGeom prst="rect">
            <a:avLst/>
          </a:prstGeom>
          <a:noFill/>
          <a:ln w="28575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3" name="Text Box 1108"/>
          <p:cNvSpPr txBox="1">
            <a:spLocks noChangeArrowheads="1"/>
          </p:cNvSpPr>
          <p:nvPr/>
        </p:nvSpPr>
        <p:spPr bwMode="auto">
          <a:xfrm>
            <a:off x="7568045" y="4419600"/>
            <a:ext cx="1340427" cy="646331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 b="1" dirty="0">
                <a:solidFill>
                  <a:schemeClr val="bg1"/>
                </a:solidFill>
              </a:rPr>
              <a:t>ER Modeling</a:t>
            </a:r>
          </a:p>
        </p:txBody>
      </p:sp>
      <p:sp>
        <p:nvSpPr>
          <p:cNvPr id="74" name="Text Box 1111"/>
          <p:cNvSpPr txBox="1">
            <a:spLocks noChangeArrowheads="1"/>
          </p:cNvSpPr>
          <p:nvPr/>
        </p:nvSpPr>
        <p:spPr bwMode="auto">
          <a:xfrm>
            <a:off x="7568044" y="1826641"/>
            <a:ext cx="1347356" cy="6508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headEnd/>
            <a:tailEnd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800">
                <a:solidFill>
                  <a:schemeClr val="bg1"/>
                </a:solidFill>
              </a:rPr>
              <a:t>EER Modeling</a:t>
            </a:r>
          </a:p>
        </p:txBody>
      </p:sp>
    </p:spTree>
    <p:extLst>
      <p:ext uri="{BB962C8B-B14F-4D97-AF65-F5344CB8AC3E}">
        <p14:creationId xmlns:p14="http://schemas.microsoft.com/office/powerpoint/2010/main" val="3142820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EER – Why do we need it?   </a:t>
            </a:r>
          </a:p>
        </p:txBody>
      </p:sp>
      <p:sp>
        <p:nvSpPr>
          <p:cNvPr id="71688" name="Rectangle 103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447800"/>
            <a:ext cx="7772400" cy="4572000"/>
          </a:xfrm>
          <a:noFill/>
          <a:ln/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ER Model has limited power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Real world business is getting more and more complicated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example, in the bookstore case, we have to relationships that are exactly the same. Seems redundant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EER – Enhance ER is used to extend ER’s power</a:t>
            </a:r>
          </a:p>
          <a:p>
            <a:pPr lvl="1"/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Major difference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EER = ER + subtype/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a simplified view. There is more to EER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focus on subtype/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this class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3548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277091" y="0"/>
            <a:ext cx="8451273" cy="1075765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Extended ERD– Why?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38546" y="1008529"/>
            <a:ext cx="8866909" cy="5715000"/>
          </a:xfrm>
        </p:spPr>
        <p:txBody>
          <a:bodyPr/>
          <a:lstStyle/>
          <a:p>
            <a:pPr marL="0" indent="0">
              <a:buNone/>
            </a:pP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400" u="sng" dirty="0" err="1">
                <a:latin typeface="Arial" panose="020B0604020202020204" pitchFamily="34" charset="0"/>
                <a:cs typeface="Arial" panose="020B0604020202020204" pitchFamily="34" charset="0"/>
              </a:rPr>
              <a:t>StudentID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Fname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SocSec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#, Home Address,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City,State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ZipCode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Phone,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EmailAddy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NameOfHighSchool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SAT Score,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HighSchoolGPA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HonorsCollege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GRE Score,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UndergraduateSchool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GPAfromUndergraduateSchool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YearOfBachelorsDegree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EnrolledGraduateProgram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THE ABOVE TABLE. PAY ATTENTION TO THE TYPE OF STUDENT EACH ATTRIBUTE DESCRIBES</a:t>
            </a:r>
          </a:p>
        </p:txBody>
      </p:sp>
      <p:sp>
        <p:nvSpPr>
          <p:cNvPr id="2" name="Rectangle 1"/>
          <p:cNvSpPr/>
          <p:nvPr/>
        </p:nvSpPr>
        <p:spPr>
          <a:xfrm>
            <a:off x="7162800" y="6501199"/>
            <a:ext cx="18176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1200" dirty="0"/>
              <a:t>Courtesy of Dr. J. </a:t>
            </a:r>
            <a:r>
              <a:rPr lang="en-US" sz="1200" dirty="0" err="1"/>
              <a:t>Scher</a:t>
            </a:r>
            <a:endParaRPr 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1443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Content Placeholder 2"/>
          <p:cNvSpPr>
            <a:spLocks noGrp="1"/>
          </p:cNvSpPr>
          <p:nvPr>
            <p:ph idx="1"/>
          </p:nvPr>
        </p:nvSpPr>
        <p:spPr>
          <a:xfrm>
            <a:off x="124691" y="990600"/>
            <a:ext cx="8866909" cy="5715000"/>
          </a:xfrm>
        </p:spPr>
        <p:txBody>
          <a:bodyPr/>
          <a:lstStyle/>
          <a:p>
            <a:pPr marL="0" indent="0">
              <a:buNone/>
            </a:pP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br>
              <a:rPr lang="en-US" sz="2200" b="1" dirty="0"/>
            </a:br>
            <a:r>
              <a:rPr lang="en-US" sz="2200" b="1" dirty="0"/>
              <a:t>STUDENT</a:t>
            </a:r>
            <a:r>
              <a:rPr lang="en-US" sz="2200" dirty="0"/>
              <a:t> (</a:t>
            </a:r>
            <a:r>
              <a:rPr lang="en-US" sz="2200" u="sng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StudentID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Lname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Fname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SocSec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#, Home Address,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City,State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ZipCode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Phone,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EmailAddy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NameOfHighSchool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SAT Score,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HighSchoolGPA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HonorsCollege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en-US" sz="2200" dirty="0"/>
              <a:t>GRE Score, </a:t>
            </a:r>
            <a:r>
              <a:rPr lang="en-US" sz="2200" dirty="0" err="1"/>
              <a:t>UndergraduateDegreeSchool</a:t>
            </a:r>
            <a:r>
              <a:rPr lang="en-US" sz="2200" dirty="0"/>
              <a:t>, </a:t>
            </a:r>
            <a:r>
              <a:rPr lang="en-US" sz="2200" dirty="0" err="1"/>
              <a:t>GPAfromUndergraduateDegreeSchool</a:t>
            </a:r>
            <a:r>
              <a:rPr lang="en-US" sz="2200" dirty="0"/>
              <a:t>, </a:t>
            </a:r>
            <a:r>
              <a:rPr lang="en-US" sz="2200" dirty="0" err="1"/>
              <a:t>YearOfBachelorsDegree</a:t>
            </a:r>
            <a:r>
              <a:rPr lang="en-US" sz="2200" dirty="0"/>
              <a:t>, </a:t>
            </a:r>
            <a:r>
              <a:rPr lang="en-US" sz="2200" dirty="0" err="1"/>
              <a:t>EnrolledGraduateProgram</a:t>
            </a:r>
            <a:r>
              <a:rPr lang="en-US" sz="2200" dirty="0"/>
              <a:t>) </a:t>
            </a:r>
          </a:p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77091" y="0"/>
            <a:ext cx="8451273" cy="1075765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Extended ERD– Why?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52400" y="2209801"/>
            <a:ext cx="8839200" cy="914399"/>
            <a:chOff x="152400" y="2209801"/>
            <a:chExt cx="8839200" cy="914399"/>
          </a:xfrm>
        </p:grpSpPr>
        <p:sp>
          <p:nvSpPr>
            <p:cNvPr id="3" name="Rectangle 2"/>
            <p:cNvSpPr/>
            <p:nvPr/>
          </p:nvSpPr>
          <p:spPr>
            <a:xfrm>
              <a:off x="152400" y="2209801"/>
              <a:ext cx="8839200" cy="533400"/>
            </a:xfrm>
            <a:prstGeom prst="rect">
              <a:avLst/>
            </a:prstGeom>
            <a:solidFill>
              <a:srgbClr val="FFC00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/>
            <p:cNvSpPr/>
            <p:nvPr/>
          </p:nvSpPr>
          <p:spPr>
            <a:xfrm>
              <a:off x="155864" y="2743201"/>
              <a:ext cx="3273136" cy="380999"/>
            </a:xfrm>
            <a:prstGeom prst="rect">
              <a:avLst/>
            </a:prstGeom>
            <a:solidFill>
              <a:srgbClr val="FFC000">
                <a:alpha val="5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55864" y="2743201"/>
            <a:ext cx="8835736" cy="761998"/>
            <a:chOff x="155864" y="2743201"/>
            <a:chExt cx="8835736" cy="761998"/>
          </a:xfrm>
        </p:grpSpPr>
        <p:sp>
          <p:nvSpPr>
            <p:cNvPr id="8" name="Rectangle 7"/>
            <p:cNvSpPr/>
            <p:nvPr/>
          </p:nvSpPr>
          <p:spPr>
            <a:xfrm>
              <a:off x="3429000" y="2743201"/>
              <a:ext cx="5562600" cy="380999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55864" y="3124200"/>
              <a:ext cx="1825336" cy="380999"/>
            </a:xfrm>
            <a:prstGeom prst="rect">
              <a:avLst/>
            </a:prstGeom>
            <a:solidFill>
              <a:schemeClr val="accent1">
                <a:alpha val="4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76646" y="3124200"/>
            <a:ext cx="8814954" cy="914400"/>
            <a:chOff x="176646" y="3124200"/>
            <a:chExt cx="8814954" cy="914400"/>
          </a:xfrm>
        </p:grpSpPr>
        <p:sp>
          <p:nvSpPr>
            <p:cNvPr id="10" name="Rectangle 9"/>
            <p:cNvSpPr/>
            <p:nvPr/>
          </p:nvSpPr>
          <p:spPr>
            <a:xfrm>
              <a:off x="1981200" y="3124200"/>
              <a:ext cx="7010400" cy="914400"/>
            </a:xfrm>
            <a:prstGeom prst="rect">
              <a:avLst/>
            </a:prstGeom>
            <a:solidFill>
              <a:schemeClr val="accent2">
                <a:alpha val="56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76646" y="3494809"/>
              <a:ext cx="1804554" cy="543791"/>
            </a:xfrm>
            <a:prstGeom prst="rect">
              <a:avLst/>
            </a:prstGeom>
            <a:solidFill>
              <a:schemeClr val="accent2">
                <a:alpha val="56000"/>
              </a:schemeClr>
            </a:solidFill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2012372" y="4495800"/>
            <a:ext cx="530282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Who would have the yellow attributes? Who would have the red ones? 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Who would have the blue ones?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2800" y="6501199"/>
            <a:ext cx="181767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en-US" sz="1200" dirty="0"/>
              <a:t>Courtesy of Dr. J. </a:t>
            </a:r>
            <a:r>
              <a:rPr lang="en-US" sz="1200" dirty="0" err="1"/>
              <a:t>Scher</a:t>
            </a:r>
            <a:endParaRPr lang="en-US" sz="1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837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" y="0"/>
            <a:ext cx="8530648" cy="1210235"/>
          </a:xfrm>
        </p:spPr>
        <p:txBody>
          <a:bodyPr lIns="0" tIns="0" rIns="0" bIns="0" anchor="ctr"/>
          <a:lstStyle/>
          <a:p>
            <a:pPr marL="0" indent="0" algn="ctr" defTabSz="461578">
              <a:spcBef>
                <a:spcPct val="0"/>
              </a:spcBef>
              <a:buClr>
                <a:srgbClr val="602162"/>
              </a:buClr>
              <a:buSzPct val="90000"/>
              <a:buNone/>
            </a:pPr>
            <a:r>
              <a:rPr lang="en-US" sz="3600" b="1" dirty="0">
                <a:solidFill>
                  <a:srgbClr val="FFFF00"/>
                </a:solidFill>
                <a:latin typeface="Arial" pitchFamily="34" charset="0"/>
              </a:rPr>
              <a:t>If we create one STUDENT table…</a:t>
            </a:r>
            <a:endParaRPr lang="en-US" sz="3600" dirty="0">
              <a:solidFill>
                <a:srgbClr val="FFFF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38200" y="1997839"/>
            <a:ext cx="7543800" cy="25853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None/>
            </a:pPr>
            <a:br>
              <a:rPr lang="en-US" b="1" dirty="0"/>
            </a:br>
            <a:r>
              <a:rPr lang="en-US" sz="2400" b="1" dirty="0"/>
              <a:t>STUDENT</a:t>
            </a:r>
            <a:r>
              <a:rPr lang="en-US" sz="2400" dirty="0"/>
              <a:t> (</a:t>
            </a:r>
            <a:r>
              <a:rPr lang="en-US" sz="2400" u="sng" dirty="0" err="1"/>
              <a:t>StudentID</a:t>
            </a:r>
            <a:r>
              <a:rPr lang="en-US" sz="2400" dirty="0"/>
              <a:t>, </a:t>
            </a:r>
            <a:r>
              <a:rPr lang="en-US" sz="2400" dirty="0" err="1"/>
              <a:t>Lname</a:t>
            </a:r>
            <a:r>
              <a:rPr lang="en-US" sz="2400" dirty="0"/>
              <a:t>, </a:t>
            </a:r>
            <a:r>
              <a:rPr lang="en-US" sz="2400" dirty="0" err="1"/>
              <a:t>Fname</a:t>
            </a:r>
            <a:r>
              <a:rPr lang="en-US" sz="2400" dirty="0"/>
              <a:t>, </a:t>
            </a:r>
            <a:r>
              <a:rPr lang="en-US" sz="2400" dirty="0" err="1"/>
              <a:t>SocSec</a:t>
            </a:r>
            <a:r>
              <a:rPr lang="en-US" sz="2400" dirty="0"/>
              <a:t>#, Home Address, </a:t>
            </a:r>
            <a:r>
              <a:rPr lang="en-US" sz="2400" dirty="0" err="1"/>
              <a:t>City,State</a:t>
            </a:r>
            <a:r>
              <a:rPr lang="en-US" sz="2400" dirty="0"/>
              <a:t>, </a:t>
            </a:r>
            <a:r>
              <a:rPr lang="en-US" sz="2400" dirty="0" err="1"/>
              <a:t>ZipCode</a:t>
            </a:r>
            <a:r>
              <a:rPr lang="en-US" sz="2400" dirty="0"/>
              <a:t>, Phone, </a:t>
            </a:r>
            <a:r>
              <a:rPr lang="en-US" sz="2400" dirty="0" err="1"/>
              <a:t>EmailAddy</a:t>
            </a:r>
            <a:r>
              <a:rPr lang="en-US" sz="2400" dirty="0"/>
              <a:t>, </a:t>
            </a:r>
            <a:r>
              <a:rPr lang="en-US" sz="2400" dirty="0" err="1"/>
              <a:t>NameOfHighSchool</a:t>
            </a:r>
            <a:r>
              <a:rPr lang="en-US" sz="2400" dirty="0"/>
              <a:t>, SAT Score, </a:t>
            </a:r>
            <a:r>
              <a:rPr lang="en-US" sz="2400" dirty="0" err="1"/>
              <a:t>HighSchoolGPA</a:t>
            </a:r>
            <a:r>
              <a:rPr lang="en-US" sz="2400" dirty="0"/>
              <a:t>, </a:t>
            </a:r>
            <a:r>
              <a:rPr lang="en-US" sz="2400" dirty="0" err="1"/>
              <a:t>HonorsCollege</a:t>
            </a:r>
            <a:r>
              <a:rPr lang="en-US" sz="2400" dirty="0"/>
              <a:t>, GRE Score, </a:t>
            </a:r>
            <a:r>
              <a:rPr lang="en-US" sz="2400" dirty="0" err="1"/>
              <a:t>UndergraduateSchool</a:t>
            </a:r>
            <a:r>
              <a:rPr lang="en-US" sz="2400" dirty="0"/>
              <a:t>, </a:t>
            </a:r>
            <a:r>
              <a:rPr lang="en-US" sz="2400" dirty="0" err="1"/>
              <a:t>GPAfromUndergraduateSchool</a:t>
            </a:r>
            <a:r>
              <a:rPr lang="en-US" sz="2400" dirty="0"/>
              <a:t>, </a:t>
            </a:r>
            <a:r>
              <a:rPr lang="en-US" sz="2400" dirty="0" err="1"/>
              <a:t>YearOfBachelorsDegree</a:t>
            </a:r>
            <a:r>
              <a:rPr lang="en-US" sz="2400" dirty="0"/>
              <a:t>, </a:t>
            </a:r>
            <a:r>
              <a:rPr lang="en-US" sz="2400" dirty="0" err="1"/>
              <a:t>EnrolledGraduateProgram</a:t>
            </a:r>
            <a:r>
              <a:rPr lang="en-US" sz="2400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268034710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EER – subtype/</a:t>
            </a:r>
            <a:r>
              <a:rPr lang="en-US" sz="4000" b="1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219200"/>
            <a:ext cx="8229600" cy="487680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Subtype/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used to model entities that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share some common properties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you’ve learned JAVA before, it is very similar to the concept of subclass and superclass. Both are based on the principle of “inheritance”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Subtype entity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 special case of a </a:t>
            </a:r>
            <a:r>
              <a:rPr lang="en-US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entity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STUDENT :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	UNDERGRADUATE or GRADUATE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contains all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attributes, while the subtypes contain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specific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attributes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may have a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attribute that indicates the subtype.</a:t>
            </a:r>
          </a:p>
        </p:txBody>
      </p:sp>
    </p:spTree>
    <p:extLst>
      <p:ext uri="{BB962C8B-B14F-4D97-AF65-F5344CB8AC3E}">
        <p14:creationId xmlns:p14="http://schemas.microsoft.com/office/powerpoint/2010/main" val="430208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074727" cy="1008529"/>
          </a:xfrm>
        </p:spPr>
        <p:txBody>
          <a:bodyPr/>
          <a:lstStyle/>
          <a:p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The STUDENT Case, With </a:t>
            </a:r>
            <a:r>
              <a:rPr lang="en-US" sz="28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/ Subtype</a:t>
            </a:r>
          </a:p>
        </p:txBody>
      </p:sp>
      <p:pic>
        <p:nvPicPr>
          <p:cNvPr id="32771" name="Picture 7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2136" y="1066800"/>
            <a:ext cx="5056909" cy="4504765"/>
          </a:xfrm>
        </p:spPr>
      </p:pic>
      <p:grpSp>
        <p:nvGrpSpPr>
          <p:cNvPr id="4" name="Group 3"/>
          <p:cNvGrpSpPr/>
          <p:nvPr/>
        </p:nvGrpSpPr>
        <p:grpSpPr>
          <a:xfrm>
            <a:off x="7018698" y="2743200"/>
            <a:ext cx="2128766" cy="513747"/>
            <a:chOff x="6421583" y="3118937"/>
            <a:chExt cx="2128766" cy="513747"/>
          </a:xfrm>
        </p:grpSpPr>
        <p:sp>
          <p:nvSpPr>
            <p:cNvPr id="32773" name="TextBox 5"/>
            <p:cNvSpPr txBox="1">
              <a:spLocks noChangeArrowheads="1"/>
            </p:cNvSpPr>
            <p:nvPr/>
          </p:nvSpPr>
          <p:spPr bwMode="auto">
            <a:xfrm>
              <a:off x="7178749" y="3118937"/>
              <a:ext cx="1371600" cy="513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algn="ctr" eaLnBrk="1" hangingPunct="1"/>
              <a:r>
                <a:rPr lang="en-US" sz="1400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The discriminator</a:t>
              </a:r>
            </a:p>
          </p:txBody>
        </p:sp>
        <p:cxnSp>
          <p:nvCxnSpPr>
            <p:cNvPr id="32774" name="Straight Arrow Connector 7"/>
            <p:cNvCxnSpPr>
              <a:cxnSpLocks noChangeShapeType="1"/>
            </p:cNvCxnSpPr>
            <p:nvPr/>
          </p:nvCxnSpPr>
          <p:spPr bwMode="auto">
            <a:xfrm flipH="1">
              <a:off x="6421583" y="3406588"/>
              <a:ext cx="741217" cy="0"/>
            </a:xfrm>
            <a:prstGeom prst="straightConnector1">
              <a:avLst/>
            </a:prstGeom>
            <a:noFill/>
            <a:ln w="508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" name="Group 5"/>
          <p:cNvGrpSpPr/>
          <p:nvPr/>
        </p:nvGrpSpPr>
        <p:grpSpPr>
          <a:xfrm>
            <a:off x="304800" y="2667000"/>
            <a:ext cx="4866410" cy="1467854"/>
            <a:chOff x="304800" y="2667000"/>
            <a:chExt cx="4866410" cy="1467854"/>
          </a:xfrm>
        </p:grpSpPr>
        <p:sp>
          <p:nvSpPr>
            <p:cNvPr id="32772" name="TextBox 4"/>
            <p:cNvSpPr txBox="1">
              <a:spLocks noChangeArrowheads="1"/>
            </p:cNvSpPr>
            <p:nvPr/>
          </p:nvSpPr>
          <p:spPr bwMode="auto">
            <a:xfrm>
              <a:off x="304800" y="2667000"/>
              <a:ext cx="4270421" cy="14678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82058" tIns="41029" rIns="82058" bIns="41029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cs typeface="Arial" pitchFamily="34" charset="0"/>
                </a:defRPr>
              </a:lvl9pPr>
            </a:lstStyle>
            <a:p>
              <a:pPr eaLnBrk="1" hangingPunct="1"/>
              <a:r>
                <a:rPr lang="en-US" sz="1800" b="1" i="1" dirty="0">
                  <a:latin typeface="Arial" panose="020B0604020202020204" pitchFamily="34" charset="0"/>
                </a:rPr>
                <a:t>An </a:t>
              </a:r>
              <a:r>
                <a:rPr lang="en-US" sz="1800" b="1" i="1" u="sng" dirty="0">
                  <a:latin typeface="Arial" panose="020B0604020202020204" pitchFamily="34" charset="0"/>
                </a:rPr>
                <a:t>exclusive </a:t>
              </a:r>
              <a:r>
                <a:rPr lang="en-US" sz="1800" b="1" i="1" dirty="0">
                  <a:latin typeface="Arial" panose="020B0604020202020204" pitchFamily="34" charset="0"/>
                </a:rPr>
                <a:t>subtype </a:t>
              </a:r>
            </a:p>
            <a:p>
              <a:pPr eaLnBrk="1" hangingPunct="1"/>
              <a:r>
                <a:rPr lang="en-US" sz="1800" b="1" i="1" dirty="0">
                  <a:latin typeface="Arial" panose="020B0604020202020204" pitchFamily="34" charset="0"/>
                </a:rPr>
                <a:t>(denoted by an X in the circle) </a:t>
              </a:r>
            </a:p>
            <a:p>
              <a:pPr eaLnBrk="1" hangingPunct="1"/>
              <a:r>
                <a:rPr lang="en-US" sz="1800" b="1" i="1" dirty="0">
                  <a:latin typeface="Arial" panose="020B0604020202020204" pitchFamily="34" charset="0"/>
                </a:rPr>
                <a:t>means that the </a:t>
              </a:r>
              <a:r>
                <a:rPr lang="en-US" sz="1800" b="1" i="1" dirty="0" err="1">
                  <a:latin typeface="Arial" panose="020B0604020202020204" pitchFamily="34" charset="0"/>
                </a:rPr>
                <a:t>supertype</a:t>
              </a:r>
              <a:r>
                <a:rPr lang="en-US" sz="1800" b="1" i="1" dirty="0">
                  <a:latin typeface="Arial" panose="020B0604020202020204" pitchFamily="34" charset="0"/>
                </a:rPr>
                <a:t> </a:t>
              </a:r>
            </a:p>
            <a:p>
              <a:pPr eaLnBrk="1" hangingPunct="1"/>
              <a:r>
                <a:rPr lang="en-US" sz="1800" b="1" i="1" dirty="0">
                  <a:latin typeface="Arial" panose="020B0604020202020204" pitchFamily="34" charset="0"/>
                </a:rPr>
                <a:t>can only take on precisely</a:t>
              </a:r>
            </a:p>
            <a:p>
              <a:pPr eaLnBrk="1" hangingPunct="1"/>
              <a:r>
                <a:rPr lang="en-US" sz="1800" b="1" i="1" dirty="0">
                  <a:latin typeface="Arial" panose="020B0604020202020204" pitchFamily="34" charset="0"/>
                </a:rPr>
                <a:t> one subtype. </a:t>
              </a:r>
            </a:p>
          </p:txBody>
        </p:sp>
        <p:cxnSp>
          <p:nvCxnSpPr>
            <p:cNvPr id="32776" name="Straight Arrow Connector 9"/>
            <p:cNvCxnSpPr>
              <a:cxnSpLocks noChangeShapeType="1"/>
            </p:cNvCxnSpPr>
            <p:nvPr/>
          </p:nvCxnSpPr>
          <p:spPr bwMode="auto">
            <a:xfrm>
              <a:off x="3505200" y="3276600"/>
              <a:ext cx="1666010" cy="0"/>
            </a:xfrm>
            <a:prstGeom prst="straightConnector1">
              <a:avLst/>
            </a:prstGeom>
            <a:noFill/>
            <a:ln w="508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1151910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416636" cy="1008529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Discriminators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416636" cy="3276600"/>
          </a:xfrm>
        </p:spPr>
        <p:txBody>
          <a:bodyPr/>
          <a:lstStyle/>
          <a:p>
            <a:pPr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is an optional attribute that determines which subtype is appropriate.</a:t>
            </a:r>
          </a:p>
          <a:p>
            <a:pPr lvl="1" eaLnBrk="1" hangingPunct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discriminator will appear as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attribute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 and will also be placed adjacent to the subtype symbol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87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74059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Notations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219201"/>
            <a:ext cx="8458200" cy="4724400"/>
          </a:xfrm>
        </p:spPr>
        <p:txBody>
          <a:bodyPr/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above all of its subtypes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circle and a line (like a ball on the ground) is used to link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subtypes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subtypes are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one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relates to at most one subtype. Put an “X” in the circle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subtypes are </a:t>
            </a: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inclusive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one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supertype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can relate to one or more subtypes. </a:t>
            </a:r>
          </a:p>
        </p:txBody>
      </p:sp>
    </p:spTree>
    <p:extLst>
      <p:ext uri="{BB962C8B-B14F-4D97-AF65-F5344CB8AC3E}">
        <p14:creationId xmlns:p14="http://schemas.microsoft.com/office/powerpoint/2010/main" val="181283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361515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INCLUSIVE SUBTYPE </a:t>
            </a:r>
          </a:p>
        </p:txBody>
      </p:sp>
      <p:pic>
        <p:nvPicPr>
          <p:cNvPr id="3686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614055"/>
            <a:ext cx="5181600" cy="4090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4740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74059"/>
          </a:xfrm>
        </p:spPr>
        <p:txBody>
          <a:bodyPr/>
          <a:lstStyle/>
          <a:p>
            <a:pPr eaLnBrk="1" hangingPunct="1"/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Question…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1219201"/>
            <a:ext cx="8458200" cy="4724400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an inclusive relationship have a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233065"/>
              </p:ext>
            </p:extLst>
          </p:nvPr>
        </p:nvGraphicFramePr>
        <p:xfrm>
          <a:off x="838200" y="1981200"/>
          <a:ext cx="7086600" cy="42510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hoto Editor Photo" r:id="rId2" imgW="6923810" imgH="4153480" progId="">
                  <p:embed/>
                </p:oleObj>
              </mc:Choice>
              <mc:Fallback>
                <p:oleObj name="Photo Editor Photo" r:id="rId2" imgW="6923810" imgH="415348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981200"/>
                        <a:ext cx="7086600" cy="42510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6280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1306886"/>
          </a:xfrm>
        </p:spPr>
        <p:txBody>
          <a:bodyPr lIns="0" tIns="0" rIns="0" bIns="0" anchor="ctr"/>
          <a:lstStyle/>
          <a:p>
            <a:pPr marL="0" indent="0" algn="ctr" defTabSz="461578">
              <a:spcBef>
                <a:spcPct val="0"/>
              </a:spcBef>
              <a:buClr>
                <a:srgbClr val="602162"/>
              </a:buClr>
              <a:buSzPct val="90000"/>
              <a:buNone/>
            </a:pPr>
            <a:r>
              <a:rPr lang="en-US" sz="4000" b="1" dirty="0">
                <a:solidFill>
                  <a:srgbClr val="FFFF00"/>
                </a:solidFill>
                <a:latin typeface="Arial" pitchFamily="34" charset="0"/>
              </a:rPr>
              <a:t>Inheritance</a:t>
            </a:r>
            <a:endParaRPr lang="en-US" sz="4000" dirty="0">
              <a:solidFill>
                <a:srgbClr val="FFFF00"/>
              </a:solidFill>
            </a:endParaRPr>
          </a:p>
        </p:txBody>
      </p:sp>
      <p:sp>
        <p:nvSpPr>
          <p:cNvPr id="35843" name="Text Box 7"/>
          <p:cNvSpPr txBox="1">
            <a:spLocks noChangeArrowheads="1"/>
          </p:cNvSpPr>
          <p:nvPr/>
        </p:nvSpPr>
        <p:spPr bwMode="auto">
          <a:xfrm>
            <a:off x="76200" y="1371600"/>
            <a:ext cx="8936182" cy="4273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350838" indent="-350838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1pPr>
            <a:lvl2pPr marL="1138238" indent="-681038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2pPr>
            <a:lvl3pPr marL="1143000" indent="-228600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3pPr>
            <a:lvl4pPr marL="1600200" indent="-228600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4pPr>
            <a:lvl5pPr marL="2057400" indent="-228600" defTabSz="514350" eaLnBrk="0" hangingPunct="0"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5pPr>
            <a:lvl6pPr marL="25146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6pPr>
            <a:lvl7pPr marL="29718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7pPr>
            <a:lvl8pPr marL="34290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8pPr>
            <a:lvl9pPr marL="3886200" indent="-228600" defTabSz="5143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cs typeface="Arial" pitchFamily="34" charset="0"/>
              </a:defRPr>
            </a:lvl9pPr>
          </a:lstStyle>
          <a:p>
            <a:pPr marL="457200" indent="-457200" eaLnBrk="1" hangingPunct="1">
              <a:buClr>
                <a:srgbClr val="602162"/>
              </a:buClr>
              <a:buSzPct val="90000"/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Inheritance means that the entities in the subtypes "inherit" the attributes of the 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supertype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entity class</a:t>
            </a:r>
            <a:br>
              <a:rPr lang="en-US" b="1" dirty="0">
                <a:solidFill>
                  <a:srgbClr val="000000"/>
                </a:solidFill>
                <a:latin typeface="Arial" panose="020B0604020202020204" pitchFamily="34" charset="0"/>
              </a:rPr>
            </a:br>
            <a:endParaRPr lang="en-US" b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 eaLnBrk="1" hangingPunct="1">
              <a:buClr>
                <a:srgbClr val="602162"/>
              </a:buClr>
              <a:buSzPct val="90000"/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UNDERGRADUATEs and GRADUATEs inherit the attributes of STUDENT. </a:t>
            </a:r>
          </a:p>
          <a:p>
            <a:pPr lvl="1" eaLnBrk="1" hangingPunct="1">
              <a:buClr>
                <a:srgbClr val="602162"/>
              </a:buClr>
              <a:buSzPct val="90000"/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These attributes are common to both undergrads and grads.</a:t>
            </a:r>
          </a:p>
          <a:p>
            <a:pPr eaLnBrk="1" hangingPunct="1">
              <a:buClr>
                <a:srgbClr val="602162"/>
              </a:buClr>
              <a:buSzPct val="90000"/>
              <a:buFont typeface="Wingdings" pitchFamily="2" charset="2"/>
              <a:buChar char="§"/>
            </a:pP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buClr>
                <a:srgbClr val="602162"/>
              </a:buClr>
              <a:buSzPct val="90000"/>
              <a:buFont typeface="Wingdings" pitchFamily="2" charset="2"/>
              <a:buChar char="§"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Inheritance is a key concept for the object oriented paradigm</a:t>
            </a:r>
          </a:p>
          <a:p>
            <a:pPr lvl="1" eaLnBrk="1" hangingPunct="1">
              <a:buClr>
                <a:srgbClr val="602162"/>
              </a:buClr>
              <a:buSzPct val="90000"/>
              <a:buFont typeface="Wingdings" pitchFamily="2" charset="2"/>
              <a:buChar char="§"/>
            </a:pP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9531859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Performing EER Modeling</a:t>
            </a:r>
            <a:b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6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Complete Procedure </a:t>
            </a:r>
          </a:p>
        </p:txBody>
      </p:sp>
      <p:sp>
        <p:nvSpPr>
          <p:cNvPr id="85004" name="Rectangle 1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41148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Get the description of the mini-world through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requirement analysis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entities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from the description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relationships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among the entities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attributes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the entities and relationships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key (identifier) for each entity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weak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i="1" dirty="0">
                <a:latin typeface="Arial" panose="020B0604020202020204" pitchFamily="34" charset="0"/>
                <a:cs typeface="Arial" panose="020B0604020202020204" pitchFamily="34" charset="0"/>
              </a:rPr>
              <a:t>entities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Fill in cardinality for all relationships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Label participation status (mandatory or optional)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potential super/subclasses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Draw the ERD</a:t>
            </a:r>
          </a:p>
        </p:txBody>
      </p:sp>
    </p:spTree>
    <p:extLst>
      <p:ext uri="{BB962C8B-B14F-4D97-AF65-F5344CB8AC3E}">
        <p14:creationId xmlns:p14="http://schemas.microsoft.com/office/powerpoint/2010/main" val="1585546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 Requirements</a:t>
            </a:r>
          </a:p>
        </p:txBody>
      </p:sp>
      <p:sp>
        <p:nvSpPr>
          <p:cNvPr id="85004" name="Rectangle 1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42672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first step of the ER Modeling process is  the toughest!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are lucky, you get to interview the clients and understand how their world works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This is the case for the scenario you are about to work on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If you are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unlucky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you can only infer everything from reports and forms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That is the case for the 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highline university case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covered in the next class</a:t>
            </a:r>
          </a:p>
        </p:txBody>
      </p:sp>
    </p:spTree>
    <p:extLst>
      <p:ext uri="{BB962C8B-B14F-4D97-AF65-F5344CB8AC3E}">
        <p14:creationId xmlns:p14="http://schemas.microsoft.com/office/powerpoint/2010/main" val="3193992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114300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 and Data Modeling</a:t>
            </a:r>
          </a:p>
        </p:txBody>
      </p:sp>
      <p:sp>
        <p:nvSpPr>
          <p:cNvPr id="85004" name="Rectangle 1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4114800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Three reasons why VISIO is NOT a data modeling tool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Model leaves out details about attribute data types (</a:t>
            </a: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design!)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Model does NOT have primary keys!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(only identifiers)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Model does NOT have foreign keys! 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(only relationships)</a:t>
            </a:r>
          </a:p>
          <a:p>
            <a:pPr lvl="1"/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38088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77200" cy="1143000"/>
          </a:xfrm>
        </p:spPr>
        <p:txBody>
          <a:bodyPr/>
          <a:lstStyle/>
          <a:p>
            <a:r>
              <a:rPr lang="en-US" sz="4000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use VISIO</a:t>
            </a:r>
            <a:r>
              <a:rPr lang="en-US" sz="4000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85004" name="Rectangle 1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4114800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Three reasons we are using VISIO for data modeling</a:t>
            </a: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Leading software in modeling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non-data modeling features make later logical design easier</a:t>
            </a:r>
          </a:p>
          <a:p>
            <a:pPr lvl="1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Much better than drawing on paper!</a:t>
            </a: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3191214"/>
      </p:ext>
    </p:extLst>
  </p:cSld>
  <p:clrMapOvr>
    <a:masterClrMapping/>
  </p:clrMapOvr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1450</TotalTime>
  <Words>933</Words>
  <Application>Microsoft Office PowerPoint</Application>
  <PresentationFormat>On-screen Show (4:3)</PresentationFormat>
  <Paragraphs>126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Wingdings</vt:lpstr>
      <vt:lpstr>TS101983022</vt:lpstr>
      <vt:lpstr>Photo Editor Photo</vt:lpstr>
      <vt:lpstr>IS 331  Database Design, Management and Applications</vt:lpstr>
      <vt:lpstr>Learning Objectives </vt:lpstr>
      <vt:lpstr>Overview</vt:lpstr>
      <vt:lpstr>Where are we?</vt:lpstr>
      <vt:lpstr>EER – Why do we need it?   </vt:lpstr>
      <vt:lpstr>The Extended ERD– Why?</vt:lpstr>
      <vt:lpstr>The Extended ERD– Why?</vt:lpstr>
      <vt:lpstr>PowerPoint Presentation</vt:lpstr>
      <vt:lpstr>EER – subtype/supertype </vt:lpstr>
      <vt:lpstr>The STUDENT Case, With Supertype / Subtype</vt:lpstr>
      <vt:lpstr>Discriminators</vt:lpstr>
      <vt:lpstr>Notations</vt:lpstr>
      <vt:lpstr>INCLUSIVE SUBTYPE </vt:lpstr>
      <vt:lpstr>Question…</vt:lpstr>
      <vt:lpstr>PowerPoint Presentation</vt:lpstr>
      <vt:lpstr>Performing EER Modeling  Complete Procedure </vt:lpstr>
      <vt:lpstr>Getting Requirements</vt:lpstr>
      <vt:lpstr>Visio and Data Modeling</vt:lpstr>
      <vt:lpstr>Why use VISIO?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Art Hendela</cp:lastModifiedBy>
  <cp:revision>348</cp:revision>
  <dcterms:created xsi:type="dcterms:W3CDTF">2012-09-02T01:42:14Z</dcterms:created>
  <dcterms:modified xsi:type="dcterms:W3CDTF">2024-09-16T22:18:55Z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