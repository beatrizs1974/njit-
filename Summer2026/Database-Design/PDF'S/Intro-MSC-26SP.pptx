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notesMasterIdLst>
    <p:notesMasterId r:id="rId35"/>
  </p:notesMasterIdLst>
  <p:sldIdLst>
    <p:sldId id="256" r:id="rId3"/>
    <p:sldId id="257" r:id="rId4"/>
    <p:sldId id="259" r:id="rId5"/>
    <p:sldId id="260" r:id="rId6"/>
    <p:sldId id="262" r:id="rId7"/>
    <p:sldId id="263" r:id="rId8"/>
    <p:sldId id="264" r:id="rId9"/>
    <p:sldId id="291" r:id="rId10"/>
    <p:sldId id="292" r:id="rId11"/>
    <p:sldId id="265" r:id="rId12"/>
    <p:sldId id="270" r:id="rId13"/>
    <p:sldId id="267" r:id="rId14"/>
    <p:sldId id="268" r:id="rId15"/>
    <p:sldId id="293" r:id="rId16"/>
    <p:sldId id="273" r:id="rId17"/>
    <p:sldId id="290" r:id="rId18"/>
    <p:sldId id="274" r:id="rId19"/>
    <p:sldId id="275" r:id="rId20"/>
    <p:sldId id="276" r:id="rId21"/>
    <p:sldId id="289" r:id="rId22"/>
    <p:sldId id="277" r:id="rId23"/>
    <p:sldId id="278" r:id="rId24"/>
    <p:sldId id="279" r:id="rId25"/>
    <p:sldId id="280" r:id="rId26"/>
    <p:sldId id="282" r:id="rId27"/>
    <p:sldId id="281" r:id="rId28"/>
    <p:sldId id="283" r:id="rId29"/>
    <p:sldId id="284" r:id="rId30"/>
    <p:sldId id="285" r:id="rId31"/>
    <p:sldId id="286" r:id="rId32"/>
    <p:sldId id="287" r:id="rId33"/>
    <p:sldId id="288" r:id="rId34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7" autoAdjust="0"/>
    <p:restoredTop sz="94660"/>
  </p:normalViewPr>
  <p:slideViewPr>
    <p:cSldViewPr>
      <p:cViewPr varScale="1">
        <p:scale>
          <a:sx n="66" d="100"/>
          <a:sy n="66" d="100"/>
        </p:scale>
        <p:origin x="171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9034493C-0454-4866-BCBA-B08E80B79975}" type="datetimeFigureOut">
              <a:rPr lang="en-US" smtClean="0"/>
              <a:pPr/>
              <a:t>1/12/2026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47B6BB5A-CE4E-4664-B71A-76645C9280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9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685800"/>
            <a:ext cx="77724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209800"/>
            <a:ext cx="6400800" cy="1143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FE994E-E5AC-4277-80F1-0B8A9540BE5F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2E01B-07BF-4B7E-88E3-0FA8BF19FC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06B2E2-9764-4598-8B33-3D8A386DEC69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DA86C6-259A-43E0-A3DD-0DFA14BC01E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A40C9E5-978A-4323-98F6-D53EC073AAA8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3E8DC3-00CB-499E-BCBF-41EFC7DC6A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1015E-2DA1-427A-BA30-8776873E7731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6DC61A-4458-4BE4-A110-01546114C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361CF7-E1A0-4425-BF33-A0DDEF52D9F4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14CBE0-2B4C-4AC7-8AB2-4E56AB82E39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49D33B-BA91-4572-B6E1-8C10FAD8CB42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650111-24E0-487D-A93D-2ADA9C1B1F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C32FF-FE86-43B5-B216-C55FC1830734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F9E701-1039-4E30-A4DD-EC6D092F20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3520B5-BBA4-48D3-A039-8FC4223B0368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FD85B6-AB61-42AA-AA9B-6499F108AB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4A0D0E-88FF-4CA3-BF19-0402CE279192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E4D34-0B1F-4B9D-BA42-7F457ADCEC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06F0B8-3AD7-4AAC-9494-E6A2B108E3BF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26C03B4-DDAB-4006-AAC3-F33B0E420C2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F45943-1C02-48F1-A751-688F1024B195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EB4DCF-00E7-4B5E-9DDA-00BC269363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685800"/>
            <a:ext cx="8229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828800"/>
            <a:ext cx="8229600" cy="429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B865558-C788-4612-9C3E-3EE48262F96F}" type="datetime1">
              <a:rPr lang="en-US" smtClean="0"/>
              <a:pPr>
                <a:defRPr/>
              </a:pPr>
              <a:t>1/12/2026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CA87BF71-DEC3-4FE4-8E61-8936FC1DFA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youtube.com/watch?v=4RNi9Uf-xDA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www-03.ibm.com/ibm/history/exhibits/builders/builders_hollerith.html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ctrTitle"/>
          </p:nvPr>
        </p:nvSpPr>
        <p:spPr>
          <a:xfrm>
            <a:off x="609600" y="663575"/>
            <a:ext cx="7772400" cy="1470025"/>
          </a:xfrm>
        </p:spPr>
        <p:txBody>
          <a:bodyPr/>
          <a:lstStyle/>
          <a:p>
            <a:pPr defTabSz="474663"/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IS 331 </a:t>
            </a:r>
            <a:b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Database Design, Management and Applications</a:t>
            </a:r>
          </a:p>
        </p:txBody>
      </p:sp>
      <p:sp>
        <p:nvSpPr>
          <p:cNvPr id="3075" name="Subtitle 2"/>
          <p:cNvSpPr>
            <a:spLocks noGrp="1"/>
          </p:cNvSpPr>
          <p:nvPr>
            <p:ph type="subTitle" idx="1"/>
          </p:nvPr>
        </p:nvSpPr>
        <p:spPr>
          <a:xfrm>
            <a:off x="1371600" y="2590800"/>
            <a:ext cx="6400800" cy="533400"/>
          </a:xfrm>
        </p:spPr>
        <p:txBody>
          <a:bodyPr/>
          <a:lstStyle/>
          <a:p>
            <a:pPr eaLnBrk="1" hangingPunct="1"/>
            <a:r>
              <a:rPr lang="en-US" sz="2400" b="1" dirty="0">
                <a:latin typeface="Arial" charset="0"/>
                <a:cs typeface="Arial" charset="0"/>
              </a:rPr>
              <a:t>By Art </a:t>
            </a:r>
            <a:r>
              <a:rPr lang="en-US" sz="2400" b="1" dirty="0" err="1">
                <a:latin typeface="Arial" charset="0"/>
                <a:cs typeface="Arial" charset="0"/>
              </a:rPr>
              <a:t>Hendela</a:t>
            </a:r>
            <a:r>
              <a:rPr lang="en-US" sz="2400" b="1" dirty="0">
                <a:latin typeface="Arial" charset="0"/>
                <a:cs typeface="Arial" charset="0"/>
              </a:rPr>
              <a:t>/ Mark Chiusano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1447800" y="4495800"/>
            <a:ext cx="64008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842E01B-07BF-4B7E-88E3-0FA8BF19FC4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SNEAK PREVIEW </a:t>
            </a:r>
            <a:b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(a.k.a. “Learning Objectives”)</a:t>
            </a:r>
            <a:endParaRPr lang="en-US" b="1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099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1148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ko-KR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In today’s class, we will discuss:</a:t>
            </a:r>
          </a:p>
          <a:p>
            <a:pPr eaLnBrk="1" hangingPunct="1">
              <a:lnSpc>
                <a:spcPct val="80000"/>
              </a:lnSpc>
            </a:pPr>
            <a:endParaRPr lang="en-US" altLang="ko-KR" dirty="0">
              <a:latin typeface="Arial" panose="020B0604020202020204" pitchFamily="34" charset="0"/>
              <a:ea typeface="굴림" pitchFamily="112" charset="-127"/>
              <a:cs typeface="Arial" panose="020B0604020202020204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altLang="ko-KR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Who am I ?</a:t>
            </a:r>
          </a:p>
          <a:p>
            <a:pPr lvl="1">
              <a:lnSpc>
                <a:spcPct val="80000"/>
              </a:lnSpc>
            </a:pPr>
            <a:r>
              <a:rPr lang="en-US" altLang="ko-KR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Who are you ?</a:t>
            </a:r>
          </a:p>
          <a:p>
            <a:pPr lvl="1">
              <a:lnSpc>
                <a:spcPct val="80000"/>
              </a:lnSpc>
            </a:pPr>
            <a:r>
              <a:rPr lang="en-US" altLang="ko-KR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 What are we going to do ?</a:t>
            </a:r>
          </a:p>
          <a:p>
            <a:pPr lvl="1">
              <a:lnSpc>
                <a:spcPct val="80000"/>
              </a:lnSpc>
            </a:pPr>
            <a:endParaRPr lang="en-US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get to know each other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48200"/>
          </a:xfrm>
        </p:spPr>
        <p:txBody>
          <a:bodyPr/>
          <a:lstStyle/>
          <a:p>
            <a:pPr lvl="1">
              <a:lnSpc>
                <a:spcPct val="80000"/>
              </a:lnSpc>
            </a:pPr>
            <a:endParaRPr lang="en-US" altLang="ko-KR" sz="2000" dirty="0">
              <a:ea typeface="굴림" pitchFamily="112" charset="-127"/>
            </a:endParaRPr>
          </a:p>
          <a:p>
            <a:pPr lvl="1">
              <a:lnSpc>
                <a:spcPct val="80000"/>
              </a:lnSpc>
            </a:pPr>
            <a:endParaRPr lang="en-US" altLang="ko-KR" sz="2000" dirty="0">
              <a:ea typeface="굴림" pitchFamily="112" charset="-127"/>
            </a:endParaRPr>
          </a:p>
          <a:p>
            <a:pPr>
              <a:lnSpc>
                <a:spcPct val="80000"/>
              </a:lnSpc>
            </a:pPr>
            <a:r>
              <a:rPr lang="en-US" altLang="ko-KR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One of my research interest is in self generative systems utilizing advanced database methods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I have a degree in Physics from Rutgers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Created and worked on patented technologies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Very experienced with database software and technology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Have run my own research &amp; development private consulting company for 41 years. </a:t>
            </a:r>
            <a:endParaRPr lang="en-US" sz="2400" dirty="0">
              <a:latin typeface="Arial" panose="020B0604020202020204" pitchFamily="34" charset="0"/>
              <a:ea typeface="굴림" pitchFamily="112" charset="-127"/>
              <a:cs typeface="Arial" panose="020B0604020202020204" pitchFamily="34" charset="0"/>
            </a:endParaRPr>
          </a:p>
          <a:p>
            <a:pPr marL="342900" lvl="1" indent="-342900">
              <a:lnSpc>
                <a:spcPct val="80000"/>
              </a:lnSpc>
              <a:buFont typeface="Arial" charset="0"/>
              <a:buChar char="•"/>
            </a:pPr>
            <a:r>
              <a:rPr lang="en-US" sz="2400" dirty="0">
                <a:latin typeface="Arial" panose="020B0604020202020204" pitchFamily="34" charset="0"/>
                <a:ea typeface="굴림" pitchFamily="112" charset="-127"/>
                <a:cs typeface="Arial" panose="020B0604020202020204" pitchFamily="34" charset="0"/>
              </a:rPr>
              <a:t>And I am here to share with you my experiences in the field of database design and more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What about you? Who are you?</a:t>
            </a:r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Turn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Introduce yourself in Canvas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This is your chance to share with us your background, your experiences in database and any concerns you might have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Tell me if there are particular topics that you want to learn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STYLE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It is my duty to: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Combine </a:t>
            </a:r>
            <a:r>
              <a:rPr lang="en-US" sz="2400" u="sng" dirty="0"/>
              <a:t>my years of experience</a:t>
            </a:r>
            <a:r>
              <a:rPr lang="en-US" sz="2400" dirty="0"/>
              <a:t> and the </a:t>
            </a:r>
            <a:r>
              <a:rPr lang="en-US" sz="2400" u="sng" dirty="0"/>
              <a:t>knowledge from many textbooks</a:t>
            </a:r>
            <a:r>
              <a:rPr lang="en-US" sz="2400" dirty="0"/>
              <a:t>, translate them into PowerPoint slides, and post them online</a:t>
            </a:r>
            <a:r>
              <a:rPr lang="en-US" sz="2400" u="sng" dirty="0"/>
              <a:t> 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u="sng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Be accessible to you during my office hours, through Canvas, and by email.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Listen to your concerns and feedback, and make adjustments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8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YOUR JOB</a:t>
            </a: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4582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It is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your job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to: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LOG ON TO Canvas REGULARLY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u="sng" dirty="0">
                <a:latin typeface="Arial" panose="020B0604020202020204" pitchFamily="34" charset="0"/>
                <a:cs typeface="Arial" panose="020B0604020202020204" pitchFamily="34" charset="0"/>
              </a:rPr>
              <a:t>I would recommend at least three times per week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SPEND 9 – 12 HOURS PER WEEK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SUBMIT HOMEWORK ON TIME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not be late on assignments!!! Lateness is unacceptable. Not only do you not get the assignment credit, you lower your participation score.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CHEATING IS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NOT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TOLERATED!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student found cheating on</a:t>
            </a:r>
            <a:r>
              <a:rPr lang="en-US" sz="2000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any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exam or homework/project assignment receives an automatic F</a:t>
            </a:r>
            <a:r>
              <a:rPr lang="en-US" sz="2000" b="1" u="sng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 assignment and is referred to the Dean of Students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TO GET THE MOST OUT OF THIS COURSE?</a:t>
            </a:r>
            <a:b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(or: How do I get an “A” / “B” / pass, etc…)</a:t>
            </a:r>
            <a:endParaRPr lang="en-US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2192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Work HARD!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Use the resources on Canvas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Form a good rhythm…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Try to set up regular time to study for this course. 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Divide your weekly study time into two or more sessions. 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AND – do NOT be afraid to reach out to me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ARE THE TEXTBOOKS FOR THIS COURSE?</a:t>
            </a:r>
            <a:endParaRPr lang="en-US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2192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7" name="Picture 6" descr="A book cover of a database concepts&#10;&#10;Description automatically generated">
            <a:extLst>
              <a:ext uri="{FF2B5EF4-FFF2-40B4-BE49-F238E27FC236}">
                <a16:creationId xmlns:a16="http://schemas.microsoft.com/office/drawing/2014/main" id="{A83E27F5-CEC6-8F04-C372-B433940F76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94099"/>
            <a:ext cx="3678015" cy="4684060"/>
          </a:xfrm>
          <a:prstGeom prst="rect">
            <a:avLst/>
          </a:prstGeom>
        </p:spPr>
      </p:pic>
      <p:pic>
        <p:nvPicPr>
          <p:cNvPr id="9" name="Picture 8" descr="A blue cover with yellow text&#10;&#10;Description automatically generated">
            <a:extLst>
              <a:ext uri="{FF2B5EF4-FFF2-40B4-BE49-F238E27FC236}">
                <a16:creationId xmlns:a16="http://schemas.microsoft.com/office/drawing/2014/main" id="{E644BB4B-56FE-7B6A-9CB6-02622DF7FB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844" y="1522742"/>
            <a:ext cx="3683332" cy="468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708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WILL THE COURSE GRADE BE DETERMINED?</a:t>
            </a:r>
            <a:endParaRPr lang="en-US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2192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Clr>
                <a:srgbClr val="000000"/>
              </a:buClr>
              <a:buSzPct val="90000"/>
              <a:buFont typeface="Monotype Sorts"/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There are four components to your grade:</a:t>
            </a:r>
            <a:b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000000"/>
              </a:buClr>
              <a:buSzPct val="70000"/>
              <a:buFont typeface="Wingdings" pitchFamily="2" charset="2"/>
              <a:buChar char="ü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Midterm Exam - 29%</a:t>
            </a:r>
            <a:b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000000"/>
              </a:buClr>
              <a:buSzPct val="70000"/>
              <a:buFont typeface="Wingdings" pitchFamily="2" charset="2"/>
              <a:buChar char="ü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 Examination 29%</a:t>
            </a:r>
            <a:b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000000"/>
              </a:buClr>
              <a:buSzPct val="70000"/>
              <a:buFont typeface="Wingdings" pitchFamily="2" charset="2"/>
              <a:buChar char="ü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Conceptual Assignments,  DBMS  Projects 30%</a:t>
            </a:r>
          </a:p>
          <a:p>
            <a:pPr lvl="1" eaLnBrk="1" hangingPunct="1">
              <a:buClr>
                <a:srgbClr val="000000"/>
              </a:buClr>
              <a:buSzPct val="70000"/>
              <a:buFont typeface="Wingdings" pitchFamily="2" charset="2"/>
              <a:buChar char="ü"/>
            </a:pPr>
            <a:endParaRPr lang="en-US" sz="2400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eaLnBrk="1" hangingPunct="1">
              <a:buClr>
                <a:srgbClr val="000000"/>
              </a:buClr>
              <a:buSzPct val="70000"/>
              <a:buFont typeface="Wingdings" pitchFamily="2" charset="2"/>
              <a:buChar char="ü"/>
            </a:pPr>
            <a:r>
              <a:rPr 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Participation and Attendance 12% - – If you miss an assignment this grade goes down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47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 KIND OF PROGRAMMING / HANDS-ON ACTIVITIES WILL WE HAVE ?</a:t>
            </a:r>
            <a:endParaRPr lang="en-US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You will be exposed to some of the most popular database tools available in today’s market, including:</a:t>
            </a:r>
          </a:p>
          <a:p>
            <a:pPr lvl="1" eaLnBrk="1" hangingPunct="1">
              <a:buFont typeface="Wingdings" pitchFamily="2" charset="2"/>
              <a:buChar char="ü"/>
            </a:pPr>
            <a:r>
              <a:rPr lang="en-US" sz="2400" b="1" i="1" dirty="0">
                <a:solidFill>
                  <a:srgbClr val="000000"/>
                </a:solidFill>
              </a:rPr>
              <a:t>Excel</a:t>
            </a:r>
            <a:r>
              <a:rPr lang="en-US" sz="2400" i="1" dirty="0">
                <a:solidFill>
                  <a:srgbClr val="000000"/>
                </a:solidFill>
              </a:rPr>
              <a:t> (a spreadsheet)</a:t>
            </a:r>
          </a:p>
          <a:p>
            <a:pPr lvl="1" eaLnBrk="1" hangingPunct="1">
              <a:buFont typeface="Wingdings" pitchFamily="2" charset="2"/>
              <a:buChar char="ü"/>
            </a:pPr>
            <a:r>
              <a:rPr lang="en-US" sz="2400" b="1" i="1" dirty="0">
                <a:solidFill>
                  <a:srgbClr val="000000"/>
                </a:solidFill>
              </a:rPr>
              <a:t>Microsoft Access </a:t>
            </a:r>
            <a:r>
              <a:rPr lang="en-US" sz="2400" i="1" dirty="0">
                <a:solidFill>
                  <a:srgbClr val="000000"/>
                </a:solidFill>
              </a:rPr>
              <a:t>(world’s leading desktop RDBMS), particularly its Graphical Query-By-Example, which allows us to generate SQL from a graphical query design</a:t>
            </a:r>
          </a:p>
          <a:p>
            <a:pPr lvl="1" eaLnBrk="1" hangingPunct="1">
              <a:buFont typeface="Wingdings" pitchFamily="2" charset="2"/>
              <a:buChar char="ü"/>
            </a:pPr>
            <a:r>
              <a:rPr lang="en-US" sz="2400" b="1" i="1" dirty="0">
                <a:solidFill>
                  <a:srgbClr val="000000"/>
                </a:solidFill>
              </a:rPr>
              <a:t>SQL Server </a:t>
            </a:r>
            <a:endParaRPr lang="en-US" sz="2400" i="1" dirty="0">
              <a:solidFill>
                <a:srgbClr val="000000"/>
              </a:solidFill>
            </a:endParaRPr>
          </a:p>
          <a:p>
            <a:pPr lvl="1" eaLnBrk="1" hangingPunct="1">
              <a:buFont typeface="Wingdings" pitchFamily="2" charset="2"/>
              <a:buChar char="ü"/>
            </a:pPr>
            <a:r>
              <a:rPr lang="en-US" sz="2400" b="1" i="1" dirty="0">
                <a:solidFill>
                  <a:srgbClr val="000000"/>
                </a:solidFill>
              </a:rPr>
              <a:t>Oracle</a:t>
            </a:r>
            <a:endParaRPr lang="en-US" sz="2400" i="1" dirty="0">
              <a:solidFill>
                <a:srgbClr val="000000"/>
              </a:solidFill>
            </a:endParaRPr>
          </a:p>
          <a:p>
            <a:pPr lvl="1" eaLnBrk="1" hangingPunct="1">
              <a:buFont typeface="Wingdings" pitchFamily="2" charset="2"/>
              <a:buChar char="ü"/>
            </a:pPr>
            <a:r>
              <a:rPr lang="en-US" sz="2400" i="1" dirty="0">
                <a:solidFill>
                  <a:srgbClr val="000000"/>
                </a:solidFill>
              </a:rPr>
              <a:t>Other commercial database products as time permits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HOWEVER…</a:t>
            </a:r>
            <a:endParaRPr lang="en-US" sz="32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2286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This is NOT just a class about SQL or DBMS</a:t>
            </a:r>
          </a:p>
          <a:p>
            <a:pPr marL="800100" lvl="1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The hands-on experience with SQL is in the second half of the semester.</a:t>
            </a:r>
          </a:p>
          <a:p>
            <a:pPr marL="800100" lvl="1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There are </a:t>
            </a:r>
            <a:r>
              <a:rPr lang="en-US" sz="2400" dirty="0">
                <a:solidFill>
                  <a:srgbClr val="FF0000"/>
                </a:solidFill>
              </a:rPr>
              <a:t>many </a:t>
            </a:r>
            <a:r>
              <a:rPr lang="en-US" sz="2400" dirty="0"/>
              <a:t>poorly designed databases which are the reason for slow web site queries and sub-optimal system performance </a:t>
            </a:r>
          </a:p>
          <a:p>
            <a:pPr marL="800100" lvl="1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The goal is to help you become a strong database </a:t>
            </a:r>
            <a:br>
              <a:rPr lang="en-US" sz="2400" dirty="0"/>
            </a:br>
            <a:r>
              <a:rPr lang="en-US" sz="2400" dirty="0"/>
              <a:t>Designer and Developer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WHY ARE WE HERE?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There are many technologies out there today, we do </a:t>
            </a:r>
            <a:r>
              <a:rPr lang="en-US" sz="2400" b="1" dirty="0"/>
              <a:t>not</a:t>
            </a:r>
            <a:r>
              <a:rPr lang="en-US" sz="2400" dirty="0"/>
              <a:t> create one course for each of them. </a:t>
            </a:r>
            <a:r>
              <a:rPr lang="en-US" sz="2400" dirty="0">
                <a:hlinkClick r:id="rId2"/>
              </a:rPr>
              <a:t>Why database </a:t>
            </a:r>
            <a:r>
              <a:rPr lang="en-US" sz="2400" dirty="0"/>
              <a:t>then? Why not ERP (Enterprise </a:t>
            </a:r>
            <a:br>
              <a:rPr lang="en-US" sz="2400" dirty="0"/>
            </a:br>
            <a:r>
              <a:rPr lang="en-US" sz="2400" dirty="0"/>
              <a:t>Resource Planning), CRM (Customer Relationship Management), SCM (Supply Chain Management), etc.</a:t>
            </a:r>
          </a:p>
          <a:p>
            <a:pPr>
              <a:spcBef>
                <a:spcPct val="20000"/>
              </a:spcBef>
              <a:defRPr/>
            </a:pPr>
            <a:r>
              <a:rPr lang="en-US" sz="2400" dirty="0"/>
              <a:t>	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What can you do with database knowledge and SQL Server or Oracle on your resume?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Career Options This Course Opens 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6553200"/>
            <a:ext cx="5029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Source: Robert Half Technology 2024 IT Salary Guides</a:t>
            </a:r>
            <a:endParaRPr lang="en-US" sz="12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676400" y="5486400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this class, you will be ready for these career tracks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DABAC27-8CB0-29AE-91CC-25F083BC1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236230"/>
            <a:ext cx="5439943" cy="42501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990600"/>
          </a:xfrm>
        </p:spPr>
        <p:txBody>
          <a:bodyPr/>
          <a:lstStyle/>
          <a:p>
            <a:pPr eaLnBrk="1" hangingPunct="1"/>
            <a:r>
              <a:rPr lang="en-US" sz="32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Some Career Options This Course Opens For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6553200"/>
            <a:ext cx="50292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Source: Robert Half Technology 2022 IT Salary Guides</a:t>
            </a:r>
            <a:endParaRPr lang="en-US" sz="1200" b="1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676400" y="5486400"/>
            <a:ext cx="5891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After this class, you will be ready for these career tracks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433" y="1317326"/>
            <a:ext cx="6023940" cy="406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423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SNEAK PREVIEW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In this part, we will: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b="1" dirty="0"/>
              <a:t>Define</a:t>
            </a:r>
            <a:r>
              <a:rPr lang="en-US" sz="2400" dirty="0"/>
              <a:t> data, information &amp; knowledge and </a:t>
            </a:r>
            <a:r>
              <a:rPr lang="en-US" sz="2400" b="1" dirty="0"/>
              <a:t>differentiate</a:t>
            </a:r>
            <a:r>
              <a:rPr lang="en-US" sz="2400" dirty="0"/>
              <a:t> them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b="1" dirty="0"/>
              <a:t>Understand</a:t>
            </a:r>
            <a:r>
              <a:rPr lang="en-US" sz="2400" dirty="0"/>
              <a:t> the limitations of a manual file system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Define the following terms: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Table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Entity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Column (Attribute)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Row (Instance)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Primary Key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 us begin with…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Data: What is it?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Set of discrete, objective facts about events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Are these data?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Your GPA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Your </a:t>
            </a:r>
            <a:r>
              <a:rPr lang="en-US" sz="2400" dirty="0" err="1"/>
              <a:t>Facebook</a:t>
            </a:r>
            <a:r>
              <a:rPr lang="en-US" sz="2400" dirty="0"/>
              <a:t> profile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Your video blog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Information: </a:t>
            </a:r>
            <a:r>
              <a:rPr lang="en-US" sz="2400" b="1" dirty="0">
                <a:solidFill>
                  <a:srgbClr val="FF0000"/>
                </a:solidFill>
              </a:rPr>
              <a:t>the reason </a:t>
            </a:r>
            <a:r>
              <a:rPr lang="en-US" sz="2400" dirty="0">
                <a:solidFill>
                  <a:srgbClr val="FF0000"/>
                </a:solidFill>
              </a:rPr>
              <a:t>we build databases</a:t>
            </a:r>
            <a:endParaRPr lang="en-US" altLang="zh-CN" sz="2400" dirty="0">
              <a:ea typeface="宋体" pitchFamily="2" charset="-122"/>
            </a:endParaRP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Put data into a </a:t>
            </a:r>
            <a:r>
              <a:rPr lang="en-US" sz="2400" dirty="0">
                <a:solidFill>
                  <a:srgbClr val="FF0000"/>
                </a:solidFill>
              </a:rPr>
              <a:t>meaningful</a:t>
            </a:r>
            <a:r>
              <a:rPr lang="en-US" sz="2400" dirty="0"/>
              <a:t> context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Process data by summing, ordering, averaging, grouping, comparing, or other similar operations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Example?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Knowledge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800" dirty="0">
                <a:solidFill>
                  <a:srgbClr val="FF0000"/>
                </a:solidFill>
              </a:rPr>
              <a:t>Knowledge: </a:t>
            </a:r>
            <a:r>
              <a:rPr lang="en-US" sz="2800" b="1" dirty="0">
                <a:solidFill>
                  <a:srgbClr val="FF0000"/>
                </a:solidFill>
              </a:rPr>
              <a:t>the ultimate goal</a:t>
            </a:r>
            <a:endParaRPr lang="en-US" altLang="zh-CN" sz="2800" dirty="0">
              <a:ea typeface="宋体" pitchFamily="2" charset="-122"/>
            </a:endParaRP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800" dirty="0"/>
              <a:t>Data further refined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800" dirty="0"/>
              <a:t>Information based on the expertise of the subject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3810000"/>
            <a:ext cx="7543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/>
              <a:t>What is the context of the data that gives it meaning to be able to use it to make a decision?</a:t>
            </a:r>
            <a:endParaRPr lang="en-US" sz="16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 them altogether…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Box 5"/>
          <p:cNvSpPr txBox="1">
            <a:spLocks noChangeArrowheads="1"/>
          </p:cNvSpPr>
          <p:nvPr/>
        </p:nvSpPr>
        <p:spPr bwMode="auto">
          <a:xfrm>
            <a:off x="685800" y="1981200"/>
            <a:ext cx="4191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Tahoma" pitchFamily="34" charset="0"/>
              </a:rPr>
              <a:t>The Number 4.0</a:t>
            </a: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6934200" y="4648200"/>
            <a:ext cx="914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>
                <a:solidFill>
                  <a:srgbClr val="800000"/>
                </a:solidFill>
                <a:latin typeface="Tahoma" pitchFamily="34" charset="0"/>
              </a:rPr>
              <a:t>Data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6553200" y="34290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800000"/>
                </a:solidFill>
                <a:latin typeface="Tahoma" pitchFamily="34" charset="0"/>
              </a:rPr>
              <a:t>Knowledge</a:t>
            </a:r>
          </a:p>
        </p:txBody>
      </p:sp>
      <p:sp>
        <p:nvSpPr>
          <p:cNvPr id="10" name="Text Box 8"/>
          <p:cNvSpPr txBox="1">
            <a:spLocks noChangeArrowheads="1"/>
          </p:cNvSpPr>
          <p:nvPr/>
        </p:nvSpPr>
        <p:spPr bwMode="auto">
          <a:xfrm>
            <a:off x="6477000" y="1981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800000"/>
                </a:solidFill>
                <a:latin typeface="Tahoma" pitchFamily="34" charset="0"/>
              </a:rPr>
              <a:t>Information</a:t>
            </a: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 flipH="1">
            <a:off x="4572000" y="2438400"/>
            <a:ext cx="1905000" cy="7620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 flipV="1">
            <a:off x="4343400" y="2286000"/>
            <a:ext cx="2438400" cy="24384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4724400" y="3733800"/>
            <a:ext cx="1828800" cy="68580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en-US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685800" y="2895600"/>
            <a:ext cx="44196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Tahoma" pitchFamily="34" charset="0"/>
              </a:rPr>
              <a:t>4.0 GPA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762000" y="4343400"/>
            <a:ext cx="441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latin typeface="Tahoma" pitchFamily="34" charset="0"/>
              </a:rPr>
              <a:t>Hire the person with the highest grade point average</a:t>
            </a:r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Put them altogether…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938866" y="3962400"/>
            <a:ext cx="774700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200">
                <a:solidFill>
                  <a:schemeClr val="tx2"/>
                </a:solidFill>
                <a:latin typeface="Helvetica" pitchFamily="34" charset="0"/>
              </a:rPr>
              <a:t>Data</a:t>
            </a:r>
            <a:endParaRPr lang="en-US" sz="2200">
              <a:latin typeface="Helvetica" pitchFamily="34" charset="0"/>
            </a:endParaRPr>
          </a:p>
        </p:txBody>
      </p: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063066" y="3962400"/>
            <a:ext cx="1584325" cy="427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2200">
                <a:solidFill>
                  <a:schemeClr val="tx2"/>
                </a:solidFill>
                <a:latin typeface="Helvetica" pitchFamily="34" charset="0"/>
              </a:rPr>
              <a:t>Information</a:t>
            </a:r>
          </a:p>
        </p:txBody>
      </p:sp>
      <p:sp>
        <p:nvSpPr>
          <p:cNvPr id="19" name="AutoShape 7"/>
          <p:cNvSpPr>
            <a:spLocks noChangeArrowheads="1"/>
          </p:cNvSpPr>
          <p:nvPr/>
        </p:nvSpPr>
        <p:spPr bwMode="auto">
          <a:xfrm>
            <a:off x="2996266" y="2514600"/>
            <a:ext cx="762000" cy="319088"/>
          </a:xfrm>
          <a:prstGeom prst="rightArrow">
            <a:avLst>
              <a:gd name="adj1" fmla="val 50000"/>
              <a:gd name="adj2" fmla="val 59701"/>
            </a:avLst>
          </a:prstGeo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46275"/>
                  <a:invGamma/>
                </a:srgbClr>
              </a:gs>
            </a:gsLst>
            <a:lin ang="0" scaled="1"/>
          </a:gra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Text Box 8"/>
          <p:cNvSpPr txBox="1">
            <a:spLocks noChangeArrowheads="1"/>
          </p:cNvSpPr>
          <p:nvPr/>
        </p:nvSpPr>
        <p:spPr bwMode="auto">
          <a:xfrm rot="1510743">
            <a:off x="1548466" y="1981200"/>
            <a:ext cx="9048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Taurus</a:t>
            </a:r>
          </a:p>
        </p:txBody>
      </p:sp>
      <p:sp>
        <p:nvSpPr>
          <p:cNvPr id="21" name="Text Box 9"/>
          <p:cNvSpPr txBox="1">
            <a:spLocks noChangeArrowheads="1"/>
          </p:cNvSpPr>
          <p:nvPr/>
        </p:nvSpPr>
        <p:spPr bwMode="auto">
          <a:xfrm rot="17215204">
            <a:off x="150672" y="2832894"/>
            <a:ext cx="14763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Anna Berger</a:t>
            </a:r>
          </a:p>
        </p:txBody>
      </p:sp>
      <p:sp>
        <p:nvSpPr>
          <p:cNvPr id="22" name="Text Box 10"/>
          <p:cNvSpPr txBox="1">
            <a:spLocks noChangeArrowheads="1"/>
          </p:cNvSpPr>
          <p:nvPr/>
        </p:nvSpPr>
        <p:spPr bwMode="auto">
          <a:xfrm rot="20883193">
            <a:off x="329266" y="1905000"/>
            <a:ext cx="13366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John Smith</a:t>
            </a:r>
          </a:p>
        </p:txBody>
      </p:sp>
      <p:sp>
        <p:nvSpPr>
          <p:cNvPr id="23" name="Text Box 11"/>
          <p:cNvSpPr txBox="1">
            <a:spLocks noChangeArrowheads="1"/>
          </p:cNvSpPr>
          <p:nvPr/>
        </p:nvSpPr>
        <p:spPr bwMode="auto">
          <a:xfrm rot="3567999">
            <a:off x="1157147" y="2674144"/>
            <a:ext cx="12858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Ted Martin</a:t>
            </a: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 rot="3397188">
            <a:off x="1417497" y="2642394"/>
            <a:ext cx="13239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Amex Gold</a:t>
            </a:r>
          </a:p>
        </p:txBody>
      </p:sp>
      <p:sp>
        <p:nvSpPr>
          <p:cNvPr id="25" name="Text Box 13"/>
          <p:cNvSpPr txBox="1">
            <a:spLocks noChangeArrowheads="1"/>
          </p:cNvSpPr>
          <p:nvPr/>
        </p:nvSpPr>
        <p:spPr bwMode="auto">
          <a:xfrm rot="17463094">
            <a:off x="274497" y="2540794"/>
            <a:ext cx="8921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50,000</a:t>
            </a:r>
          </a:p>
        </p:txBody>
      </p:sp>
      <p:sp>
        <p:nvSpPr>
          <p:cNvPr id="26" name="Text Box 14"/>
          <p:cNvSpPr txBox="1">
            <a:spLocks noChangeArrowheads="1"/>
          </p:cNvSpPr>
          <p:nvPr/>
        </p:nvSpPr>
        <p:spPr bwMode="auto">
          <a:xfrm rot="19444418">
            <a:off x="1037291" y="2538413"/>
            <a:ext cx="574675" cy="3762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234</a:t>
            </a:r>
          </a:p>
        </p:txBody>
      </p:sp>
      <p:sp>
        <p:nvSpPr>
          <p:cNvPr id="27" name="Text Box 15"/>
          <p:cNvSpPr txBox="1">
            <a:spLocks noChangeArrowheads="1"/>
          </p:cNvSpPr>
          <p:nvPr/>
        </p:nvSpPr>
        <p:spPr bwMode="auto">
          <a:xfrm rot="2481242">
            <a:off x="2005666" y="2454275"/>
            <a:ext cx="10191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 dirty="0">
                <a:latin typeface="Helvetica" pitchFamily="34" charset="0"/>
              </a:rPr>
              <a:t>wireless</a:t>
            </a:r>
          </a:p>
        </p:txBody>
      </p:sp>
      <p:sp>
        <p:nvSpPr>
          <p:cNvPr id="28" name="Text Box 16"/>
          <p:cNvSpPr txBox="1">
            <a:spLocks noChangeArrowheads="1"/>
          </p:cNvSpPr>
          <p:nvPr/>
        </p:nvSpPr>
        <p:spPr bwMode="auto">
          <a:xfrm rot="965690">
            <a:off x="1150004" y="2892425"/>
            <a:ext cx="6254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B.A.</a:t>
            </a:r>
          </a:p>
        </p:txBody>
      </p:sp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3834466" y="1600200"/>
            <a:ext cx="884238" cy="1068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Helvetica" pitchFamily="34" charset="0"/>
              </a:rPr>
              <a:t>A. Berger </a:t>
            </a:r>
          </a:p>
          <a:p>
            <a:pPr algn="ctr"/>
            <a:r>
              <a:rPr lang="en-US" sz="1400">
                <a:latin typeface="Helvetica" pitchFamily="34" charset="0"/>
              </a:rPr>
              <a:t>M. Jones</a:t>
            </a:r>
          </a:p>
          <a:p>
            <a:pPr algn="ctr"/>
            <a:r>
              <a:rPr lang="en-US" sz="1400">
                <a:latin typeface="Helvetica" pitchFamily="34" charset="0"/>
              </a:rPr>
              <a:t>T. Martin</a:t>
            </a:r>
          </a:p>
          <a:p>
            <a:pPr algn="ctr"/>
            <a:r>
              <a:rPr lang="en-US" sz="1400">
                <a:latin typeface="Helvetica" pitchFamily="34" charset="0"/>
              </a:rPr>
              <a:t>J. Smith</a:t>
            </a:r>
            <a:endParaRPr lang="en-US">
              <a:latin typeface="Helvetica" pitchFamily="34" charset="0"/>
            </a:endParaRPr>
          </a:p>
        </p:txBody>
      </p:sp>
      <p:sp>
        <p:nvSpPr>
          <p:cNvPr id="30" name="Rectangle 18"/>
          <p:cNvSpPr>
            <a:spLocks noChangeArrowheads="1"/>
          </p:cNvSpPr>
          <p:nvPr/>
        </p:nvSpPr>
        <p:spPr bwMode="auto">
          <a:xfrm>
            <a:off x="3834466" y="2819400"/>
            <a:ext cx="884238" cy="1068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Helvetica" pitchFamily="34" charset="0"/>
              </a:rPr>
              <a:t>50,000</a:t>
            </a:r>
          </a:p>
          <a:p>
            <a:pPr algn="ctr"/>
            <a:r>
              <a:rPr lang="en-US" sz="1400">
                <a:latin typeface="Helvetica" pitchFamily="34" charset="0"/>
              </a:rPr>
              <a:t>46,800 </a:t>
            </a:r>
          </a:p>
          <a:p>
            <a:pPr algn="ctr"/>
            <a:r>
              <a:rPr lang="en-US" sz="1400">
                <a:latin typeface="Helvetica" pitchFamily="34" charset="0"/>
              </a:rPr>
              <a:t>29,200</a:t>
            </a:r>
          </a:p>
          <a:p>
            <a:pPr algn="ctr"/>
            <a:r>
              <a:rPr lang="en-US" sz="1400">
                <a:latin typeface="Helvetica" pitchFamily="34" charset="0"/>
              </a:rPr>
              <a:t>75,500</a:t>
            </a:r>
          </a:p>
        </p:txBody>
      </p:sp>
      <p:sp>
        <p:nvSpPr>
          <p:cNvPr id="31" name="Rectangle 19"/>
          <p:cNvSpPr>
            <a:spLocks noChangeArrowheads="1"/>
          </p:cNvSpPr>
          <p:nvPr/>
        </p:nvSpPr>
        <p:spPr bwMode="auto">
          <a:xfrm>
            <a:off x="4825066" y="1600200"/>
            <a:ext cx="884238" cy="1068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Helvetica" pitchFamily="34" charset="0"/>
              </a:rPr>
              <a:t>Shoes</a:t>
            </a:r>
          </a:p>
          <a:p>
            <a:pPr algn="ctr"/>
            <a:r>
              <a:rPr lang="en-US" sz="1400">
                <a:latin typeface="Helvetica" pitchFamily="34" charset="0"/>
              </a:rPr>
              <a:t>Scarves</a:t>
            </a:r>
          </a:p>
          <a:p>
            <a:pPr algn="ctr"/>
            <a:r>
              <a:rPr lang="en-US" sz="1400">
                <a:latin typeface="Helvetica" pitchFamily="34" charset="0"/>
              </a:rPr>
              <a:t>Jewelry</a:t>
            </a:r>
          </a:p>
          <a:p>
            <a:pPr algn="ctr"/>
            <a:r>
              <a:rPr lang="en-US" sz="1400">
                <a:latin typeface="Helvetica" pitchFamily="34" charset="0"/>
              </a:rPr>
              <a:t>Groceries</a:t>
            </a:r>
          </a:p>
        </p:txBody>
      </p:sp>
      <p:sp>
        <p:nvSpPr>
          <p:cNvPr id="32" name="Text Box 20"/>
          <p:cNvSpPr txBox="1">
            <a:spLocks noChangeArrowheads="1"/>
          </p:cNvSpPr>
          <p:nvPr/>
        </p:nvSpPr>
        <p:spPr bwMode="auto">
          <a:xfrm rot="20464511">
            <a:off x="1300816" y="3375025"/>
            <a:ext cx="803275" cy="3762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/>
            <a:r>
              <a:rPr lang="en-US" sz="1800">
                <a:latin typeface="Helvetica" pitchFamily="34" charset="0"/>
              </a:rPr>
              <a:t>shoes</a:t>
            </a:r>
          </a:p>
        </p:txBody>
      </p:sp>
      <p:sp>
        <p:nvSpPr>
          <p:cNvPr id="33" name="Rectangle 21"/>
          <p:cNvSpPr>
            <a:spLocks noChangeArrowheads="1"/>
          </p:cNvSpPr>
          <p:nvPr/>
        </p:nvSpPr>
        <p:spPr bwMode="auto">
          <a:xfrm>
            <a:off x="4825066" y="2819400"/>
            <a:ext cx="884238" cy="106838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400">
                <a:latin typeface="Helvetica" pitchFamily="34" charset="0"/>
              </a:rPr>
              <a:t>MoU</a:t>
            </a:r>
          </a:p>
          <a:p>
            <a:pPr algn="ctr"/>
            <a:r>
              <a:rPr lang="en-US" sz="1400">
                <a:latin typeface="Helvetica" pitchFamily="34" charset="0"/>
              </a:rPr>
              <a:t>Qty</a:t>
            </a:r>
          </a:p>
          <a:p>
            <a:pPr algn="ctr"/>
            <a:r>
              <a:rPr lang="en-US" sz="1400">
                <a:latin typeface="Helvetica" pitchFamily="34" charset="0"/>
              </a:rPr>
              <a:t>Income</a:t>
            </a:r>
          </a:p>
          <a:p>
            <a:pPr algn="ctr"/>
            <a:r>
              <a:rPr lang="en-US" sz="1400">
                <a:latin typeface="Helvetica" pitchFamily="34" charset="0"/>
              </a:rPr>
              <a:t>Education</a:t>
            </a:r>
          </a:p>
        </p:txBody>
      </p:sp>
      <p:grpSp>
        <p:nvGrpSpPr>
          <p:cNvPr id="34" name="Group 22"/>
          <p:cNvGrpSpPr>
            <a:grpSpLocks/>
          </p:cNvGrpSpPr>
          <p:nvPr/>
        </p:nvGrpSpPr>
        <p:grpSpPr bwMode="auto">
          <a:xfrm>
            <a:off x="7543800" y="6172200"/>
            <a:ext cx="1128713" cy="182563"/>
            <a:chOff x="4996" y="4113"/>
            <a:chExt cx="711" cy="115"/>
          </a:xfrm>
        </p:grpSpPr>
        <p:grpSp>
          <p:nvGrpSpPr>
            <p:cNvPr id="35" name="Group 23"/>
            <p:cNvGrpSpPr>
              <a:grpSpLocks/>
            </p:cNvGrpSpPr>
            <p:nvPr/>
          </p:nvGrpSpPr>
          <p:grpSpPr bwMode="auto">
            <a:xfrm>
              <a:off x="4996" y="4137"/>
              <a:ext cx="657" cy="91"/>
              <a:chOff x="4996" y="4137"/>
              <a:chExt cx="657" cy="91"/>
            </a:xfrm>
          </p:grpSpPr>
          <p:grpSp>
            <p:nvGrpSpPr>
              <p:cNvPr id="37" name="Group 24"/>
              <p:cNvGrpSpPr>
                <a:grpSpLocks/>
              </p:cNvGrpSpPr>
              <p:nvPr/>
            </p:nvGrpSpPr>
            <p:grpSpPr bwMode="auto">
              <a:xfrm>
                <a:off x="4996" y="4137"/>
                <a:ext cx="134" cy="89"/>
                <a:chOff x="4996" y="4137"/>
                <a:chExt cx="134" cy="89"/>
              </a:xfrm>
            </p:grpSpPr>
            <p:sp>
              <p:nvSpPr>
                <p:cNvPr id="43" name="Freeform 25"/>
                <p:cNvSpPr>
                  <a:spLocks/>
                </p:cNvSpPr>
                <p:nvPr/>
              </p:nvSpPr>
              <p:spPr bwMode="auto">
                <a:xfrm>
                  <a:off x="4996" y="4137"/>
                  <a:ext cx="72" cy="89"/>
                </a:xfrm>
                <a:custGeom>
                  <a:avLst/>
                  <a:gdLst/>
                  <a:ahLst/>
                  <a:cxnLst>
                    <a:cxn ang="0">
                      <a:pos x="71" y="0"/>
                    </a:cxn>
                    <a:cxn ang="0">
                      <a:pos x="39" y="0"/>
                    </a:cxn>
                    <a:cxn ang="0">
                      <a:pos x="31" y="1"/>
                    </a:cxn>
                    <a:cxn ang="0">
                      <a:pos x="23" y="4"/>
                    </a:cxn>
                    <a:cxn ang="0">
                      <a:pos x="17" y="7"/>
                    </a:cxn>
                    <a:cxn ang="0">
                      <a:pos x="11" y="13"/>
                    </a:cxn>
                    <a:cxn ang="0">
                      <a:pos x="6" y="20"/>
                    </a:cxn>
                    <a:cxn ang="0">
                      <a:pos x="3" y="26"/>
                    </a:cxn>
                    <a:cxn ang="0">
                      <a:pos x="1" y="34"/>
                    </a:cxn>
                    <a:cxn ang="0">
                      <a:pos x="0" y="43"/>
                    </a:cxn>
                    <a:cxn ang="0">
                      <a:pos x="0" y="52"/>
                    </a:cxn>
                    <a:cxn ang="0">
                      <a:pos x="2" y="59"/>
                    </a:cxn>
                    <a:cxn ang="0">
                      <a:pos x="5" y="67"/>
                    </a:cxn>
                    <a:cxn ang="0">
                      <a:pos x="9" y="73"/>
                    </a:cxn>
                    <a:cxn ang="0">
                      <a:pos x="15" y="79"/>
                    </a:cxn>
                    <a:cxn ang="0">
                      <a:pos x="22" y="83"/>
                    </a:cxn>
                    <a:cxn ang="0">
                      <a:pos x="31" y="86"/>
                    </a:cxn>
                    <a:cxn ang="0">
                      <a:pos x="42" y="88"/>
                    </a:cxn>
                    <a:cxn ang="0">
                      <a:pos x="68" y="88"/>
                    </a:cxn>
                    <a:cxn ang="0">
                      <a:pos x="68" y="73"/>
                    </a:cxn>
                    <a:cxn ang="0">
                      <a:pos x="42" y="73"/>
                    </a:cxn>
                    <a:cxn ang="0">
                      <a:pos x="37" y="73"/>
                    </a:cxn>
                    <a:cxn ang="0">
                      <a:pos x="31" y="72"/>
                    </a:cxn>
                    <a:cxn ang="0">
                      <a:pos x="25" y="68"/>
                    </a:cxn>
                    <a:cxn ang="0">
                      <a:pos x="21" y="64"/>
                    </a:cxn>
                    <a:cxn ang="0">
                      <a:pos x="18" y="59"/>
                    </a:cxn>
                    <a:cxn ang="0">
                      <a:pos x="15" y="51"/>
                    </a:cxn>
                    <a:cxn ang="0">
                      <a:pos x="14" y="44"/>
                    </a:cxn>
                    <a:cxn ang="0">
                      <a:pos x="15" y="37"/>
                    </a:cxn>
                    <a:cxn ang="0">
                      <a:pos x="18" y="30"/>
                    </a:cxn>
                    <a:cxn ang="0">
                      <a:pos x="22" y="24"/>
                    </a:cxn>
                    <a:cxn ang="0">
                      <a:pos x="28" y="18"/>
                    </a:cxn>
                    <a:cxn ang="0">
                      <a:pos x="34" y="16"/>
                    </a:cxn>
                    <a:cxn ang="0">
                      <a:pos x="38" y="15"/>
                    </a:cxn>
                    <a:cxn ang="0">
                      <a:pos x="70" y="15"/>
                    </a:cxn>
                    <a:cxn ang="0">
                      <a:pos x="71" y="0"/>
                    </a:cxn>
                  </a:cxnLst>
                  <a:rect l="0" t="0" r="r" b="b"/>
                  <a:pathLst>
                    <a:path w="72" h="89">
                      <a:moveTo>
                        <a:pt x="71" y="0"/>
                      </a:moveTo>
                      <a:lnTo>
                        <a:pt x="39" y="0"/>
                      </a:lnTo>
                      <a:lnTo>
                        <a:pt x="31" y="1"/>
                      </a:lnTo>
                      <a:lnTo>
                        <a:pt x="23" y="4"/>
                      </a:lnTo>
                      <a:lnTo>
                        <a:pt x="17" y="7"/>
                      </a:lnTo>
                      <a:lnTo>
                        <a:pt x="11" y="13"/>
                      </a:lnTo>
                      <a:lnTo>
                        <a:pt x="6" y="20"/>
                      </a:lnTo>
                      <a:lnTo>
                        <a:pt x="3" y="26"/>
                      </a:lnTo>
                      <a:lnTo>
                        <a:pt x="1" y="34"/>
                      </a:lnTo>
                      <a:lnTo>
                        <a:pt x="0" y="43"/>
                      </a:lnTo>
                      <a:lnTo>
                        <a:pt x="0" y="52"/>
                      </a:lnTo>
                      <a:lnTo>
                        <a:pt x="2" y="59"/>
                      </a:lnTo>
                      <a:lnTo>
                        <a:pt x="5" y="67"/>
                      </a:lnTo>
                      <a:lnTo>
                        <a:pt x="9" y="73"/>
                      </a:lnTo>
                      <a:lnTo>
                        <a:pt x="15" y="79"/>
                      </a:lnTo>
                      <a:lnTo>
                        <a:pt x="22" y="83"/>
                      </a:lnTo>
                      <a:lnTo>
                        <a:pt x="31" y="86"/>
                      </a:lnTo>
                      <a:lnTo>
                        <a:pt x="42" y="88"/>
                      </a:lnTo>
                      <a:lnTo>
                        <a:pt x="68" y="88"/>
                      </a:lnTo>
                      <a:lnTo>
                        <a:pt x="68" y="73"/>
                      </a:lnTo>
                      <a:lnTo>
                        <a:pt x="42" y="73"/>
                      </a:lnTo>
                      <a:lnTo>
                        <a:pt x="37" y="73"/>
                      </a:lnTo>
                      <a:lnTo>
                        <a:pt x="31" y="72"/>
                      </a:lnTo>
                      <a:lnTo>
                        <a:pt x="25" y="68"/>
                      </a:lnTo>
                      <a:lnTo>
                        <a:pt x="21" y="64"/>
                      </a:lnTo>
                      <a:lnTo>
                        <a:pt x="18" y="59"/>
                      </a:lnTo>
                      <a:lnTo>
                        <a:pt x="15" y="51"/>
                      </a:lnTo>
                      <a:lnTo>
                        <a:pt x="14" y="44"/>
                      </a:lnTo>
                      <a:lnTo>
                        <a:pt x="15" y="37"/>
                      </a:lnTo>
                      <a:lnTo>
                        <a:pt x="18" y="30"/>
                      </a:lnTo>
                      <a:lnTo>
                        <a:pt x="22" y="24"/>
                      </a:lnTo>
                      <a:lnTo>
                        <a:pt x="28" y="18"/>
                      </a:lnTo>
                      <a:lnTo>
                        <a:pt x="34" y="16"/>
                      </a:lnTo>
                      <a:lnTo>
                        <a:pt x="38" y="15"/>
                      </a:lnTo>
                      <a:lnTo>
                        <a:pt x="70" y="15"/>
                      </a:lnTo>
                      <a:lnTo>
                        <a:pt x="71" y="0"/>
                      </a:lnTo>
                    </a:path>
                  </a:pathLst>
                </a:custGeom>
                <a:solidFill>
                  <a:schemeClr val="hlink"/>
                </a:solidFill>
                <a:ln w="12700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4" name="Freeform 26"/>
                <p:cNvSpPr>
                  <a:spLocks/>
                </p:cNvSpPr>
                <p:nvPr/>
              </p:nvSpPr>
              <p:spPr bwMode="auto">
                <a:xfrm>
                  <a:off x="5058" y="4137"/>
                  <a:ext cx="72" cy="89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32" y="0"/>
                    </a:cxn>
                    <a:cxn ang="0">
                      <a:pos x="40" y="1"/>
                    </a:cxn>
                    <a:cxn ang="0">
                      <a:pos x="48" y="4"/>
                    </a:cxn>
                    <a:cxn ang="0">
                      <a:pos x="54" y="7"/>
                    </a:cxn>
                    <a:cxn ang="0">
                      <a:pos x="60" y="13"/>
                    </a:cxn>
                    <a:cxn ang="0">
                      <a:pos x="65" y="20"/>
                    </a:cxn>
                    <a:cxn ang="0">
                      <a:pos x="68" y="26"/>
                    </a:cxn>
                    <a:cxn ang="0">
                      <a:pos x="70" y="34"/>
                    </a:cxn>
                    <a:cxn ang="0">
                      <a:pos x="71" y="43"/>
                    </a:cxn>
                    <a:cxn ang="0">
                      <a:pos x="71" y="52"/>
                    </a:cxn>
                    <a:cxn ang="0">
                      <a:pos x="69" y="59"/>
                    </a:cxn>
                    <a:cxn ang="0">
                      <a:pos x="66" y="67"/>
                    </a:cxn>
                    <a:cxn ang="0">
                      <a:pos x="62" y="73"/>
                    </a:cxn>
                    <a:cxn ang="0">
                      <a:pos x="56" y="79"/>
                    </a:cxn>
                    <a:cxn ang="0">
                      <a:pos x="49" y="83"/>
                    </a:cxn>
                    <a:cxn ang="0">
                      <a:pos x="40" y="86"/>
                    </a:cxn>
                    <a:cxn ang="0">
                      <a:pos x="29" y="88"/>
                    </a:cxn>
                    <a:cxn ang="0">
                      <a:pos x="3" y="88"/>
                    </a:cxn>
                    <a:cxn ang="0">
                      <a:pos x="3" y="73"/>
                    </a:cxn>
                    <a:cxn ang="0">
                      <a:pos x="29" y="73"/>
                    </a:cxn>
                    <a:cxn ang="0">
                      <a:pos x="34" y="73"/>
                    </a:cxn>
                    <a:cxn ang="0">
                      <a:pos x="40" y="72"/>
                    </a:cxn>
                    <a:cxn ang="0">
                      <a:pos x="46" y="68"/>
                    </a:cxn>
                    <a:cxn ang="0">
                      <a:pos x="50" y="64"/>
                    </a:cxn>
                    <a:cxn ang="0">
                      <a:pos x="53" y="59"/>
                    </a:cxn>
                    <a:cxn ang="0">
                      <a:pos x="56" y="51"/>
                    </a:cxn>
                    <a:cxn ang="0">
                      <a:pos x="57" y="44"/>
                    </a:cxn>
                    <a:cxn ang="0">
                      <a:pos x="56" y="37"/>
                    </a:cxn>
                    <a:cxn ang="0">
                      <a:pos x="53" y="30"/>
                    </a:cxn>
                    <a:cxn ang="0">
                      <a:pos x="49" y="24"/>
                    </a:cxn>
                    <a:cxn ang="0">
                      <a:pos x="43" y="18"/>
                    </a:cxn>
                    <a:cxn ang="0">
                      <a:pos x="37" y="16"/>
                    </a:cxn>
                    <a:cxn ang="0">
                      <a:pos x="33" y="15"/>
                    </a:cxn>
                    <a:cxn ang="0">
                      <a:pos x="1" y="15"/>
                    </a:cxn>
                    <a:cxn ang="0">
                      <a:pos x="0" y="0"/>
                    </a:cxn>
                  </a:cxnLst>
                  <a:rect l="0" t="0" r="r" b="b"/>
                  <a:pathLst>
                    <a:path w="72" h="89">
                      <a:moveTo>
                        <a:pt x="0" y="0"/>
                      </a:moveTo>
                      <a:lnTo>
                        <a:pt x="32" y="0"/>
                      </a:lnTo>
                      <a:lnTo>
                        <a:pt x="40" y="1"/>
                      </a:lnTo>
                      <a:lnTo>
                        <a:pt x="48" y="4"/>
                      </a:lnTo>
                      <a:lnTo>
                        <a:pt x="54" y="7"/>
                      </a:lnTo>
                      <a:lnTo>
                        <a:pt x="60" y="13"/>
                      </a:lnTo>
                      <a:lnTo>
                        <a:pt x="65" y="20"/>
                      </a:lnTo>
                      <a:lnTo>
                        <a:pt x="68" y="26"/>
                      </a:lnTo>
                      <a:lnTo>
                        <a:pt x="70" y="34"/>
                      </a:lnTo>
                      <a:lnTo>
                        <a:pt x="71" y="43"/>
                      </a:lnTo>
                      <a:lnTo>
                        <a:pt x="71" y="52"/>
                      </a:lnTo>
                      <a:lnTo>
                        <a:pt x="69" y="59"/>
                      </a:lnTo>
                      <a:lnTo>
                        <a:pt x="66" y="67"/>
                      </a:lnTo>
                      <a:lnTo>
                        <a:pt x="62" y="73"/>
                      </a:lnTo>
                      <a:lnTo>
                        <a:pt x="56" y="79"/>
                      </a:lnTo>
                      <a:lnTo>
                        <a:pt x="49" y="83"/>
                      </a:lnTo>
                      <a:lnTo>
                        <a:pt x="40" y="86"/>
                      </a:lnTo>
                      <a:lnTo>
                        <a:pt x="29" y="88"/>
                      </a:lnTo>
                      <a:lnTo>
                        <a:pt x="3" y="88"/>
                      </a:lnTo>
                      <a:lnTo>
                        <a:pt x="3" y="73"/>
                      </a:lnTo>
                      <a:lnTo>
                        <a:pt x="29" y="73"/>
                      </a:lnTo>
                      <a:lnTo>
                        <a:pt x="34" y="73"/>
                      </a:lnTo>
                      <a:lnTo>
                        <a:pt x="40" y="72"/>
                      </a:lnTo>
                      <a:lnTo>
                        <a:pt x="46" y="68"/>
                      </a:lnTo>
                      <a:lnTo>
                        <a:pt x="50" y="64"/>
                      </a:lnTo>
                      <a:lnTo>
                        <a:pt x="53" y="59"/>
                      </a:lnTo>
                      <a:lnTo>
                        <a:pt x="56" y="51"/>
                      </a:lnTo>
                      <a:lnTo>
                        <a:pt x="57" y="44"/>
                      </a:lnTo>
                      <a:lnTo>
                        <a:pt x="56" y="37"/>
                      </a:lnTo>
                      <a:lnTo>
                        <a:pt x="53" y="30"/>
                      </a:lnTo>
                      <a:lnTo>
                        <a:pt x="49" y="24"/>
                      </a:lnTo>
                      <a:lnTo>
                        <a:pt x="43" y="18"/>
                      </a:lnTo>
                      <a:lnTo>
                        <a:pt x="37" y="16"/>
                      </a:lnTo>
                      <a:lnTo>
                        <a:pt x="33" y="15"/>
                      </a:lnTo>
                      <a:lnTo>
                        <a:pt x="1" y="15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hlink"/>
                </a:solidFill>
                <a:ln w="12700" cap="rnd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38" name="Freeform 27"/>
              <p:cNvSpPr>
                <a:spLocks/>
              </p:cNvSpPr>
              <p:nvPr/>
            </p:nvSpPr>
            <p:spPr bwMode="auto">
              <a:xfrm>
                <a:off x="5143" y="4137"/>
                <a:ext cx="98" cy="91"/>
              </a:xfrm>
              <a:custGeom>
                <a:avLst/>
                <a:gdLst/>
                <a:ahLst/>
                <a:cxnLst>
                  <a:cxn ang="0">
                    <a:pos x="0" y="90"/>
                  </a:cxn>
                  <a:cxn ang="0">
                    <a:pos x="0" y="0"/>
                  </a:cxn>
                  <a:cxn ang="0">
                    <a:pos x="73" y="0"/>
                  </a:cxn>
                  <a:cxn ang="0">
                    <a:pos x="79" y="1"/>
                  </a:cxn>
                  <a:cxn ang="0">
                    <a:pos x="85" y="4"/>
                  </a:cxn>
                  <a:cxn ang="0">
                    <a:pos x="90" y="9"/>
                  </a:cxn>
                  <a:cxn ang="0">
                    <a:pos x="94" y="15"/>
                  </a:cxn>
                  <a:cxn ang="0">
                    <a:pos x="96" y="24"/>
                  </a:cxn>
                  <a:cxn ang="0">
                    <a:pos x="95" y="35"/>
                  </a:cxn>
                  <a:cxn ang="0">
                    <a:pos x="93" y="41"/>
                  </a:cxn>
                  <a:cxn ang="0">
                    <a:pos x="89" y="45"/>
                  </a:cxn>
                  <a:cxn ang="0">
                    <a:pos x="83" y="50"/>
                  </a:cxn>
                  <a:cxn ang="0">
                    <a:pos x="76" y="52"/>
                  </a:cxn>
                  <a:cxn ang="0">
                    <a:pos x="60" y="53"/>
                  </a:cxn>
                  <a:cxn ang="0">
                    <a:pos x="97" y="90"/>
                  </a:cxn>
                  <a:cxn ang="0">
                    <a:pos x="74" y="90"/>
                  </a:cxn>
                  <a:cxn ang="0">
                    <a:pos x="23" y="38"/>
                  </a:cxn>
                  <a:cxn ang="0">
                    <a:pos x="69" y="38"/>
                  </a:cxn>
                  <a:cxn ang="0">
                    <a:pos x="74" y="38"/>
                  </a:cxn>
                  <a:cxn ang="0">
                    <a:pos x="79" y="33"/>
                  </a:cxn>
                  <a:cxn ang="0">
                    <a:pos x="81" y="29"/>
                  </a:cxn>
                  <a:cxn ang="0">
                    <a:pos x="81" y="24"/>
                  </a:cxn>
                  <a:cxn ang="0">
                    <a:pos x="79" y="20"/>
                  </a:cxn>
                  <a:cxn ang="0">
                    <a:pos x="76" y="16"/>
                  </a:cxn>
                  <a:cxn ang="0">
                    <a:pos x="72" y="15"/>
                  </a:cxn>
                  <a:cxn ang="0">
                    <a:pos x="16" y="15"/>
                  </a:cxn>
                  <a:cxn ang="0">
                    <a:pos x="16" y="90"/>
                  </a:cxn>
                  <a:cxn ang="0">
                    <a:pos x="0" y="90"/>
                  </a:cxn>
                </a:cxnLst>
                <a:rect l="0" t="0" r="r" b="b"/>
                <a:pathLst>
                  <a:path w="98" h="91">
                    <a:moveTo>
                      <a:pt x="0" y="90"/>
                    </a:moveTo>
                    <a:lnTo>
                      <a:pt x="0" y="0"/>
                    </a:lnTo>
                    <a:lnTo>
                      <a:pt x="73" y="0"/>
                    </a:lnTo>
                    <a:lnTo>
                      <a:pt x="79" y="1"/>
                    </a:lnTo>
                    <a:lnTo>
                      <a:pt x="85" y="4"/>
                    </a:lnTo>
                    <a:lnTo>
                      <a:pt x="90" y="9"/>
                    </a:lnTo>
                    <a:lnTo>
                      <a:pt x="94" y="15"/>
                    </a:lnTo>
                    <a:lnTo>
                      <a:pt x="96" y="24"/>
                    </a:lnTo>
                    <a:lnTo>
                      <a:pt x="95" y="35"/>
                    </a:lnTo>
                    <a:lnTo>
                      <a:pt x="93" y="41"/>
                    </a:lnTo>
                    <a:lnTo>
                      <a:pt x="89" y="45"/>
                    </a:lnTo>
                    <a:lnTo>
                      <a:pt x="83" y="50"/>
                    </a:lnTo>
                    <a:lnTo>
                      <a:pt x="76" y="52"/>
                    </a:lnTo>
                    <a:lnTo>
                      <a:pt x="60" y="53"/>
                    </a:lnTo>
                    <a:lnTo>
                      <a:pt x="97" y="90"/>
                    </a:lnTo>
                    <a:lnTo>
                      <a:pt x="74" y="90"/>
                    </a:lnTo>
                    <a:lnTo>
                      <a:pt x="23" y="38"/>
                    </a:lnTo>
                    <a:lnTo>
                      <a:pt x="69" y="38"/>
                    </a:lnTo>
                    <a:lnTo>
                      <a:pt x="74" y="38"/>
                    </a:lnTo>
                    <a:lnTo>
                      <a:pt x="79" y="33"/>
                    </a:lnTo>
                    <a:lnTo>
                      <a:pt x="81" y="29"/>
                    </a:lnTo>
                    <a:lnTo>
                      <a:pt x="81" y="24"/>
                    </a:lnTo>
                    <a:lnTo>
                      <a:pt x="79" y="20"/>
                    </a:lnTo>
                    <a:lnTo>
                      <a:pt x="76" y="16"/>
                    </a:lnTo>
                    <a:lnTo>
                      <a:pt x="72" y="15"/>
                    </a:lnTo>
                    <a:lnTo>
                      <a:pt x="16" y="15"/>
                    </a:lnTo>
                    <a:lnTo>
                      <a:pt x="16" y="90"/>
                    </a:lnTo>
                    <a:lnTo>
                      <a:pt x="0" y="90"/>
                    </a:lnTo>
                  </a:path>
                </a:pathLst>
              </a:custGeom>
              <a:solidFill>
                <a:schemeClr val="hlink"/>
              </a:solidFill>
              <a:ln w="12700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8"/>
              <p:cNvSpPr>
                <a:spLocks/>
              </p:cNvSpPr>
              <p:nvPr/>
            </p:nvSpPr>
            <p:spPr bwMode="auto">
              <a:xfrm>
                <a:off x="5243" y="4138"/>
                <a:ext cx="126" cy="90"/>
              </a:xfrm>
              <a:custGeom>
                <a:avLst/>
                <a:gdLst/>
                <a:ahLst/>
                <a:cxnLst>
                  <a:cxn ang="0">
                    <a:pos x="0" y="88"/>
                  </a:cxn>
                  <a:cxn ang="0">
                    <a:pos x="52" y="3"/>
                  </a:cxn>
                  <a:cxn ang="0">
                    <a:pos x="55" y="1"/>
                  </a:cxn>
                  <a:cxn ang="0">
                    <a:pos x="58" y="0"/>
                  </a:cxn>
                  <a:cxn ang="0">
                    <a:pos x="67" y="0"/>
                  </a:cxn>
                  <a:cxn ang="0">
                    <a:pos x="69" y="1"/>
                  </a:cxn>
                  <a:cxn ang="0">
                    <a:pos x="72" y="2"/>
                  </a:cxn>
                  <a:cxn ang="0">
                    <a:pos x="125" y="89"/>
                  </a:cxn>
                  <a:cxn ang="0">
                    <a:pos x="107" y="89"/>
                  </a:cxn>
                  <a:cxn ang="0">
                    <a:pos x="62" y="17"/>
                  </a:cxn>
                  <a:cxn ang="0">
                    <a:pos x="43" y="47"/>
                  </a:cxn>
                  <a:cxn ang="0">
                    <a:pos x="81" y="47"/>
                  </a:cxn>
                  <a:cxn ang="0">
                    <a:pos x="73" y="63"/>
                  </a:cxn>
                  <a:cxn ang="0">
                    <a:pos x="34" y="63"/>
                  </a:cxn>
                  <a:cxn ang="0">
                    <a:pos x="18" y="88"/>
                  </a:cxn>
                  <a:cxn ang="0">
                    <a:pos x="0" y="88"/>
                  </a:cxn>
                </a:cxnLst>
                <a:rect l="0" t="0" r="r" b="b"/>
                <a:pathLst>
                  <a:path w="126" h="90">
                    <a:moveTo>
                      <a:pt x="0" y="88"/>
                    </a:moveTo>
                    <a:lnTo>
                      <a:pt x="52" y="3"/>
                    </a:lnTo>
                    <a:lnTo>
                      <a:pt x="55" y="1"/>
                    </a:lnTo>
                    <a:lnTo>
                      <a:pt x="58" y="0"/>
                    </a:lnTo>
                    <a:lnTo>
                      <a:pt x="67" y="0"/>
                    </a:lnTo>
                    <a:lnTo>
                      <a:pt x="69" y="1"/>
                    </a:lnTo>
                    <a:lnTo>
                      <a:pt x="72" y="2"/>
                    </a:lnTo>
                    <a:lnTo>
                      <a:pt x="125" y="89"/>
                    </a:lnTo>
                    <a:lnTo>
                      <a:pt x="107" y="89"/>
                    </a:lnTo>
                    <a:lnTo>
                      <a:pt x="62" y="17"/>
                    </a:lnTo>
                    <a:lnTo>
                      <a:pt x="43" y="47"/>
                    </a:lnTo>
                    <a:lnTo>
                      <a:pt x="81" y="47"/>
                    </a:lnTo>
                    <a:lnTo>
                      <a:pt x="73" y="63"/>
                    </a:lnTo>
                    <a:lnTo>
                      <a:pt x="34" y="63"/>
                    </a:lnTo>
                    <a:lnTo>
                      <a:pt x="18" y="88"/>
                    </a:lnTo>
                    <a:lnTo>
                      <a:pt x="0" y="88"/>
                    </a:lnTo>
                  </a:path>
                </a:pathLst>
              </a:custGeom>
              <a:solidFill>
                <a:schemeClr val="hlink"/>
              </a:solidFill>
              <a:ln w="12700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9"/>
              <p:cNvSpPr>
                <a:spLocks/>
              </p:cNvSpPr>
              <p:nvPr/>
            </p:nvSpPr>
            <p:spPr bwMode="auto">
              <a:xfrm>
                <a:off x="5361" y="4137"/>
                <a:ext cx="105" cy="90"/>
              </a:xfrm>
              <a:custGeom>
                <a:avLst/>
                <a:gdLst/>
                <a:ahLst/>
                <a:cxnLst>
                  <a:cxn ang="0">
                    <a:pos x="103" y="0"/>
                  </a:cxn>
                  <a:cxn ang="0">
                    <a:pos x="40" y="0"/>
                  </a:cxn>
                  <a:cxn ang="0">
                    <a:pos x="30" y="1"/>
                  </a:cxn>
                  <a:cxn ang="0">
                    <a:pos x="21" y="5"/>
                  </a:cxn>
                  <a:cxn ang="0">
                    <a:pos x="16" y="10"/>
                  </a:cxn>
                  <a:cxn ang="0">
                    <a:pos x="10" y="16"/>
                  </a:cxn>
                  <a:cxn ang="0">
                    <a:pos x="5" y="25"/>
                  </a:cxn>
                  <a:cxn ang="0">
                    <a:pos x="2" y="32"/>
                  </a:cxn>
                  <a:cxn ang="0">
                    <a:pos x="0" y="41"/>
                  </a:cxn>
                  <a:cxn ang="0">
                    <a:pos x="0" y="50"/>
                  </a:cxn>
                  <a:cxn ang="0">
                    <a:pos x="2" y="60"/>
                  </a:cxn>
                  <a:cxn ang="0">
                    <a:pos x="7" y="70"/>
                  </a:cxn>
                  <a:cxn ang="0">
                    <a:pos x="14" y="77"/>
                  </a:cxn>
                  <a:cxn ang="0">
                    <a:pos x="19" y="81"/>
                  </a:cxn>
                  <a:cxn ang="0">
                    <a:pos x="25" y="85"/>
                  </a:cxn>
                  <a:cxn ang="0">
                    <a:pos x="35" y="88"/>
                  </a:cxn>
                  <a:cxn ang="0">
                    <a:pos x="45" y="89"/>
                  </a:cxn>
                  <a:cxn ang="0">
                    <a:pos x="95" y="89"/>
                  </a:cxn>
                  <a:cxn ang="0">
                    <a:pos x="104" y="74"/>
                  </a:cxn>
                  <a:cxn ang="0">
                    <a:pos x="44" y="74"/>
                  </a:cxn>
                  <a:cxn ang="0">
                    <a:pos x="33" y="72"/>
                  </a:cxn>
                  <a:cxn ang="0">
                    <a:pos x="24" y="66"/>
                  </a:cxn>
                  <a:cxn ang="0">
                    <a:pos x="18" y="60"/>
                  </a:cxn>
                  <a:cxn ang="0">
                    <a:pos x="15" y="51"/>
                  </a:cxn>
                  <a:cxn ang="0">
                    <a:pos x="14" y="42"/>
                  </a:cxn>
                  <a:cxn ang="0">
                    <a:pos x="17" y="33"/>
                  </a:cxn>
                  <a:cxn ang="0">
                    <a:pos x="21" y="25"/>
                  </a:cxn>
                  <a:cxn ang="0">
                    <a:pos x="27" y="19"/>
                  </a:cxn>
                  <a:cxn ang="0">
                    <a:pos x="32" y="16"/>
                  </a:cxn>
                  <a:cxn ang="0">
                    <a:pos x="41" y="15"/>
                  </a:cxn>
                  <a:cxn ang="0">
                    <a:pos x="93" y="15"/>
                  </a:cxn>
                  <a:cxn ang="0">
                    <a:pos x="103" y="0"/>
                  </a:cxn>
                </a:cxnLst>
                <a:rect l="0" t="0" r="r" b="b"/>
                <a:pathLst>
                  <a:path w="105" h="90">
                    <a:moveTo>
                      <a:pt x="103" y="0"/>
                    </a:moveTo>
                    <a:lnTo>
                      <a:pt x="40" y="0"/>
                    </a:lnTo>
                    <a:lnTo>
                      <a:pt x="30" y="1"/>
                    </a:lnTo>
                    <a:lnTo>
                      <a:pt x="21" y="5"/>
                    </a:lnTo>
                    <a:lnTo>
                      <a:pt x="16" y="10"/>
                    </a:lnTo>
                    <a:lnTo>
                      <a:pt x="10" y="16"/>
                    </a:lnTo>
                    <a:lnTo>
                      <a:pt x="5" y="25"/>
                    </a:lnTo>
                    <a:lnTo>
                      <a:pt x="2" y="32"/>
                    </a:lnTo>
                    <a:lnTo>
                      <a:pt x="0" y="41"/>
                    </a:lnTo>
                    <a:lnTo>
                      <a:pt x="0" y="50"/>
                    </a:lnTo>
                    <a:lnTo>
                      <a:pt x="2" y="60"/>
                    </a:lnTo>
                    <a:lnTo>
                      <a:pt x="7" y="70"/>
                    </a:lnTo>
                    <a:lnTo>
                      <a:pt x="14" y="77"/>
                    </a:lnTo>
                    <a:lnTo>
                      <a:pt x="19" y="81"/>
                    </a:lnTo>
                    <a:lnTo>
                      <a:pt x="25" y="85"/>
                    </a:lnTo>
                    <a:lnTo>
                      <a:pt x="35" y="88"/>
                    </a:lnTo>
                    <a:lnTo>
                      <a:pt x="45" y="89"/>
                    </a:lnTo>
                    <a:lnTo>
                      <a:pt x="95" y="89"/>
                    </a:lnTo>
                    <a:lnTo>
                      <a:pt x="104" y="74"/>
                    </a:lnTo>
                    <a:lnTo>
                      <a:pt x="44" y="74"/>
                    </a:lnTo>
                    <a:lnTo>
                      <a:pt x="33" y="72"/>
                    </a:lnTo>
                    <a:lnTo>
                      <a:pt x="24" y="66"/>
                    </a:lnTo>
                    <a:lnTo>
                      <a:pt x="18" y="60"/>
                    </a:lnTo>
                    <a:lnTo>
                      <a:pt x="15" y="51"/>
                    </a:lnTo>
                    <a:lnTo>
                      <a:pt x="14" y="42"/>
                    </a:lnTo>
                    <a:lnTo>
                      <a:pt x="17" y="33"/>
                    </a:lnTo>
                    <a:lnTo>
                      <a:pt x="21" y="25"/>
                    </a:lnTo>
                    <a:lnTo>
                      <a:pt x="27" y="19"/>
                    </a:lnTo>
                    <a:lnTo>
                      <a:pt x="32" y="16"/>
                    </a:lnTo>
                    <a:lnTo>
                      <a:pt x="41" y="15"/>
                    </a:lnTo>
                    <a:lnTo>
                      <a:pt x="93" y="15"/>
                    </a:lnTo>
                    <a:lnTo>
                      <a:pt x="103" y="0"/>
                    </a:lnTo>
                  </a:path>
                </a:pathLst>
              </a:custGeom>
              <a:solidFill>
                <a:schemeClr val="hlink"/>
              </a:solidFill>
              <a:ln w="12700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30"/>
              <p:cNvSpPr>
                <a:spLocks/>
              </p:cNvSpPr>
              <p:nvPr/>
            </p:nvSpPr>
            <p:spPr bwMode="auto">
              <a:xfrm>
                <a:off x="5473" y="4137"/>
                <a:ext cx="79" cy="9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80"/>
                  </a:cxn>
                  <a:cxn ang="0">
                    <a:pos x="1" y="85"/>
                  </a:cxn>
                  <a:cxn ang="0">
                    <a:pos x="3" y="88"/>
                  </a:cxn>
                  <a:cxn ang="0">
                    <a:pos x="8" y="89"/>
                  </a:cxn>
                  <a:cxn ang="0">
                    <a:pos x="70" y="89"/>
                  </a:cxn>
                  <a:cxn ang="0">
                    <a:pos x="78" y="74"/>
                  </a:cxn>
                  <a:cxn ang="0">
                    <a:pos x="15" y="74"/>
                  </a:cxn>
                  <a:cxn ang="0">
                    <a:pos x="15" y="0"/>
                  </a:cxn>
                  <a:cxn ang="0">
                    <a:pos x="0" y="0"/>
                  </a:cxn>
                </a:cxnLst>
                <a:rect l="0" t="0" r="r" b="b"/>
                <a:pathLst>
                  <a:path w="79" h="90">
                    <a:moveTo>
                      <a:pt x="0" y="0"/>
                    </a:moveTo>
                    <a:lnTo>
                      <a:pt x="0" y="80"/>
                    </a:lnTo>
                    <a:lnTo>
                      <a:pt x="1" y="85"/>
                    </a:lnTo>
                    <a:lnTo>
                      <a:pt x="3" y="88"/>
                    </a:lnTo>
                    <a:lnTo>
                      <a:pt x="8" y="89"/>
                    </a:lnTo>
                    <a:lnTo>
                      <a:pt x="70" y="89"/>
                    </a:lnTo>
                    <a:lnTo>
                      <a:pt x="78" y="74"/>
                    </a:lnTo>
                    <a:lnTo>
                      <a:pt x="15" y="74"/>
                    </a:lnTo>
                    <a:lnTo>
                      <a:pt x="15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hlink"/>
              </a:solidFill>
              <a:ln w="12700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31"/>
              <p:cNvSpPr>
                <a:spLocks/>
              </p:cNvSpPr>
              <p:nvPr/>
            </p:nvSpPr>
            <p:spPr bwMode="auto">
              <a:xfrm>
                <a:off x="5545" y="4138"/>
                <a:ext cx="108" cy="89"/>
              </a:xfrm>
              <a:custGeom>
                <a:avLst/>
                <a:gdLst/>
                <a:ahLst/>
                <a:cxnLst>
                  <a:cxn ang="0">
                    <a:pos x="107" y="0"/>
                  </a:cxn>
                  <a:cxn ang="0">
                    <a:pos x="39" y="0"/>
                  </a:cxn>
                  <a:cxn ang="0">
                    <a:pos x="31" y="2"/>
                  </a:cxn>
                  <a:cxn ang="0">
                    <a:pos x="21" y="5"/>
                  </a:cxn>
                  <a:cxn ang="0">
                    <a:pos x="13" y="11"/>
                  </a:cxn>
                  <a:cxn ang="0">
                    <a:pos x="6" y="19"/>
                  </a:cxn>
                  <a:cxn ang="0">
                    <a:pos x="2" y="27"/>
                  </a:cxn>
                  <a:cxn ang="0">
                    <a:pos x="0" y="38"/>
                  </a:cxn>
                  <a:cxn ang="0">
                    <a:pos x="0" y="47"/>
                  </a:cxn>
                  <a:cxn ang="0">
                    <a:pos x="3" y="58"/>
                  </a:cxn>
                  <a:cxn ang="0">
                    <a:pos x="6" y="66"/>
                  </a:cxn>
                  <a:cxn ang="0">
                    <a:pos x="12" y="73"/>
                  </a:cxn>
                  <a:cxn ang="0">
                    <a:pos x="18" y="79"/>
                  </a:cxn>
                  <a:cxn ang="0">
                    <a:pos x="26" y="84"/>
                  </a:cxn>
                  <a:cxn ang="0">
                    <a:pos x="36" y="87"/>
                  </a:cxn>
                  <a:cxn ang="0">
                    <a:pos x="44" y="88"/>
                  </a:cxn>
                  <a:cxn ang="0">
                    <a:pos x="98" y="88"/>
                  </a:cxn>
                  <a:cxn ang="0">
                    <a:pos x="106" y="74"/>
                  </a:cxn>
                  <a:cxn ang="0">
                    <a:pos x="42" y="74"/>
                  </a:cxn>
                  <a:cxn ang="0">
                    <a:pos x="34" y="72"/>
                  </a:cxn>
                  <a:cxn ang="0">
                    <a:pos x="28" y="69"/>
                  </a:cxn>
                  <a:cxn ang="0">
                    <a:pos x="22" y="63"/>
                  </a:cxn>
                  <a:cxn ang="0">
                    <a:pos x="18" y="56"/>
                  </a:cxn>
                  <a:cxn ang="0">
                    <a:pos x="16" y="49"/>
                  </a:cxn>
                  <a:cxn ang="0">
                    <a:pos x="94" y="49"/>
                  </a:cxn>
                  <a:cxn ang="0">
                    <a:pos x="101" y="36"/>
                  </a:cxn>
                  <a:cxn ang="0">
                    <a:pos x="17" y="36"/>
                  </a:cxn>
                  <a:cxn ang="0">
                    <a:pos x="17" y="31"/>
                  </a:cxn>
                  <a:cxn ang="0">
                    <a:pos x="20" y="25"/>
                  </a:cxn>
                  <a:cxn ang="0">
                    <a:pos x="25" y="20"/>
                  </a:cxn>
                  <a:cxn ang="0">
                    <a:pos x="30" y="17"/>
                  </a:cxn>
                  <a:cxn ang="0">
                    <a:pos x="39" y="14"/>
                  </a:cxn>
                  <a:cxn ang="0">
                    <a:pos x="96" y="14"/>
                  </a:cxn>
                  <a:cxn ang="0">
                    <a:pos x="107" y="0"/>
                  </a:cxn>
                </a:cxnLst>
                <a:rect l="0" t="0" r="r" b="b"/>
                <a:pathLst>
                  <a:path w="108" h="89">
                    <a:moveTo>
                      <a:pt x="107" y="0"/>
                    </a:moveTo>
                    <a:lnTo>
                      <a:pt x="39" y="0"/>
                    </a:lnTo>
                    <a:lnTo>
                      <a:pt x="31" y="2"/>
                    </a:lnTo>
                    <a:lnTo>
                      <a:pt x="21" y="5"/>
                    </a:lnTo>
                    <a:lnTo>
                      <a:pt x="13" y="11"/>
                    </a:lnTo>
                    <a:lnTo>
                      <a:pt x="6" y="19"/>
                    </a:lnTo>
                    <a:lnTo>
                      <a:pt x="2" y="27"/>
                    </a:lnTo>
                    <a:lnTo>
                      <a:pt x="0" y="38"/>
                    </a:lnTo>
                    <a:lnTo>
                      <a:pt x="0" y="47"/>
                    </a:lnTo>
                    <a:lnTo>
                      <a:pt x="3" y="58"/>
                    </a:lnTo>
                    <a:lnTo>
                      <a:pt x="6" y="66"/>
                    </a:lnTo>
                    <a:lnTo>
                      <a:pt x="12" y="73"/>
                    </a:lnTo>
                    <a:lnTo>
                      <a:pt x="18" y="79"/>
                    </a:lnTo>
                    <a:lnTo>
                      <a:pt x="26" y="84"/>
                    </a:lnTo>
                    <a:lnTo>
                      <a:pt x="36" y="87"/>
                    </a:lnTo>
                    <a:lnTo>
                      <a:pt x="44" y="88"/>
                    </a:lnTo>
                    <a:lnTo>
                      <a:pt x="98" y="88"/>
                    </a:lnTo>
                    <a:lnTo>
                      <a:pt x="106" y="74"/>
                    </a:lnTo>
                    <a:lnTo>
                      <a:pt x="42" y="74"/>
                    </a:lnTo>
                    <a:lnTo>
                      <a:pt x="34" y="72"/>
                    </a:lnTo>
                    <a:lnTo>
                      <a:pt x="28" y="69"/>
                    </a:lnTo>
                    <a:lnTo>
                      <a:pt x="22" y="63"/>
                    </a:lnTo>
                    <a:lnTo>
                      <a:pt x="18" y="56"/>
                    </a:lnTo>
                    <a:lnTo>
                      <a:pt x="16" y="49"/>
                    </a:lnTo>
                    <a:lnTo>
                      <a:pt x="94" y="49"/>
                    </a:lnTo>
                    <a:lnTo>
                      <a:pt x="101" y="36"/>
                    </a:lnTo>
                    <a:lnTo>
                      <a:pt x="17" y="36"/>
                    </a:lnTo>
                    <a:lnTo>
                      <a:pt x="17" y="31"/>
                    </a:lnTo>
                    <a:lnTo>
                      <a:pt x="20" y="25"/>
                    </a:lnTo>
                    <a:lnTo>
                      <a:pt x="25" y="20"/>
                    </a:lnTo>
                    <a:lnTo>
                      <a:pt x="30" y="17"/>
                    </a:lnTo>
                    <a:lnTo>
                      <a:pt x="39" y="14"/>
                    </a:lnTo>
                    <a:lnTo>
                      <a:pt x="96" y="14"/>
                    </a:lnTo>
                    <a:lnTo>
                      <a:pt x="107" y="0"/>
                    </a:lnTo>
                  </a:path>
                </a:pathLst>
              </a:custGeom>
              <a:solidFill>
                <a:schemeClr val="hlink"/>
              </a:solidFill>
              <a:ln w="12700" cap="rnd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6" name="Rectangle 32"/>
            <p:cNvSpPr>
              <a:spLocks noChangeArrowheads="1"/>
            </p:cNvSpPr>
            <p:nvPr/>
          </p:nvSpPr>
          <p:spPr bwMode="auto">
            <a:xfrm>
              <a:off x="5656" y="4113"/>
              <a:ext cx="51" cy="5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 lIns="17462" tIns="7938" rIns="17462" bIns="7938">
              <a:spAutoFit/>
            </a:bodyPr>
            <a:lstStyle/>
            <a:p>
              <a:pPr defTabSz="33338"/>
              <a:r>
                <a:rPr lang="en-US" sz="500" b="1">
                  <a:solidFill>
                    <a:schemeClr val="hlink"/>
                  </a:solidFill>
                  <a:latin typeface="Arial" charset="0"/>
                </a:rPr>
                <a:t>®</a:t>
              </a:r>
            </a:p>
          </p:txBody>
        </p:sp>
      </p:grpSp>
      <p:sp>
        <p:nvSpPr>
          <p:cNvPr id="45" name="Text Box 33"/>
          <p:cNvSpPr txBox="1">
            <a:spLocks noChangeArrowheads="1"/>
          </p:cNvSpPr>
          <p:nvPr/>
        </p:nvSpPr>
        <p:spPr bwMode="auto">
          <a:xfrm>
            <a:off x="2971800" y="6096000"/>
            <a:ext cx="4648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>
                <a:solidFill>
                  <a:schemeClr val="hlink"/>
                </a:solidFill>
              </a:rPr>
              <a:t>Some of the images above  come from a presentation given by:</a:t>
            </a:r>
            <a:r>
              <a:rPr lang="en-US">
                <a:solidFill>
                  <a:schemeClr val="hlink"/>
                </a:solidFill>
              </a:rPr>
              <a:t> </a:t>
            </a:r>
          </a:p>
        </p:txBody>
      </p:sp>
      <p:sp>
        <p:nvSpPr>
          <p:cNvPr id="46" name="Text Box 34"/>
          <p:cNvSpPr txBox="1">
            <a:spLocks noChangeArrowheads="1"/>
          </p:cNvSpPr>
          <p:nvPr/>
        </p:nvSpPr>
        <p:spPr bwMode="auto">
          <a:xfrm>
            <a:off x="2767666" y="1981200"/>
            <a:ext cx="13716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2"/>
                </a:solidFill>
              </a:rPr>
              <a:t>Database  Queries</a:t>
            </a:r>
            <a:endParaRPr lang="en-US"/>
          </a:p>
        </p:txBody>
      </p:sp>
      <p:sp>
        <p:nvSpPr>
          <p:cNvPr id="47" name="AutoShape 35"/>
          <p:cNvSpPr>
            <a:spLocks noChangeArrowheads="1"/>
          </p:cNvSpPr>
          <p:nvPr/>
        </p:nvSpPr>
        <p:spPr bwMode="auto">
          <a:xfrm>
            <a:off x="5891866" y="2514600"/>
            <a:ext cx="762000" cy="319088"/>
          </a:xfrm>
          <a:prstGeom prst="rightArrow">
            <a:avLst>
              <a:gd name="adj1" fmla="val 50000"/>
              <a:gd name="adj2" fmla="val 59701"/>
            </a:avLst>
          </a:prstGeom>
          <a:gradFill rotWithShape="0">
            <a:gsLst>
              <a:gs pos="0">
                <a:srgbClr val="FFFFFF"/>
              </a:gs>
              <a:gs pos="100000">
                <a:srgbClr val="FFFFFF">
                  <a:gamma/>
                  <a:shade val="84706"/>
                  <a:invGamma/>
                </a:srgbClr>
              </a:gs>
            </a:gsLst>
            <a:lin ang="0" scaled="1"/>
          </a:gradFill>
          <a:ln w="9525">
            <a:solidFill>
              <a:srgbClr val="C0C0C0"/>
            </a:solidFill>
            <a:prstDash val="dash"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48" name="Text Box 36"/>
          <p:cNvSpPr txBox="1">
            <a:spLocks noChangeArrowheads="1"/>
          </p:cNvSpPr>
          <p:nvPr/>
        </p:nvSpPr>
        <p:spPr bwMode="auto">
          <a:xfrm>
            <a:off x="6044266" y="2133600"/>
            <a:ext cx="13716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b="1">
                <a:solidFill>
                  <a:schemeClr val="tx2"/>
                </a:solidFill>
              </a:rPr>
              <a:t>?</a:t>
            </a:r>
            <a:endParaRPr lang="en-US"/>
          </a:p>
        </p:txBody>
      </p:sp>
      <p:sp>
        <p:nvSpPr>
          <p:cNvPr id="49" name="Text Box 37"/>
          <p:cNvSpPr txBox="1">
            <a:spLocks noChangeArrowheads="1"/>
          </p:cNvSpPr>
          <p:nvPr/>
        </p:nvSpPr>
        <p:spPr bwMode="auto">
          <a:xfrm>
            <a:off x="6425266" y="4038600"/>
            <a:ext cx="229870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lnSpc>
                <a:spcPct val="95000"/>
              </a:lnSpc>
            </a:pPr>
            <a:r>
              <a:rPr lang="en-US" sz="2200">
                <a:solidFill>
                  <a:schemeClr val="tx2"/>
                </a:solidFill>
                <a:latin typeface="Helvetica" pitchFamily="34" charset="0"/>
              </a:rPr>
              <a:t>Knowledge &amp;</a:t>
            </a:r>
          </a:p>
          <a:p>
            <a:pPr algn="ctr">
              <a:lnSpc>
                <a:spcPct val="95000"/>
              </a:lnSpc>
            </a:pPr>
            <a:r>
              <a:rPr lang="en-US" sz="2200">
                <a:solidFill>
                  <a:schemeClr val="tx2"/>
                </a:solidFill>
                <a:latin typeface="Helvetica" pitchFamily="34" charset="0"/>
              </a:rPr>
              <a:t>Customer Insight</a:t>
            </a:r>
            <a:endParaRPr lang="en-US" sz="2200">
              <a:solidFill>
                <a:srgbClr val="FFFFFF"/>
              </a:solidFill>
              <a:latin typeface="Helvetica" pitchFamily="34" charset="0"/>
            </a:endParaRPr>
          </a:p>
        </p:txBody>
      </p:sp>
      <p:sp>
        <p:nvSpPr>
          <p:cNvPr id="50" name="Rectangle 38"/>
          <p:cNvSpPr>
            <a:spLocks noChangeArrowheads="1"/>
          </p:cNvSpPr>
          <p:nvPr/>
        </p:nvSpPr>
        <p:spPr bwMode="auto">
          <a:xfrm>
            <a:off x="6577666" y="1676400"/>
            <a:ext cx="1905000" cy="762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sz="1400" dirty="0">
                <a:latin typeface="Helvetica" pitchFamily="34" charset="0"/>
              </a:rPr>
              <a:t>A. Berger is most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Helvetica" pitchFamily="34" charset="0"/>
              </a:rPr>
              <a:t>likely to buy new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Helvetica" pitchFamily="34" charset="0"/>
              </a:rPr>
              <a:t>product</a:t>
            </a:r>
            <a:endParaRPr lang="en-US" sz="2000" dirty="0">
              <a:latin typeface="Helvetica" pitchFamily="34" charset="0"/>
            </a:endParaRPr>
          </a:p>
        </p:txBody>
      </p:sp>
      <p:sp>
        <p:nvSpPr>
          <p:cNvPr id="51" name="Rectangle 39"/>
          <p:cNvSpPr>
            <a:spLocks noChangeArrowheads="1"/>
          </p:cNvSpPr>
          <p:nvPr/>
        </p:nvSpPr>
        <p:spPr bwMode="auto">
          <a:xfrm>
            <a:off x="6577666" y="2895600"/>
            <a:ext cx="19050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0000"/>
              </a:lnSpc>
            </a:pPr>
            <a:r>
              <a:rPr lang="en-US" sz="1400" dirty="0">
                <a:latin typeface="Helvetica" pitchFamily="34" charset="0"/>
              </a:rPr>
              <a:t>T. Martin is profitable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Helvetica" pitchFamily="34" charset="0"/>
              </a:rPr>
              <a:t>customer and is likely </a:t>
            </a:r>
          </a:p>
          <a:p>
            <a:pPr>
              <a:lnSpc>
                <a:spcPct val="90000"/>
              </a:lnSpc>
            </a:pPr>
            <a:r>
              <a:rPr lang="en-US" sz="1400" dirty="0">
                <a:latin typeface="Helvetica" pitchFamily="34" charset="0"/>
              </a:rPr>
              <a:t>to switch carriers</a:t>
            </a:r>
            <a:endParaRPr lang="en-US" sz="2000" dirty="0">
              <a:latin typeface="Helvetica" pitchFamily="34" charset="0"/>
            </a:endParaRPr>
          </a:p>
        </p:txBody>
      </p:sp>
      <p:sp>
        <p:nvSpPr>
          <p:cNvPr id="52" name="Text Box 40"/>
          <p:cNvSpPr txBox="1">
            <a:spLocks noChangeArrowheads="1"/>
          </p:cNvSpPr>
          <p:nvPr/>
        </p:nvSpPr>
        <p:spPr bwMode="auto">
          <a:xfrm>
            <a:off x="304800" y="4572000"/>
            <a:ext cx="6705600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In this class, we will learn: </a:t>
            </a:r>
            <a:br>
              <a:rPr lang="en-US" sz="2000" dirty="0"/>
            </a:br>
            <a:r>
              <a:rPr lang="en-US" sz="2000" dirty="0"/>
              <a:t>	</a:t>
            </a:r>
            <a:r>
              <a:rPr lang="en-US" sz="2000" dirty="0">
                <a:solidFill>
                  <a:srgbClr val="CC0000"/>
                </a:solidFill>
              </a:rPr>
              <a:t>how to store data </a:t>
            </a:r>
            <a:br>
              <a:rPr lang="en-US" sz="2000" dirty="0">
                <a:solidFill>
                  <a:srgbClr val="CC0000"/>
                </a:solidFill>
              </a:rPr>
            </a:br>
            <a:r>
              <a:rPr lang="en-US" sz="2000" dirty="0">
                <a:solidFill>
                  <a:srgbClr val="CC0000"/>
                </a:solidFill>
              </a:rPr>
              <a:t>	how to produce information using the data</a:t>
            </a:r>
          </a:p>
          <a:p>
            <a:pPr>
              <a:spcBef>
                <a:spcPct val="50000"/>
              </a:spcBef>
            </a:pPr>
            <a:endParaRPr lang="en-US" dirty="0"/>
          </a:p>
        </p:txBody>
      </p:sp>
      <p:sp>
        <p:nvSpPr>
          <p:cNvPr id="53" name="Slide Number Placeholder 5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9" grpId="0" animBg="1" autoUpdateAnimBg="0"/>
      <p:bldP spid="30" grpId="0" animBg="1" autoUpdateAnimBg="0"/>
      <p:bldP spid="31" grpId="0" animBg="1" autoUpdateAnimBg="0"/>
      <p:bldP spid="33" grpId="0" animBg="1" autoUpdateAnimBg="0"/>
      <p:bldP spid="46" grpId="0" autoUpdateAnimBg="0"/>
      <p:bldP spid="47" grpId="0" animBg="1"/>
      <p:bldP spid="48" grpId="0" autoUpdateAnimBg="0"/>
      <p:bldP spid="50" grpId="0" animBg="1" autoUpdateAnimBg="0"/>
      <p:bldP spid="51" grpId="0" animBg="1" autoUpdateAnimBg="0"/>
      <p:bldP spid="52" grpId="0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Brief History of Data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BEFORE COMPUTERS…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What’s the catch?</a:t>
            </a:r>
          </a:p>
          <a:p>
            <a:pPr lvl="1">
              <a:spcBef>
                <a:spcPct val="20000"/>
              </a:spcBef>
              <a:defRPr/>
            </a:pPr>
            <a:endParaRPr lang="en-US" sz="24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Let’s assume that you have a file cabinet storing your everyday receipts (confession: I am not that organized!) 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Can you: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Quickly locate all purchases you made last Friday?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Quickly sum up total expense for last week?</a:t>
            </a:r>
          </a:p>
          <a:p>
            <a:pPr marL="1257300" lvl="2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7650" name="Picture 2" descr="http://www.pranayogacollege.com/blog/wp-content/uploads/2009/06/large-filing-cabinet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1062" y="1066800"/>
            <a:ext cx="2962938" cy="2316480"/>
          </a:xfrm>
          <a:prstGeom prst="rect">
            <a:avLst/>
          </a:prstGeom>
          <a:noFill/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Brief History of Data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457200" y="15240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Data management, the early days (1960’s – late 1970’s)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Flat File Database</a:t>
            </a:r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371600" y="2743200"/>
            <a:ext cx="1638300" cy="2743200"/>
            <a:chOff x="7162800" y="2209800"/>
            <a:chExt cx="1638300" cy="2743200"/>
          </a:xfrm>
        </p:grpSpPr>
        <p:pic>
          <p:nvPicPr>
            <p:cNvPr id="38914" name="Picture 2" descr="http://upload.wikimedia.org/wikipedia/commons/thumb/4/42/Hollerith.jpg/220px-Hollerith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162800" y="2209800"/>
              <a:ext cx="1638300" cy="2360641"/>
            </a:xfrm>
            <a:prstGeom prst="rect">
              <a:avLst/>
            </a:prstGeom>
            <a:noFill/>
          </p:spPr>
        </p:pic>
        <p:sp>
          <p:nvSpPr>
            <p:cNvPr id="6" name="Rectangle 5"/>
            <p:cNvSpPr/>
            <p:nvPr/>
          </p:nvSpPr>
          <p:spPr>
            <a:xfrm>
              <a:off x="7162800" y="4645223"/>
              <a:ext cx="162897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400" b="1" dirty="0">
                  <a:hlinkClick r:id="rId3"/>
                </a:rPr>
                <a:t>Herman Hollerith</a:t>
              </a:r>
              <a:endParaRPr lang="en-US" sz="1400" dirty="0"/>
            </a:p>
          </p:txBody>
        </p:sp>
      </p:grp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52800" y="3923520"/>
            <a:ext cx="451963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Chao’s note: Herman Hollerith has a legendary life, and the story about how he came up </a:t>
            </a:r>
            <a:br>
              <a:rPr lang="en-US" sz="1400" dirty="0"/>
            </a:br>
            <a:r>
              <a:rPr lang="en-US" sz="1400" dirty="0"/>
              <a:t>with the idea of punched card, the earliest form of a flat file database, is interesting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Flat File Database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As its name suggests, the flat file database stores information on a flat file (think txt or even Excel if it helps you to understand)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Although simple, flat file databases set up the “norm” for how to store data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And is a perfect tool for us to learn some terminology!</a:t>
            </a:r>
          </a:p>
        </p:txBody>
      </p:sp>
      <p:pic>
        <p:nvPicPr>
          <p:cNvPr id="399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962400"/>
            <a:ext cx="6172200" cy="26571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228600" y="4419600"/>
            <a:ext cx="205363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A flat file database </a:t>
            </a:r>
            <a:br>
              <a:rPr lang="en-US" sz="1600" dirty="0"/>
            </a:br>
            <a:r>
              <a:rPr lang="en-US" sz="1600" dirty="0"/>
              <a:t>example, showing </a:t>
            </a:r>
            <a:br>
              <a:rPr lang="en-US" sz="1600" dirty="0"/>
            </a:br>
            <a:r>
              <a:rPr lang="en-US" sz="1600" dirty="0"/>
              <a:t>NCAA game records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Build a Stock Database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3400" y="14478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A </a:t>
            </a:r>
            <a:r>
              <a:rPr lang="en-US" sz="2400" dirty="0">
                <a:solidFill>
                  <a:srgbClr val="FF0000"/>
                </a:solidFill>
              </a:rPr>
              <a:t>TABLE </a:t>
            </a:r>
            <a:r>
              <a:rPr lang="en-US" sz="2400" dirty="0"/>
              <a:t>is a two-dimensional structure used to store data in flat file (and many other forms of) databases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A table usually captures information about </a:t>
            </a:r>
            <a:r>
              <a:rPr lang="en-US" sz="2400" dirty="0">
                <a:solidFill>
                  <a:srgbClr val="FF0000"/>
                </a:solidFill>
              </a:rPr>
              <a:t>a group of similar objects – entities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What are the entities we are trying to capture in the stock flat file database?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Build a Stock Database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3400" y="14478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What information should I capture for each stock?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>
              <a:solidFill>
                <a:srgbClr val="FF0000"/>
              </a:solidFill>
            </a:endParaRP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>
                <a:solidFill>
                  <a:srgbClr val="FF0000"/>
                </a:solidFill>
              </a:rPr>
              <a:t>ATTRIBUTES: A list of characteristics that collectively describe the entity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Also known as “columns”, or “fields”, depending on your discipline</a:t>
            </a:r>
          </a:p>
          <a:p>
            <a:pPr marL="342900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Build a Stock Database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We record the table and attributes in the following format:</a:t>
            </a:r>
            <a:endParaRPr lang="en-US" sz="2400" dirty="0">
              <a:solidFill>
                <a:srgbClr val="FF0000"/>
              </a:solidFill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dirty="0">
                <a:solidFill>
                  <a:srgbClr val="FF0000"/>
                </a:solidFill>
              </a:rPr>
              <a:t>TABLE_NAME (Attribute 1, Attribute 2, …)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For the stock database:</a:t>
            </a:r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400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u="sng" dirty="0"/>
              <a:t>Symbol</a:t>
            </a:r>
            <a:r>
              <a:rPr lang="en-US" dirty="0"/>
              <a:t> 		The stock symbol that you chose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u="sng" dirty="0"/>
              <a:t>Date</a:t>
            </a:r>
            <a:r>
              <a:rPr lang="en-US" dirty="0"/>
              <a:t>		The date of the stock data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u="sng" dirty="0"/>
              <a:t>Open</a:t>
            </a:r>
            <a:r>
              <a:rPr lang="en-US" dirty="0"/>
              <a:t> 		Open Price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u="sng" dirty="0"/>
              <a:t>High</a:t>
            </a:r>
            <a:r>
              <a:rPr lang="en-US" dirty="0"/>
              <a:t> 		The highest daily price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u="sng" dirty="0"/>
              <a:t>Low   </a:t>
            </a:r>
            <a:r>
              <a:rPr lang="en-US" dirty="0"/>
              <a:t>                      The lowest price during the day 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u="sng" dirty="0"/>
              <a:t>Close</a:t>
            </a:r>
            <a:r>
              <a:rPr lang="en-US" dirty="0"/>
              <a:t>		The closing price for the day</a:t>
            </a:r>
            <a:endParaRPr lang="en-US" u="sng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u="sng" dirty="0" err="1"/>
              <a:t>PivotPoint</a:t>
            </a:r>
            <a:r>
              <a:rPr lang="en-US" dirty="0"/>
              <a:t>	The average of the High, Low, and Close prices</a:t>
            </a:r>
            <a:endParaRPr lang="en-US" u="sng" dirty="0"/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u="sng" dirty="0"/>
              <a:t>Volume</a:t>
            </a:r>
            <a:r>
              <a:rPr lang="en-US" dirty="0"/>
              <a:t>		The number of shares traded during the day.</a:t>
            </a:r>
            <a:endParaRPr lang="en-US" u="sng" dirty="0"/>
          </a:p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9679" y="2857281"/>
            <a:ext cx="83857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/>
              <a:t>CompanyName</a:t>
            </a:r>
            <a:r>
              <a:rPr lang="en-US" dirty="0"/>
              <a:t>(</a:t>
            </a:r>
            <a:r>
              <a:rPr lang="en-US" u="sng" dirty="0"/>
              <a:t>Symbol, Date</a:t>
            </a:r>
            <a:r>
              <a:rPr lang="en-US" dirty="0"/>
              <a:t>, Open, High, Low, Close, </a:t>
            </a:r>
            <a:r>
              <a:rPr lang="en-US" dirty="0" err="1"/>
              <a:t>PivotPoint</a:t>
            </a:r>
            <a:r>
              <a:rPr lang="en-US" dirty="0"/>
              <a:t>, Volume</a:t>
            </a:r>
            <a:r>
              <a:rPr lang="en-US" b="1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1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Build a Stock Database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4724400" y="1143000"/>
            <a:ext cx="2743200" cy="3505200"/>
            <a:chOff x="4724400" y="1143000"/>
            <a:chExt cx="2743200" cy="3505200"/>
          </a:xfrm>
        </p:grpSpPr>
        <p:sp>
          <p:nvSpPr>
            <p:cNvPr id="6" name="Rectangle 13"/>
            <p:cNvSpPr>
              <a:spLocks noChangeArrowheads="1"/>
            </p:cNvSpPr>
            <p:nvPr/>
          </p:nvSpPr>
          <p:spPr bwMode="auto">
            <a:xfrm>
              <a:off x="5334000" y="2667000"/>
              <a:ext cx="2133600" cy="1981200"/>
            </a:xfrm>
            <a:prstGeom prst="rect">
              <a:avLst/>
            </a:prstGeom>
            <a:solidFill>
              <a:srgbClr val="00B050">
                <a:alpha val="50000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" name="Text Box 14"/>
            <p:cNvSpPr txBox="1">
              <a:spLocks noChangeArrowheads="1"/>
            </p:cNvSpPr>
            <p:nvPr/>
          </p:nvSpPr>
          <p:spPr bwMode="auto">
            <a:xfrm>
              <a:off x="4724400" y="1143000"/>
              <a:ext cx="2590800" cy="3968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 dirty="0"/>
                <a:t>Attribute: Column</a:t>
              </a:r>
            </a:p>
          </p:txBody>
        </p:sp>
        <p:sp>
          <p:nvSpPr>
            <p:cNvPr id="8" name="AutoShape 15"/>
            <p:cNvSpPr>
              <a:spLocks noChangeArrowheads="1"/>
            </p:cNvSpPr>
            <p:nvPr/>
          </p:nvSpPr>
          <p:spPr bwMode="auto">
            <a:xfrm>
              <a:off x="5181600" y="1602478"/>
              <a:ext cx="304800" cy="479837"/>
            </a:xfrm>
            <a:prstGeom prst="downArrow">
              <a:avLst>
                <a:gd name="adj1" fmla="val 50000"/>
                <a:gd name="adj2" fmla="val 37500"/>
              </a:avLst>
            </a:prstGeom>
            <a:solidFill>
              <a:srgbClr val="00B050">
                <a:alpha val="50000"/>
              </a:srgbClr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1118084" y="5181599"/>
            <a:ext cx="15240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 err="1"/>
              <a:t>Tuple</a:t>
            </a:r>
            <a:r>
              <a:rPr lang="en-US" sz="2000" dirty="0"/>
              <a:t>: Row</a:t>
            </a:r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5181600" y="5486400"/>
            <a:ext cx="3810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/>
              <a:t>The Intersection between a column and a row is called a </a:t>
            </a:r>
            <a:r>
              <a:rPr lang="en-US" sz="1600" b="1" dirty="0"/>
              <a:t>cell 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68" y="2144918"/>
            <a:ext cx="6957663" cy="2568163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H="1" flipV="1">
            <a:off x="1752600" y="3581400"/>
            <a:ext cx="533400" cy="152400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5715000" y="3581400"/>
            <a:ext cx="1371600" cy="179863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Build a Stock Database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3400" y="14478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FF0000"/>
                </a:solidFill>
              </a:rPr>
              <a:t>ROWS:  each row in the table stores information about a unique object / entity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Also known as an “instance” of this entity type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Can two rows be </a:t>
            </a:r>
            <a:r>
              <a:rPr lang="en-US" sz="2400" dirty="0">
                <a:solidFill>
                  <a:srgbClr val="FF0000"/>
                </a:solidFill>
              </a:rPr>
              <a:t>redundant</a:t>
            </a:r>
            <a:r>
              <a:rPr lang="en-US" sz="2400" dirty="0"/>
              <a:t>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Can some values from some attributes be missing for a row?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b="1" dirty="0"/>
              <a:t>How can we uniquely identify a row in a table?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/>
          </a:p>
          <a:p>
            <a:pPr marL="342900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3581400" y="5486400"/>
            <a:ext cx="4755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Chao’s Note:  No two rows can be redundant, but some cells could </a:t>
            </a:r>
            <a:br>
              <a:rPr lang="en-US" sz="1200" dirty="0"/>
            </a:br>
            <a:r>
              <a:rPr lang="en-US" sz="1200" dirty="0"/>
              <a:t>have </a:t>
            </a:r>
            <a:r>
              <a:rPr lang="en-US" sz="1200" b="1" dirty="0"/>
              <a:t>null</a:t>
            </a:r>
            <a:r>
              <a:rPr lang="en-US" sz="1200" dirty="0"/>
              <a:t> value, i.e., no value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Let’s Build a Stock Database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3400" y="14478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800" dirty="0">
                <a:solidFill>
                  <a:srgbClr val="FF0000"/>
                </a:solidFill>
              </a:rPr>
              <a:t>Primary Key: </a:t>
            </a:r>
            <a:r>
              <a:rPr lang="en-US" sz="2800" dirty="0"/>
              <a:t>The “unique identifier” of a row in a database  </a:t>
            </a:r>
            <a:endParaRPr lang="en-US" sz="2800" dirty="0">
              <a:solidFill>
                <a:srgbClr val="FF0000"/>
              </a:solidFill>
            </a:endParaRP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It could be one attribute or multiple attributes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en-US" sz="2400" dirty="0"/>
              <a:t>What is the primary key of the table “stock”?</a:t>
            </a:r>
          </a:p>
          <a:p>
            <a:pPr marL="800100" lvl="1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33400" y="5048281"/>
            <a:ext cx="7379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800100" lvl="1" indent="-342900">
              <a:spcBef>
                <a:spcPct val="20000"/>
              </a:spcBef>
              <a:defRPr/>
            </a:pPr>
            <a:r>
              <a:rPr lang="en-US" dirty="0">
                <a:solidFill>
                  <a:srgbClr val="FF0000"/>
                </a:solidFill>
              </a:rPr>
              <a:t>Stock(Symbol, Date, Open, High, Low, Close, </a:t>
            </a:r>
            <a:r>
              <a:rPr lang="en-US" dirty="0" err="1">
                <a:solidFill>
                  <a:srgbClr val="FF0000"/>
                </a:solidFill>
              </a:rPr>
              <a:t>PivotPoint</a:t>
            </a:r>
            <a:r>
              <a:rPr lang="en-US" dirty="0">
                <a:solidFill>
                  <a:srgbClr val="FF0000"/>
                </a:solidFill>
              </a:rPr>
              <a:t>, Volume)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5181600" y="5562600"/>
            <a:ext cx="264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Note: The answer is</a:t>
            </a:r>
            <a:r>
              <a:rPr lang="en-US" sz="1200"/>
              <a:t>: Symbol </a:t>
            </a:r>
            <a:r>
              <a:rPr lang="en-US" sz="1200" dirty="0"/>
              <a:t>+ Date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 build="p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Looking Back…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3400" y="14478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We now know the typical data structure used to store data: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Table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Attribute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Row</a:t>
            </a: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Primary Key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dirty="0"/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However, we are still limited to ONE table and ONE file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dirty="0"/>
          </a:p>
          <a:p>
            <a:pPr marL="800100" lvl="1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Looking Forward…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3400" y="14478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In the next class, we will discuss the next stage of data management – </a:t>
            </a:r>
            <a:r>
              <a:rPr lang="en-US" sz="2400" u="sng" dirty="0"/>
              <a:t>the file processing systems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2400" dirty="0"/>
          </a:p>
          <a:p>
            <a:pPr marL="800100" lvl="1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533400" y="0"/>
            <a:ext cx="8229600" cy="9906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Assignment 2</a:t>
            </a:r>
            <a:endParaRPr lang="en-US" sz="360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381000" y="12954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533400" y="1447800"/>
            <a:ext cx="8229600" cy="441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28398" dir="1593903" algn="ctr" rotWithShape="0">
              <a:schemeClr val="bg2">
                <a:alpha val="50000"/>
              </a:schemeClr>
            </a:outerShdw>
          </a:effectLst>
        </p:spPr>
        <p:txBody>
          <a:bodyPr/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You will need to use Excel, to create </a:t>
            </a:r>
            <a:r>
              <a:rPr lang="en-US" sz="2400"/>
              <a:t>a flat file </a:t>
            </a:r>
            <a:r>
              <a:rPr lang="en-US" sz="2400" dirty="0"/>
              <a:t>database.</a:t>
            </a:r>
          </a:p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US" sz="2400" dirty="0"/>
              <a:t>Explanations of how to use this tool are posted in Canvas*</a:t>
            </a:r>
          </a:p>
          <a:p>
            <a:pPr marL="800100" lvl="1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spcBef>
                <a:spcPct val="20000"/>
              </a:spcBef>
              <a:defRPr/>
            </a:pP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0DA86C6-259A-43E0-A3DD-0DFA14BC01E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/>
      <p:bldP spid="5" grpId="0" build="p"/>
    </p:bldLst>
  </p:timing>
</p:sld>
</file>

<file path=ppt/theme/theme1.xml><?xml version="1.0" encoding="utf-8"?>
<a:theme xmlns:a="http://schemas.openxmlformats.org/drawingml/2006/main" name="TS10198302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DBFB53C9-35A9-467F-919A-22BB23375DA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TS101983022</Template>
  <TotalTime>3743</TotalTime>
  <Words>1685</Words>
  <Application>Microsoft Office PowerPoint</Application>
  <PresentationFormat>On-screen Show (4:3)</PresentationFormat>
  <Paragraphs>268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1" baseType="lpstr">
      <vt:lpstr>굴림</vt:lpstr>
      <vt:lpstr>宋体</vt:lpstr>
      <vt:lpstr>Arial</vt:lpstr>
      <vt:lpstr>Calibri</vt:lpstr>
      <vt:lpstr>Helvetica</vt:lpstr>
      <vt:lpstr>Monotype Sorts</vt:lpstr>
      <vt:lpstr>Tahoma</vt:lpstr>
      <vt:lpstr>Wingdings</vt:lpstr>
      <vt:lpstr>TS101983022</vt:lpstr>
      <vt:lpstr>IS 331  Database Design, Management and Applications</vt:lpstr>
      <vt:lpstr>A SNEAK PREVIEW  (a.k.a. “Learning Objectives”)</vt:lpstr>
      <vt:lpstr>Let’s get to know each other</vt:lpstr>
      <vt:lpstr>Your Turn</vt:lpstr>
      <vt:lpstr>MY STYLE</vt:lpstr>
      <vt:lpstr>YOUR JOB</vt:lpstr>
      <vt:lpstr>HOW TO GET THE MOST OUT OF THIS COURSE? (or: How do I get an “A” / “B” / pass, etc…)</vt:lpstr>
      <vt:lpstr>WHAT ARE THE TEXTBOOKS FOR THIS COURSE?</vt:lpstr>
      <vt:lpstr>HOW WILL THE COURSE GRADE BE DETERMINED?</vt:lpstr>
      <vt:lpstr>WHAT KIND OF PROGRAMMING / HANDS-ON ACTIVITIES WILL WE HAVE ?</vt:lpstr>
      <vt:lpstr>HOWEVER…</vt:lpstr>
      <vt:lpstr>WHY ARE WE HERE?</vt:lpstr>
      <vt:lpstr>Some Career Options This Course Opens For You</vt:lpstr>
      <vt:lpstr>Some Career Options This Course Opens For You</vt:lpstr>
      <vt:lpstr>A SNEAK PREVIEW</vt:lpstr>
      <vt:lpstr>Let us begin with…</vt:lpstr>
      <vt:lpstr>Information</vt:lpstr>
      <vt:lpstr>Knowledge</vt:lpstr>
      <vt:lpstr>Put them altogether…</vt:lpstr>
      <vt:lpstr>Put them altogether…</vt:lpstr>
      <vt:lpstr>A Brief History of Data</vt:lpstr>
      <vt:lpstr>A Brief History of Data</vt:lpstr>
      <vt:lpstr>Flat File Database</vt:lpstr>
      <vt:lpstr>Let’s Build a Stock Database</vt:lpstr>
      <vt:lpstr>Let’s Build a Stock Database</vt:lpstr>
      <vt:lpstr>Let’s Build a Stock Database</vt:lpstr>
      <vt:lpstr>Let’s Build a Stock Database</vt:lpstr>
      <vt:lpstr>Let’s Build a Stock Database</vt:lpstr>
      <vt:lpstr>Let’s Build a Stock Database</vt:lpstr>
      <vt:lpstr>Looking Back…</vt:lpstr>
      <vt:lpstr>Looking Forward…</vt:lpstr>
      <vt:lpstr>Assignment 2</vt:lpstr>
    </vt:vector>
  </TitlesOfParts>
  <Company>Lehigh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Lin Lin</dc:creator>
  <cp:lastModifiedBy>Chiusano, Mark S</cp:lastModifiedBy>
  <cp:revision>190</cp:revision>
  <cp:lastPrinted>2018-09-02T00:01:28Z</cp:lastPrinted>
  <dcterms:created xsi:type="dcterms:W3CDTF">2012-09-02T01:42:14Z</dcterms:created>
  <dcterms:modified xsi:type="dcterms:W3CDTF">2026-01-12T19:59:58Z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TC019830229991</vt:lpwstr>
  </property>
</Properties>
</file>