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50"/>
  </p:notesMasterIdLst>
  <p:handoutMasterIdLst>
    <p:handoutMasterId r:id="rId51"/>
  </p:handout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301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5" r:id="rId47"/>
    <p:sldId id="306" r:id="rId48"/>
    <p:sldId id="307" r:id="rId49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97" autoAdjust="0"/>
    <p:restoredTop sz="94676" autoAdjust="0"/>
  </p:normalViewPr>
  <p:slideViewPr>
    <p:cSldViewPr>
      <p:cViewPr varScale="1">
        <p:scale>
          <a:sx n="110" d="100"/>
          <a:sy n="110" d="100"/>
        </p:scale>
        <p:origin x="164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93D97EA9-F9D0-46E8-AF4C-1C75C7865FAB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611CB883-813E-4604-AD1D-9D5AE71EC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08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9034493C-0454-4866-BCBA-B08E80B79975}" type="datetimeFigureOut">
              <a:rPr lang="en-US" smtClean="0"/>
              <a:pPr/>
              <a:t>9/30/2024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9788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0"/>
            <a:ext cx="5608320" cy="4183380"/>
          </a:xfrm>
          <a:prstGeom prst="rect">
            <a:avLst/>
          </a:prstGeom>
        </p:spPr>
        <p:txBody>
          <a:bodyPr vert="horz" lIns="92446" tIns="46223" rIns="92446" bIns="4622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47B6BB5A-CE4E-4664-B71A-76645C9280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6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68580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09800"/>
            <a:ext cx="6400800" cy="1143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F9888-3879-4F22-AF80-4177AA4AC351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2E01B-07BF-4B7E-88E3-0FA8BF19F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3E6D5-0B56-4E95-B722-0CB6C0A3DFB2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A86C6-259A-43E0-A3DD-0DFA14BC01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6FFF54-01E0-4551-9739-57A7061C7C08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E8DC3-00CB-499E-BCBF-41EFC7DC6A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AD2CFF-A0B0-4311-A3BC-DA4ED30FECE4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DC61A-4458-4BE4-A110-01546114C4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968AA-672A-4F83-8CBC-80A82B39BD57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4CBE0-2B4C-4AC7-8AB2-4E56AB82E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DC351-E228-4CFD-9822-9AA74CDFB27E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50111-24E0-487D-A93D-2ADA9C1B1F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B6B7A-DD0C-47D2-AB40-2FCF80BF4872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9E701-1039-4E30-A4DD-EC6D092F20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A7482-F815-4503-A2A0-9B4E6F587FB9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D85B6-AB61-42AA-AA9B-6499F108AB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DC3AE-F697-4CAB-BB32-676A80268F9B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E4D34-0B1F-4B9D-BA42-7F457ADCEC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5FAD3-E4D3-41AF-A684-34713DD70029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03B4-DDAB-4006-AAC3-F33B0E420C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88E4D-B080-487F-B7C6-C1728A511627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EB4DCF-00E7-4B5E-9DDA-00BC269363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858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28800"/>
            <a:ext cx="8229600" cy="429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2411DB9-75D0-41F5-ABD3-D260E26E5BCC}" type="datetime1">
              <a:rPr lang="en-US" smtClean="0"/>
              <a:pPr>
                <a:defRPr/>
              </a:pPr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A87BF71-DEC3-4FE4-8E61-8936FC1DF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09600" y="152400"/>
            <a:ext cx="7772400" cy="1470025"/>
          </a:xfrm>
        </p:spPr>
        <p:txBody>
          <a:bodyPr/>
          <a:lstStyle/>
          <a:p>
            <a:pPr defTabSz="474663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IS 331 </a:t>
            </a:r>
            <a:b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Database Design, Management and Applications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371600" y="1981200"/>
            <a:ext cx="6400800" cy="5334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Arial" charset="0"/>
                <a:cs typeface="Arial" charset="0"/>
              </a:rPr>
              <a:t>Dr. Art Hendela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762000" y="2667000"/>
            <a:ext cx="7467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DAY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9:  Logical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Design (III)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42E01B-07BF-4B7E-88E3-0FA8BF19FC4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533400" y="3433762"/>
            <a:ext cx="2743200" cy="406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Requirement Analysis</a:t>
            </a: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1828800" y="4043362"/>
            <a:ext cx="2590800" cy="406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Conceptual Design</a:t>
            </a:r>
            <a:r>
              <a:rPr 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3048000" y="4576762"/>
            <a:ext cx="2514600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Logical Design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4267200" y="5186362"/>
            <a:ext cx="24384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Physical Design </a:t>
            </a: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5334000" y="5719762"/>
            <a:ext cx="22860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Implementation </a:t>
            </a: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6477000" y="6253162"/>
            <a:ext cx="19812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</a:rPr>
              <a:t>Maintenance </a:t>
            </a:r>
          </a:p>
        </p:txBody>
      </p:sp>
      <p:sp>
        <p:nvSpPr>
          <p:cNvPr id="23" name="Line 13"/>
          <p:cNvSpPr>
            <a:spLocks noChangeShapeType="1"/>
          </p:cNvSpPr>
          <p:nvPr/>
        </p:nvSpPr>
        <p:spPr bwMode="auto">
          <a:xfrm>
            <a:off x="3276600" y="4424362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" name="Line 15"/>
          <p:cNvSpPr>
            <a:spLocks noChangeShapeType="1"/>
          </p:cNvSpPr>
          <p:nvPr/>
        </p:nvSpPr>
        <p:spPr bwMode="auto">
          <a:xfrm>
            <a:off x="4572000" y="5033962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" name="Line 16"/>
          <p:cNvSpPr>
            <a:spLocks noChangeShapeType="1"/>
          </p:cNvSpPr>
          <p:nvPr/>
        </p:nvSpPr>
        <p:spPr bwMode="auto">
          <a:xfrm>
            <a:off x="5562600" y="5567362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" name="Line 17"/>
          <p:cNvSpPr>
            <a:spLocks noChangeShapeType="1"/>
          </p:cNvSpPr>
          <p:nvPr/>
        </p:nvSpPr>
        <p:spPr bwMode="auto">
          <a:xfrm>
            <a:off x="6705600" y="6100762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" name="Line 18"/>
          <p:cNvSpPr>
            <a:spLocks noChangeShapeType="1"/>
          </p:cNvSpPr>
          <p:nvPr/>
        </p:nvSpPr>
        <p:spPr bwMode="auto">
          <a:xfrm>
            <a:off x="2590800" y="3890962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34636"/>
            <a:ext cx="73152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Objectives </a:t>
            </a: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</p:txBody>
      </p:sp>
      <p:sp>
        <p:nvSpPr>
          <p:cNvPr id="34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42900" y="1265237"/>
            <a:ext cx="8229600" cy="4297363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80808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Know the three “sins” of database design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Understand the following terms: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Anomaly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types of anomalies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dependency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closure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Identify 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insertion, deletion, and modification anomalies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given a bad relational design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Know and understand </a:t>
            </a:r>
            <a:r>
              <a:rPr lang="en-US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Armstrong’s Axioms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Derive a closure of a given set of FDs and attributes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Find a relation’s candidate keys using closure  </a:t>
            </a:r>
          </a:p>
          <a:p>
            <a:pPr>
              <a:buFont typeface="Wingdings" pitchFamily="2" charset="2"/>
              <a:buNone/>
            </a:pPr>
            <a:endParaRPr lang="en-US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2590800" y="6019800"/>
            <a:ext cx="3886200" cy="40011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WARNING: TOUGH TOPIC</a:t>
            </a:r>
          </a:p>
        </p:txBody>
      </p:sp>
    </p:spTree>
    <p:extLst>
      <p:ext uri="{BB962C8B-B14F-4D97-AF65-F5344CB8AC3E}">
        <p14:creationId xmlns:p14="http://schemas.microsoft.com/office/powerpoint/2010/main" val="2486982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63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114800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Bad design vs. Good design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Redundancy vs minimum redundancy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Anomalies vs no anomalies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Insertion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Deletion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Modification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Nulls where not useful vs good use of Nulls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Functional Dependency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More Example 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5111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Overview, Cont.</a:t>
            </a:r>
          </a:p>
        </p:txBody>
      </p:sp>
      <p:sp>
        <p:nvSpPr>
          <p:cNvPr id="2088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7772400" cy="4114800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Closure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find a closure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Keys: Revisited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find a key using closure property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95415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13855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are we?</a:t>
            </a:r>
          </a:p>
        </p:txBody>
      </p:sp>
      <p:sp>
        <p:nvSpPr>
          <p:cNvPr id="25" name="Text Box 54"/>
          <p:cNvSpPr txBox="1">
            <a:spLocks noChangeArrowheads="1"/>
          </p:cNvSpPr>
          <p:nvPr/>
        </p:nvSpPr>
        <p:spPr bwMode="auto">
          <a:xfrm>
            <a:off x="304800" y="4191000"/>
            <a:ext cx="1905000" cy="9556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Logical Design </a:t>
            </a:r>
          </a:p>
        </p:txBody>
      </p:sp>
      <p:sp>
        <p:nvSpPr>
          <p:cNvPr id="26" name="Line 55"/>
          <p:cNvSpPr>
            <a:spLocks noChangeShapeType="1"/>
          </p:cNvSpPr>
          <p:nvPr/>
        </p:nvSpPr>
        <p:spPr bwMode="auto">
          <a:xfrm>
            <a:off x="6705600" y="1752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" name="Text Box 56"/>
          <p:cNvSpPr txBox="1">
            <a:spLocks noChangeArrowheads="1"/>
          </p:cNvSpPr>
          <p:nvPr/>
        </p:nvSpPr>
        <p:spPr bwMode="auto">
          <a:xfrm>
            <a:off x="7086600" y="16002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</a:t>
            </a:r>
          </a:p>
        </p:txBody>
      </p:sp>
      <p:sp>
        <p:nvSpPr>
          <p:cNvPr id="28" name="Text Box 57"/>
          <p:cNvSpPr txBox="1">
            <a:spLocks noChangeArrowheads="1"/>
          </p:cNvSpPr>
          <p:nvPr/>
        </p:nvSpPr>
        <p:spPr bwMode="auto">
          <a:xfrm>
            <a:off x="7010400" y="2438400"/>
            <a:ext cx="1828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 Integrity</a:t>
            </a:r>
          </a:p>
        </p:txBody>
      </p:sp>
      <p:sp>
        <p:nvSpPr>
          <p:cNvPr id="29" name="Text Box 58"/>
          <p:cNvSpPr txBox="1">
            <a:spLocks noChangeArrowheads="1"/>
          </p:cNvSpPr>
          <p:nvPr/>
        </p:nvSpPr>
        <p:spPr bwMode="auto">
          <a:xfrm>
            <a:off x="6934200" y="3352800"/>
            <a:ext cx="2362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 Manipulation</a:t>
            </a:r>
          </a:p>
        </p:txBody>
      </p:sp>
      <p:sp>
        <p:nvSpPr>
          <p:cNvPr id="30" name="Line 59"/>
          <p:cNvSpPr>
            <a:spLocks noChangeShapeType="1"/>
          </p:cNvSpPr>
          <p:nvPr/>
        </p:nvSpPr>
        <p:spPr bwMode="auto">
          <a:xfrm>
            <a:off x="6553200" y="2667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" name="Line 60"/>
          <p:cNvSpPr>
            <a:spLocks noChangeShapeType="1"/>
          </p:cNvSpPr>
          <p:nvPr/>
        </p:nvSpPr>
        <p:spPr bwMode="auto">
          <a:xfrm>
            <a:off x="6705600" y="3581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2" name="Line 61"/>
          <p:cNvSpPr>
            <a:spLocks noChangeShapeType="1"/>
          </p:cNvSpPr>
          <p:nvPr/>
        </p:nvSpPr>
        <p:spPr bwMode="auto">
          <a:xfrm>
            <a:off x="6705600" y="17526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3" name="Line 62"/>
          <p:cNvSpPr>
            <a:spLocks noChangeShapeType="1"/>
          </p:cNvSpPr>
          <p:nvPr/>
        </p:nvSpPr>
        <p:spPr bwMode="auto">
          <a:xfrm>
            <a:off x="2438400" y="3733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4" name="Line 63"/>
          <p:cNvSpPr>
            <a:spLocks noChangeShapeType="1"/>
          </p:cNvSpPr>
          <p:nvPr/>
        </p:nvSpPr>
        <p:spPr bwMode="auto">
          <a:xfrm>
            <a:off x="2209800" y="4648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" name="Line 64"/>
          <p:cNvSpPr>
            <a:spLocks noChangeShapeType="1"/>
          </p:cNvSpPr>
          <p:nvPr/>
        </p:nvSpPr>
        <p:spPr bwMode="auto">
          <a:xfrm>
            <a:off x="2438400" y="5562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6" name="Line 65"/>
          <p:cNvSpPr>
            <a:spLocks noChangeShapeType="1"/>
          </p:cNvSpPr>
          <p:nvPr/>
        </p:nvSpPr>
        <p:spPr bwMode="auto">
          <a:xfrm>
            <a:off x="2438400" y="37338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7" name="Text Box 66"/>
          <p:cNvSpPr txBox="1">
            <a:spLocks noChangeArrowheads="1"/>
          </p:cNvSpPr>
          <p:nvPr/>
        </p:nvSpPr>
        <p:spPr bwMode="auto">
          <a:xfrm>
            <a:off x="2590800" y="3267670"/>
            <a:ext cx="1752600" cy="9233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Translate ER Into Relational Model</a:t>
            </a:r>
          </a:p>
        </p:txBody>
      </p:sp>
      <p:sp>
        <p:nvSpPr>
          <p:cNvPr id="38" name="Text Box 67"/>
          <p:cNvSpPr txBox="1">
            <a:spLocks noChangeArrowheads="1"/>
          </p:cNvSpPr>
          <p:nvPr/>
        </p:nvSpPr>
        <p:spPr bwMode="auto">
          <a:xfrm>
            <a:off x="2590800" y="5410200"/>
            <a:ext cx="1905000" cy="369332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Normalization</a:t>
            </a:r>
          </a:p>
        </p:txBody>
      </p:sp>
      <p:sp>
        <p:nvSpPr>
          <p:cNvPr id="39" name="Line 68"/>
          <p:cNvSpPr>
            <a:spLocks noChangeShapeType="1"/>
          </p:cNvSpPr>
          <p:nvPr/>
        </p:nvSpPr>
        <p:spPr bwMode="auto">
          <a:xfrm>
            <a:off x="4668982" y="2829791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0" name="Line 69"/>
          <p:cNvSpPr>
            <a:spLocks noChangeShapeType="1"/>
          </p:cNvSpPr>
          <p:nvPr/>
        </p:nvSpPr>
        <p:spPr bwMode="auto">
          <a:xfrm>
            <a:off x="4343400" y="3733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" name="Line 70"/>
          <p:cNvSpPr>
            <a:spLocks noChangeShapeType="1"/>
          </p:cNvSpPr>
          <p:nvPr/>
        </p:nvSpPr>
        <p:spPr bwMode="auto">
          <a:xfrm>
            <a:off x="4672445" y="4668982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" name="Line 71"/>
          <p:cNvSpPr>
            <a:spLocks noChangeShapeType="1"/>
          </p:cNvSpPr>
          <p:nvPr/>
        </p:nvSpPr>
        <p:spPr bwMode="auto">
          <a:xfrm>
            <a:off x="4665518" y="2840037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" name="Text Box 72"/>
          <p:cNvSpPr txBox="1">
            <a:spLocks noChangeArrowheads="1"/>
          </p:cNvSpPr>
          <p:nvPr/>
        </p:nvSpPr>
        <p:spPr bwMode="auto">
          <a:xfrm>
            <a:off x="4800600" y="2209800"/>
            <a:ext cx="1752600" cy="92333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Understand Relational Model</a:t>
            </a:r>
          </a:p>
        </p:txBody>
      </p:sp>
      <p:sp>
        <p:nvSpPr>
          <p:cNvPr id="44" name="Text Box 73"/>
          <p:cNvSpPr txBox="1">
            <a:spLocks noChangeArrowheads="1"/>
          </p:cNvSpPr>
          <p:nvPr/>
        </p:nvSpPr>
        <p:spPr bwMode="auto">
          <a:xfrm>
            <a:off x="4838699" y="4454236"/>
            <a:ext cx="2019301" cy="3693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Translate?</a:t>
            </a:r>
          </a:p>
        </p:txBody>
      </p:sp>
      <p:sp>
        <p:nvSpPr>
          <p:cNvPr id="45" name="Rectangle 75"/>
          <p:cNvSpPr>
            <a:spLocks noChangeArrowheads="1"/>
          </p:cNvSpPr>
          <p:nvPr/>
        </p:nvSpPr>
        <p:spPr bwMode="auto">
          <a:xfrm>
            <a:off x="2514600" y="5334000"/>
            <a:ext cx="2126673" cy="533400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3812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What is Good Design?</a:t>
            </a:r>
          </a:p>
        </p:txBody>
      </p:sp>
      <p:sp>
        <p:nvSpPr>
          <p:cNvPr id="1996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229600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we have done so far does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guarantee a good database design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Good design should avoid the following properties whenever possible</a:t>
            </a:r>
          </a:p>
          <a:p>
            <a:pPr lvl="1"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Redundancy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Anomaly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 values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Later we will also discuss what a good design is in  formal terminology, such as 3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Normal Form, etc.</a:t>
            </a:r>
          </a:p>
          <a:p>
            <a:pPr>
              <a:lnSpc>
                <a:spcPct val="90000"/>
              </a:lnSpc>
            </a:pPr>
            <a:endParaRPr lang="en-US" sz="2400" b="1" dirty="0">
              <a:solidFill>
                <a:schemeClr val="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32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 Design SIN #1: Redundancy</a:t>
            </a:r>
          </a:p>
        </p:txBody>
      </p:sp>
      <p:sp>
        <p:nvSpPr>
          <p:cNvPr id="2017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229600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student has his SID, SNAME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class has its course number, title,  and number of credits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assume that each student may take more than one class</a:t>
            </a:r>
          </a:p>
          <a:p>
            <a:pPr lvl="1">
              <a:lnSpc>
                <a:spcPct val="9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90000"/>
              </a:lnSpc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90000"/>
              </a:lnSpc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90000"/>
              </a:lnSpc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Consider these two designs:</a:t>
            </a:r>
          </a:p>
          <a:p>
            <a:pPr>
              <a:lnSpc>
                <a:spcPct val="90000"/>
              </a:lnSpc>
            </a:pPr>
            <a:endParaRPr lang="en-US" sz="1600" b="1" dirty="0">
              <a:solidFill>
                <a:schemeClr val="hlin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1740" name="Text Box 12"/>
          <p:cNvSpPr txBox="1">
            <a:spLocks noChangeArrowheads="1"/>
          </p:cNvSpPr>
          <p:nvPr/>
        </p:nvSpPr>
        <p:spPr bwMode="auto">
          <a:xfrm>
            <a:off x="1371600" y="3810000"/>
            <a:ext cx="12192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Student</a:t>
            </a:r>
          </a:p>
        </p:txBody>
      </p:sp>
      <p:sp>
        <p:nvSpPr>
          <p:cNvPr id="201741" name="Text Box 13"/>
          <p:cNvSpPr txBox="1">
            <a:spLocks noChangeArrowheads="1"/>
          </p:cNvSpPr>
          <p:nvPr/>
        </p:nvSpPr>
        <p:spPr bwMode="auto">
          <a:xfrm>
            <a:off x="5867400" y="3810000"/>
            <a:ext cx="12192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Class</a:t>
            </a:r>
          </a:p>
        </p:txBody>
      </p:sp>
      <p:sp>
        <p:nvSpPr>
          <p:cNvPr id="201742" name="AutoShape 14"/>
          <p:cNvSpPr>
            <a:spLocks noChangeArrowheads="1"/>
          </p:cNvSpPr>
          <p:nvPr/>
        </p:nvSpPr>
        <p:spPr bwMode="auto">
          <a:xfrm>
            <a:off x="3276600" y="3733800"/>
            <a:ext cx="1752600" cy="533400"/>
          </a:xfrm>
          <a:prstGeom prst="diamond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1743" name="Text Box 15"/>
          <p:cNvSpPr txBox="1">
            <a:spLocks noChangeArrowheads="1"/>
          </p:cNvSpPr>
          <p:nvPr/>
        </p:nvSpPr>
        <p:spPr bwMode="auto">
          <a:xfrm>
            <a:off x="3505200" y="38100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dirty="0"/>
              <a:t>Takes</a:t>
            </a:r>
          </a:p>
        </p:txBody>
      </p:sp>
      <p:sp>
        <p:nvSpPr>
          <p:cNvPr id="201744" name="Line 16"/>
          <p:cNvSpPr>
            <a:spLocks noChangeShapeType="1"/>
          </p:cNvSpPr>
          <p:nvPr/>
        </p:nvSpPr>
        <p:spPr bwMode="auto">
          <a:xfrm>
            <a:off x="2559627" y="3989892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1746" name="Line 18"/>
          <p:cNvSpPr>
            <a:spLocks noChangeShapeType="1"/>
          </p:cNvSpPr>
          <p:nvPr/>
        </p:nvSpPr>
        <p:spPr bwMode="auto">
          <a:xfrm>
            <a:off x="5029200" y="3989892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1747" name="Text Box 19"/>
          <p:cNvSpPr txBox="1">
            <a:spLocks noChangeArrowheads="1"/>
          </p:cNvSpPr>
          <p:nvPr/>
        </p:nvSpPr>
        <p:spPr bwMode="auto">
          <a:xfrm>
            <a:off x="2743200" y="3581400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m</a:t>
            </a:r>
          </a:p>
        </p:txBody>
      </p:sp>
      <p:sp>
        <p:nvSpPr>
          <p:cNvPr id="201748" name="Text Box 20"/>
          <p:cNvSpPr txBox="1">
            <a:spLocks noChangeArrowheads="1"/>
          </p:cNvSpPr>
          <p:nvPr/>
        </p:nvSpPr>
        <p:spPr bwMode="auto">
          <a:xfrm>
            <a:off x="5486400" y="35814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m</a:t>
            </a:r>
          </a:p>
        </p:txBody>
      </p:sp>
      <p:sp>
        <p:nvSpPr>
          <p:cNvPr id="201750" name="Oval 22"/>
          <p:cNvSpPr>
            <a:spLocks noChangeArrowheads="1"/>
          </p:cNvSpPr>
          <p:nvPr/>
        </p:nvSpPr>
        <p:spPr bwMode="auto">
          <a:xfrm>
            <a:off x="3581400" y="4419600"/>
            <a:ext cx="12192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1800">
                <a:latin typeface="Times New Roman" pitchFamily="18" charset="0"/>
              </a:rPr>
              <a:t>Semester</a:t>
            </a:r>
          </a:p>
        </p:txBody>
      </p:sp>
      <p:sp>
        <p:nvSpPr>
          <p:cNvPr id="201751" name="Line 23"/>
          <p:cNvSpPr>
            <a:spLocks noChangeShapeType="1"/>
          </p:cNvSpPr>
          <p:nvPr/>
        </p:nvSpPr>
        <p:spPr bwMode="auto">
          <a:xfrm>
            <a:off x="4191000" y="4267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505200" y="5867400"/>
            <a:ext cx="5410200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S(SID, SNAME, C#, TITLE, CREDITS, SEMESTER)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" y="5731592"/>
            <a:ext cx="3245427" cy="6740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>
              <a:lnSpc>
                <a:spcPct val="9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S(</a:t>
            </a: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SID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SNAME)</a:t>
            </a:r>
          </a:p>
          <a:p>
            <a:pPr lvl="1">
              <a:lnSpc>
                <a:spcPct val="9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C(C</a:t>
            </a: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TITLE, CREDITS)</a:t>
            </a:r>
          </a:p>
          <a:p>
            <a:pPr lvl="1">
              <a:lnSpc>
                <a:spcPct val="9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SC(</a:t>
            </a:r>
            <a:r>
              <a:rPr lang="en-US" sz="1400" u="sng" dirty="0">
                <a:latin typeface="Arial" panose="020B0604020202020204" pitchFamily="34" charset="0"/>
                <a:cs typeface="Arial" panose="020B0604020202020204" pitchFamily="34" charset="0"/>
              </a:rPr>
              <a:t>SID, CNAME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SEMESTER)</a:t>
            </a:r>
          </a:p>
        </p:txBody>
      </p:sp>
    </p:spTree>
    <p:extLst>
      <p:ext uri="{BB962C8B-B14F-4D97-AF65-F5344CB8AC3E}">
        <p14:creationId xmlns:p14="http://schemas.microsoft.com/office/powerpoint/2010/main" val="2173541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Redundancy</a:t>
            </a:r>
          </a:p>
        </p:txBody>
      </p:sp>
      <p:sp>
        <p:nvSpPr>
          <p:cNvPr id="2027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Example: 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sz="1600" b="1" dirty="0">
              <a:solidFill>
                <a:schemeClr val="hlink"/>
              </a:solidFill>
            </a:endParaRPr>
          </a:p>
        </p:txBody>
      </p:sp>
      <p:graphicFrame>
        <p:nvGraphicFramePr>
          <p:cNvPr id="202874" name="Group 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558800"/>
              </p:ext>
            </p:extLst>
          </p:nvPr>
        </p:nvGraphicFramePr>
        <p:xfrm>
          <a:off x="1066800" y="2286000"/>
          <a:ext cx="7086600" cy="1386840"/>
        </p:xfrm>
        <a:graphic>
          <a:graphicData uri="http://schemas.openxmlformats.org/drawingml/2006/table">
            <a:tbl>
              <a:tblPr/>
              <a:tblGrid>
                <a:gridCol w="1198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2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9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SID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CREDITS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SEMESTER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John White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Database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Ann Beech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Database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Dave Ford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Database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Spring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2879" name="Group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149088"/>
              </p:ext>
            </p:extLst>
          </p:nvPr>
        </p:nvGraphicFramePr>
        <p:xfrm>
          <a:off x="457200" y="4114800"/>
          <a:ext cx="2286000" cy="138684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SID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John White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Ann Beech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Dave Ford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2865" name="Group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907242"/>
              </p:ext>
            </p:extLst>
          </p:nvPr>
        </p:nvGraphicFramePr>
        <p:xfrm>
          <a:off x="457200" y="5638800"/>
          <a:ext cx="5562601" cy="716280"/>
        </p:xfrm>
        <a:graphic>
          <a:graphicData uri="http://schemas.openxmlformats.org/drawingml/2006/table">
            <a:tbl>
              <a:tblPr/>
              <a:tblGrid>
                <a:gridCol w="1200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1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C#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CREDITS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Database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2919" name="Group 1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524738"/>
              </p:ext>
            </p:extLst>
          </p:nvPr>
        </p:nvGraphicFramePr>
        <p:xfrm>
          <a:off x="2895600" y="4114800"/>
          <a:ext cx="3124200" cy="138684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SEMESTER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Spring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6372215" y="4639270"/>
            <a:ext cx="261938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Not that different? Imagine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class of 35 students…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3962400"/>
            <a:ext cx="5791200" cy="2590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9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Redundanc</a:t>
            </a:r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</a:p>
        </p:txBody>
      </p:sp>
      <p:sp>
        <p:nvSpPr>
          <p:cNvPr id="2027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“Big table design” generates a lot more redundancies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is seen in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giga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-row tables that are split over several physical tables and then rejoined as necessary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causes inefficiency in storage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However, that is not the main concern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main concern is …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endParaRPr lang="en-US" sz="18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456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 Design SIN #2: Anomalies</a:t>
            </a:r>
          </a:p>
        </p:txBody>
      </p:sp>
      <p:sp>
        <p:nvSpPr>
          <p:cNvPr id="2037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6868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Anomaly is and error or inconsistency that may occur when a user tries to update a table with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redundant data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anomaly occurs when a user tries to modify a table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Also known under the name “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modification anomaly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” as used in the textbook.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Three types of anomalies:</a:t>
            </a:r>
          </a:p>
          <a:p>
            <a:pPr lvl="2"/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Insertion Anomaly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Inconsistency when </a:t>
            </a:r>
            <a:r>
              <a:rPr lang="en-US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  <a:p>
            <a:pPr lvl="2"/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Deletion Anomaly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Inconsistency when </a:t>
            </a:r>
            <a:r>
              <a:rPr lang="en-US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</a:t>
            </a:r>
          </a:p>
          <a:p>
            <a:pPr lvl="2"/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Update Anomaly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Inconsistency when modifying existing data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16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772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Insertion Anomaly</a:t>
            </a:r>
          </a:p>
        </p:txBody>
      </p:sp>
      <p:sp>
        <p:nvSpPr>
          <p:cNvPr id="2048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229600" cy="4419600"/>
          </a:xfrm>
          <a:noFill/>
          <a:ln/>
        </p:spPr>
        <p:txBody>
          <a:bodyPr/>
          <a:lstStyle/>
          <a:p>
            <a:r>
              <a:rPr lang="en-US" sz="2400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if a new student joins NJIT?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the student has not taken any classes yet, they cannot be in this table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see why, think about what the primary key of this table. It is SID (Student Id)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Does this make sense?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No. Students join NJIT and then choose their courses </a:t>
            </a:r>
          </a:p>
          <a:p>
            <a:pPr marL="457200" lvl="1" indent="0">
              <a:buNone/>
            </a:pPr>
            <a:endParaRPr lang="en-US" sz="1400" b="1" dirty="0">
              <a:solidFill>
                <a:schemeClr val="hlink"/>
              </a:solidFill>
            </a:endParaRPr>
          </a:p>
        </p:txBody>
      </p:sp>
      <p:graphicFrame>
        <p:nvGraphicFramePr>
          <p:cNvPr id="204836" name="Group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549935"/>
              </p:ext>
            </p:extLst>
          </p:nvPr>
        </p:nvGraphicFramePr>
        <p:xfrm>
          <a:off x="990600" y="2118360"/>
          <a:ext cx="7086600" cy="1386840"/>
        </p:xfrm>
        <a:graphic>
          <a:graphicData uri="http://schemas.openxmlformats.org/drawingml/2006/table">
            <a:tbl>
              <a:tblPr/>
              <a:tblGrid>
                <a:gridCol w="1417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SID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CREDITS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SEMESTER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John White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Ann Beech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Dave Ford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Spring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67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Deletion Anomaly</a:t>
            </a:r>
          </a:p>
        </p:txBody>
      </p:sp>
      <p:sp>
        <p:nvSpPr>
          <p:cNvPr id="2058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if Dave Ford graduates?</a:t>
            </a:r>
          </a:p>
          <a:p>
            <a:pPr marL="457200" lvl="1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390 will no longer exist in the database!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Does this make sense?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No. We have to eliminate a course offering if the student graduates</a:t>
            </a:r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1400" b="1" dirty="0">
              <a:solidFill>
                <a:schemeClr val="hlink"/>
              </a:solidFill>
            </a:endParaRPr>
          </a:p>
        </p:txBody>
      </p:sp>
      <p:graphicFrame>
        <p:nvGraphicFramePr>
          <p:cNvPr id="20582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232431"/>
              </p:ext>
            </p:extLst>
          </p:nvPr>
        </p:nvGraphicFramePr>
        <p:xfrm>
          <a:off x="990600" y="2362200"/>
          <a:ext cx="7086600" cy="1386840"/>
        </p:xfrm>
        <a:graphic>
          <a:graphicData uri="http://schemas.openxmlformats.org/drawingml/2006/table">
            <a:tbl>
              <a:tblPr/>
              <a:tblGrid>
                <a:gridCol w="1417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SID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CREDITS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SEMESTER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John White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Ann Beech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Dave Ford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IS390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Spring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1313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Modification/Update Anomaly</a:t>
            </a:r>
          </a:p>
        </p:txBody>
      </p:sp>
      <p:sp>
        <p:nvSpPr>
          <p:cNvPr id="2068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229600" cy="45720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>
              <a:lnSpc>
                <a:spcPct val="9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if IS331 becomes a 4 credit class?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many rows do we need to update? (Ans. 3)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Does this make sense? 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NO. We want to minimize the number of rows we update</a:t>
            </a:r>
            <a:endParaRPr lang="en-US" sz="2000" dirty="0"/>
          </a:p>
          <a:p>
            <a:pPr lvl="1">
              <a:lnSpc>
                <a:spcPct val="90000"/>
              </a:lnSpc>
            </a:pPr>
            <a:endParaRPr lang="en-US" sz="1400" b="1" dirty="0">
              <a:solidFill>
                <a:schemeClr val="hlink"/>
              </a:solidFill>
            </a:endParaRPr>
          </a:p>
        </p:txBody>
      </p:sp>
      <p:graphicFrame>
        <p:nvGraphicFramePr>
          <p:cNvPr id="20685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238107"/>
              </p:ext>
            </p:extLst>
          </p:nvPr>
        </p:nvGraphicFramePr>
        <p:xfrm>
          <a:off x="1066800" y="1973580"/>
          <a:ext cx="7086600" cy="1386840"/>
        </p:xfrm>
        <a:graphic>
          <a:graphicData uri="http://schemas.openxmlformats.org/drawingml/2006/table">
            <a:tbl>
              <a:tblPr/>
              <a:tblGrid>
                <a:gridCol w="1417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SID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CREDITS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SEMESTER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John White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Ann Beech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Dave Ford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Spring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175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Avoid Anomalies?</a:t>
            </a:r>
          </a:p>
        </p:txBody>
      </p:sp>
      <p:sp>
        <p:nvSpPr>
          <p:cNvPr id="2150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Split this big table into smaller tables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about into three tables?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1400" b="1" dirty="0">
              <a:solidFill>
                <a:schemeClr val="hlink"/>
              </a:solidFill>
            </a:endParaRPr>
          </a:p>
        </p:txBody>
      </p:sp>
      <p:graphicFrame>
        <p:nvGraphicFramePr>
          <p:cNvPr id="9" name="Group 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511215"/>
              </p:ext>
            </p:extLst>
          </p:nvPr>
        </p:nvGraphicFramePr>
        <p:xfrm>
          <a:off x="1066800" y="2133600"/>
          <a:ext cx="7086600" cy="1386840"/>
        </p:xfrm>
        <a:graphic>
          <a:graphicData uri="http://schemas.openxmlformats.org/drawingml/2006/table">
            <a:tbl>
              <a:tblPr/>
              <a:tblGrid>
                <a:gridCol w="1198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2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9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SID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CREDITS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SEMESTER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John White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Database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Ann Beech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Database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Dave Ford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Database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Spring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Group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69049"/>
              </p:ext>
            </p:extLst>
          </p:nvPr>
        </p:nvGraphicFramePr>
        <p:xfrm>
          <a:off x="3047999" y="4114800"/>
          <a:ext cx="2286000" cy="138684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SID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John White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Ann Beech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Dave Ford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Group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198626"/>
              </p:ext>
            </p:extLst>
          </p:nvPr>
        </p:nvGraphicFramePr>
        <p:xfrm>
          <a:off x="3047999" y="5638800"/>
          <a:ext cx="5562601" cy="716280"/>
        </p:xfrm>
        <a:graphic>
          <a:graphicData uri="http://schemas.openxmlformats.org/drawingml/2006/table">
            <a:tbl>
              <a:tblPr/>
              <a:tblGrid>
                <a:gridCol w="1200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1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C#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CREDITS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Database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Group 1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764401"/>
              </p:ext>
            </p:extLst>
          </p:nvPr>
        </p:nvGraphicFramePr>
        <p:xfrm>
          <a:off x="5486399" y="4114800"/>
          <a:ext cx="3124200" cy="138684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SEMESTER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Spring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895600" y="3962400"/>
            <a:ext cx="5791200" cy="25908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57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Avoid Anomalies?</a:t>
            </a:r>
          </a:p>
        </p:txBody>
      </p:sp>
      <p:sp>
        <p:nvSpPr>
          <p:cNvPr id="216067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4114800"/>
          </a:xfrm>
          <a:noFill/>
          <a:ln/>
        </p:spPr>
        <p:txBody>
          <a:bodyPr/>
          <a:lstStyle/>
          <a:p>
            <a:pPr>
              <a:buFont typeface="Wingdings" pitchFamily="2" charset="2"/>
              <a:buNone/>
            </a:pPr>
            <a:endParaRPr lang="en-US" sz="2800" dirty="0"/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about into these three tables?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1600" b="1" dirty="0">
              <a:solidFill>
                <a:schemeClr val="hlink"/>
              </a:solidFill>
            </a:endParaRPr>
          </a:p>
        </p:txBody>
      </p:sp>
      <p:graphicFrame>
        <p:nvGraphicFramePr>
          <p:cNvPr id="216160" name="Group 1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131903"/>
              </p:ext>
            </p:extLst>
          </p:nvPr>
        </p:nvGraphicFramePr>
        <p:xfrm>
          <a:off x="533400" y="2590800"/>
          <a:ext cx="3292475" cy="1630680"/>
        </p:xfrm>
        <a:graphic>
          <a:graphicData uri="http://schemas.openxmlformats.org/drawingml/2006/table">
            <a:tbl>
              <a:tblPr/>
              <a:tblGrid>
                <a:gridCol w="795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SID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John White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Ann Beech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Dave Ford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6162" name="Group 1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42746"/>
              </p:ext>
            </p:extLst>
          </p:nvPr>
        </p:nvGraphicFramePr>
        <p:xfrm>
          <a:off x="6172200" y="2895600"/>
          <a:ext cx="2682875" cy="71628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C#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CREDITS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6159" name="Group 1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659506"/>
              </p:ext>
            </p:extLst>
          </p:nvPr>
        </p:nvGraphicFramePr>
        <p:xfrm>
          <a:off x="3962400" y="2651760"/>
          <a:ext cx="2057400" cy="138684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SEMESTER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Spring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956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 of Anomalies</a:t>
            </a:r>
            <a:endParaRPr lang="en-US" sz="3600" b="1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8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229600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Anomalies often exist because of redundant data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Redundant data is often caused by bad design that puts </a:t>
            </a:r>
            <a:r>
              <a: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irrelevant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together  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 Student and class are two separate entities. It doesn’t make sense to force them into one table</a:t>
            </a:r>
          </a:p>
          <a:p>
            <a:pPr>
              <a:lnSpc>
                <a:spcPct val="9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 of “Normalization”: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Decompose or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split up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relations (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tables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with anomalies to produce smaller, well-structured relations(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tables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without anomalies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9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do this by analyzing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Functional Dependencies </a:t>
            </a:r>
          </a:p>
        </p:txBody>
      </p:sp>
    </p:spTree>
    <p:extLst>
      <p:ext uri="{BB962C8B-B14F-4D97-AF65-F5344CB8AC3E}">
        <p14:creationId xmlns:p14="http://schemas.microsoft.com/office/powerpoint/2010/main" val="2257644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Dependency</a:t>
            </a:r>
          </a:p>
        </p:txBody>
      </p:sp>
      <p:sp>
        <p:nvSpPr>
          <p:cNvPr id="2007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8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Definition: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constraint between two attributes or two sets of attributes.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are now focused on </a:t>
            </a:r>
            <a:r>
              <a:rPr lang="en-US" sz="20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are analyzing attributes inside ONE table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Attribute B is </a:t>
            </a: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functionally dependent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on attribute A if: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every instance of 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the value of A uniquely determines the value of B. This is written as A -&gt; B 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Wow! </a:t>
            </a:r>
            <a:endParaRPr lang="en-US" sz="18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774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Dependency</a:t>
            </a:r>
          </a:p>
        </p:txBody>
      </p:sp>
      <p:sp>
        <p:nvSpPr>
          <p:cNvPr id="2099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table is worth a thousand words</a:t>
            </a:r>
            <a:r>
              <a:rPr lang="en-US" sz="2400" dirty="0"/>
              <a:t>…</a:t>
            </a:r>
          </a:p>
          <a:p>
            <a:endParaRPr lang="en-US" sz="2400" dirty="0"/>
          </a:p>
          <a:p>
            <a:endParaRPr lang="en-US" sz="1600" b="1" dirty="0">
              <a:solidFill>
                <a:schemeClr val="hlink"/>
              </a:solidFill>
            </a:endParaRPr>
          </a:p>
        </p:txBody>
      </p:sp>
      <p:graphicFrame>
        <p:nvGraphicFramePr>
          <p:cNvPr id="209992" name="Group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925747"/>
              </p:ext>
            </p:extLst>
          </p:nvPr>
        </p:nvGraphicFramePr>
        <p:xfrm>
          <a:off x="990600" y="2362200"/>
          <a:ext cx="7086600" cy="2392680"/>
        </p:xfrm>
        <a:graphic>
          <a:graphicData uri="http://schemas.openxmlformats.org/drawingml/2006/table">
            <a:tbl>
              <a:tblPr/>
              <a:tblGrid>
                <a:gridCol w="1417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SID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CREDITS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SEMESTER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John White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John White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John White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IS451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Ann Beech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IS121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Spring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Ann Beech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Dave Ford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Spring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9993" name="Text Box 73"/>
          <p:cNvSpPr txBox="1">
            <a:spLocks noChangeArrowheads="1"/>
          </p:cNvSpPr>
          <p:nvPr/>
        </p:nvSpPr>
        <p:spPr bwMode="auto">
          <a:xfrm>
            <a:off x="457200" y="4876800"/>
            <a:ext cx="853440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If we know SID, can we get one and ONLY one SNAME?   </a:t>
            </a:r>
          </a:p>
          <a:p>
            <a:pPr>
              <a:spcBef>
                <a:spcPct val="50000"/>
              </a:spcBef>
            </a:pPr>
            <a:r>
              <a:rPr lang="en-US" sz="2000" dirty="0"/>
              <a:t>Does SID </a:t>
            </a:r>
            <a:r>
              <a:rPr lang="en-US" sz="2000" dirty="0">
                <a:sym typeface="Wingdings" pitchFamily="2" charset="2"/>
              </a:rPr>
              <a:t> SNAME? (Ans. YES)</a:t>
            </a:r>
          </a:p>
          <a:p>
            <a:pPr>
              <a:spcBef>
                <a:spcPct val="50000"/>
              </a:spcBef>
            </a:pPr>
            <a:r>
              <a:rPr lang="en-US" sz="2000" dirty="0">
                <a:sym typeface="Wingdings" pitchFamily="2" charset="2"/>
              </a:rPr>
              <a:t>If we know SID, can we get </a:t>
            </a:r>
            <a:r>
              <a:rPr lang="en-US" sz="2000" dirty="0"/>
              <a:t>one and ONLY one </a:t>
            </a:r>
            <a:r>
              <a:rPr lang="en-US" sz="2000" dirty="0">
                <a:sym typeface="Wingdings" pitchFamily="2" charset="2"/>
              </a:rPr>
              <a:t>C#? </a:t>
            </a:r>
          </a:p>
          <a:p>
            <a:pPr>
              <a:spcBef>
                <a:spcPct val="50000"/>
              </a:spcBef>
            </a:pPr>
            <a:r>
              <a:rPr lang="en-US" sz="2000" dirty="0">
                <a:sym typeface="Wingdings" pitchFamily="2" charset="2"/>
              </a:rPr>
              <a:t>Does </a:t>
            </a:r>
            <a:r>
              <a:rPr lang="en-US" sz="2000" dirty="0"/>
              <a:t>SID </a:t>
            </a:r>
            <a:r>
              <a:rPr lang="en-US" sz="2000" dirty="0">
                <a:sym typeface="Wingdings" pitchFamily="2" charset="2"/>
              </a:rPr>
              <a:t> C# ? (Ans. NO. S12 takes three different classes) </a:t>
            </a:r>
          </a:p>
        </p:txBody>
      </p:sp>
    </p:spTree>
    <p:extLst>
      <p:ext uri="{BB962C8B-B14F-4D97-AF65-F5344CB8AC3E}">
        <p14:creationId xmlns:p14="http://schemas.microsoft.com/office/powerpoint/2010/main" val="621831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0782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Dependency</a:t>
            </a:r>
          </a:p>
        </p:txBody>
      </p:sp>
      <p:sp>
        <p:nvSpPr>
          <p:cNvPr id="2109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44733" y="11430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Some of you might ask: “what about S32? Its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ALSO John White!”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Does that violate our criteria, though? (Ans. Maybe. Are they the same actual person.)</a:t>
            </a:r>
          </a:p>
          <a:p>
            <a:endParaRPr lang="en-US" sz="2400" dirty="0"/>
          </a:p>
          <a:p>
            <a:endParaRPr lang="en-US" sz="1600" b="1" dirty="0">
              <a:solidFill>
                <a:schemeClr val="hlink"/>
              </a:solidFill>
            </a:endParaRPr>
          </a:p>
        </p:txBody>
      </p:sp>
      <p:graphicFrame>
        <p:nvGraphicFramePr>
          <p:cNvPr id="211002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653879"/>
              </p:ext>
            </p:extLst>
          </p:nvPr>
        </p:nvGraphicFramePr>
        <p:xfrm>
          <a:off x="990600" y="2828432"/>
          <a:ext cx="7086600" cy="2392680"/>
        </p:xfrm>
        <a:graphic>
          <a:graphicData uri="http://schemas.openxmlformats.org/drawingml/2006/table">
            <a:tbl>
              <a:tblPr/>
              <a:tblGrid>
                <a:gridCol w="1417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SID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CREDITS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SEMESTER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John White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John White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John White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IS451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S32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John White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IS121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Spring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Ann Beech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Fall 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Dave Ford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IS331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Spring 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0998" name="Line 54"/>
          <p:cNvSpPr>
            <a:spLocks noChangeShapeType="1"/>
          </p:cNvSpPr>
          <p:nvPr/>
        </p:nvSpPr>
        <p:spPr bwMode="auto">
          <a:xfrm>
            <a:off x="1066800" y="3133232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0999" name="Line 55"/>
          <p:cNvSpPr>
            <a:spLocks noChangeShapeType="1"/>
          </p:cNvSpPr>
          <p:nvPr/>
        </p:nvSpPr>
        <p:spPr bwMode="auto">
          <a:xfrm>
            <a:off x="4038600" y="3133232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1000" name="Text Box 56"/>
          <p:cNvSpPr txBox="1">
            <a:spLocks noChangeArrowheads="1"/>
          </p:cNvSpPr>
          <p:nvPr/>
        </p:nvSpPr>
        <p:spPr bwMode="auto">
          <a:xfrm>
            <a:off x="533400" y="6400800"/>
            <a:ext cx="80010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 dirty="0">
                <a:solidFill>
                  <a:srgbClr val="CC0000"/>
                </a:solidFill>
              </a:rPr>
              <a:t>WARNING!!  This might be a bit confusing. Be sure to understand it.</a:t>
            </a:r>
            <a:endParaRPr lang="en-US" sz="1400" b="1" dirty="0">
              <a:solidFill>
                <a:srgbClr val="CC0000"/>
              </a:solidFill>
              <a:sym typeface="Wingdings" pitchFamily="2" charset="2"/>
            </a:endParaRPr>
          </a:p>
        </p:txBody>
      </p:sp>
      <p:sp>
        <p:nvSpPr>
          <p:cNvPr id="211003" name="Text Box 59"/>
          <p:cNvSpPr txBox="1">
            <a:spLocks noChangeArrowheads="1"/>
          </p:cNvSpPr>
          <p:nvPr/>
        </p:nvSpPr>
        <p:spPr bwMode="auto">
          <a:xfrm>
            <a:off x="557645" y="5391090"/>
            <a:ext cx="8001000" cy="40011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If we know SID, can we get a 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unique 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sname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?   SID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SNAME</a:t>
            </a:r>
          </a:p>
        </p:txBody>
      </p:sp>
    </p:spTree>
    <p:extLst>
      <p:ext uri="{BB962C8B-B14F-4D97-AF65-F5344CB8AC3E}">
        <p14:creationId xmlns:p14="http://schemas.microsoft.com/office/powerpoint/2010/main" val="2694358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Dependency</a:t>
            </a:r>
          </a:p>
        </p:txBody>
      </p:sp>
      <p:sp>
        <p:nvSpPr>
          <p:cNvPr id="239619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8600" y="1752600"/>
            <a:ext cx="8229600" cy="4114800"/>
          </a:xfrm>
          <a:noFill/>
          <a:ln/>
        </p:spPr>
        <p:txBody>
          <a:bodyPr/>
          <a:lstStyle/>
          <a:p>
            <a:r>
              <a:rPr lang="en-US" sz="2800" dirty="0"/>
              <a:t> </a:t>
            </a:r>
            <a:r>
              <a:rPr lang="en-US" dirty="0"/>
              <a:t>More examples:</a:t>
            </a:r>
          </a:p>
          <a:p>
            <a:pPr lvl="1"/>
            <a:r>
              <a:rPr lang="en-US" dirty="0"/>
              <a:t>Check whether these FDs hold:</a:t>
            </a:r>
          </a:p>
          <a:p>
            <a:pPr lvl="2"/>
            <a:r>
              <a:rPr lang="en-US" sz="2800" dirty="0"/>
              <a:t>{S#} -&gt; {CITY}</a:t>
            </a:r>
          </a:p>
          <a:p>
            <a:pPr lvl="2"/>
            <a:r>
              <a:rPr lang="en-US" sz="2800" dirty="0"/>
              <a:t>{S#, P#} -&gt; {QTY}</a:t>
            </a:r>
          </a:p>
          <a:p>
            <a:pPr lvl="2"/>
            <a:r>
              <a:rPr lang="en-US" sz="2800" dirty="0"/>
              <a:t>{S#, P#} -&gt; {CITY, QTY}</a:t>
            </a:r>
          </a:p>
          <a:p>
            <a:pPr lvl="2"/>
            <a:r>
              <a:rPr lang="en-US" sz="2800" dirty="0"/>
              <a:t>{S#, P#} -&gt; {S#, P#, CITY, QTY}</a:t>
            </a:r>
          </a:p>
          <a:p>
            <a:pPr lvl="2"/>
            <a:r>
              <a:rPr lang="en-US" sz="2800" dirty="0"/>
              <a:t>{S#, P#, CITY, QTY} -&gt; {S#, P#, CITY, QTY}</a:t>
            </a:r>
          </a:p>
          <a:p>
            <a:pPr lvl="1"/>
            <a:endParaRPr lang="en-US" sz="1600" b="1" dirty="0">
              <a:solidFill>
                <a:schemeClr val="hlink"/>
              </a:solidFill>
            </a:endParaRPr>
          </a:p>
        </p:txBody>
      </p:sp>
      <p:sp>
        <p:nvSpPr>
          <p:cNvPr id="239621" name="Rectangle 1029"/>
          <p:cNvSpPr>
            <a:spLocks noChangeArrowheads="1"/>
          </p:cNvSpPr>
          <p:nvPr/>
        </p:nvSpPr>
        <p:spPr bwMode="auto">
          <a:xfrm>
            <a:off x="5562600" y="1219200"/>
            <a:ext cx="777875" cy="3048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pitchFamily="18" charset="0"/>
              </a:rPr>
              <a:t>S#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239622" name="Rectangle 1030"/>
          <p:cNvSpPr>
            <a:spLocks noChangeArrowheads="1"/>
          </p:cNvSpPr>
          <p:nvPr/>
        </p:nvSpPr>
        <p:spPr bwMode="auto">
          <a:xfrm>
            <a:off x="5562600" y="1524000"/>
            <a:ext cx="762000" cy="25146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dirty="0" err="1">
                <a:latin typeface="Times New Roman" pitchFamily="18" charset="0"/>
              </a:rPr>
              <a:t>S1</a:t>
            </a:r>
            <a:endParaRPr lang="en-US" sz="2000" dirty="0">
              <a:latin typeface="Times New Roman" pitchFamily="18" charset="0"/>
            </a:endParaRPr>
          </a:p>
          <a:p>
            <a:pPr algn="ctr" eaLnBrk="0" hangingPunct="0"/>
            <a:r>
              <a:rPr lang="en-US" sz="2000" dirty="0" err="1">
                <a:latin typeface="Times New Roman" pitchFamily="18" charset="0"/>
              </a:rPr>
              <a:t>S1</a:t>
            </a:r>
            <a:endParaRPr lang="en-US" sz="2000" dirty="0">
              <a:latin typeface="Times New Roman" pitchFamily="18" charset="0"/>
            </a:endParaRPr>
          </a:p>
          <a:p>
            <a:pPr algn="ctr" eaLnBrk="0" hangingPunct="0"/>
            <a:r>
              <a:rPr lang="en-US" sz="2000" dirty="0" err="1">
                <a:latin typeface="Times New Roman" pitchFamily="18" charset="0"/>
              </a:rPr>
              <a:t>S2</a:t>
            </a:r>
            <a:endParaRPr lang="en-US" sz="2000" dirty="0">
              <a:latin typeface="Times New Roman" pitchFamily="18" charset="0"/>
            </a:endParaRPr>
          </a:p>
          <a:p>
            <a:pPr algn="ctr" eaLnBrk="0" hangingPunct="0"/>
            <a:r>
              <a:rPr lang="en-US" sz="2000" dirty="0" err="1">
                <a:latin typeface="Times New Roman" pitchFamily="18" charset="0"/>
              </a:rPr>
              <a:t>S2</a:t>
            </a:r>
            <a:endParaRPr lang="en-US" sz="2000" dirty="0">
              <a:latin typeface="Times New Roman" pitchFamily="18" charset="0"/>
            </a:endParaRPr>
          </a:p>
          <a:p>
            <a:pPr algn="ctr" eaLnBrk="0" hangingPunct="0"/>
            <a:r>
              <a:rPr lang="en-US" sz="2000" dirty="0" err="1">
                <a:latin typeface="Times New Roman" pitchFamily="18" charset="0"/>
              </a:rPr>
              <a:t>S3</a:t>
            </a:r>
            <a:endParaRPr lang="en-US" sz="2000" dirty="0">
              <a:latin typeface="Times New Roman" pitchFamily="18" charset="0"/>
            </a:endParaRPr>
          </a:p>
          <a:p>
            <a:pPr algn="ctr" eaLnBrk="0" hangingPunct="0"/>
            <a:r>
              <a:rPr lang="en-US" sz="2000" dirty="0" err="1">
                <a:latin typeface="Times New Roman" pitchFamily="18" charset="0"/>
              </a:rPr>
              <a:t>S4</a:t>
            </a:r>
            <a:endParaRPr lang="en-US" sz="2000" dirty="0">
              <a:latin typeface="Times New Roman" pitchFamily="18" charset="0"/>
            </a:endParaRPr>
          </a:p>
          <a:p>
            <a:pPr algn="ctr" eaLnBrk="0" hangingPunct="0"/>
            <a:r>
              <a:rPr lang="en-US" sz="2000" dirty="0" err="1">
                <a:latin typeface="Times New Roman" pitchFamily="18" charset="0"/>
              </a:rPr>
              <a:t>S4</a:t>
            </a:r>
            <a:endParaRPr lang="en-US" sz="2000" dirty="0">
              <a:latin typeface="Times New Roman" pitchFamily="18" charset="0"/>
            </a:endParaRPr>
          </a:p>
          <a:p>
            <a:pPr algn="ctr" eaLnBrk="0" hangingPunct="0"/>
            <a:r>
              <a:rPr lang="en-US" sz="2000" dirty="0" err="1">
                <a:latin typeface="Times New Roman" pitchFamily="18" charset="0"/>
              </a:rPr>
              <a:t>S4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239623" name="Rectangle 1031"/>
          <p:cNvSpPr>
            <a:spLocks noChangeArrowheads="1"/>
          </p:cNvSpPr>
          <p:nvPr/>
        </p:nvSpPr>
        <p:spPr bwMode="auto">
          <a:xfrm>
            <a:off x="6324600" y="1219200"/>
            <a:ext cx="701675" cy="3048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 u="sng">
                <a:latin typeface="Times New Roman" pitchFamily="18" charset="0"/>
              </a:rPr>
              <a:t>P#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239624" name="Rectangle 1032"/>
          <p:cNvSpPr>
            <a:spLocks noChangeArrowheads="1"/>
          </p:cNvSpPr>
          <p:nvPr/>
        </p:nvSpPr>
        <p:spPr bwMode="auto">
          <a:xfrm>
            <a:off x="6324600" y="1524000"/>
            <a:ext cx="701675" cy="25146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pitchFamily="18" charset="0"/>
              </a:rPr>
              <a:t>P1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P1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P2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P4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P5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239625" name="Rectangle 1033"/>
          <p:cNvSpPr>
            <a:spLocks noChangeArrowheads="1"/>
          </p:cNvSpPr>
          <p:nvPr/>
        </p:nvSpPr>
        <p:spPr bwMode="auto">
          <a:xfrm>
            <a:off x="8213725" y="1219200"/>
            <a:ext cx="777875" cy="3048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pitchFamily="18" charset="0"/>
              </a:rPr>
              <a:t>QTY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239626" name="Rectangle 1034"/>
          <p:cNvSpPr>
            <a:spLocks noChangeArrowheads="1"/>
          </p:cNvSpPr>
          <p:nvPr/>
        </p:nvSpPr>
        <p:spPr bwMode="auto">
          <a:xfrm>
            <a:off x="8213725" y="1524000"/>
            <a:ext cx="777875" cy="25146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pitchFamily="18" charset="0"/>
              </a:rPr>
              <a:t>100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100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200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300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400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400</a:t>
            </a:r>
          </a:p>
          <a:p>
            <a:pPr algn="ctr" eaLnBrk="0" hangingPunct="0"/>
            <a:r>
              <a:rPr lang="en-US" sz="2000">
                <a:latin typeface="Times New Roman" pitchFamily="18" charset="0"/>
              </a:rPr>
              <a:t>400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239627" name="Rectangle 1035"/>
          <p:cNvSpPr>
            <a:spLocks noChangeArrowheads="1"/>
          </p:cNvSpPr>
          <p:nvPr/>
        </p:nvSpPr>
        <p:spPr bwMode="auto">
          <a:xfrm>
            <a:off x="7010400" y="1219200"/>
            <a:ext cx="1219200" cy="3048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sz="2000">
                <a:latin typeface="Times New Roman" pitchFamily="18" charset="0"/>
              </a:rPr>
              <a:t>CITY</a:t>
            </a:r>
            <a:endParaRPr lang="en-US">
              <a:latin typeface="Times New Roman" pitchFamily="18" charset="0"/>
            </a:endParaRPr>
          </a:p>
        </p:txBody>
      </p:sp>
      <p:sp>
        <p:nvSpPr>
          <p:cNvPr id="239628" name="Rectangle 1036"/>
          <p:cNvSpPr>
            <a:spLocks noChangeArrowheads="1"/>
          </p:cNvSpPr>
          <p:nvPr/>
        </p:nvSpPr>
        <p:spPr bwMode="auto">
          <a:xfrm>
            <a:off x="7010400" y="1524000"/>
            <a:ext cx="1219200" cy="2514600"/>
          </a:xfrm>
          <a:prstGeom prst="rect">
            <a:avLst/>
          </a:prstGeom>
          <a:solidFill>
            <a:srgbClr val="F8F8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pitchFamily="18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pitchFamily="18" charset="0"/>
              </a:rPr>
              <a:t>Paris</a:t>
            </a:r>
          </a:p>
          <a:p>
            <a:pPr eaLnBrk="0" hangingPunct="0"/>
            <a:r>
              <a:rPr lang="en-US" sz="2000">
                <a:latin typeface="Times New Roman" pitchFamily="18" charset="0"/>
              </a:rPr>
              <a:t>Paris</a:t>
            </a:r>
          </a:p>
          <a:p>
            <a:pPr eaLnBrk="0" hangingPunct="0"/>
            <a:r>
              <a:rPr lang="en-US" sz="2000">
                <a:latin typeface="Times New Roman" pitchFamily="18" charset="0"/>
              </a:rPr>
              <a:t>Paris</a:t>
            </a:r>
          </a:p>
          <a:p>
            <a:pPr eaLnBrk="0" hangingPunct="0"/>
            <a:r>
              <a:rPr lang="en-US" sz="2000">
                <a:latin typeface="Times New Roman" pitchFamily="18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pitchFamily="18" charset="0"/>
              </a:rPr>
              <a:t>London</a:t>
            </a:r>
          </a:p>
          <a:p>
            <a:pPr eaLnBrk="0" hangingPunct="0"/>
            <a:r>
              <a:rPr lang="en-US" sz="2000">
                <a:latin typeface="Times New Roman" pitchFamily="18" charset="0"/>
              </a:rPr>
              <a:t>London</a:t>
            </a:r>
          </a:p>
        </p:txBody>
      </p:sp>
    </p:spTree>
    <p:extLst>
      <p:ext uri="{BB962C8B-B14F-4D97-AF65-F5344CB8AC3E}">
        <p14:creationId xmlns:p14="http://schemas.microsoft.com/office/powerpoint/2010/main" val="2225492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Dependency</a:t>
            </a:r>
          </a:p>
        </p:txBody>
      </p:sp>
      <p:sp>
        <p:nvSpPr>
          <p:cNvPr id="2129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Formal definition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set of attributes Y are functionally dependent on X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(X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Y, read “X functionally determines Y”),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if:</a:t>
            </a:r>
          </a:p>
          <a:p>
            <a:pPr lvl="2"/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X value is only associated with precisely one Y value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other words, whenever two tuples have the same value for X, they must also have the same value for Y</a:t>
            </a:r>
          </a:p>
          <a:p>
            <a:pPr>
              <a:buFont typeface="Wingdings" pitchFamily="2" charset="2"/>
              <a:buNone/>
            </a:pPr>
            <a:endParaRPr lang="en-US" sz="2400" dirty="0"/>
          </a:p>
          <a:p>
            <a:endParaRPr lang="en-US" sz="1600" b="1" dirty="0">
              <a:solidFill>
                <a:schemeClr val="hlink"/>
              </a:solidFill>
            </a:endParaRPr>
          </a:p>
        </p:txBody>
      </p:sp>
      <p:sp>
        <p:nvSpPr>
          <p:cNvPr id="213050" name="Text Box 58"/>
          <p:cNvSpPr txBox="1">
            <a:spLocks noChangeArrowheads="1"/>
          </p:cNvSpPr>
          <p:nvPr/>
        </p:nvSpPr>
        <p:spPr bwMode="auto">
          <a:xfrm>
            <a:off x="3962400" y="4876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X  </a:t>
            </a:r>
            <a:r>
              <a:rPr lang="en-US">
                <a:sym typeface="Wingdings" pitchFamily="2" charset="2"/>
              </a:rPr>
              <a:t>  Y</a:t>
            </a:r>
            <a:endParaRPr lang="en-US"/>
          </a:p>
        </p:txBody>
      </p:sp>
      <p:sp>
        <p:nvSpPr>
          <p:cNvPr id="213051" name="Line 59"/>
          <p:cNvSpPr>
            <a:spLocks noChangeShapeType="1"/>
          </p:cNvSpPr>
          <p:nvPr/>
        </p:nvSpPr>
        <p:spPr bwMode="auto">
          <a:xfrm>
            <a:off x="4114800" y="5334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3052" name="Text Box 60"/>
          <p:cNvSpPr txBox="1">
            <a:spLocks noChangeArrowheads="1"/>
          </p:cNvSpPr>
          <p:nvPr/>
        </p:nvSpPr>
        <p:spPr bwMode="auto">
          <a:xfrm>
            <a:off x="3124200" y="6019800"/>
            <a:ext cx="2286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Determinant </a:t>
            </a:r>
          </a:p>
        </p:txBody>
      </p:sp>
      <p:sp>
        <p:nvSpPr>
          <p:cNvPr id="213053" name="Line 61"/>
          <p:cNvSpPr>
            <a:spLocks noChangeShapeType="1"/>
          </p:cNvSpPr>
          <p:nvPr/>
        </p:nvSpPr>
        <p:spPr bwMode="auto">
          <a:xfrm>
            <a:off x="5029200" y="53340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3054" name="Text Box 62"/>
          <p:cNvSpPr txBox="1">
            <a:spLocks noChangeArrowheads="1"/>
          </p:cNvSpPr>
          <p:nvPr/>
        </p:nvSpPr>
        <p:spPr bwMode="auto">
          <a:xfrm>
            <a:off x="5334000" y="6019800"/>
            <a:ext cx="2286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Dependent  </a:t>
            </a:r>
          </a:p>
        </p:txBody>
      </p:sp>
      <p:sp>
        <p:nvSpPr>
          <p:cNvPr id="213056" name="Text Box 64"/>
          <p:cNvSpPr txBox="1">
            <a:spLocks noChangeArrowheads="1"/>
          </p:cNvSpPr>
          <p:nvPr/>
        </p:nvSpPr>
        <p:spPr bwMode="auto">
          <a:xfrm>
            <a:off x="1143000" y="4724400"/>
            <a:ext cx="3200400" cy="1014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Left Hand Side </a:t>
            </a:r>
          </a:p>
          <a:p>
            <a:pPr>
              <a:spcBef>
                <a:spcPct val="50000"/>
              </a:spcBef>
            </a:pPr>
            <a:r>
              <a:rPr lang="en-US" dirty="0"/>
              <a:t>(LHS)</a:t>
            </a:r>
          </a:p>
        </p:txBody>
      </p:sp>
      <p:sp>
        <p:nvSpPr>
          <p:cNvPr id="213057" name="Text Box 65"/>
          <p:cNvSpPr txBox="1">
            <a:spLocks noChangeArrowheads="1"/>
          </p:cNvSpPr>
          <p:nvPr/>
        </p:nvSpPr>
        <p:spPr bwMode="auto">
          <a:xfrm>
            <a:off x="4648200" y="4724400"/>
            <a:ext cx="3200400" cy="1014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dirty="0"/>
              <a:t>Right Hand Side </a:t>
            </a:r>
          </a:p>
          <a:p>
            <a:pPr algn="r">
              <a:spcBef>
                <a:spcPct val="50000"/>
              </a:spcBef>
            </a:pPr>
            <a:r>
              <a:rPr lang="en-US" dirty="0"/>
              <a:t>(RHS)</a:t>
            </a:r>
          </a:p>
        </p:txBody>
      </p:sp>
    </p:spTree>
    <p:extLst>
      <p:ext uri="{BB962C8B-B14F-4D97-AF65-F5344CB8AC3E}">
        <p14:creationId xmlns:p14="http://schemas.microsoft.com/office/powerpoint/2010/main" val="2153837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Dependency</a:t>
            </a:r>
          </a:p>
        </p:txBody>
      </p:sp>
      <p:sp>
        <p:nvSpPr>
          <p:cNvPr id="2140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/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Trivial FDs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FD is trivial if and only if the RHS (dependent) is a subset of the LHS (determinant)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other words, if everything on RHS already appeared on LHS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XY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Y </a:t>
            </a:r>
          </a:p>
          <a:p>
            <a:pPr marL="457200" lvl="1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If you know X and Y, that’s the left hand side, then you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you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know Y. That is trivial.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611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Dependency</a:t>
            </a:r>
          </a:p>
        </p:txBody>
      </p:sp>
      <p:sp>
        <p:nvSpPr>
          <p:cNvPr id="2181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229600" cy="4876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Armstrong’s Axioms (Inference Rules)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Reflexivity: 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B is a subset of A, then 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B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If {A} = {1,2,3,4} and {B} = {2,3},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B (trivial)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Augmentation: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B, then AC  BC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Example: if    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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	    then	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sid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age 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age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Transitivity: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If A  B and B  C, then A  C </a:t>
            </a:r>
          </a:p>
          <a:p>
            <a:pPr lvl="2">
              <a:lnSpc>
                <a:spcPct val="9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Example from the airline industry</a:t>
            </a:r>
          </a:p>
          <a:p>
            <a:pPr marL="914400" lvl="2" indent="0">
              <a:lnSpc>
                <a:spcPct val="90000"/>
              </a:lnSpc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     if 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EWR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 DEN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 and  DEN   SEA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 then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EWR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 SEA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US" sz="28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797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Dependency</a:t>
            </a:r>
          </a:p>
        </p:txBody>
      </p:sp>
      <p:sp>
        <p:nvSpPr>
          <p:cNvPr id="2191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Armstrong’s Axioms – What’s the big deal?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complete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Using the three rules above, we can find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all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FDs 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It is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sound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No additional FDs can be derived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marL="457200" lvl="1" indent="0">
              <a:buNone/>
            </a:pPr>
            <a:endParaRPr lang="en-US" sz="2400" i="1" dirty="0"/>
          </a:p>
          <a:p>
            <a:endParaRPr lang="en-US" sz="24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677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-24245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Dependency</a:t>
            </a:r>
          </a:p>
        </p:txBody>
      </p:sp>
      <p:sp>
        <p:nvSpPr>
          <p:cNvPr id="2201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Armstrong’s Axioms (Inference Rules)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Based on Armstrong’s Axioms, the following can be derived: 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Decomposition: If 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BC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          then A  B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           and A  C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Union: If A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B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and A  C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then A  BC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Composition: If A   B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       and C   D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      then AC BD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Notice how the items on the left hand side stay on the left and the RHS items stay on the right side.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lvl="1"/>
            <a:endParaRPr lang="en-US" sz="2400" i="1" dirty="0"/>
          </a:p>
          <a:p>
            <a:endParaRPr lang="en-US" sz="24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6406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Dependency</a:t>
            </a:r>
          </a:p>
        </p:txBody>
      </p:sp>
      <p:sp>
        <p:nvSpPr>
          <p:cNvPr id="2170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/>
              <a:t> </a:t>
            </a:r>
            <a:r>
              <a:rPr lang="en-US" sz="2800" dirty="0"/>
              <a:t>Practice</a:t>
            </a:r>
          </a:p>
          <a:p>
            <a:pPr lvl="1"/>
            <a:r>
              <a:rPr lang="en-US" sz="2400" dirty="0"/>
              <a:t>Find all non-trivial FDs for the following relation:</a:t>
            </a:r>
          </a:p>
          <a:p>
            <a:pPr lvl="1"/>
            <a:r>
              <a:rPr lang="en-US" sz="2400" dirty="0"/>
              <a:t>R = (A,B,C,D)</a:t>
            </a:r>
          </a:p>
          <a:p>
            <a:pPr lvl="1"/>
            <a:r>
              <a:rPr lang="en-US" sz="2400" dirty="0"/>
              <a:t>Given:  A </a:t>
            </a:r>
            <a:r>
              <a:rPr lang="en-US" sz="2400" dirty="0">
                <a:sym typeface="Wingdings" pitchFamily="2" charset="2"/>
              </a:rPr>
              <a:t> B, </a:t>
            </a:r>
          </a:p>
          <a:p>
            <a:pPr marL="457200" lvl="1" indent="0">
              <a:buNone/>
            </a:pPr>
            <a:r>
              <a:rPr lang="en-US" sz="2400" dirty="0">
                <a:sym typeface="Wingdings" pitchFamily="2" charset="2"/>
              </a:rPr>
              <a:t>                  A  C</a:t>
            </a:r>
          </a:p>
          <a:p>
            <a:pPr marL="457200" lvl="1" indent="0">
              <a:buNone/>
            </a:pPr>
            <a:r>
              <a:rPr lang="en-US" sz="2400" dirty="0">
                <a:sym typeface="Wingdings" pitchFamily="2" charset="2"/>
              </a:rPr>
              <a:t>                CD  A</a:t>
            </a:r>
          </a:p>
          <a:p>
            <a:pPr lvl="1"/>
            <a:endParaRPr lang="en-US" sz="2400" dirty="0"/>
          </a:p>
          <a:p>
            <a:endParaRPr lang="en-US" sz="2400" b="1" dirty="0">
              <a:solidFill>
                <a:schemeClr val="hlink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3400" y="4470214"/>
            <a:ext cx="8001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000" b="1" dirty="0"/>
              <a:t>Let’s start with A:  A </a:t>
            </a:r>
            <a:r>
              <a:rPr lang="en-US" sz="2000" b="1" dirty="0">
                <a:sym typeface="Wingdings" pitchFamily="2" charset="2"/>
              </a:rPr>
              <a:t> B (Yes)? A  C (Yes)? A  D (No)?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4953000"/>
            <a:ext cx="8001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000" b="1" dirty="0"/>
              <a:t>How about B:  B </a:t>
            </a:r>
            <a:r>
              <a:rPr lang="en-US" sz="2000" b="1" dirty="0">
                <a:sym typeface="Wingdings" pitchFamily="2" charset="2"/>
              </a:rPr>
              <a:t> A (no)? B  C (no)? B  D (no)?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5391090"/>
            <a:ext cx="8001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000" b="1" dirty="0"/>
              <a:t>How about C? D?</a:t>
            </a:r>
            <a:endParaRPr lang="en-US" sz="2000" b="1" dirty="0">
              <a:sym typeface="Wingdings" pitchFamily="2" charset="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3400" y="5791200"/>
            <a:ext cx="8001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000" b="1" dirty="0"/>
              <a:t>How about CD? CD </a:t>
            </a:r>
            <a:r>
              <a:rPr lang="en-US" sz="2000" b="1" dirty="0">
                <a:sym typeface="Wingdings" pitchFamily="2" charset="2"/>
              </a:rPr>
              <a:t> A(yes)? CD  B(yes)? </a:t>
            </a:r>
            <a:br>
              <a:rPr lang="en-US" sz="2000" b="1" dirty="0">
                <a:sym typeface="Wingdings" pitchFamily="2" charset="2"/>
              </a:rPr>
            </a:br>
            <a:r>
              <a:rPr lang="en-US" sz="2000" b="1" dirty="0">
                <a:sym typeface="Wingdings" pitchFamily="2" charset="2"/>
              </a:rPr>
              <a:t>CD  C (yes, but trivial)? CD  D (no)?</a:t>
            </a:r>
          </a:p>
        </p:txBody>
      </p:sp>
    </p:spTree>
    <p:extLst>
      <p:ext uri="{BB962C8B-B14F-4D97-AF65-F5344CB8AC3E}">
        <p14:creationId xmlns:p14="http://schemas.microsoft.com/office/powerpoint/2010/main" val="3245227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Closure</a:t>
            </a:r>
          </a:p>
        </p:txBody>
      </p:sp>
      <p:sp>
        <p:nvSpPr>
          <p:cNvPr id="2211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What’s the point of finding all FD’s?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Usually a large number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don’t really want to do that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we really want to find is the </a:t>
            </a:r>
            <a:r>
              <a: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closure</a:t>
            </a:r>
          </a:p>
          <a:p>
            <a:pPr lvl="1">
              <a:buFont typeface="Wingdings" pitchFamily="2" charset="2"/>
              <a:buNone/>
            </a:pP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Closure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Definition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If we have a set of FD’s (let’s call it S), a set of attributes Z, then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the set of all attributes that are dependent on Z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is called the closure of Z under S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The closure of Z under S is symbolized as “Z+”</a:t>
            </a:r>
          </a:p>
        </p:txBody>
      </p:sp>
    </p:spTree>
    <p:extLst>
      <p:ext uri="{BB962C8B-B14F-4D97-AF65-F5344CB8AC3E}">
        <p14:creationId xmlns:p14="http://schemas.microsoft.com/office/powerpoint/2010/main" val="30115586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Closure</a:t>
            </a:r>
          </a:p>
        </p:txBody>
      </p:sp>
      <p:sp>
        <p:nvSpPr>
          <p:cNvPr id="2232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How to calculate Closure?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Start;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Closure = Z; 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While ( closure changes) do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{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	 for each X  Y in F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		if (X is part of Z) then closure += Y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}</a:t>
            </a:r>
          </a:p>
          <a:p>
            <a:pPr lvl="1">
              <a:buFont typeface="Wingdings" pitchFamily="2" charset="2"/>
              <a:buNone/>
            </a:pPr>
            <a:endParaRPr lang="en-US" sz="2400" dirty="0">
              <a:latin typeface="Times New Roman" pitchFamily="18" charset="0"/>
              <a:sym typeface="Wingdings" pitchFamily="2" charset="2"/>
            </a:endParaRPr>
          </a:p>
          <a:p>
            <a:pPr lvl="1"/>
            <a:endParaRPr lang="en-US" sz="2400" dirty="0">
              <a:latin typeface="Times New Roman" pitchFamily="18" charset="0"/>
            </a:endParaRPr>
          </a:p>
          <a:p>
            <a:endParaRPr lang="en-US" sz="24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881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Closure</a:t>
            </a:r>
          </a:p>
        </p:txBody>
      </p:sp>
      <p:sp>
        <p:nvSpPr>
          <p:cNvPr id="2242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How to calculate Closure?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In English: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1. Start with the “seed” attributes set Z;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2. Find all dependents of Z, Let’s call them W;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3. Z + W now becomes our Z+;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4. Find all dependents of W, Let’s call them Q;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5. Z + W + Q now becomes our Z+….</a:t>
            </a:r>
          </a:p>
          <a:p>
            <a:pPr lvl="1">
              <a:buFont typeface="Wingdings" pitchFamily="2" charset="2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lvl="1"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Go on until everything we find are already in Z+</a:t>
            </a:r>
          </a:p>
          <a:p>
            <a:pPr lvl="1"/>
            <a:endParaRPr lang="en-US" sz="24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0626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Closure</a:t>
            </a:r>
          </a:p>
        </p:txBody>
      </p:sp>
      <p:sp>
        <p:nvSpPr>
          <p:cNvPr id="2222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 = (A,B,C,D)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Given: S = {A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B, A  C, CD  A}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Z1 = {A, B},  z2 = {C, D}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Calculate: Z1+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Closure = AB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Closure = ABC (A  C and AB  AB)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Calculate: Z2+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Closure = CD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Closure = CDA (CD  A and CD  CD)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Closure = CDAB (CD  A and A B)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02849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Closure</a:t>
            </a:r>
          </a:p>
        </p:txBody>
      </p:sp>
      <p:sp>
        <p:nvSpPr>
          <p:cNvPr id="2416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229600" cy="4114800"/>
          </a:xfrm>
          <a:noFill/>
          <a:ln/>
        </p:spPr>
        <p:txBody>
          <a:bodyPr/>
          <a:lstStyle/>
          <a:p>
            <a:r>
              <a:rPr lang="en-US" sz="2800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Practice 2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 = (A,B,C,D,E)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Given:  B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CD, D  E, B  A, E  C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Z1 = {B, D},  z2 = {A, C}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Calculate: Z1+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Calculate: Z2+</a:t>
            </a:r>
          </a:p>
        </p:txBody>
      </p:sp>
    </p:spTree>
    <p:extLst>
      <p:ext uri="{BB962C8B-B14F-4D97-AF65-F5344CB8AC3E}">
        <p14:creationId xmlns:p14="http://schemas.microsoft.com/office/powerpoint/2010/main" val="17761075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Closure</a:t>
            </a:r>
          </a:p>
        </p:txBody>
      </p:sp>
      <p:sp>
        <p:nvSpPr>
          <p:cNvPr id="2263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800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Practice 3: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Given R = {A, B, C, D, E}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F = { A  BC, CD  E, B  D, E  A}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Please find the closure for: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Z1 = {CD}, z2 ={BC}, z3 = {A}</a:t>
            </a:r>
          </a:p>
          <a:p>
            <a:pPr marL="914400" lvl="2" indent="0">
              <a:buNone/>
            </a:pPr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  <a:p>
            <a:endParaRPr lang="en-US" sz="28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132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2273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/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Functional dependency: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Describes the relationship among attributes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Closure: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Help us understand the “power scope” of an attributes set. What other attributes can a particular attribute determine?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There is a similarity to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keys </a:t>
            </a:r>
          </a:p>
          <a:p>
            <a:pPr lvl="2"/>
            <a:endParaRPr lang="en-US" sz="2000" dirty="0">
              <a:sym typeface="Wingdings" pitchFamily="2" charset="2"/>
            </a:endParaRPr>
          </a:p>
          <a:p>
            <a:pPr lvl="2"/>
            <a:endParaRPr lang="en-US" sz="2000" dirty="0">
              <a:sym typeface="Wingdings" pitchFamily="2" charset="2"/>
            </a:endParaRPr>
          </a:p>
          <a:p>
            <a:pPr lvl="1"/>
            <a:endParaRPr lang="en-US" sz="2400" dirty="0"/>
          </a:p>
          <a:p>
            <a:endParaRPr lang="en-US" sz="24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614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Closure</a:t>
            </a:r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2283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/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More example: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Given: Student(SID, SNAME, C#, TITLE, GRADE)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Given: F = { SID  SNAME </a:t>
            </a:r>
          </a:p>
          <a:p>
            <a:pPr lvl="4">
              <a:buFont typeface="Wingdings" pitchFamily="2" charset="2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	     C#  TITLE</a:t>
            </a:r>
          </a:p>
          <a:p>
            <a:pPr lvl="4">
              <a:buFont typeface="Wingdings" pitchFamily="2" charset="2"/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	     SID, C#  GRADE }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Find the closure for: 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SID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C#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SID,C#</a:t>
            </a:r>
            <a:endParaRPr lang="en-US" sz="2000" b="1" dirty="0">
              <a:solidFill>
                <a:schemeClr val="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524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Revisited </a:t>
            </a:r>
          </a:p>
        </p:txBody>
      </p:sp>
      <p:sp>
        <p:nvSpPr>
          <p:cNvPr id="2293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114800"/>
          </a:xfrm>
          <a:noFill/>
          <a:ln/>
        </p:spPr>
        <p:txBody>
          <a:bodyPr/>
          <a:lstStyle/>
          <a:p>
            <a:r>
              <a:rPr lang="en-US" sz="2800" dirty="0"/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is a super key?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 set of attributes that can uniquely identify a row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The set of attributes which can determine all other attributes in a relation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The set of attributes whose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closure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is all of the attributes in the entire relation</a:t>
            </a:r>
          </a:p>
          <a:p>
            <a:pPr lvl="2"/>
            <a:endParaRPr lang="en-US" sz="2800" dirty="0">
              <a:sym typeface="Wingdings" pitchFamily="2" charset="2"/>
            </a:endParaRPr>
          </a:p>
          <a:p>
            <a:pPr lvl="2"/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  <a:p>
            <a:endParaRPr lang="en-US" sz="28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8906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397669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Keys: Revisited </a:t>
            </a:r>
          </a:p>
        </p:txBody>
      </p:sp>
      <p:sp>
        <p:nvSpPr>
          <p:cNvPr id="2304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lvl="1"/>
            <a:endParaRPr lang="en-US" sz="2400" dirty="0"/>
          </a:p>
        </p:txBody>
      </p:sp>
      <p:sp>
        <p:nvSpPr>
          <p:cNvPr id="230404" name="Rectangle 4"/>
          <p:cNvSpPr>
            <a:spLocks noChangeArrowheads="1"/>
          </p:cNvSpPr>
          <p:nvPr/>
        </p:nvSpPr>
        <p:spPr bwMode="auto">
          <a:xfrm>
            <a:off x="914400" y="2819400"/>
            <a:ext cx="675537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ym typeface="Wingdings" pitchFamily="2" charset="2"/>
              </a:rPr>
              <a:t>Student(SID, SNAME, CLASS, TITLE, GRADE)</a:t>
            </a:r>
          </a:p>
          <a:p>
            <a:endParaRPr lang="en-US" sz="2400" dirty="0">
              <a:sym typeface="Wingdings" pitchFamily="2" charset="2"/>
            </a:endParaRPr>
          </a:p>
          <a:p>
            <a:r>
              <a:rPr lang="en-US" sz="2400" dirty="0">
                <a:sym typeface="Wingdings" pitchFamily="2" charset="2"/>
              </a:rPr>
              <a:t>The closure of (SID, CLASS) is the whole table</a:t>
            </a:r>
          </a:p>
          <a:p>
            <a:r>
              <a:rPr lang="en-US" sz="2400" dirty="0">
                <a:sym typeface="Wingdings" pitchFamily="2" charset="2"/>
              </a:rPr>
              <a:t>Therefore, (SID,CLASS) is a </a:t>
            </a:r>
            <a:r>
              <a:rPr lang="en-US" sz="2400" dirty="0" err="1">
                <a:sym typeface="Wingdings" pitchFamily="2" charset="2"/>
              </a:rPr>
              <a:t>superkey</a:t>
            </a:r>
            <a:r>
              <a:rPr lang="en-US" sz="2400" dirty="0">
                <a:sym typeface="Wingdings" pitchFamily="2" charset="2"/>
              </a:rPr>
              <a:t> </a:t>
            </a:r>
          </a:p>
          <a:p>
            <a:endParaRPr lang="en-US" sz="2400" dirty="0">
              <a:sym typeface="Wingdings" pitchFamily="2" charset="2"/>
            </a:endParaRPr>
          </a:p>
          <a:p>
            <a:r>
              <a:rPr lang="en-US" sz="2400" dirty="0">
                <a:sym typeface="Wingdings" pitchFamily="2" charset="2"/>
              </a:rPr>
              <a:t>How about (SID,CLASS,TITLE)?</a:t>
            </a:r>
          </a:p>
        </p:txBody>
      </p:sp>
    </p:spTree>
    <p:extLst>
      <p:ext uri="{BB962C8B-B14F-4D97-AF65-F5344CB8AC3E}">
        <p14:creationId xmlns:p14="http://schemas.microsoft.com/office/powerpoint/2010/main" val="826565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Revisited </a:t>
            </a:r>
          </a:p>
        </p:txBody>
      </p:sp>
      <p:sp>
        <p:nvSpPr>
          <p:cNvPr id="2314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Candidate Key: Minimum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Superkey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does that mean?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a set of attributes A is 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superkey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and ANY subset of A is NOT, then A is minimum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superkey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8422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15637" y="51955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Revisited </a:t>
            </a:r>
          </a:p>
        </p:txBody>
      </p:sp>
      <p:sp>
        <p:nvSpPr>
          <p:cNvPr id="232452" name="Rectangle 4"/>
          <p:cNvSpPr>
            <a:spLocks noChangeArrowheads="1"/>
          </p:cNvSpPr>
          <p:nvPr/>
        </p:nvSpPr>
        <p:spPr bwMode="auto">
          <a:xfrm>
            <a:off x="533400" y="1752600"/>
            <a:ext cx="8077200" cy="175432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>
                <a:sym typeface="Wingdings" pitchFamily="2" charset="2"/>
              </a:rPr>
              <a:t>Student(SID, SNAME, C#, TITLE, GRADE)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(SID,C#) is a </a:t>
            </a:r>
            <a:r>
              <a:rPr lang="en-US" dirty="0" err="1">
                <a:sym typeface="Wingdings" pitchFamily="2" charset="2"/>
              </a:rPr>
              <a:t>superkey</a:t>
            </a:r>
            <a:r>
              <a:rPr lang="en-US" dirty="0">
                <a:sym typeface="Wingdings" pitchFamily="2" charset="2"/>
              </a:rPr>
              <a:t> </a:t>
            </a:r>
          </a:p>
          <a:p>
            <a:r>
              <a:rPr lang="en-US" dirty="0">
                <a:sym typeface="Wingdings" pitchFamily="2" charset="2"/>
              </a:rPr>
              <a:t>(SID) is not </a:t>
            </a:r>
            <a:r>
              <a:rPr lang="en-US" dirty="0" err="1">
                <a:sym typeface="Wingdings" pitchFamily="2" charset="2"/>
              </a:rPr>
              <a:t>superkey</a:t>
            </a:r>
            <a:r>
              <a:rPr lang="en-US" dirty="0">
                <a:sym typeface="Wingdings" pitchFamily="2" charset="2"/>
              </a:rPr>
              <a:t>, </a:t>
            </a:r>
          </a:p>
          <a:p>
            <a:r>
              <a:rPr lang="en-US" dirty="0">
                <a:sym typeface="Wingdings" pitchFamily="2" charset="2"/>
              </a:rPr>
              <a:t>(C#) is not </a:t>
            </a:r>
            <a:r>
              <a:rPr lang="en-US" dirty="0" err="1">
                <a:sym typeface="Wingdings" pitchFamily="2" charset="2"/>
              </a:rPr>
              <a:t>superkey</a:t>
            </a:r>
            <a:r>
              <a:rPr lang="en-US" dirty="0">
                <a:sym typeface="Wingdings" pitchFamily="2" charset="2"/>
              </a:rPr>
              <a:t> </a:t>
            </a:r>
          </a:p>
          <a:p>
            <a:r>
              <a:rPr lang="en-US" dirty="0">
                <a:sym typeface="Wingdings" pitchFamily="2" charset="2"/>
              </a:rPr>
              <a:t>Therefore,(SID,C#) is a candidate key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33400" y="3733800"/>
            <a:ext cx="8077200" cy="1477328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>
                <a:sym typeface="Wingdings" pitchFamily="2" charset="2"/>
              </a:rPr>
              <a:t>Student(SID, SNAME, C#, TITLE, GRADE)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(SID,C#,TITLE) is a </a:t>
            </a:r>
            <a:r>
              <a:rPr lang="en-US" dirty="0" err="1">
                <a:sym typeface="Wingdings" pitchFamily="2" charset="2"/>
              </a:rPr>
              <a:t>superkey</a:t>
            </a:r>
            <a:r>
              <a:rPr lang="en-US" dirty="0">
                <a:sym typeface="Wingdings" pitchFamily="2" charset="2"/>
              </a:rPr>
              <a:t> </a:t>
            </a:r>
          </a:p>
          <a:p>
            <a:r>
              <a:rPr lang="en-US" dirty="0">
                <a:sym typeface="Wingdings" pitchFamily="2" charset="2"/>
              </a:rPr>
              <a:t>However, (SID,C#) is also </a:t>
            </a:r>
            <a:r>
              <a:rPr lang="en-US" dirty="0" err="1">
                <a:sym typeface="Wingdings" pitchFamily="2" charset="2"/>
              </a:rPr>
              <a:t>superkey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Therefore,(SID,C#,TITLE) is NOT a candidate key</a:t>
            </a:r>
          </a:p>
        </p:txBody>
      </p:sp>
    </p:spTree>
    <p:extLst>
      <p:ext uri="{BB962C8B-B14F-4D97-AF65-F5344CB8AC3E}">
        <p14:creationId xmlns:p14="http://schemas.microsoft.com/office/powerpoint/2010/main" val="14515821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Find Keys</a:t>
            </a:r>
          </a:p>
        </p:txBody>
      </p:sp>
      <p:sp>
        <p:nvSpPr>
          <p:cNvPr id="2334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want to find candidate keys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One of them can be the primary key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Usually the one with least number of attributes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want to find attribute sets that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 the whole table as their closure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is easier that it sounds</a:t>
            </a:r>
          </a:p>
          <a:p>
            <a:endParaRPr lang="en-US" sz="2800" dirty="0"/>
          </a:p>
          <a:p>
            <a:endParaRPr lang="en-US" sz="24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8848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find Keys</a:t>
            </a:r>
          </a:p>
        </p:txBody>
      </p:sp>
      <p:sp>
        <p:nvSpPr>
          <p:cNvPr id="2344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Step 1: Check each SINGLE attribute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a single attribute never appears on LHS in any FDs, we don’t even need to consider them. That attribute CANNOT be a candidate key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one of them has the whole table as its closure, we found a candidate key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we find one such attribute, the hunt is over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4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9822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find Keys</a:t>
            </a:r>
          </a:p>
        </p:txBody>
      </p:sp>
      <p:sp>
        <p:nvSpPr>
          <p:cNvPr id="2355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Step 2: Check all two-attribute combos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only do this if we haven’t found single attribute as a key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Which two to start? Use the ones that cannot be excluded: some attributes ONLY depend on them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we find one such combo, the hunt is over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Step 3: Check all 3-attribute combos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endParaRPr lang="en-US" sz="24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8399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find Keys</a:t>
            </a:r>
          </a:p>
        </p:txBody>
      </p:sp>
      <p:sp>
        <p:nvSpPr>
          <p:cNvPr id="2365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Usually, we won’t need to go beyond the third step</a:t>
            </a:r>
          </a:p>
          <a:p>
            <a:pPr>
              <a:buFont typeface="Wingdings" pitchFamily="2" charset="2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Example: Find primary key for the following relation</a:t>
            </a:r>
          </a:p>
          <a:p>
            <a:pPr>
              <a:buFont typeface="Wingdings" pitchFamily="2" charset="2"/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 = (A,B,C,D,E,F)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Given: 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BC	    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B  CF 	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B  E		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CD  EF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/>
          </a:p>
          <a:p>
            <a:endParaRPr lang="en-US" sz="24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521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find Keys</a:t>
            </a:r>
          </a:p>
        </p:txBody>
      </p:sp>
      <p:sp>
        <p:nvSpPr>
          <p:cNvPr id="2375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 = (A,B,C,D,E,F)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Given: 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BC	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B  CF 	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B  E		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CD  EF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Check the following: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?  No D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B  ?  No A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?  No A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D  ?  No A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E? F? Not even on LHS, so they cannot be a candidate key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Conclusion: No single key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8170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-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find Keys</a:t>
            </a:r>
          </a:p>
        </p:txBody>
      </p:sp>
      <p:sp>
        <p:nvSpPr>
          <p:cNvPr id="238595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114800"/>
          </a:xfrm>
          <a:noFill/>
          <a:ln/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 = (A,B,C,D,E,F)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Given: 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BC	    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B  CF 	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   B  E		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       CD  EF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Does AB?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ABCDEF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How about ACD?  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Any other two or three attribute candidate keys?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b="1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4072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-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find Keys</a:t>
            </a:r>
          </a:p>
        </p:txBody>
      </p:sp>
      <p:sp>
        <p:nvSpPr>
          <p:cNvPr id="238595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29600" cy="4419600"/>
          </a:xfrm>
          <a:noFill/>
          <a:ln/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 = (A,B,C,D,E,F). Break down the Right Hand Side (RHS)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	    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	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		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93198"/>
              </p:ext>
            </p:extLst>
          </p:nvPr>
        </p:nvGraphicFramePr>
        <p:xfrm>
          <a:off x="1219200" y="2743200"/>
          <a:ext cx="6096000" cy="32308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Given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 BC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 B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 C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B  CF 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B  C 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B  F 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B  E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B  E 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CD  EF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CD  EF 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Substituting for C</a:t>
                      </a:r>
                      <a:r>
                        <a:rPr lang="en-US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in FD 6 by using the</a:t>
                      </a:r>
                      <a:r>
                        <a:rPr lang="en-US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A from FD 2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AD  EF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9798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-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find Keys</a:t>
            </a:r>
          </a:p>
        </p:txBody>
      </p:sp>
      <p:sp>
        <p:nvSpPr>
          <p:cNvPr id="238595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8229600" cy="1447800"/>
          </a:xfrm>
          <a:noFill/>
          <a:ln/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 = (A,B,C,D,E,F)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Solve for A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+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Result is no good. D is not covered. </a:t>
            </a:r>
            <a:endParaRPr lang="en-US" sz="24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643584"/>
              </p:ext>
            </p:extLst>
          </p:nvPr>
        </p:nvGraphicFramePr>
        <p:xfrm>
          <a:off x="914400" y="2209800"/>
          <a:ext cx="7619999" cy="4198353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18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9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9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9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9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840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Given</a:t>
                      </a:r>
                      <a:r>
                        <a:rPr lang="en-US" sz="16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 B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 C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B  C 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0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B  F 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B  E 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CD EF 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 EF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90782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-31173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find Keys</a:t>
            </a:r>
          </a:p>
        </p:txBody>
      </p:sp>
      <p:sp>
        <p:nvSpPr>
          <p:cNvPr id="238595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8229600" cy="1447800"/>
          </a:xfrm>
          <a:noFill/>
          <a:ln/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 = (A,B,C,D,E,F)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Solve for AD</a:t>
            </a:r>
            <a:r>
              <a:rPr lang="en-US" sz="2400" baseline="300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+    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Result is good. All attributes are covered. </a:t>
            </a:r>
            <a:endParaRPr lang="en-US" sz="24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593148"/>
              </p:ext>
            </p:extLst>
          </p:nvPr>
        </p:nvGraphicFramePr>
        <p:xfrm>
          <a:off x="914400" y="2209800"/>
          <a:ext cx="7619999" cy="4198353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18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9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9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9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9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9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840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Given</a:t>
                      </a:r>
                      <a:r>
                        <a:rPr lang="en-US" sz="16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AD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 B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 C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B  C 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07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B  F 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B  E 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CD EF 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Wingdings" pitchFamily="2" charset="2"/>
                        </a:rPr>
                        <a:t> EF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8852"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457884"/>
      </p:ext>
    </p:extLst>
  </p:cSld>
  <p:clrMapOvr>
    <a:masterClrMapping/>
  </p:clrMapOvr>
</p:sld>
</file>

<file path=ppt/theme/theme1.xml><?xml version="1.0" encoding="utf-8"?>
<a:theme xmlns:a="http://schemas.openxmlformats.org/drawingml/2006/main" name="TS10198302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BFB53C9-35A9-467F-919A-22BB23375D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TS101983022</Template>
  <TotalTime>1983</TotalTime>
  <Words>3309</Words>
  <Application>Microsoft Office PowerPoint</Application>
  <PresentationFormat>On-screen Show (4:3)</PresentationFormat>
  <Paragraphs>847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Tahoma</vt:lpstr>
      <vt:lpstr>Times New Roman</vt:lpstr>
      <vt:lpstr>Wingdings</vt:lpstr>
      <vt:lpstr>TS101983022</vt:lpstr>
      <vt:lpstr>IS 331  Database Design, Management and Applications</vt:lpstr>
      <vt:lpstr>Learning Objectives  </vt:lpstr>
      <vt:lpstr>Overview</vt:lpstr>
      <vt:lpstr>Overview, Cont.</vt:lpstr>
      <vt:lpstr>Where are we?</vt:lpstr>
      <vt:lpstr>What is Good Design?</vt:lpstr>
      <vt:lpstr>DB Design SIN #1: Redundancy</vt:lpstr>
      <vt:lpstr>Redundancy</vt:lpstr>
      <vt:lpstr>Redundancy</vt:lpstr>
      <vt:lpstr>DB Design SIN #2: Anomalies</vt:lpstr>
      <vt:lpstr>Insertion Anomaly</vt:lpstr>
      <vt:lpstr>Deletion Anomaly</vt:lpstr>
      <vt:lpstr>Modification/Update Anomaly</vt:lpstr>
      <vt:lpstr>How to Avoid Anomalies?</vt:lpstr>
      <vt:lpstr>How to Avoid Anomalies?</vt:lpstr>
      <vt:lpstr>Summary of Anomalies</vt:lpstr>
      <vt:lpstr>Functional Dependency</vt:lpstr>
      <vt:lpstr>Functional Dependency</vt:lpstr>
      <vt:lpstr>Functional Dependency</vt:lpstr>
      <vt:lpstr>Functional Dependency</vt:lpstr>
      <vt:lpstr>Functional Dependency</vt:lpstr>
      <vt:lpstr>Functional Dependency</vt:lpstr>
      <vt:lpstr>Functional Dependency</vt:lpstr>
      <vt:lpstr>Functional Dependency</vt:lpstr>
      <vt:lpstr>Functional Dependency</vt:lpstr>
      <vt:lpstr>Functional Dependency</vt:lpstr>
      <vt:lpstr>Closure</vt:lpstr>
      <vt:lpstr>Closure</vt:lpstr>
      <vt:lpstr>Closure</vt:lpstr>
      <vt:lpstr>Closure</vt:lpstr>
      <vt:lpstr>Closure</vt:lpstr>
      <vt:lpstr>Closure</vt:lpstr>
      <vt:lpstr>Recap </vt:lpstr>
      <vt:lpstr>Closure </vt:lpstr>
      <vt:lpstr>Keys Revisited </vt:lpstr>
      <vt:lpstr>Keys: Revisited </vt:lpstr>
      <vt:lpstr>Keys Revisited </vt:lpstr>
      <vt:lpstr>Keys Revisited </vt:lpstr>
      <vt:lpstr>How to Find Keys</vt:lpstr>
      <vt:lpstr>How to find Keys</vt:lpstr>
      <vt:lpstr>How to find Keys</vt:lpstr>
      <vt:lpstr>How to find Keys</vt:lpstr>
      <vt:lpstr>How to find Keys</vt:lpstr>
      <vt:lpstr>How to find Keys</vt:lpstr>
      <vt:lpstr>How to find Keys</vt:lpstr>
      <vt:lpstr>How to find Keys</vt:lpstr>
      <vt:lpstr>How to find Keys</vt:lpstr>
    </vt:vector>
  </TitlesOfParts>
  <Company>Lehigh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Lin Lin</dc:creator>
  <cp:lastModifiedBy>Art Hendela</cp:lastModifiedBy>
  <cp:revision>525</cp:revision>
  <cp:lastPrinted>2017-01-30T16:33:58Z</cp:lastPrinted>
  <dcterms:created xsi:type="dcterms:W3CDTF">2012-09-02T01:42:14Z</dcterms:created>
  <dcterms:modified xsi:type="dcterms:W3CDTF">2024-09-30T22:42:36Z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TC019830229991</vt:lpwstr>
  </property>
</Properties>
</file>