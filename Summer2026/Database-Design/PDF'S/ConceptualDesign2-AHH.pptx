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62"/>
  </p:notesMasterIdLst>
  <p:handoutMasterIdLst>
    <p:handoutMasterId r:id="rId63"/>
  </p:handoutMasterIdLst>
  <p:sldIdLst>
    <p:sldId id="256" r:id="rId3"/>
    <p:sldId id="257" r:id="rId4"/>
    <p:sldId id="258" r:id="rId5"/>
    <p:sldId id="259" r:id="rId6"/>
    <p:sldId id="271" r:id="rId7"/>
    <p:sldId id="295" r:id="rId8"/>
    <p:sldId id="272" r:id="rId9"/>
    <p:sldId id="296" r:id="rId10"/>
    <p:sldId id="273" r:id="rId11"/>
    <p:sldId id="297" r:id="rId12"/>
    <p:sldId id="298" r:id="rId13"/>
    <p:sldId id="274" r:id="rId14"/>
    <p:sldId id="299" r:id="rId15"/>
    <p:sldId id="300" r:id="rId16"/>
    <p:sldId id="301" r:id="rId17"/>
    <p:sldId id="304" r:id="rId18"/>
    <p:sldId id="302" r:id="rId19"/>
    <p:sldId id="275" r:id="rId20"/>
    <p:sldId id="303" r:id="rId21"/>
    <p:sldId id="276" r:id="rId22"/>
    <p:sldId id="305" r:id="rId23"/>
    <p:sldId id="306" r:id="rId24"/>
    <p:sldId id="319" r:id="rId25"/>
    <p:sldId id="307" r:id="rId26"/>
    <p:sldId id="308" r:id="rId27"/>
    <p:sldId id="321" r:id="rId28"/>
    <p:sldId id="322" r:id="rId29"/>
    <p:sldId id="313" r:id="rId30"/>
    <p:sldId id="323" r:id="rId31"/>
    <p:sldId id="324" r:id="rId32"/>
    <p:sldId id="320" r:id="rId33"/>
    <p:sldId id="325" r:id="rId34"/>
    <p:sldId id="312" r:id="rId35"/>
    <p:sldId id="316" r:id="rId36"/>
    <p:sldId id="282" r:id="rId37"/>
    <p:sldId id="283" r:id="rId38"/>
    <p:sldId id="328" r:id="rId39"/>
    <p:sldId id="329" r:id="rId40"/>
    <p:sldId id="327" r:id="rId41"/>
    <p:sldId id="284" r:id="rId42"/>
    <p:sldId id="330" r:id="rId43"/>
    <p:sldId id="260" r:id="rId44"/>
    <p:sldId id="261" r:id="rId45"/>
    <p:sldId id="262" r:id="rId46"/>
    <p:sldId id="332" r:id="rId47"/>
    <p:sldId id="333" r:id="rId48"/>
    <p:sldId id="334" r:id="rId49"/>
    <p:sldId id="337" r:id="rId50"/>
    <p:sldId id="338" r:id="rId51"/>
    <p:sldId id="335" r:id="rId52"/>
    <p:sldId id="336" r:id="rId53"/>
    <p:sldId id="339" r:id="rId54"/>
    <p:sldId id="340" r:id="rId55"/>
    <p:sldId id="265" r:id="rId56"/>
    <p:sldId id="266" r:id="rId57"/>
    <p:sldId id="268" r:id="rId58"/>
    <p:sldId id="341" r:id="rId59"/>
    <p:sldId id="342" r:id="rId60"/>
    <p:sldId id="343" r:id="rId6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88"/>
    </p:cViewPr>
  </p:sorterViewPr>
  <p:notesViewPr>
    <p:cSldViewPr>
      <p:cViewPr>
        <p:scale>
          <a:sx n="100" d="100"/>
          <a:sy n="100" d="100"/>
        </p:scale>
        <p:origin x="-2323" y="1013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70F04F7-40B2-4950-8182-9228924A303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C40AF9F-3AFD-4114-AAB7-9A96CA5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7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Total Participation: (FROM http://www.ques10.com/p/3849/explain-the-terms-total-participation-and-partial-/)</a:t>
            </a:r>
          </a:p>
          <a:p>
            <a:r>
              <a:rPr lang="en-US" b="1" dirty="0"/>
              <a:t>i. The participation of an entity set E in a relationship set R is said to be total if every entity in E participates in at least one relationship in R. </a:t>
            </a:r>
          </a:p>
          <a:p>
            <a:r>
              <a:rPr lang="en-US" b="1" dirty="0"/>
              <a:t>ii. Consider two entities EMPLOYEE and DEPARTMENT related with the help of relationship WORKS_FOR.</a:t>
            </a:r>
          </a:p>
          <a:p>
            <a:r>
              <a:rPr lang="en-US" b="1" dirty="0"/>
              <a:t>iii. If a company policy states that every employee must work for a department, then an employee entity can exist only if it participates in at least one WORKS_FOR relationship instance. Thus, the participation of EMPLOYEE in WORKS_FOR is called total participation, meaning that every entity in the total set of employee entities must be related to a department entity via WORKS_FOR.</a:t>
            </a:r>
          </a:p>
          <a:p>
            <a:r>
              <a:rPr lang="en-US" b="1" dirty="0"/>
              <a:t>iv. Total participation is also called existence dependency.</a:t>
            </a:r>
          </a:p>
          <a:p>
            <a:r>
              <a:rPr lang="en-US" b="1" dirty="0"/>
              <a:t>v. Total participation is displayed as a double line in ER diagram connecting the participating entity type to the relationship</a:t>
            </a:r>
          </a:p>
          <a:p>
            <a:r>
              <a:rPr lang="en-US" b="1" dirty="0"/>
              <a:t>3. Partial Participation:</a:t>
            </a:r>
          </a:p>
          <a:p>
            <a:r>
              <a:rPr lang="en-US" b="1" dirty="0"/>
              <a:t>i. If only some entities in entity set E participates in relationships in R, the participation of entity set E in relationship set R is said to be partial.</a:t>
            </a:r>
          </a:p>
          <a:p>
            <a:r>
              <a:rPr lang="en-US" b="1" dirty="0"/>
              <a:t>ii. Consider two entities EMPLOYEE and DEPARTMENT related with the help of relationship MANAGES.</a:t>
            </a:r>
          </a:p>
          <a:p>
            <a:r>
              <a:rPr lang="en-US" b="1" dirty="0"/>
              <a:t>iii. Here, not all employees are expected to manage a department, so the participation of EMPLOYEE in the MANAGES relationship type is partial.</a:t>
            </a:r>
          </a:p>
          <a:p>
            <a:r>
              <a:rPr lang="en-US" b="1" dirty="0"/>
              <a:t>iv. This means that some or part of the set of employee entities are related to some department entity via MANAGES, but not necessarily 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08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an entity instances as a row in an Excel sheet. </a:t>
            </a:r>
          </a:p>
          <a:p>
            <a:r>
              <a:rPr lang="en-US" dirty="0"/>
              <a:t>If you have two different  Excel sheets, how many rows in the one sheet (Entity or table) are related to how many rows in the other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82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correct. </a:t>
            </a:r>
          </a:p>
          <a:p>
            <a:r>
              <a:rPr lang="en-US" dirty="0"/>
              <a:t>In a hierarchical management organization,  one employee has multiple reporting lines, hence more than one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84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 indicates that the relation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61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item on the right side of the “:” cannot exist without the existence of the item on the left side of the “:”.</a:t>
            </a:r>
          </a:p>
          <a:p>
            <a:endParaRPr lang="en-US" dirty="0"/>
          </a:p>
          <a:p>
            <a:r>
              <a:rPr lang="en-US" dirty="0"/>
              <a:t>It is impossible to have a section of a class before the class is defined. </a:t>
            </a:r>
          </a:p>
          <a:p>
            <a:r>
              <a:rPr lang="en-US" dirty="0"/>
              <a:t>That’s the same with rooms in a building.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4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:  Conceptual</a:t>
            </a:r>
            <a:r>
              <a:rPr kumimoji="0" lang="en-US" sz="3200" b="1" i="0" u="none" strike="noStrike" kern="1200" cap="none" spc="0" normalizeH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 (II)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81000" y="3505200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Requirement Analysis</a:t>
            </a:r>
            <a:r>
              <a:rPr lang="en-US" sz="2000"/>
              <a:t>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676400" y="4114800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Conceptual Design</a:t>
            </a:r>
            <a:r>
              <a:rPr lang="en-US" sz="2000"/>
              <a:t>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895600" y="4648200"/>
            <a:ext cx="2514600" cy="406400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Logical Design</a:t>
            </a:r>
            <a:r>
              <a:rPr lang="en-US" sz="2000"/>
              <a:t> 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14800" y="5257800"/>
            <a:ext cx="24384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Physical Design 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81600" y="5791200"/>
            <a:ext cx="22860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Implementation 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324600" y="6324600"/>
            <a:ext cx="19812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Maintenance </a:t>
            </a:r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3200400" y="4572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4419600" y="5105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5486400" y="5715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6705600" y="6248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438400" y="3962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81445" y="24245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297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and understand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terms: 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Weak Entity, Associative Entity, Recursive Entity, Cardinality, Participation, Degree 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three types of maximum cardinalities and correctly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them given a scenario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mandatory and optional participations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weak entities and identifying relationships  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ER Models with cardinality of relationships given a description of the mini-world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Become familiar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the original notational system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Crow’s foot notational system to conduct ER Modeling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5333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on Relationship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relationship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relationship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a relationship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relationship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on entity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Definition, examples and notation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entity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Definition, examples and notation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50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Road Map For Conceptual Design</a:t>
            </a:r>
          </a:p>
        </p:txBody>
      </p:sp>
      <p:sp>
        <p:nvSpPr>
          <p:cNvPr id="44" name="Text Box 1051"/>
          <p:cNvSpPr txBox="1">
            <a:spLocks noChangeArrowheads="1"/>
          </p:cNvSpPr>
          <p:nvPr/>
        </p:nvSpPr>
        <p:spPr bwMode="auto">
          <a:xfrm>
            <a:off x="342900" y="1752600"/>
            <a:ext cx="19050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Conceptual Design </a:t>
            </a:r>
          </a:p>
        </p:txBody>
      </p:sp>
      <p:sp>
        <p:nvSpPr>
          <p:cNvPr id="45" name="Line 1052"/>
          <p:cNvSpPr>
            <a:spLocks noChangeShapeType="1"/>
          </p:cNvSpPr>
          <p:nvPr/>
        </p:nvSpPr>
        <p:spPr bwMode="auto">
          <a:xfrm>
            <a:off x="2362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Text Box 1053"/>
          <p:cNvSpPr txBox="1">
            <a:spLocks noChangeArrowheads="1"/>
          </p:cNvSpPr>
          <p:nvPr/>
        </p:nvSpPr>
        <p:spPr bwMode="auto">
          <a:xfrm>
            <a:off x="2667000" y="2514600"/>
            <a:ext cx="914400" cy="3762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/>
              <a:t>Entity</a:t>
            </a:r>
          </a:p>
        </p:txBody>
      </p:sp>
      <p:sp>
        <p:nvSpPr>
          <p:cNvPr id="47" name="Line 1056"/>
          <p:cNvSpPr>
            <a:spLocks noChangeShapeType="1"/>
          </p:cNvSpPr>
          <p:nvPr/>
        </p:nvSpPr>
        <p:spPr bwMode="auto">
          <a:xfrm>
            <a:off x="2057400" y="3581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1057"/>
          <p:cNvSpPr>
            <a:spLocks noChangeShapeType="1"/>
          </p:cNvSpPr>
          <p:nvPr/>
        </p:nvSpPr>
        <p:spPr bwMode="auto">
          <a:xfrm>
            <a:off x="23622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9" name="Line 1058"/>
          <p:cNvSpPr>
            <a:spLocks noChangeShapeType="1"/>
          </p:cNvSpPr>
          <p:nvPr/>
        </p:nvSpPr>
        <p:spPr bwMode="auto">
          <a:xfrm>
            <a:off x="2362200" y="2667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" name="Text Box 1072"/>
          <p:cNvSpPr txBox="1">
            <a:spLocks noChangeArrowheads="1"/>
          </p:cNvSpPr>
          <p:nvPr/>
        </p:nvSpPr>
        <p:spPr bwMode="auto">
          <a:xfrm>
            <a:off x="533400" y="3429000"/>
            <a:ext cx="1524000" cy="461665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ER Model</a:t>
            </a:r>
          </a:p>
        </p:txBody>
      </p:sp>
      <p:sp>
        <p:nvSpPr>
          <p:cNvPr id="51" name="Line 1073"/>
          <p:cNvSpPr>
            <a:spLocks noChangeShapeType="1"/>
          </p:cNvSpPr>
          <p:nvPr/>
        </p:nvSpPr>
        <p:spPr bwMode="auto">
          <a:xfrm>
            <a:off x="12954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" name="Text Box 1074"/>
          <p:cNvSpPr txBox="1">
            <a:spLocks noChangeArrowheads="1"/>
          </p:cNvSpPr>
          <p:nvPr/>
        </p:nvSpPr>
        <p:spPr bwMode="auto">
          <a:xfrm>
            <a:off x="2667000" y="3352800"/>
            <a:ext cx="1295400" cy="3762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</p:txBody>
      </p:sp>
      <p:sp>
        <p:nvSpPr>
          <p:cNvPr id="53" name="Text Box 1075"/>
          <p:cNvSpPr txBox="1">
            <a:spLocks noChangeArrowheads="1"/>
          </p:cNvSpPr>
          <p:nvPr/>
        </p:nvSpPr>
        <p:spPr bwMode="auto">
          <a:xfrm>
            <a:off x="2667000" y="4267200"/>
            <a:ext cx="1524000" cy="3762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Relationship</a:t>
            </a:r>
          </a:p>
        </p:txBody>
      </p:sp>
      <p:sp>
        <p:nvSpPr>
          <p:cNvPr id="54" name="Text Box 1080"/>
          <p:cNvSpPr txBox="1">
            <a:spLocks noChangeArrowheads="1"/>
          </p:cNvSpPr>
          <p:nvPr/>
        </p:nvSpPr>
        <p:spPr bwMode="auto">
          <a:xfrm>
            <a:off x="4267200" y="15240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Basics</a:t>
            </a:r>
          </a:p>
        </p:txBody>
      </p:sp>
      <p:sp>
        <p:nvSpPr>
          <p:cNvPr id="55" name="Text Box 1081"/>
          <p:cNvSpPr txBox="1">
            <a:spLocks noChangeArrowheads="1"/>
          </p:cNvSpPr>
          <p:nvPr/>
        </p:nvSpPr>
        <p:spPr bwMode="auto">
          <a:xfrm>
            <a:off x="4267200" y="2057400"/>
            <a:ext cx="2133600" cy="707886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Two advanced types of Entity</a:t>
            </a:r>
          </a:p>
        </p:txBody>
      </p:sp>
      <p:sp>
        <p:nvSpPr>
          <p:cNvPr id="56" name="Text Box 1082"/>
          <p:cNvSpPr txBox="1">
            <a:spLocks noChangeArrowheads="1"/>
          </p:cNvSpPr>
          <p:nvPr/>
        </p:nvSpPr>
        <p:spPr bwMode="auto">
          <a:xfrm>
            <a:off x="4267200" y="2819400"/>
            <a:ext cx="2133600" cy="37623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Super/subtypes</a:t>
            </a:r>
          </a:p>
        </p:txBody>
      </p:sp>
      <p:sp>
        <p:nvSpPr>
          <p:cNvPr id="57" name="Line 1083"/>
          <p:cNvSpPr>
            <a:spLocks noChangeShapeType="1"/>
          </p:cNvSpPr>
          <p:nvPr/>
        </p:nvSpPr>
        <p:spPr bwMode="auto">
          <a:xfrm>
            <a:off x="38862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1084"/>
          <p:cNvSpPr>
            <a:spLocks noChangeShapeType="1"/>
          </p:cNvSpPr>
          <p:nvPr/>
        </p:nvSpPr>
        <p:spPr bwMode="auto">
          <a:xfrm>
            <a:off x="35814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Line 1085"/>
          <p:cNvSpPr>
            <a:spLocks noChangeShapeType="1"/>
          </p:cNvSpPr>
          <p:nvPr/>
        </p:nvSpPr>
        <p:spPr bwMode="auto">
          <a:xfrm>
            <a:off x="3886200" y="3048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" name="Line 1086"/>
          <p:cNvSpPr>
            <a:spLocks noChangeShapeType="1"/>
          </p:cNvSpPr>
          <p:nvPr/>
        </p:nvSpPr>
        <p:spPr bwMode="auto">
          <a:xfrm>
            <a:off x="3886200" y="1752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" name="Text Box 1087"/>
          <p:cNvSpPr txBox="1">
            <a:spLocks noChangeArrowheads="1"/>
          </p:cNvSpPr>
          <p:nvPr/>
        </p:nvSpPr>
        <p:spPr bwMode="auto">
          <a:xfrm>
            <a:off x="4495800" y="39624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Basics</a:t>
            </a:r>
          </a:p>
        </p:txBody>
      </p:sp>
      <p:sp>
        <p:nvSpPr>
          <p:cNvPr id="62" name="Text Box 1088"/>
          <p:cNvSpPr txBox="1">
            <a:spLocks noChangeArrowheads="1"/>
          </p:cNvSpPr>
          <p:nvPr/>
        </p:nvSpPr>
        <p:spPr bwMode="auto">
          <a:xfrm>
            <a:off x="4495800" y="4876800"/>
            <a:ext cx="2133600" cy="707886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Cardinality and Participation</a:t>
            </a:r>
          </a:p>
        </p:txBody>
      </p:sp>
      <p:sp>
        <p:nvSpPr>
          <p:cNvPr id="63" name="Line 1090"/>
          <p:cNvSpPr>
            <a:spLocks noChangeShapeType="1"/>
          </p:cNvSpPr>
          <p:nvPr/>
        </p:nvSpPr>
        <p:spPr bwMode="auto">
          <a:xfrm>
            <a:off x="4343400" y="5257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1091"/>
          <p:cNvSpPr>
            <a:spLocks noChangeShapeType="1"/>
          </p:cNvSpPr>
          <p:nvPr/>
        </p:nvSpPr>
        <p:spPr bwMode="auto">
          <a:xfrm>
            <a:off x="43434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1092"/>
          <p:cNvSpPr>
            <a:spLocks noChangeShapeType="1"/>
          </p:cNvSpPr>
          <p:nvPr/>
        </p:nvSpPr>
        <p:spPr bwMode="auto">
          <a:xfrm>
            <a:off x="4343400" y="4038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Line 1094"/>
          <p:cNvSpPr>
            <a:spLocks noChangeShapeType="1"/>
          </p:cNvSpPr>
          <p:nvPr/>
        </p:nvSpPr>
        <p:spPr bwMode="auto">
          <a:xfrm>
            <a:off x="4191000" y="4495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7" name="Rectangle 1095"/>
          <p:cNvSpPr>
            <a:spLocks noChangeArrowheads="1"/>
          </p:cNvSpPr>
          <p:nvPr/>
        </p:nvSpPr>
        <p:spPr bwMode="auto">
          <a:xfrm>
            <a:off x="4156363" y="1990292"/>
            <a:ext cx="2362200" cy="82910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Rectangle 1097"/>
          <p:cNvSpPr>
            <a:spLocks noChangeArrowheads="1"/>
          </p:cNvSpPr>
          <p:nvPr/>
        </p:nvSpPr>
        <p:spPr bwMode="auto">
          <a:xfrm>
            <a:off x="4419600" y="4790064"/>
            <a:ext cx="2362200" cy="86951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Line 1098"/>
          <p:cNvSpPr>
            <a:spLocks noChangeShapeType="1"/>
          </p:cNvSpPr>
          <p:nvPr/>
        </p:nvSpPr>
        <p:spPr bwMode="auto">
          <a:xfrm>
            <a:off x="6400800" y="24141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" name="Line 1099"/>
          <p:cNvSpPr>
            <a:spLocks noChangeShapeType="1"/>
          </p:cNvSpPr>
          <p:nvPr/>
        </p:nvSpPr>
        <p:spPr bwMode="auto">
          <a:xfrm>
            <a:off x="7010399" y="4728910"/>
            <a:ext cx="5576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2" name="Line 1100"/>
          <p:cNvSpPr>
            <a:spLocks noChangeShapeType="1"/>
          </p:cNvSpPr>
          <p:nvPr/>
        </p:nvSpPr>
        <p:spPr bwMode="auto">
          <a:xfrm>
            <a:off x="6634163" y="5230743"/>
            <a:ext cx="376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" name="Line 1101"/>
          <p:cNvSpPr>
            <a:spLocks noChangeShapeType="1"/>
          </p:cNvSpPr>
          <p:nvPr/>
        </p:nvSpPr>
        <p:spPr bwMode="auto">
          <a:xfrm>
            <a:off x="7010400" y="2411342"/>
            <a:ext cx="0" cy="28134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4" name="Text Box 1102"/>
          <p:cNvSpPr txBox="1">
            <a:spLocks noChangeArrowheads="1"/>
          </p:cNvSpPr>
          <p:nvPr/>
        </p:nvSpPr>
        <p:spPr bwMode="auto">
          <a:xfrm>
            <a:off x="7620000" y="3200400"/>
            <a:ext cx="1295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ER Modeling</a:t>
            </a:r>
          </a:p>
        </p:txBody>
      </p:sp>
      <p:sp>
        <p:nvSpPr>
          <p:cNvPr id="75" name="Rectangle 1103"/>
          <p:cNvSpPr>
            <a:spLocks noChangeArrowheads="1"/>
          </p:cNvSpPr>
          <p:nvPr/>
        </p:nvSpPr>
        <p:spPr bwMode="auto">
          <a:xfrm>
            <a:off x="7498773" y="4211637"/>
            <a:ext cx="1447800" cy="10668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1108"/>
          <p:cNvSpPr txBox="1">
            <a:spLocks noChangeArrowheads="1"/>
          </p:cNvSpPr>
          <p:nvPr/>
        </p:nvSpPr>
        <p:spPr bwMode="auto">
          <a:xfrm>
            <a:off x="7568045" y="4419600"/>
            <a:ext cx="1340427" cy="6463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 dirty="0">
                <a:solidFill>
                  <a:schemeClr val="bg1"/>
                </a:solidFill>
              </a:rPr>
              <a:t>ER Modeling</a:t>
            </a:r>
          </a:p>
        </p:txBody>
      </p:sp>
      <p:sp>
        <p:nvSpPr>
          <p:cNvPr id="77" name="Text Box 1111"/>
          <p:cNvSpPr txBox="1">
            <a:spLocks noChangeArrowheads="1"/>
          </p:cNvSpPr>
          <p:nvPr/>
        </p:nvSpPr>
        <p:spPr bwMode="auto">
          <a:xfrm>
            <a:off x="7568044" y="1826641"/>
            <a:ext cx="1347356" cy="6508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EER Modeling</a:t>
            </a:r>
          </a:p>
        </p:txBody>
      </p:sp>
    </p:spTree>
    <p:extLst>
      <p:ext uri="{BB962C8B-B14F-4D97-AF65-F5344CB8AC3E}">
        <p14:creationId xmlns:p14="http://schemas.microsoft.com/office/powerpoint/2010/main" val="25320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More on Relationship</a:t>
            </a:r>
          </a:p>
        </p:txBody>
      </p:sp>
      <p:sp>
        <p:nvSpPr>
          <p:cNvPr id="10854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143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only covered basics about relationship last time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Relationship details are the most difficult part of ER modeling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need to determine: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Cardinality of a relationship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Total or partial participation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Degree of a relationship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511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Missing?</a:t>
            </a:r>
          </a:p>
        </p:txBody>
      </p:sp>
      <p:sp>
        <p:nvSpPr>
          <p:cNvPr id="10854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304800" y="3352800"/>
            <a:ext cx="8458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The mini-world tells us about the entities, etc. that we need. That’s the </a:t>
            </a:r>
            <a:r>
              <a:rPr lang="en-US" sz="2400" dirty="0">
                <a:solidFill>
                  <a:srgbClr val="FF0000"/>
                </a:solidFill>
              </a:rPr>
              <a:t>qualitative</a:t>
            </a:r>
            <a:r>
              <a:rPr lang="en-US" sz="2400" dirty="0"/>
              <a:t> story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Now we need to capture </a:t>
            </a:r>
            <a:r>
              <a:rPr lang="en-US" sz="2400" dirty="0">
                <a:solidFill>
                  <a:srgbClr val="FF0000"/>
                </a:solidFill>
              </a:rPr>
              <a:t>quantitative</a:t>
            </a:r>
            <a:r>
              <a:rPr lang="en-US" sz="2400" dirty="0"/>
              <a:t> information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How many courses </a:t>
            </a:r>
            <a:r>
              <a:rPr lang="en-US" sz="2400" dirty="0">
                <a:solidFill>
                  <a:srgbClr val="FF0000"/>
                </a:solidFill>
              </a:rPr>
              <a:t>COULD</a:t>
            </a:r>
            <a:r>
              <a:rPr lang="en-US" sz="2400" dirty="0"/>
              <a:t> a student take? (Max)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How many courses </a:t>
            </a:r>
            <a:r>
              <a:rPr lang="en-US" sz="2400" dirty="0">
                <a:solidFill>
                  <a:srgbClr val="FF0000"/>
                </a:solidFill>
              </a:rPr>
              <a:t>MUST</a:t>
            </a:r>
            <a:r>
              <a:rPr lang="en-US" sz="2400" dirty="0"/>
              <a:t> a student take? (Min)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How many students </a:t>
            </a:r>
            <a:r>
              <a:rPr lang="en-US" sz="2400" dirty="0">
                <a:solidFill>
                  <a:srgbClr val="FF0000"/>
                </a:solidFill>
              </a:rPr>
              <a:t>COULD</a:t>
            </a:r>
            <a:r>
              <a:rPr lang="en-US" sz="2400" dirty="0"/>
              <a:t> a course have? (Max)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How many students </a:t>
            </a:r>
            <a:r>
              <a:rPr lang="en-US" sz="2400" dirty="0">
                <a:solidFill>
                  <a:srgbClr val="FF0000"/>
                </a:solidFill>
              </a:rPr>
              <a:t>MUST</a:t>
            </a:r>
            <a:r>
              <a:rPr lang="en-US" sz="2400" dirty="0"/>
              <a:t> a course have? (Min)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81200" y="1839119"/>
            <a:ext cx="1066800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STUDENT</a:t>
            </a:r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6248400" y="1839119"/>
            <a:ext cx="1069975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COURSE</a:t>
            </a:r>
          </a:p>
        </p:txBody>
      </p:sp>
      <p:sp>
        <p:nvSpPr>
          <p:cNvPr id="6" name="Line 26"/>
          <p:cNvSpPr>
            <a:spLocks noChangeShapeType="1"/>
          </p:cNvSpPr>
          <p:nvPr/>
        </p:nvSpPr>
        <p:spPr bwMode="auto">
          <a:xfrm flipV="1">
            <a:off x="5451759" y="1972469"/>
            <a:ext cx="796641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34"/>
          <p:cNvSpPr>
            <a:spLocks noChangeShapeType="1"/>
          </p:cNvSpPr>
          <p:nvPr/>
        </p:nvSpPr>
        <p:spPr bwMode="auto">
          <a:xfrm>
            <a:off x="3048000" y="1972470"/>
            <a:ext cx="9178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AutoShape 35"/>
          <p:cNvSpPr>
            <a:spLocks noChangeArrowheads="1"/>
          </p:cNvSpPr>
          <p:nvPr/>
        </p:nvSpPr>
        <p:spPr bwMode="auto">
          <a:xfrm>
            <a:off x="3965859" y="1762920"/>
            <a:ext cx="1485900" cy="419100"/>
          </a:xfrm>
          <a:prstGeom prst="diamond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TAKES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17629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Original 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2590800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Crow’s Foot: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981200" y="2689896"/>
            <a:ext cx="1066800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b="1" dirty="0">
                <a:latin typeface="Times New Roman" pitchFamily="18" charset="0"/>
              </a:rPr>
              <a:t>STUDENT</a:t>
            </a:r>
          </a:p>
        </p:txBody>
      </p:sp>
      <p:sp>
        <p:nvSpPr>
          <p:cNvPr id="13" name="Line 34"/>
          <p:cNvSpPr>
            <a:spLocks noChangeShapeType="1"/>
          </p:cNvSpPr>
          <p:nvPr/>
        </p:nvSpPr>
        <p:spPr bwMode="auto">
          <a:xfrm>
            <a:off x="3048000" y="2821442"/>
            <a:ext cx="3200400" cy="180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6248400" y="2688092"/>
            <a:ext cx="1069975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b="1" dirty="0">
                <a:latin typeface="Times New Roman" pitchFamily="18" charset="0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2758" y="2845620"/>
            <a:ext cx="65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Takes</a:t>
            </a:r>
          </a:p>
        </p:txBody>
      </p:sp>
    </p:spTree>
    <p:extLst>
      <p:ext uri="{BB962C8B-B14F-4D97-AF65-F5344CB8AC3E}">
        <p14:creationId xmlns:p14="http://schemas.microsoft.com/office/powerpoint/2010/main" val="97816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Cardinality</a:t>
            </a:r>
          </a:p>
        </p:txBody>
      </p:sp>
      <p:sp>
        <p:nvSpPr>
          <p:cNvPr id="10957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4478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cardinal number is a number used in counting, such as 1, 2, 3, .... </a:t>
            </a:r>
          </a:p>
          <a:p>
            <a:pPr marL="800100" lvl="1" indent="-342900"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ER modeling, “cardinality” refers to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entity instances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can be involved in a relationship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maximum number of entity instances that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participate in a relationship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cardinality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minimum number of entity instances that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participate in a relationship.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74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Numbers To Know</a:t>
            </a:r>
            <a:b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Crow’s Foot Notation</a:t>
            </a:r>
          </a:p>
        </p:txBody>
      </p:sp>
      <p:sp>
        <p:nvSpPr>
          <p:cNvPr id="10957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Crow’s Foot notation makes it easier to understand the relationship cardinalities. This is what we will use for our assignments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will also show you how to use the original Chen notation from Peter Chen’s 1976 paper called “</a:t>
            </a:r>
            <a:r>
              <a:rPr lang="en-US" sz="2400" dirty="0"/>
              <a:t>The Entity-Relationship Model-Towards a Unified View of Data”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4420" y="4343400"/>
            <a:ext cx="4587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0</a:t>
            </a:r>
          </a:p>
          <a:p>
            <a:endParaRPr lang="en-US" sz="2400" b="1" i="1" dirty="0"/>
          </a:p>
          <a:p>
            <a:r>
              <a:rPr lang="en-US" sz="2400" b="1" i="1" dirty="0"/>
              <a:t>1</a:t>
            </a:r>
          </a:p>
          <a:p>
            <a:endParaRPr lang="en-US" sz="2400" b="1" i="1" dirty="0"/>
          </a:p>
          <a:p>
            <a:r>
              <a:rPr lang="en-US" sz="2400" b="1" i="1" dirty="0"/>
              <a:t>m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95600" y="4582391"/>
            <a:ext cx="2701636" cy="1447800"/>
            <a:chOff x="2895600" y="4582391"/>
            <a:chExt cx="2701636" cy="1447800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895600" y="4582391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895600" y="5312896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930236" y="6030191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019800" y="4461164"/>
            <a:ext cx="238991" cy="1787236"/>
            <a:chOff x="6019800" y="4461164"/>
            <a:chExt cx="238991" cy="1787236"/>
          </a:xfrm>
        </p:grpSpPr>
        <p:sp>
          <p:nvSpPr>
            <p:cNvPr id="6" name="Oval 5"/>
            <p:cNvSpPr/>
            <p:nvPr/>
          </p:nvSpPr>
          <p:spPr>
            <a:xfrm>
              <a:off x="6019800" y="4461164"/>
              <a:ext cx="228600" cy="2286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6134100" y="5105400"/>
              <a:ext cx="0" cy="304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6019800" y="5818909"/>
              <a:ext cx="238991" cy="429491"/>
              <a:chOff x="6096000" y="5704609"/>
              <a:chExt cx="238991" cy="429491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flipH="1">
                <a:off x="6120245" y="5704609"/>
                <a:ext cx="152400" cy="2286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H="1">
                <a:off x="6106391" y="5943600"/>
                <a:ext cx="2286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6096000" y="5943600"/>
                <a:ext cx="228600" cy="1905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1100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How many instances CAN be involved?</a:t>
            </a:r>
          </a:p>
        </p:txBody>
      </p:sp>
      <p:sp>
        <p:nvSpPr>
          <p:cNvPr id="11059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I have introduced to you the ONLY three numbers we could have in cardinality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Imagine TWO entity classes and a relationship between them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How many different types of maximum cardinality are possible?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0 – 1? 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1 – 0?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1 – 1?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1 – m ? 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m – 1?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M – m ? 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903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One Relationship</a:t>
            </a:r>
          </a:p>
        </p:txBody>
      </p:sp>
      <p:sp>
        <p:nvSpPr>
          <p:cNvPr id="11059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334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000" dirty="0">
                <a:latin typeface="+mn-lt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One-to-one relationship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Example</a:t>
            </a:r>
          </a:p>
          <a:p>
            <a:pPr marL="1200150" lvl="2" indent="-4572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employee may be a student: Each employee may be 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student. </a:t>
            </a:r>
          </a:p>
          <a:p>
            <a:pPr marL="1200150" lvl="2" indent="-4572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student may be 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employee </a:t>
            </a:r>
          </a:p>
          <a:p>
            <a:pPr marL="1257300" lvl="2" indent="-457200"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Here, only one instance could participate the relationship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Notations</a:t>
            </a: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981200" y="4191000"/>
            <a:ext cx="4914900" cy="2201379"/>
            <a:chOff x="1981200" y="4191000"/>
            <a:chExt cx="4914900" cy="2201379"/>
          </a:xfrm>
        </p:grpSpPr>
        <p:grpSp>
          <p:nvGrpSpPr>
            <p:cNvPr id="3" name="Group 2"/>
            <p:cNvGrpSpPr/>
            <p:nvPr/>
          </p:nvGrpSpPr>
          <p:grpSpPr>
            <a:xfrm>
              <a:off x="1981200" y="4191000"/>
              <a:ext cx="4914900" cy="2201379"/>
              <a:chOff x="2133600" y="4977245"/>
              <a:chExt cx="4914900" cy="2201379"/>
            </a:xfrm>
          </p:grpSpPr>
          <p:sp>
            <p:nvSpPr>
              <p:cNvPr id="110659" name="Rectangle 67"/>
              <p:cNvSpPr>
                <a:spLocks noChangeArrowheads="1"/>
              </p:cNvSpPr>
              <p:nvPr/>
            </p:nvSpPr>
            <p:spPr bwMode="auto">
              <a:xfrm>
                <a:off x="2133600" y="5027251"/>
                <a:ext cx="1378527" cy="2667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EMPLOYEE</a:t>
                </a:r>
              </a:p>
            </p:txBody>
          </p:sp>
          <p:sp>
            <p:nvSpPr>
              <p:cNvPr id="110660" name="Rectangle 68"/>
              <p:cNvSpPr>
                <a:spLocks noChangeArrowheads="1"/>
              </p:cNvSpPr>
              <p:nvPr/>
            </p:nvSpPr>
            <p:spPr bwMode="auto">
              <a:xfrm>
                <a:off x="5753100" y="5027251"/>
                <a:ext cx="1257300" cy="2667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STUDENT</a:t>
                </a:r>
              </a:p>
            </p:txBody>
          </p:sp>
          <p:sp>
            <p:nvSpPr>
              <p:cNvPr id="110661" name="Line 69"/>
              <p:cNvSpPr>
                <a:spLocks noChangeShapeType="1"/>
              </p:cNvSpPr>
              <p:nvPr/>
            </p:nvSpPr>
            <p:spPr bwMode="auto">
              <a:xfrm>
                <a:off x="3512127" y="5186795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0662" name="Line 70"/>
              <p:cNvSpPr>
                <a:spLocks noChangeShapeType="1"/>
              </p:cNvSpPr>
              <p:nvPr/>
            </p:nvSpPr>
            <p:spPr bwMode="auto">
              <a:xfrm>
                <a:off x="5372100" y="5186795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0663" name="AutoShape 71"/>
              <p:cNvSpPr>
                <a:spLocks noChangeArrowheads="1"/>
              </p:cNvSpPr>
              <p:nvPr/>
            </p:nvSpPr>
            <p:spPr bwMode="auto">
              <a:xfrm>
                <a:off x="3893127" y="4977245"/>
                <a:ext cx="1485900" cy="419100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sz="1200" dirty="0">
                  <a:latin typeface="Times New Roman" pitchFamily="18" charset="0"/>
                </a:endParaRPr>
              </a:p>
            </p:txBody>
          </p:sp>
          <p:sp>
            <p:nvSpPr>
              <p:cNvPr id="110664" name="Text Box 72"/>
              <p:cNvSpPr txBox="1">
                <a:spLocks noChangeArrowheads="1"/>
              </p:cNvSpPr>
              <p:nvPr/>
            </p:nvSpPr>
            <p:spPr bwMode="auto">
              <a:xfrm>
                <a:off x="4322452" y="5003438"/>
                <a:ext cx="7067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dirty="0"/>
                  <a:t>1 :</a:t>
                </a:r>
              </a:p>
            </p:txBody>
          </p:sp>
          <p:sp>
            <p:nvSpPr>
              <p:cNvPr id="110665" name="Text Box 73"/>
              <p:cNvSpPr txBox="1">
                <a:spLocks noChangeArrowheads="1"/>
              </p:cNvSpPr>
              <p:nvPr/>
            </p:nvSpPr>
            <p:spPr bwMode="auto">
              <a:xfrm>
                <a:off x="4632613" y="5004955"/>
                <a:ext cx="381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dirty="0"/>
                  <a:t>1</a:t>
                </a:r>
              </a:p>
            </p:txBody>
          </p:sp>
          <p:sp>
            <p:nvSpPr>
              <p:cNvPr id="2" name="Rectangle 1"/>
              <p:cNvSpPr/>
              <p:nvPr/>
            </p:nvSpPr>
            <p:spPr>
              <a:xfrm>
                <a:off x="4135416" y="5345668"/>
                <a:ext cx="10461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dirty="0">
                    <a:latin typeface="Times New Roman" pitchFamily="18" charset="0"/>
                  </a:rPr>
                  <a:t>MAY BE</a:t>
                </a:r>
              </a:p>
            </p:txBody>
          </p:sp>
          <p:sp>
            <p:nvSpPr>
              <p:cNvPr id="14" name="Rectangle 67"/>
              <p:cNvSpPr>
                <a:spLocks noChangeArrowheads="1"/>
              </p:cNvSpPr>
              <p:nvPr/>
            </p:nvSpPr>
            <p:spPr bwMode="auto">
              <a:xfrm>
                <a:off x="2133600" y="6653645"/>
                <a:ext cx="1378527" cy="2667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EMPLOYEE</a:t>
                </a:r>
              </a:p>
            </p:txBody>
          </p:sp>
          <p:sp>
            <p:nvSpPr>
              <p:cNvPr id="15" name="Rectangle 68"/>
              <p:cNvSpPr>
                <a:spLocks noChangeArrowheads="1"/>
              </p:cNvSpPr>
              <p:nvPr/>
            </p:nvSpPr>
            <p:spPr bwMode="auto">
              <a:xfrm>
                <a:off x="5791200" y="6651696"/>
                <a:ext cx="1257300" cy="2667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STUDENT</a:t>
                </a:r>
              </a:p>
            </p:txBody>
          </p:sp>
          <p:sp>
            <p:nvSpPr>
              <p:cNvPr id="16" name="Line 69"/>
              <p:cNvSpPr>
                <a:spLocks noChangeShapeType="1"/>
              </p:cNvSpPr>
              <p:nvPr/>
            </p:nvSpPr>
            <p:spPr bwMode="auto">
              <a:xfrm>
                <a:off x="3512126" y="6786995"/>
                <a:ext cx="2279073" cy="0"/>
              </a:xfrm>
              <a:prstGeom prst="line">
                <a:avLst/>
              </a:prstGeom>
              <a:ln>
                <a:prstDash val="lgDash"/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152734" y="6809292"/>
                <a:ext cx="10461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dirty="0">
                    <a:latin typeface="Times New Roman" pitchFamily="18" charset="0"/>
                  </a:rPr>
                  <a:t>MAY BE</a:t>
                </a:r>
              </a:p>
            </p:txBody>
          </p:sp>
        </p:grpSp>
        <p:cxnSp>
          <p:nvCxnSpPr>
            <p:cNvPr id="5" name="Straight Connector 4"/>
            <p:cNvCxnSpPr/>
            <p:nvPr/>
          </p:nvCxnSpPr>
          <p:spPr>
            <a:xfrm>
              <a:off x="3429000" y="5865451"/>
              <a:ext cx="0" cy="26864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541818" y="5865451"/>
              <a:ext cx="0" cy="26864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711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One Relationship</a:t>
            </a:r>
          </a:p>
        </p:txBody>
      </p:sp>
      <p:sp>
        <p:nvSpPr>
          <p:cNvPr id="11059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33400" y="1295400"/>
            <a:ext cx="8153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000" dirty="0">
                <a:latin typeface="+mn-lt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Book Example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Ignore the circles (0) – those are minimal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cardinalities, we will cover them later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852869"/>
              </p:ext>
            </p:extLst>
          </p:nvPr>
        </p:nvGraphicFramePr>
        <p:xfrm>
          <a:off x="6515048" y="1219200"/>
          <a:ext cx="2251127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2324424" imgH="3933333" progId="">
                  <p:embed/>
                </p:oleObj>
              </mc:Choice>
              <mc:Fallback>
                <p:oleObj name="Photo Editor Photo" r:id="rId2" imgW="2324424" imgH="3933333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048" y="1219200"/>
                        <a:ext cx="2251127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46047"/>
            <a:ext cx="5410200" cy="97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562600" y="2362200"/>
            <a:ext cx="2057400" cy="838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991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One-to-Many (or Many-to-one) relationship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basketball team has (is composed of)      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players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player, however, can only play for 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team  </a:t>
            </a: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 Relationship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438400" y="4495800"/>
            <a:ext cx="4831773" cy="2160032"/>
            <a:chOff x="2438400" y="4495800"/>
            <a:chExt cx="4831773" cy="2160032"/>
          </a:xfrm>
        </p:grpSpPr>
        <p:grpSp>
          <p:nvGrpSpPr>
            <p:cNvPr id="4" name="Group 3"/>
            <p:cNvGrpSpPr/>
            <p:nvPr/>
          </p:nvGrpSpPr>
          <p:grpSpPr>
            <a:xfrm>
              <a:off x="2438400" y="4495800"/>
              <a:ext cx="4831773" cy="2160032"/>
              <a:chOff x="2438400" y="4495800"/>
              <a:chExt cx="4831773" cy="2160032"/>
            </a:xfrm>
          </p:grpSpPr>
          <p:sp>
            <p:nvSpPr>
              <p:cNvPr id="111620" name="Rectangle 4"/>
              <p:cNvSpPr>
                <a:spLocks noChangeArrowheads="1"/>
              </p:cNvSpPr>
              <p:nvPr/>
            </p:nvSpPr>
            <p:spPr bwMode="auto">
              <a:xfrm>
                <a:off x="2438400" y="4572000"/>
                <a:ext cx="1295400" cy="3429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TEAM</a:t>
                </a:r>
              </a:p>
            </p:txBody>
          </p:sp>
          <p:sp>
            <p:nvSpPr>
              <p:cNvPr id="111621" name="Rectangle 5"/>
              <p:cNvSpPr>
                <a:spLocks noChangeArrowheads="1"/>
              </p:cNvSpPr>
              <p:nvPr/>
            </p:nvSpPr>
            <p:spPr bwMode="auto">
              <a:xfrm>
                <a:off x="5943600" y="4572000"/>
                <a:ext cx="1295400" cy="3429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>
                    <a:latin typeface="Times New Roman" pitchFamily="18" charset="0"/>
                  </a:rPr>
                  <a:t>PLAYER</a:t>
                </a:r>
              </a:p>
            </p:txBody>
          </p:sp>
          <p:sp>
            <p:nvSpPr>
              <p:cNvPr id="111622" name="Line 6"/>
              <p:cNvSpPr>
                <a:spLocks noChangeShapeType="1"/>
              </p:cNvSpPr>
              <p:nvPr/>
            </p:nvSpPr>
            <p:spPr bwMode="auto">
              <a:xfrm>
                <a:off x="3733800" y="47244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1623" name="Line 7"/>
              <p:cNvSpPr>
                <a:spLocks noChangeShapeType="1"/>
              </p:cNvSpPr>
              <p:nvPr/>
            </p:nvSpPr>
            <p:spPr bwMode="auto">
              <a:xfrm>
                <a:off x="5562600" y="4703401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1624" name="AutoShape 8"/>
              <p:cNvSpPr>
                <a:spLocks noChangeArrowheads="1"/>
              </p:cNvSpPr>
              <p:nvPr/>
            </p:nvSpPr>
            <p:spPr bwMode="auto">
              <a:xfrm>
                <a:off x="4114800" y="4495800"/>
                <a:ext cx="1485900" cy="419100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sz="1200" dirty="0">
                  <a:latin typeface="Times New Roman" pitchFamily="18" charset="0"/>
                </a:endParaRPr>
              </a:p>
            </p:txBody>
          </p:sp>
          <p:sp>
            <p:nvSpPr>
              <p:cNvPr id="111625" name="Text Box 9"/>
              <p:cNvSpPr txBox="1">
                <a:spLocks noChangeArrowheads="1"/>
              </p:cNvSpPr>
              <p:nvPr/>
            </p:nvSpPr>
            <p:spPr bwMode="auto">
              <a:xfrm>
                <a:off x="4539096" y="4537364"/>
                <a:ext cx="71870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:</a:t>
                </a:r>
              </a:p>
            </p:txBody>
          </p:sp>
          <p:sp>
            <p:nvSpPr>
              <p:cNvPr id="111626" name="Text Box 10"/>
              <p:cNvSpPr txBox="1">
                <a:spLocks noChangeArrowheads="1"/>
              </p:cNvSpPr>
              <p:nvPr/>
            </p:nvSpPr>
            <p:spPr bwMode="auto">
              <a:xfrm>
                <a:off x="4876800" y="4520045"/>
                <a:ext cx="381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4030261" y="4914900"/>
                <a:ext cx="17363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is composed of</a:t>
                </a:r>
              </a:p>
            </p:txBody>
          </p:sp>
          <p:sp>
            <p:nvSpPr>
              <p:cNvPr id="16" name="Rectangle 4"/>
              <p:cNvSpPr>
                <a:spLocks noChangeArrowheads="1"/>
              </p:cNvSpPr>
              <p:nvPr/>
            </p:nvSpPr>
            <p:spPr bwMode="auto">
              <a:xfrm>
                <a:off x="2438400" y="5943600"/>
                <a:ext cx="1295400" cy="3429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 dirty="0">
                    <a:latin typeface="Times New Roman" pitchFamily="18" charset="0"/>
                  </a:rPr>
                  <a:t>TEAM</a:t>
                </a:r>
              </a:p>
            </p:txBody>
          </p:sp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5974773" y="5943600"/>
                <a:ext cx="1295400" cy="3429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:r>
                  <a:rPr lang="en-US" sz="1600">
                    <a:latin typeface="Times New Roman" pitchFamily="18" charset="0"/>
                  </a:rPr>
                  <a:t>PLAYER</a:t>
                </a:r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3733799" y="6115050"/>
                <a:ext cx="2240973" cy="0"/>
              </a:xfrm>
              <a:prstGeom prst="line">
                <a:avLst/>
              </a:prstGeom>
              <a:ln>
                <a:prstDash val="lgDash"/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30261" y="6286500"/>
                <a:ext cx="17363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is composed of</a:t>
                </a:r>
              </a:p>
            </p:txBody>
          </p:sp>
        </p:grpSp>
        <p:cxnSp>
          <p:nvCxnSpPr>
            <p:cNvPr id="6" name="Straight Connector 5"/>
            <p:cNvCxnSpPr/>
            <p:nvPr/>
          </p:nvCxnSpPr>
          <p:spPr>
            <a:xfrm>
              <a:off x="3810000" y="6019800"/>
              <a:ext cx="0" cy="2286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28855" y="6019800"/>
              <a:ext cx="245918" cy="865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5715000" y="6116782"/>
              <a:ext cx="228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 flipV="1">
              <a:off x="5704609" y="6116782"/>
              <a:ext cx="270164" cy="131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010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dirty="0">
                <a:latin typeface="+mn-lt"/>
              </a:rPr>
              <a:t>Textbook Examples: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 Relationship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887207"/>
            <a:ext cx="5372100" cy="1284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682726"/>
            <a:ext cx="4626768" cy="204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2172" y="1953326"/>
            <a:ext cx="72078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000" dirty="0"/>
              <a:t>Ignore the circle (0) and 1 in the middle – those are minimal cardinalities, we will cover them later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715000" y="2590800"/>
            <a:ext cx="76200" cy="14478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715000" y="2590800"/>
            <a:ext cx="1676400" cy="14478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623525"/>
              </p:ext>
            </p:extLst>
          </p:nvPr>
        </p:nvGraphicFramePr>
        <p:xfrm>
          <a:off x="1447800" y="2892624"/>
          <a:ext cx="1872331" cy="3279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2114845" imgH="3704762" progId="">
                  <p:embed/>
                </p:oleObj>
              </mc:Choice>
              <mc:Fallback>
                <p:oleObj name="Photo Editor Photo" r:id="rId4" imgW="2114845" imgH="3704762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92624"/>
                        <a:ext cx="1872331" cy="32795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887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 Relationships</a:t>
            </a:r>
          </a:p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Careful Choosing Sides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Unlike 1-1 or m-n, a 1-m (one to many) relationship is not symmetric. Which side you put the 1 and the side you put the “many” makes a difference.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entity on the one side of the relationship is called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 entity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just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entity on the many side of the relationship is called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 entity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just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74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 Relationship:</a:t>
            </a:r>
          </a:p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Careful Choosing Sides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How To Decide Which is 1 and Which is m?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b="1" dirty="0"/>
              <a:t>Read the sentence to check the validity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438400"/>
            <a:ext cx="5029200" cy="1202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57400" y="4188767"/>
            <a:ext cx="5766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employee is assigned many computers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676400" y="3039886"/>
            <a:ext cx="3749744" cy="2499378"/>
            <a:chOff x="1676400" y="3039886"/>
            <a:chExt cx="3749744" cy="2499378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2362200" y="3039886"/>
              <a:ext cx="1981200" cy="1227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676400" y="4800600"/>
              <a:ext cx="3749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Step 1: Read the left-side number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76400" y="516993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681122" y="3192285"/>
            <a:ext cx="3403496" cy="2381799"/>
            <a:chOff x="1681122" y="3192285"/>
            <a:chExt cx="3403496" cy="2381799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124200" y="3192285"/>
              <a:ext cx="0" cy="107491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1681122" y="5204752"/>
              <a:ext cx="34034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Step 2: Read the left-side entity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697182" y="3429000"/>
            <a:ext cx="3159839" cy="2504026"/>
            <a:chOff x="1697182" y="3429000"/>
            <a:chExt cx="3159839" cy="2504026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4648200" y="3429000"/>
              <a:ext cx="0" cy="83819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1697182" y="5563694"/>
              <a:ext cx="31598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Step 3: Read the relationship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689101" y="3039886"/>
            <a:ext cx="3949699" cy="3262472"/>
            <a:chOff x="1689101" y="3039886"/>
            <a:chExt cx="3949699" cy="3262472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648200" y="3039886"/>
              <a:ext cx="990600" cy="1227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689101" y="5933026"/>
              <a:ext cx="37753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Step 4: Read the right-side number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694748" y="3192285"/>
            <a:ext cx="5163252" cy="3474481"/>
            <a:chOff x="1694748" y="3192285"/>
            <a:chExt cx="5163252" cy="3474481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943600" y="3192285"/>
              <a:ext cx="914400" cy="109692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694748" y="6297434"/>
              <a:ext cx="35445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Step 5: Read the right-side entity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572991" y="4917363"/>
            <a:ext cx="3263417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sentence is right, you are right!</a:t>
            </a:r>
          </a:p>
        </p:txBody>
      </p:sp>
    </p:spTree>
    <p:extLst>
      <p:ext uri="{BB962C8B-B14F-4D97-AF65-F5344CB8AC3E}">
        <p14:creationId xmlns:p14="http://schemas.microsoft.com/office/powerpoint/2010/main" val="187147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One to Many Relationship:</a:t>
            </a:r>
          </a:p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Careful Choosing Sides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6136" y="1295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HOWEVER – REMEMBER, THERE ARE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SENTENCES!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Don’t forget the indication from the reverse side!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036" y="2751314"/>
            <a:ext cx="5029200" cy="1202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753171" y="4040832"/>
            <a:ext cx="763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400" dirty="0"/>
              <a:t>1 computer can be assigned to how many employees?</a:t>
            </a:r>
          </a:p>
        </p:txBody>
      </p:sp>
    </p:spTree>
    <p:extLst>
      <p:ext uri="{BB962C8B-B14F-4D97-AF65-F5344CB8AC3E}">
        <p14:creationId xmlns:p14="http://schemas.microsoft.com/office/powerpoint/2010/main" val="1327042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 Relationship:</a:t>
            </a:r>
          </a:p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Careful Choosing Sides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8534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Practice: which of the following has the right cardinality?</a:t>
            </a: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098963" y="2895600"/>
            <a:ext cx="4831773" cy="342900"/>
            <a:chOff x="2438400" y="5943600"/>
            <a:chExt cx="4831773" cy="342900"/>
          </a:xfrm>
        </p:grpSpPr>
        <p:sp>
          <p:nvSpPr>
            <p:cNvPr id="44" name="Rectangle 4"/>
            <p:cNvSpPr>
              <a:spLocks noChangeArrowheads="1"/>
            </p:cNvSpPr>
            <p:nvPr/>
          </p:nvSpPr>
          <p:spPr bwMode="auto">
            <a:xfrm>
              <a:off x="2438400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45" name="Rectangle 5"/>
            <p:cNvSpPr>
              <a:spLocks noChangeArrowheads="1"/>
            </p:cNvSpPr>
            <p:nvPr/>
          </p:nvSpPr>
          <p:spPr bwMode="auto">
            <a:xfrm>
              <a:off x="5974773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CAR</a:t>
              </a:r>
            </a:p>
          </p:txBody>
        </p:sp>
        <p:sp>
          <p:nvSpPr>
            <p:cNvPr id="46" name="Line 6"/>
            <p:cNvSpPr>
              <a:spLocks noChangeShapeType="1"/>
            </p:cNvSpPr>
            <p:nvPr/>
          </p:nvSpPr>
          <p:spPr bwMode="auto">
            <a:xfrm>
              <a:off x="3733799" y="6115050"/>
              <a:ext cx="2240973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cxnSp>
        <p:nvCxnSpPr>
          <p:cNvPr id="32" name="Straight Connector 31"/>
          <p:cNvCxnSpPr/>
          <p:nvPr/>
        </p:nvCxnSpPr>
        <p:spPr>
          <a:xfrm>
            <a:off x="3506933" y="2952750"/>
            <a:ext cx="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5379029" y="2980458"/>
            <a:ext cx="245918" cy="86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5365174" y="3077440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5354783" y="3077440"/>
            <a:ext cx="270164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2102427" y="3581400"/>
            <a:ext cx="4831773" cy="342900"/>
            <a:chOff x="2438400" y="5943600"/>
            <a:chExt cx="4831773" cy="342900"/>
          </a:xfrm>
        </p:grpSpPr>
        <p:sp>
          <p:nvSpPr>
            <p:cNvPr id="49" name="Rectangle 4"/>
            <p:cNvSpPr>
              <a:spLocks noChangeArrowheads="1"/>
            </p:cNvSpPr>
            <p:nvPr/>
          </p:nvSpPr>
          <p:spPr bwMode="auto">
            <a:xfrm>
              <a:off x="2438400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CUSTOMER</a:t>
              </a: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5974773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BOOK</a:t>
              </a:r>
            </a:p>
          </p:txBody>
        </p:sp>
        <p:sp>
          <p:nvSpPr>
            <p:cNvPr id="51" name="Line 6"/>
            <p:cNvSpPr>
              <a:spLocks noChangeShapeType="1"/>
            </p:cNvSpPr>
            <p:nvPr/>
          </p:nvSpPr>
          <p:spPr bwMode="auto">
            <a:xfrm>
              <a:off x="3733799" y="6115050"/>
              <a:ext cx="2240973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cxnSp>
        <p:nvCxnSpPr>
          <p:cNvPr id="52" name="Straight Connector 51"/>
          <p:cNvCxnSpPr/>
          <p:nvPr/>
        </p:nvCxnSpPr>
        <p:spPr>
          <a:xfrm>
            <a:off x="3510397" y="3638550"/>
            <a:ext cx="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5382493" y="3666258"/>
            <a:ext cx="245918" cy="86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5368638" y="3763240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 flipV="1">
            <a:off x="5358247" y="3763240"/>
            <a:ext cx="270164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102427" y="4267200"/>
            <a:ext cx="4831773" cy="342900"/>
            <a:chOff x="2438400" y="5943600"/>
            <a:chExt cx="4831773" cy="342900"/>
          </a:xfrm>
        </p:grpSpPr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438400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EMPLOYEE</a:t>
              </a: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5974773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MANAGER</a:t>
              </a:r>
            </a:p>
          </p:txBody>
        </p:sp>
        <p:sp>
          <p:nvSpPr>
            <p:cNvPr id="59" name="Line 6"/>
            <p:cNvSpPr>
              <a:spLocks noChangeShapeType="1"/>
            </p:cNvSpPr>
            <p:nvPr/>
          </p:nvSpPr>
          <p:spPr bwMode="auto">
            <a:xfrm>
              <a:off x="3733799" y="6115050"/>
              <a:ext cx="2240973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cxnSp>
        <p:nvCxnSpPr>
          <p:cNvPr id="60" name="Straight Connector 59"/>
          <p:cNvCxnSpPr/>
          <p:nvPr/>
        </p:nvCxnSpPr>
        <p:spPr>
          <a:xfrm>
            <a:off x="3510397" y="4324350"/>
            <a:ext cx="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5382493" y="4352058"/>
            <a:ext cx="245918" cy="86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5368638" y="4449040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 flipV="1">
            <a:off x="5358247" y="4449040"/>
            <a:ext cx="270164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2102427" y="4953000"/>
            <a:ext cx="4831773" cy="342900"/>
            <a:chOff x="2438400" y="5943600"/>
            <a:chExt cx="4831773" cy="342900"/>
          </a:xfrm>
        </p:grpSpPr>
        <p:sp>
          <p:nvSpPr>
            <p:cNvPr id="65" name="Rectangle 4"/>
            <p:cNvSpPr>
              <a:spLocks noChangeArrowheads="1"/>
            </p:cNvSpPr>
            <p:nvPr/>
          </p:nvSpPr>
          <p:spPr bwMode="auto">
            <a:xfrm>
              <a:off x="2438400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ROOM</a:t>
              </a:r>
            </a:p>
          </p:txBody>
        </p:sp>
        <p:sp>
          <p:nvSpPr>
            <p:cNvPr id="66" name="Rectangle 5"/>
            <p:cNvSpPr>
              <a:spLocks noChangeArrowheads="1"/>
            </p:cNvSpPr>
            <p:nvPr/>
          </p:nvSpPr>
          <p:spPr bwMode="auto">
            <a:xfrm>
              <a:off x="5974773" y="5943600"/>
              <a:ext cx="1295400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HOUSE</a:t>
              </a:r>
            </a:p>
          </p:txBody>
        </p:sp>
        <p:sp>
          <p:nvSpPr>
            <p:cNvPr id="67" name="Line 6"/>
            <p:cNvSpPr>
              <a:spLocks noChangeShapeType="1"/>
            </p:cNvSpPr>
            <p:nvPr/>
          </p:nvSpPr>
          <p:spPr bwMode="auto">
            <a:xfrm>
              <a:off x="3733799" y="6115050"/>
              <a:ext cx="2240973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cxnSp>
        <p:nvCxnSpPr>
          <p:cNvPr id="68" name="Straight Connector 67"/>
          <p:cNvCxnSpPr/>
          <p:nvPr/>
        </p:nvCxnSpPr>
        <p:spPr>
          <a:xfrm>
            <a:off x="3510397" y="5010150"/>
            <a:ext cx="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5382493" y="5037858"/>
            <a:ext cx="245918" cy="86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5368638" y="5134840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 flipV="1">
            <a:off x="5358247" y="5134840"/>
            <a:ext cx="270164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322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371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+mn-lt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Many-to-Many relationship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1371600" lvl="2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student may purchase many books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A book may be purchased by many students (The mini-world definition of the “book” entity is all copies of the same publication)  </a:t>
            </a:r>
            <a:endParaRPr lang="en-US" sz="28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800" dirty="0">
              <a:latin typeface="+mn-lt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Many to Many Relationship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76945" y="4973966"/>
            <a:ext cx="4360430" cy="1388734"/>
            <a:chOff x="2576945" y="4876800"/>
            <a:chExt cx="4360430" cy="1388734"/>
          </a:xfrm>
        </p:grpSpPr>
        <p:sp>
          <p:nvSpPr>
            <p:cNvPr id="112644" name="Rectangle 4"/>
            <p:cNvSpPr>
              <a:spLocks noChangeArrowheads="1"/>
            </p:cNvSpPr>
            <p:nvPr/>
          </p:nvSpPr>
          <p:spPr bwMode="auto">
            <a:xfrm>
              <a:off x="2590800" y="495300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112645" name="Rectangle 5"/>
            <p:cNvSpPr>
              <a:spLocks noChangeArrowheads="1"/>
            </p:cNvSpPr>
            <p:nvPr/>
          </p:nvSpPr>
          <p:spPr bwMode="auto">
            <a:xfrm>
              <a:off x="5867400" y="49530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BOOK</a:t>
              </a:r>
            </a:p>
          </p:txBody>
        </p:sp>
        <p:sp>
          <p:nvSpPr>
            <p:cNvPr id="112646" name="Line 6"/>
            <p:cNvSpPr>
              <a:spLocks noChangeShapeType="1"/>
            </p:cNvSpPr>
            <p:nvPr/>
          </p:nvSpPr>
          <p:spPr bwMode="auto">
            <a:xfrm>
              <a:off x="3657600" y="5105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647" name="Line 7"/>
            <p:cNvSpPr>
              <a:spLocks noChangeShapeType="1"/>
            </p:cNvSpPr>
            <p:nvPr/>
          </p:nvSpPr>
          <p:spPr bwMode="auto">
            <a:xfrm>
              <a:off x="5486400" y="5105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648" name="AutoShape 8"/>
            <p:cNvSpPr>
              <a:spLocks noChangeArrowheads="1"/>
            </p:cNvSpPr>
            <p:nvPr/>
          </p:nvSpPr>
          <p:spPr bwMode="auto">
            <a:xfrm>
              <a:off x="4038600" y="4876800"/>
              <a:ext cx="14859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sz="1200" dirty="0">
                <a:latin typeface="Times New Roman" pitchFamily="18" charset="0"/>
              </a:endParaRPr>
            </a:p>
          </p:txBody>
        </p:sp>
        <p:sp>
          <p:nvSpPr>
            <p:cNvPr id="112649" name="Text Box 9"/>
            <p:cNvSpPr txBox="1">
              <a:spLocks noChangeArrowheads="1"/>
            </p:cNvSpPr>
            <p:nvPr/>
          </p:nvSpPr>
          <p:spPr bwMode="auto">
            <a:xfrm>
              <a:off x="4476750" y="4908405"/>
              <a:ext cx="47218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n</a:t>
              </a:r>
              <a:r>
                <a:rPr lang="en-US" sz="1800" dirty="0"/>
                <a:t> :</a:t>
              </a:r>
            </a:p>
          </p:txBody>
        </p:sp>
        <p:sp>
          <p:nvSpPr>
            <p:cNvPr id="112650" name="Text Box 10"/>
            <p:cNvSpPr txBox="1">
              <a:spLocks noChangeArrowheads="1"/>
            </p:cNvSpPr>
            <p:nvPr/>
          </p:nvSpPr>
          <p:spPr bwMode="auto">
            <a:xfrm>
              <a:off x="4824242" y="4911652"/>
              <a:ext cx="381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/>
                <a:t>m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040815" y="5324702"/>
              <a:ext cx="15183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latin typeface="Times New Roman" pitchFamily="18" charset="0"/>
                </a:rPr>
                <a:t>PURCHASES</a:t>
              </a: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5867399" y="5998834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BOOK</a:t>
              </a:r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2576945" y="5998834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3659814" y="6132184"/>
              <a:ext cx="2207585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cxnSp>
        <p:nvCxnSpPr>
          <p:cNvPr id="19" name="Straight Connector 18"/>
          <p:cNvCxnSpPr/>
          <p:nvPr/>
        </p:nvCxnSpPr>
        <p:spPr>
          <a:xfrm flipH="1">
            <a:off x="5642266" y="6132368"/>
            <a:ext cx="245918" cy="86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628411" y="6229350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5618020" y="6229350"/>
            <a:ext cx="270164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643745" y="6229350"/>
            <a:ext cx="102177" cy="1316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3657600" y="6132368"/>
            <a:ext cx="135082" cy="969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49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371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+mn-lt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Book Example: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to Many Relationship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105400"/>
            <a:ext cx="63150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738861"/>
              </p:ext>
            </p:extLst>
          </p:nvPr>
        </p:nvGraphicFramePr>
        <p:xfrm>
          <a:off x="4164555" y="1219200"/>
          <a:ext cx="3752018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105848" imgH="3982006" progId="">
                  <p:embed/>
                </p:oleObj>
              </mc:Choice>
              <mc:Fallback>
                <p:oleObj name="Photo Editor Photo" r:id="rId3" imgW="4105848" imgH="3982006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555" y="1219200"/>
                        <a:ext cx="3752018" cy="363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23682" y="2521059"/>
            <a:ext cx="2667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diagram to the right is incorrect. As drawn, the caption should be that “Every Company must supply at least one </a:t>
            </a:r>
            <a:r>
              <a:rPr lang="en-US" sz="1600"/>
              <a:t>part.”</a:t>
            </a:r>
            <a:endParaRPr lang="en-US" sz="1600" dirty="0"/>
          </a:p>
          <a:p>
            <a:r>
              <a:rPr lang="en-US" sz="1600" dirty="0"/>
              <a:t>What tells me that the description is in correct?</a:t>
            </a:r>
          </a:p>
        </p:txBody>
      </p:sp>
    </p:spTree>
    <p:extLst>
      <p:ext uri="{BB962C8B-B14F-4D97-AF65-F5344CB8AC3E}">
        <p14:creationId xmlns:p14="http://schemas.microsoft.com/office/powerpoint/2010/main" val="3294841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of a Relationship</a:t>
            </a:r>
          </a:p>
        </p:txBody>
      </p:sp>
      <p:sp>
        <p:nvSpPr>
          <p:cNvPr id="11366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Adding cardinality to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bookstore database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3676" name="Rectangle 12"/>
          <p:cNvSpPr>
            <a:spLocks noChangeArrowheads="1"/>
          </p:cNvSpPr>
          <p:nvPr/>
        </p:nvSpPr>
        <p:spPr bwMode="auto">
          <a:xfrm>
            <a:off x="5029200" y="3733800"/>
            <a:ext cx="1066800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STUDENT</a:t>
            </a:r>
          </a:p>
        </p:txBody>
      </p:sp>
      <p:sp>
        <p:nvSpPr>
          <p:cNvPr id="113677" name="Oval 13"/>
          <p:cNvSpPr>
            <a:spLocks noChangeArrowheads="1"/>
          </p:cNvSpPr>
          <p:nvPr/>
        </p:nvSpPr>
        <p:spPr bwMode="auto">
          <a:xfrm>
            <a:off x="6477000" y="37734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ADDRESS</a:t>
            </a:r>
          </a:p>
        </p:txBody>
      </p:sp>
      <p:sp>
        <p:nvSpPr>
          <p:cNvPr id="113678" name="Oval 14"/>
          <p:cNvSpPr>
            <a:spLocks noChangeArrowheads="1"/>
          </p:cNvSpPr>
          <p:nvPr/>
        </p:nvSpPr>
        <p:spPr bwMode="auto">
          <a:xfrm>
            <a:off x="6513513" y="41148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PHONE</a:t>
            </a:r>
          </a:p>
        </p:txBody>
      </p:sp>
      <p:sp>
        <p:nvSpPr>
          <p:cNvPr id="113679" name="Oval 15"/>
          <p:cNvSpPr>
            <a:spLocks noChangeArrowheads="1"/>
          </p:cNvSpPr>
          <p:nvPr/>
        </p:nvSpPr>
        <p:spPr bwMode="auto">
          <a:xfrm>
            <a:off x="6477000" y="3124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SID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13680" name="Oval 16"/>
          <p:cNvSpPr>
            <a:spLocks noChangeArrowheads="1"/>
          </p:cNvSpPr>
          <p:nvPr/>
        </p:nvSpPr>
        <p:spPr bwMode="auto">
          <a:xfrm>
            <a:off x="6477000" y="3429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SNAME</a:t>
            </a:r>
          </a:p>
        </p:txBody>
      </p:sp>
      <p:cxnSp>
        <p:nvCxnSpPr>
          <p:cNvPr id="113681" name="AutoShape 17"/>
          <p:cNvCxnSpPr>
            <a:cxnSpLocks noChangeShapeType="1"/>
            <a:stCxn id="113676" idx="3"/>
            <a:endCxn id="113678" idx="2"/>
          </p:cNvCxnSpPr>
          <p:nvPr/>
        </p:nvCxnSpPr>
        <p:spPr bwMode="auto">
          <a:xfrm>
            <a:off x="6096000" y="3867150"/>
            <a:ext cx="4175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82" name="AutoShape 18"/>
          <p:cNvCxnSpPr>
            <a:cxnSpLocks noChangeShapeType="1"/>
            <a:stCxn id="113676" idx="3"/>
            <a:endCxn id="113680" idx="3"/>
          </p:cNvCxnSpPr>
          <p:nvPr/>
        </p:nvCxnSpPr>
        <p:spPr bwMode="auto">
          <a:xfrm flipV="1">
            <a:off x="6096000" y="3656013"/>
            <a:ext cx="509588" cy="211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83" name="AutoShape 19"/>
          <p:cNvCxnSpPr>
            <a:cxnSpLocks noChangeShapeType="1"/>
            <a:stCxn id="113676" idx="3"/>
            <a:endCxn id="113677" idx="2"/>
          </p:cNvCxnSpPr>
          <p:nvPr/>
        </p:nvCxnSpPr>
        <p:spPr bwMode="auto">
          <a:xfrm>
            <a:off x="6096000" y="3867150"/>
            <a:ext cx="381000" cy="39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84" name="AutoShape 20"/>
          <p:cNvCxnSpPr>
            <a:cxnSpLocks noChangeShapeType="1"/>
            <a:stCxn id="113676" idx="3"/>
            <a:endCxn id="113679" idx="2"/>
          </p:cNvCxnSpPr>
          <p:nvPr/>
        </p:nvCxnSpPr>
        <p:spPr bwMode="auto">
          <a:xfrm flipV="1">
            <a:off x="6096000" y="3257550"/>
            <a:ext cx="381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685" name="Oval 21"/>
          <p:cNvSpPr>
            <a:spLocks noChangeArrowheads="1"/>
          </p:cNvSpPr>
          <p:nvPr/>
        </p:nvSpPr>
        <p:spPr bwMode="auto">
          <a:xfrm>
            <a:off x="7505700" y="3657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FNAME</a:t>
            </a:r>
          </a:p>
        </p:txBody>
      </p:sp>
      <p:sp>
        <p:nvSpPr>
          <p:cNvPr id="113686" name="Oval 22"/>
          <p:cNvSpPr>
            <a:spLocks noChangeArrowheads="1"/>
          </p:cNvSpPr>
          <p:nvPr/>
        </p:nvSpPr>
        <p:spPr bwMode="auto">
          <a:xfrm>
            <a:off x="7505700" y="3124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LNAME</a:t>
            </a:r>
          </a:p>
        </p:txBody>
      </p:sp>
      <p:cxnSp>
        <p:nvCxnSpPr>
          <p:cNvPr id="113687" name="AutoShape 23"/>
          <p:cNvCxnSpPr>
            <a:cxnSpLocks noChangeShapeType="1"/>
            <a:stCxn id="113680" idx="6"/>
            <a:endCxn id="113686" idx="2"/>
          </p:cNvCxnSpPr>
          <p:nvPr/>
        </p:nvCxnSpPr>
        <p:spPr bwMode="auto">
          <a:xfrm flipV="1">
            <a:off x="7354888" y="3257550"/>
            <a:ext cx="150812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88" name="AutoShape 24"/>
          <p:cNvCxnSpPr>
            <a:cxnSpLocks noChangeShapeType="1"/>
            <a:stCxn id="113685" idx="2"/>
            <a:endCxn id="113680" idx="6"/>
          </p:cNvCxnSpPr>
          <p:nvPr/>
        </p:nvCxnSpPr>
        <p:spPr bwMode="auto">
          <a:xfrm flipH="1" flipV="1">
            <a:off x="7354888" y="3562350"/>
            <a:ext cx="150812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689" name="Rectangle 25"/>
          <p:cNvSpPr>
            <a:spLocks noChangeArrowheads="1"/>
          </p:cNvSpPr>
          <p:nvPr/>
        </p:nvSpPr>
        <p:spPr bwMode="auto">
          <a:xfrm>
            <a:off x="1981200" y="4456113"/>
            <a:ext cx="1069975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BOOK</a:t>
            </a:r>
          </a:p>
        </p:txBody>
      </p:sp>
      <p:sp>
        <p:nvSpPr>
          <p:cNvPr id="113690" name="Oval 26"/>
          <p:cNvSpPr>
            <a:spLocks noChangeArrowheads="1"/>
          </p:cNvSpPr>
          <p:nvPr/>
        </p:nvSpPr>
        <p:spPr bwMode="auto">
          <a:xfrm>
            <a:off x="685800" y="41148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ISBN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13691" name="Oval 27"/>
          <p:cNvSpPr>
            <a:spLocks noChangeArrowheads="1"/>
          </p:cNvSpPr>
          <p:nvPr/>
        </p:nvSpPr>
        <p:spPr bwMode="auto">
          <a:xfrm>
            <a:off x="685800" y="4724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AUTHOR</a:t>
            </a:r>
          </a:p>
        </p:txBody>
      </p:sp>
      <p:sp>
        <p:nvSpPr>
          <p:cNvPr id="113692" name="Oval 28"/>
          <p:cNvSpPr>
            <a:spLocks noChangeArrowheads="1"/>
          </p:cNvSpPr>
          <p:nvPr/>
        </p:nvSpPr>
        <p:spPr bwMode="auto">
          <a:xfrm>
            <a:off x="685800" y="4419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TITLE</a:t>
            </a:r>
          </a:p>
        </p:txBody>
      </p:sp>
      <p:cxnSp>
        <p:nvCxnSpPr>
          <p:cNvPr id="113693" name="AutoShape 29"/>
          <p:cNvCxnSpPr>
            <a:cxnSpLocks noChangeShapeType="1"/>
            <a:stCxn id="113690" idx="6"/>
            <a:endCxn id="113689" idx="1"/>
          </p:cNvCxnSpPr>
          <p:nvPr/>
        </p:nvCxnSpPr>
        <p:spPr bwMode="auto">
          <a:xfrm>
            <a:off x="1563688" y="4248150"/>
            <a:ext cx="417512" cy="341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94" name="AutoShape 30"/>
          <p:cNvCxnSpPr>
            <a:cxnSpLocks noChangeShapeType="1"/>
            <a:stCxn id="113692" idx="6"/>
            <a:endCxn id="113689" idx="1"/>
          </p:cNvCxnSpPr>
          <p:nvPr/>
        </p:nvCxnSpPr>
        <p:spPr bwMode="auto">
          <a:xfrm>
            <a:off x="1563688" y="4552950"/>
            <a:ext cx="417512" cy="36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695" name="AutoShape 31"/>
          <p:cNvCxnSpPr>
            <a:cxnSpLocks noChangeShapeType="1"/>
            <a:stCxn id="113691" idx="6"/>
            <a:endCxn id="113689" idx="1"/>
          </p:cNvCxnSpPr>
          <p:nvPr/>
        </p:nvCxnSpPr>
        <p:spPr bwMode="auto">
          <a:xfrm flipV="1">
            <a:off x="1563688" y="4589463"/>
            <a:ext cx="417512" cy="268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696" name="Oval 32"/>
          <p:cNvSpPr>
            <a:spLocks noChangeArrowheads="1"/>
          </p:cNvSpPr>
          <p:nvPr/>
        </p:nvSpPr>
        <p:spPr bwMode="auto">
          <a:xfrm>
            <a:off x="685800" y="5141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PUBLISHER</a:t>
            </a:r>
          </a:p>
        </p:txBody>
      </p:sp>
      <p:sp>
        <p:nvSpPr>
          <p:cNvPr id="113697" name="Oval 33"/>
          <p:cNvSpPr>
            <a:spLocks noChangeArrowheads="1"/>
          </p:cNvSpPr>
          <p:nvPr/>
        </p:nvSpPr>
        <p:spPr bwMode="auto">
          <a:xfrm>
            <a:off x="685800" y="5522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STOCK</a:t>
            </a:r>
          </a:p>
        </p:txBody>
      </p:sp>
      <p:sp>
        <p:nvSpPr>
          <p:cNvPr id="113698" name="Oval 34"/>
          <p:cNvSpPr>
            <a:spLocks noChangeArrowheads="1"/>
          </p:cNvSpPr>
          <p:nvPr/>
        </p:nvSpPr>
        <p:spPr bwMode="auto">
          <a:xfrm>
            <a:off x="685800" y="5903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cxnSp>
        <p:nvCxnSpPr>
          <p:cNvPr id="113699" name="AutoShape 35"/>
          <p:cNvCxnSpPr>
            <a:cxnSpLocks noChangeShapeType="1"/>
            <a:stCxn id="113698" idx="6"/>
            <a:endCxn id="113689" idx="1"/>
          </p:cNvCxnSpPr>
          <p:nvPr/>
        </p:nvCxnSpPr>
        <p:spPr bwMode="auto">
          <a:xfrm flipV="1">
            <a:off x="1563688" y="4589463"/>
            <a:ext cx="417512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00" name="AutoShape 36"/>
          <p:cNvCxnSpPr>
            <a:cxnSpLocks noChangeShapeType="1"/>
            <a:stCxn id="113696" idx="6"/>
            <a:endCxn id="113689" idx="1"/>
          </p:cNvCxnSpPr>
          <p:nvPr/>
        </p:nvCxnSpPr>
        <p:spPr bwMode="auto">
          <a:xfrm flipV="1">
            <a:off x="1563688" y="4589463"/>
            <a:ext cx="417512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01" name="AutoShape 37"/>
          <p:cNvCxnSpPr>
            <a:cxnSpLocks noChangeShapeType="1"/>
            <a:stCxn id="113697" idx="6"/>
            <a:endCxn id="113689" idx="1"/>
          </p:cNvCxnSpPr>
          <p:nvPr/>
        </p:nvCxnSpPr>
        <p:spPr bwMode="auto">
          <a:xfrm flipV="1">
            <a:off x="1563688" y="4589463"/>
            <a:ext cx="417512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02" name="Rectangle 38"/>
          <p:cNvSpPr>
            <a:spLocks noChangeArrowheads="1"/>
          </p:cNvSpPr>
          <p:nvPr/>
        </p:nvSpPr>
        <p:spPr bwMode="auto">
          <a:xfrm>
            <a:off x="5943600" y="6096000"/>
            <a:ext cx="1069975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SOFTWARE</a:t>
            </a:r>
          </a:p>
        </p:txBody>
      </p:sp>
      <p:sp>
        <p:nvSpPr>
          <p:cNvPr id="113703" name="Oval 39"/>
          <p:cNvSpPr>
            <a:spLocks noChangeArrowheads="1"/>
          </p:cNvSpPr>
          <p:nvPr/>
        </p:nvSpPr>
        <p:spPr bwMode="auto">
          <a:xfrm>
            <a:off x="7620000" y="5486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NAME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13704" name="Oval 40"/>
          <p:cNvSpPr>
            <a:spLocks noChangeArrowheads="1"/>
          </p:cNvSpPr>
          <p:nvPr/>
        </p:nvSpPr>
        <p:spPr bwMode="auto">
          <a:xfrm>
            <a:off x="7620000" y="5791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PLATFORM</a:t>
            </a:r>
          </a:p>
        </p:txBody>
      </p:sp>
      <p:cxnSp>
        <p:nvCxnSpPr>
          <p:cNvPr id="113705" name="AutoShape 41"/>
          <p:cNvCxnSpPr>
            <a:cxnSpLocks noChangeShapeType="1"/>
            <a:stCxn id="113703" idx="2"/>
            <a:endCxn id="113702" idx="3"/>
          </p:cNvCxnSpPr>
          <p:nvPr/>
        </p:nvCxnSpPr>
        <p:spPr bwMode="auto">
          <a:xfrm flipH="1">
            <a:off x="7013575" y="5619750"/>
            <a:ext cx="6064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06" name="AutoShape 42"/>
          <p:cNvCxnSpPr>
            <a:cxnSpLocks noChangeShapeType="1"/>
            <a:stCxn id="113704" idx="2"/>
            <a:endCxn id="113702" idx="3"/>
          </p:cNvCxnSpPr>
          <p:nvPr/>
        </p:nvCxnSpPr>
        <p:spPr bwMode="auto">
          <a:xfrm flipH="1">
            <a:off x="7013575" y="5924550"/>
            <a:ext cx="606425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07" name="Oval 43"/>
          <p:cNvSpPr>
            <a:spLocks noChangeArrowheads="1"/>
          </p:cNvSpPr>
          <p:nvPr/>
        </p:nvSpPr>
        <p:spPr bwMode="auto">
          <a:xfrm>
            <a:off x="7620000" y="6172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cxnSp>
        <p:nvCxnSpPr>
          <p:cNvPr id="113708" name="AutoShape 44"/>
          <p:cNvCxnSpPr>
            <a:cxnSpLocks noChangeShapeType="1"/>
            <a:stCxn id="113707" idx="2"/>
            <a:endCxn id="113702" idx="3"/>
          </p:cNvCxnSpPr>
          <p:nvPr/>
        </p:nvCxnSpPr>
        <p:spPr bwMode="auto">
          <a:xfrm flipH="1" flipV="1">
            <a:off x="7013575" y="6229350"/>
            <a:ext cx="606425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09" name="AutoShape 45"/>
          <p:cNvSpPr>
            <a:spLocks noChangeArrowheads="1"/>
          </p:cNvSpPr>
          <p:nvPr/>
        </p:nvSpPr>
        <p:spPr bwMode="auto">
          <a:xfrm>
            <a:off x="3124200" y="3810000"/>
            <a:ext cx="1257300" cy="419100"/>
          </a:xfrm>
          <a:prstGeom prst="diamond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PURCHASE</a:t>
            </a:r>
          </a:p>
        </p:txBody>
      </p:sp>
      <p:sp>
        <p:nvSpPr>
          <p:cNvPr id="113710" name="AutoShape 46"/>
          <p:cNvSpPr>
            <a:spLocks noChangeArrowheads="1"/>
          </p:cNvSpPr>
          <p:nvPr/>
        </p:nvSpPr>
        <p:spPr bwMode="auto">
          <a:xfrm>
            <a:off x="5105400" y="44958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PURCHASE</a:t>
            </a:r>
          </a:p>
        </p:txBody>
      </p:sp>
      <p:sp>
        <p:nvSpPr>
          <p:cNvPr id="113711" name="Oval 47"/>
          <p:cNvSpPr>
            <a:spLocks noChangeArrowheads="1"/>
          </p:cNvSpPr>
          <p:nvPr/>
        </p:nvSpPr>
        <p:spPr bwMode="auto">
          <a:xfrm>
            <a:off x="2362200" y="5029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QTY</a:t>
            </a:r>
          </a:p>
        </p:txBody>
      </p:sp>
      <p:cxnSp>
        <p:nvCxnSpPr>
          <p:cNvPr id="113712" name="AutoShape 48"/>
          <p:cNvCxnSpPr>
            <a:cxnSpLocks noChangeShapeType="1"/>
            <a:stCxn id="113709" idx="2"/>
            <a:endCxn id="113711" idx="6"/>
          </p:cNvCxnSpPr>
          <p:nvPr/>
        </p:nvCxnSpPr>
        <p:spPr bwMode="auto">
          <a:xfrm flipH="1">
            <a:off x="3240088" y="4229100"/>
            <a:ext cx="512762" cy="933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13" name="Oval 49"/>
          <p:cNvSpPr>
            <a:spLocks noChangeArrowheads="1"/>
          </p:cNvSpPr>
          <p:nvPr/>
        </p:nvSpPr>
        <p:spPr bwMode="auto">
          <a:xfrm>
            <a:off x="4419600" y="4953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QTY</a:t>
            </a:r>
          </a:p>
        </p:txBody>
      </p:sp>
      <p:cxnSp>
        <p:nvCxnSpPr>
          <p:cNvPr id="113714" name="AutoShape 50"/>
          <p:cNvCxnSpPr>
            <a:cxnSpLocks noChangeShapeType="1"/>
            <a:stCxn id="113710" idx="2"/>
            <a:endCxn id="113713" idx="6"/>
          </p:cNvCxnSpPr>
          <p:nvPr/>
        </p:nvCxnSpPr>
        <p:spPr bwMode="auto">
          <a:xfrm flipH="1">
            <a:off x="5297488" y="4914900"/>
            <a:ext cx="436562" cy="17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15" name="Line 51"/>
          <p:cNvSpPr>
            <a:spLocks noChangeShapeType="1"/>
          </p:cNvSpPr>
          <p:nvPr/>
        </p:nvSpPr>
        <p:spPr bwMode="auto">
          <a:xfrm flipH="1">
            <a:off x="2514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16" name="Line 52"/>
          <p:cNvSpPr>
            <a:spLocks noChangeShapeType="1"/>
          </p:cNvSpPr>
          <p:nvPr/>
        </p:nvSpPr>
        <p:spPr bwMode="auto">
          <a:xfrm flipH="1">
            <a:off x="4343400" y="3886200"/>
            <a:ext cx="685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17" name="Line 53"/>
          <p:cNvSpPr>
            <a:spLocks noChangeShapeType="1"/>
          </p:cNvSpPr>
          <p:nvPr/>
        </p:nvSpPr>
        <p:spPr bwMode="auto">
          <a:xfrm>
            <a:off x="5715000" y="4038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18" name="Line 54"/>
          <p:cNvSpPr>
            <a:spLocks noChangeShapeType="1"/>
          </p:cNvSpPr>
          <p:nvPr/>
        </p:nvSpPr>
        <p:spPr bwMode="auto">
          <a:xfrm>
            <a:off x="5715000" y="4876800"/>
            <a:ext cx="762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19" name="Oval 55"/>
          <p:cNvSpPr>
            <a:spLocks noChangeArrowheads="1"/>
          </p:cNvSpPr>
          <p:nvPr/>
        </p:nvSpPr>
        <p:spPr bwMode="auto">
          <a:xfrm>
            <a:off x="3124200" y="533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sp>
        <p:nvSpPr>
          <p:cNvPr id="113720" name="Oval 56"/>
          <p:cNvSpPr>
            <a:spLocks noChangeArrowheads="1"/>
          </p:cNvSpPr>
          <p:nvPr/>
        </p:nvSpPr>
        <p:spPr bwMode="auto">
          <a:xfrm>
            <a:off x="3810000" y="56388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DISCOUNT_TYPE</a:t>
            </a:r>
          </a:p>
        </p:txBody>
      </p:sp>
      <p:cxnSp>
        <p:nvCxnSpPr>
          <p:cNvPr id="113721" name="AutoShape 57"/>
          <p:cNvCxnSpPr>
            <a:cxnSpLocks noChangeShapeType="1"/>
            <a:stCxn id="113709" idx="2"/>
            <a:endCxn id="113719" idx="0"/>
          </p:cNvCxnSpPr>
          <p:nvPr/>
        </p:nvCxnSpPr>
        <p:spPr bwMode="auto">
          <a:xfrm flipH="1">
            <a:off x="3563938" y="4229100"/>
            <a:ext cx="188912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22" name="AutoShape 58"/>
          <p:cNvCxnSpPr>
            <a:cxnSpLocks noChangeShapeType="1"/>
            <a:stCxn id="113709" idx="2"/>
            <a:endCxn id="113720" idx="0"/>
          </p:cNvCxnSpPr>
          <p:nvPr/>
        </p:nvCxnSpPr>
        <p:spPr bwMode="auto">
          <a:xfrm>
            <a:off x="3752850" y="4229100"/>
            <a:ext cx="666750" cy="140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23" name="Oval 59"/>
          <p:cNvSpPr>
            <a:spLocks noChangeArrowheads="1"/>
          </p:cNvSpPr>
          <p:nvPr/>
        </p:nvSpPr>
        <p:spPr bwMode="auto">
          <a:xfrm>
            <a:off x="3276600" y="3124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Total</a:t>
            </a:r>
          </a:p>
        </p:txBody>
      </p:sp>
      <p:cxnSp>
        <p:nvCxnSpPr>
          <p:cNvPr id="113724" name="AutoShape 60"/>
          <p:cNvCxnSpPr>
            <a:cxnSpLocks noChangeShapeType="1"/>
            <a:stCxn id="113723" idx="4"/>
            <a:endCxn id="113709" idx="0"/>
          </p:cNvCxnSpPr>
          <p:nvPr/>
        </p:nvCxnSpPr>
        <p:spPr bwMode="auto">
          <a:xfrm>
            <a:off x="3716338" y="3389313"/>
            <a:ext cx="36512" cy="420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25" name="Oval 61"/>
          <p:cNvSpPr>
            <a:spLocks noChangeArrowheads="1"/>
          </p:cNvSpPr>
          <p:nvPr/>
        </p:nvSpPr>
        <p:spPr bwMode="auto">
          <a:xfrm>
            <a:off x="4953000" y="533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sp>
        <p:nvSpPr>
          <p:cNvPr id="113726" name="Oval 62"/>
          <p:cNvSpPr>
            <a:spLocks noChangeArrowheads="1"/>
          </p:cNvSpPr>
          <p:nvPr/>
        </p:nvSpPr>
        <p:spPr bwMode="auto">
          <a:xfrm>
            <a:off x="6172200" y="51816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DISCOUNT_TYPE</a:t>
            </a:r>
          </a:p>
        </p:txBody>
      </p:sp>
      <p:cxnSp>
        <p:nvCxnSpPr>
          <p:cNvPr id="113727" name="AutoShape 63"/>
          <p:cNvCxnSpPr>
            <a:cxnSpLocks noChangeShapeType="1"/>
            <a:stCxn id="113718" idx="0"/>
            <a:endCxn id="113725" idx="0"/>
          </p:cNvCxnSpPr>
          <p:nvPr/>
        </p:nvCxnSpPr>
        <p:spPr bwMode="auto">
          <a:xfrm flipH="1">
            <a:off x="5392738" y="4876800"/>
            <a:ext cx="32226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28" name="AutoShape 64"/>
          <p:cNvCxnSpPr>
            <a:cxnSpLocks noChangeShapeType="1"/>
            <a:stCxn id="113718" idx="0"/>
            <a:endCxn id="113726" idx="0"/>
          </p:cNvCxnSpPr>
          <p:nvPr/>
        </p:nvCxnSpPr>
        <p:spPr bwMode="auto">
          <a:xfrm>
            <a:off x="5715000" y="4876800"/>
            <a:ext cx="1066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29" name="Oval 65"/>
          <p:cNvSpPr>
            <a:spLocks noChangeArrowheads="1"/>
          </p:cNvSpPr>
          <p:nvPr/>
        </p:nvSpPr>
        <p:spPr bwMode="auto">
          <a:xfrm>
            <a:off x="7010400" y="4724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Total</a:t>
            </a:r>
          </a:p>
        </p:txBody>
      </p:sp>
      <p:cxnSp>
        <p:nvCxnSpPr>
          <p:cNvPr id="113730" name="AutoShape 66"/>
          <p:cNvCxnSpPr>
            <a:cxnSpLocks noChangeShapeType="1"/>
            <a:stCxn id="113718" idx="0"/>
            <a:endCxn id="113729" idx="2"/>
          </p:cNvCxnSpPr>
          <p:nvPr/>
        </p:nvCxnSpPr>
        <p:spPr bwMode="auto">
          <a:xfrm flipV="1">
            <a:off x="5715000" y="4857750"/>
            <a:ext cx="1295400" cy="19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31" name="Rectangle 67"/>
          <p:cNvSpPr>
            <a:spLocks noChangeArrowheads="1"/>
          </p:cNvSpPr>
          <p:nvPr/>
        </p:nvSpPr>
        <p:spPr bwMode="auto">
          <a:xfrm>
            <a:off x="4876800" y="2133600"/>
            <a:ext cx="1066800" cy="26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EMPLOYEE</a:t>
            </a:r>
          </a:p>
        </p:txBody>
      </p:sp>
      <p:sp>
        <p:nvSpPr>
          <p:cNvPr id="113732" name="Oval 68"/>
          <p:cNvSpPr>
            <a:spLocks noChangeArrowheads="1"/>
          </p:cNvSpPr>
          <p:nvPr/>
        </p:nvSpPr>
        <p:spPr bwMode="auto">
          <a:xfrm>
            <a:off x="6324600" y="21732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ADDRESS</a:t>
            </a:r>
          </a:p>
        </p:txBody>
      </p:sp>
      <p:sp>
        <p:nvSpPr>
          <p:cNvPr id="113733" name="Oval 69"/>
          <p:cNvSpPr>
            <a:spLocks noChangeArrowheads="1"/>
          </p:cNvSpPr>
          <p:nvPr/>
        </p:nvSpPr>
        <p:spPr bwMode="auto">
          <a:xfrm>
            <a:off x="6361113" y="25146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PHONE</a:t>
            </a:r>
          </a:p>
        </p:txBody>
      </p:sp>
      <p:sp>
        <p:nvSpPr>
          <p:cNvPr id="113734" name="Oval 70"/>
          <p:cNvSpPr>
            <a:spLocks noChangeArrowheads="1"/>
          </p:cNvSpPr>
          <p:nvPr/>
        </p:nvSpPr>
        <p:spPr bwMode="auto">
          <a:xfrm>
            <a:off x="6324600" y="152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EID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13735" name="Oval 71"/>
          <p:cNvSpPr>
            <a:spLocks noChangeArrowheads="1"/>
          </p:cNvSpPr>
          <p:nvPr/>
        </p:nvSpPr>
        <p:spPr bwMode="auto">
          <a:xfrm>
            <a:off x="6324600" y="18288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ENAME</a:t>
            </a:r>
          </a:p>
        </p:txBody>
      </p:sp>
      <p:cxnSp>
        <p:nvCxnSpPr>
          <p:cNvPr id="113736" name="AutoShape 72"/>
          <p:cNvCxnSpPr>
            <a:cxnSpLocks noChangeShapeType="1"/>
            <a:stCxn id="113731" idx="3"/>
            <a:endCxn id="113733" idx="2"/>
          </p:cNvCxnSpPr>
          <p:nvPr/>
        </p:nvCxnSpPr>
        <p:spPr bwMode="auto">
          <a:xfrm>
            <a:off x="5943600" y="2266950"/>
            <a:ext cx="4175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37" name="AutoShape 73"/>
          <p:cNvCxnSpPr>
            <a:cxnSpLocks noChangeShapeType="1"/>
            <a:stCxn id="113731" idx="3"/>
            <a:endCxn id="113735" idx="3"/>
          </p:cNvCxnSpPr>
          <p:nvPr/>
        </p:nvCxnSpPr>
        <p:spPr bwMode="auto">
          <a:xfrm flipV="1">
            <a:off x="5943600" y="2055813"/>
            <a:ext cx="509588" cy="211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38" name="AutoShape 74"/>
          <p:cNvCxnSpPr>
            <a:cxnSpLocks noChangeShapeType="1"/>
            <a:stCxn id="113731" idx="3"/>
            <a:endCxn id="113732" idx="2"/>
          </p:cNvCxnSpPr>
          <p:nvPr/>
        </p:nvCxnSpPr>
        <p:spPr bwMode="auto">
          <a:xfrm>
            <a:off x="5943600" y="2266950"/>
            <a:ext cx="381000" cy="39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39" name="AutoShape 75"/>
          <p:cNvCxnSpPr>
            <a:cxnSpLocks noChangeShapeType="1"/>
            <a:stCxn id="113731" idx="3"/>
            <a:endCxn id="113734" idx="2"/>
          </p:cNvCxnSpPr>
          <p:nvPr/>
        </p:nvCxnSpPr>
        <p:spPr bwMode="auto">
          <a:xfrm flipV="1">
            <a:off x="5943600" y="1657350"/>
            <a:ext cx="381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40" name="Oval 76"/>
          <p:cNvSpPr>
            <a:spLocks noChangeArrowheads="1"/>
          </p:cNvSpPr>
          <p:nvPr/>
        </p:nvSpPr>
        <p:spPr bwMode="auto">
          <a:xfrm>
            <a:off x="7353300" y="2057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FNAME</a:t>
            </a:r>
          </a:p>
        </p:txBody>
      </p:sp>
      <p:sp>
        <p:nvSpPr>
          <p:cNvPr id="113741" name="Oval 77"/>
          <p:cNvSpPr>
            <a:spLocks noChangeArrowheads="1"/>
          </p:cNvSpPr>
          <p:nvPr/>
        </p:nvSpPr>
        <p:spPr bwMode="auto">
          <a:xfrm>
            <a:off x="7353300" y="152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LNAME</a:t>
            </a:r>
          </a:p>
        </p:txBody>
      </p:sp>
      <p:cxnSp>
        <p:nvCxnSpPr>
          <p:cNvPr id="113742" name="AutoShape 78"/>
          <p:cNvCxnSpPr>
            <a:cxnSpLocks noChangeShapeType="1"/>
            <a:stCxn id="113735" idx="6"/>
            <a:endCxn id="113741" idx="2"/>
          </p:cNvCxnSpPr>
          <p:nvPr/>
        </p:nvCxnSpPr>
        <p:spPr bwMode="auto">
          <a:xfrm flipV="1">
            <a:off x="7202488" y="1657350"/>
            <a:ext cx="150812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743" name="AutoShape 79"/>
          <p:cNvCxnSpPr>
            <a:cxnSpLocks noChangeShapeType="1"/>
            <a:stCxn id="113740" idx="2"/>
            <a:endCxn id="113735" idx="6"/>
          </p:cNvCxnSpPr>
          <p:nvPr/>
        </p:nvCxnSpPr>
        <p:spPr bwMode="auto">
          <a:xfrm flipH="1" flipV="1">
            <a:off x="7202488" y="1962150"/>
            <a:ext cx="150812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744" name="Oval 80"/>
          <p:cNvSpPr>
            <a:spLocks noChangeArrowheads="1"/>
          </p:cNvSpPr>
          <p:nvPr/>
        </p:nvSpPr>
        <p:spPr bwMode="auto">
          <a:xfrm>
            <a:off x="6324600" y="24384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45" name="AutoShape 81"/>
          <p:cNvSpPr>
            <a:spLocks noChangeArrowheads="1"/>
          </p:cNvSpPr>
          <p:nvPr/>
        </p:nvSpPr>
        <p:spPr bwMode="auto">
          <a:xfrm>
            <a:off x="4876800" y="28956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MAY BE</a:t>
            </a:r>
          </a:p>
        </p:txBody>
      </p:sp>
      <p:sp>
        <p:nvSpPr>
          <p:cNvPr id="113746" name="Line 82"/>
          <p:cNvSpPr>
            <a:spLocks noChangeShapeType="1"/>
          </p:cNvSpPr>
          <p:nvPr/>
        </p:nvSpPr>
        <p:spPr bwMode="auto">
          <a:xfrm>
            <a:off x="5486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47" name="Line 83"/>
          <p:cNvSpPr>
            <a:spLocks noChangeShapeType="1"/>
          </p:cNvSpPr>
          <p:nvPr/>
        </p:nvSpPr>
        <p:spPr bwMode="auto">
          <a:xfrm>
            <a:off x="5486400" y="2438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749" name="Text Box 85"/>
          <p:cNvSpPr txBox="1">
            <a:spLocks noChangeArrowheads="1"/>
          </p:cNvSpPr>
          <p:nvPr/>
        </p:nvSpPr>
        <p:spPr bwMode="auto">
          <a:xfrm>
            <a:off x="5181600" y="2362200"/>
            <a:ext cx="295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113750" name="Text Box 86"/>
          <p:cNvSpPr txBox="1">
            <a:spLocks noChangeArrowheads="1"/>
          </p:cNvSpPr>
          <p:nvPr/>
        </p:nvSpPr>
        <p:spPr bwMode="auto">
          <a:xfrm>
            <a:off x="5181600" y="3352800"/>
            <a:ext cx="295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113751" name="Text Box 87"/>
          <p:cNvSpPr txBox="1">
            <a:spLocks noChangeArrowheads="1"/>
          </p:cNvSpPr>
          <p:nvPr/>
        </p:nvSpPr>
        <p:spPr bwMode="auto">
          <a:xfrm>
            <a:off x="4724400" y="3657600"/>
            <a:ext cx="355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/>
              <a:t>m</a:t>
            </a:r>
          </a:p>
        </p:txBody>
      </p:sp>
      <p:sp>
        <p:nvSpPr>
          <p:cNvPr id="113752" name="Text Box 88"/>
          <p:cNvSpPr txBox="1">
            <a:spLocks noChangeArrowheads="1"/>
          </p:cNvSpPr>
          <p:nvPr/>
        </p:nvSpPr>
        <p:spPr bwMode="auto">
          <a:xfrm>
            <a:off x="2286000" y="4191000"/>
            <a:ext cx="355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m</a:t>
            </a:r>
          </a:p>
        </p:txBody>
      </p:sp>
      <p:sp>
        <p:nvSpPr>
          <p:cNvPr id="113753" name="Text Box 89"/>
          <p:cNvSpPr txBox="1">
            <a:spLocks noChangeArrowheads="1"/>
          </p:cNvSpPr>
          <p:nvPr/>
        </p:nvSpPr>
        <p:spPr bwMode="auto">
          <a:xfrm>
            <a:off x="5334000" y="4038600"/>
            <a:ext cx="355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m</a:t>
            </a:r>
          </a:p>
        </p:txBody>
      </p:sp>
      <p:sp>
        <p:nvSpPr>
          <p:cNvPr id="113754" name="Text Box 90"/>
          <p:cNvSpPr txBox="1">
            <a:spLocks noChangeArrowheads="1"/>
          </p:cNvSpPr>
          <p:nvPr/>
        </p:nvSpPr>
        <p:spPr bwMode="auto">
          <a:xfrm>
            <a:off x="6019800" y="5791200"/>
            <a:ext cx="355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881799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4807324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maximum cardinality only describes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number of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entities/entity sets that can be involved in a relationship.</a:t>
            </a:r>
          </a:p>
          <a:p>
            <a:pPr lvl="1"/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In other words, it tells us what COULD happen</a:t>
            </a:r>
          </a:p>
          <a:p>
            <a:pPr marL="457200" lvl="1" indent="0">
              <a:buNone/>
            </a:pPr>
            <a:b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need a methodology to also describe the minimum cardinality in a relationship</a:t>
            </a:r>
          </a:p>
          <a:p>
            <a:pPr lvl="1" eaLnBrk="1" hangingPunct="1"/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In other words, what MUST happen?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Cardinality: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instances MUST be involved?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675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12569" y="0"/>
            <a:ext cx="9031432" cy="1008529"/>
          </a:xfrm>
        </p:spPr>
        <p:txBody>
          <a:bodyPr/>
          <a:lstStyle/>
          <a:p>
            <a:r>
              <a:rPr lang="en-US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Minimum Cardinality 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66909" cy="534520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cardinality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minimum number of entity instances that </a:t>
            </a:r>
            <a:r>
              <a:rPr lang="en-US" sz="2400" b="1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participate in a relationship.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Minimums are generally stated as either zero or one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does zero indicate?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the employee HAVE to have a computer?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a computer HAVE to be assigned to an employee?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0"/>
            <a:ext cx="67818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89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12569" y="0"/>
            <a:ext cx="9031432" cy="1008529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Minimum Cardinality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66909" cy="534520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does one indicate?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the employee HAVE to have a badge?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a badge HAVE to be assigned to an employee?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6877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4434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7709"/>
            <a:ext cx="8451273" cy="1115291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38546" y="1680883"/>
            <a:ext cx="8866909" cy="4336676"/>
          </a:xfrm>
        </p:spPr>
        <p:txBody>
          <a:bodyPr/>
          <a:lstStyle/>
          <a:p>
            <a:pPr lvl="1" eaLnBrk="1" hangingPunct="1">
              <a:buFont typeface="Wingdings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Minimum cardinality of zero [0]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indicates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participation of an entity instance in a relationship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Minimum cardinality of one [1]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indicates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mandatory or required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participation of an entity instance in a relationship. </a:t>
            </a:r>
          </a:p>
        </p:txBody>
      </p:sp>
    </p:spTree>
    <p:extLst>
      <p:ext uri="{BB962C8B-B14F-4D97-AF65-F5344CB8AC3E}">
        <p14:creationId xmlns:p14="http://schemas.microsoft.com/office/powerpoint/2010/main" val="616493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Minimum Cardinality Notation 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966" y="1680882"/>
            <a:ext cx="8866909" cy="248770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notation for minimum cardinality in the original version is similar to the Crow’s Foot notation: 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is put on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side of the entity set in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346" y="2895600"/>
            <a:ext cx="3561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  <a:p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121526" y="3134591"/>
            <a:ext cx="2667000" cy="730505"/>
            <a:chOff x="2895600" y="4582391"/>
            <a:chExt cx="2667000" cy="730505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2895600" y="4582391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895600" y="5312896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6245726" y="3013364"/>
            <a:ext cx="228600" cy="949036"/>
            <a:chOff x="6019800" y="4461164"/>
            <a:chExt cx="228600" cy="949036"/>
          </a:xfrm>
        </p:grpSpPr>
        <p:sp>
          <p:nvSpPr>
            <p:cNvPr id="22" name="Oval 21"/>
            <p:cNvSpPr/>
            <p:nvPr/>
          </p:nvSpPr>
          <p:spPr>
            <a:xfrm>
              <a:off x="6019800" y="4461164"/>
              <a:ext cx="228600" cy="2286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6134100" y="5105400"/>
              <a:ext cx="0" cy="304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9339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Minimum Cardinality Notation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66909" cy="248770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  <a:b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(notice the side</a:t>
            </a:r>
            <a:b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numbers are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on!)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41614501"/>
              </p:ext>
            </p:extLst>
          </p:nvPr>
        </p:nvGraphicFramePr>
        <p:xfrm>
          <a:off x="2994971" y="1501775"/>
          <a:ext cx="5287658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152381" imgH="3619048" progId="">
                  <p:embed/>
                </p:oleObj>
              </mc:Choice>
              <mc:Fallback>
                <p:oleObj name="Photo Editor Photo" r:id="rId2" imgW="5152381" imgH="3619048" progId="">
                  <p:embed/>
                  <p:pic>
                    <p:nvPicPr>
                      <p:cNvPr id="0" name="Picture 4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971" y="1501775"/>
                        <a:ext cx="5287658" cy="360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09654" y="1524000"/>
            <a:ext cx="2569934" cy="3972791"/>
            <a:chOff x="4509654" y="1524000"/>
            <a:chExt cx="2569934" cy="3972791"/>
          </a:xfrm>
        </p:grpSpPr>
        <p:sp>
          <p:nvSpPr>
            <p:cNvPr id="3" name="Rectangle 2"/>
            <p:cNvSpPr/>
            <p:nvPr/>
          </p:nvSpPr>
          <p:spPr>
            <a:xfrm>
              <a:off x="5181600" y="1524000"/>
              <a:ext cx="914400" cy="358140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509654" y="5127459"/>
              <a:ext cx="25699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chemeClr val="tx2"/>
                  </a:solidFill>
                </a:rPr>
                <a:t>Maximum Cardinality 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09654" y="4572000"/>
            <a:ext cx="2339102" cy="1740932"/>
            <a:chOff x="4509654" y="4572000"/>
            <a:chExt cx="2339102" cy="1740932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572000" y="4572000"/>
              <a:ext cx="0" cy="1371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705600" y="4626325"/>
              <a:ext cx="0" cy="1371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509654" y="5943600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Minimum Cardinality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9744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Cardinality Notation 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966" y="1680882"/>
            <a:ext cx="8866909" cy="248770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notation for minimum cardinality in Crow’s foot version: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Just remember: </a:t>
            </a:r>
            <a:r>
              <a:rPr lang="en-US" sz="2400" dirty="0">
                <a:solidFill>
                  <a:srgbClr val="000000"/>
                </a:solidFill>
              </a:rPr>
              <a:t>maximum on the outside, minimum on the inside!</a:t>
            </a:r>
          </a:p>
        </p:txBody>
      </p:sp>
      <p:pic>
        <p:nvPicPr>
          <p:cNvPr id="11" name="Picture 10" descr="Fig5-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62200"/>
            <a:ext cx="4267200" cy="178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31618" y="4468543"/>
            <a:ext cx="8936182" cy="91385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2058" tIns="41029" rIns="82058" bIns="41029">
            <a:spAutoFit/>
          </a:bodyPr>
          <a:lstStyle>
            <a:lvl1pPr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A DEPARTMENT must have at least one, and possibly many employees, while an EMPLOYEE may be associated with no DEPARTMENT or possibly with ONE Department.</a:t>
            </a:r>
          </a:p>
        </p:txBody>
      </p:sp>
    </p:spTree>
    <p:extLst>
      <p:ext uri="{BB962C8B-B14F-4D97-AF65-F5344CB8AC3E}">
        <p14:creationId xmlns:p14="http://schemas.microsoft.com/office/powerpoint/2010/main" val="1476659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76200"/>
            <a:ext cx="9144000" cy="1361515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Three Types of Minimum Cardinality</a:t>
            </a:r>
          </a:p>
        </p:txBody>
      </p:sp>
      <p:graphicFrame>
        <p:nvGraphicFramePr>
          <p:cNvPr id="11267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221756"/>
              </p:ext>
            </p:extLst>
          </p:nvPr>
        </p:nvGraphicFramePr>
        <p:xfrm>
          <a:off x="1066800" y="1447800"/>
          <a:ext cx="7412182" cy="5052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152381" imgH="3619048" progId="">
                  <p:embed/>
                </p:oleObj>
              </mc:Choice>
              <mc:Fallback>
                <p:oleObj name="Photo Editor Photo" r:id="rId2" imgW="5152381" imgH="3619048" progId="">
                  <p:embed/>
                  <p:pic>
                    <p:nvPicPr>
                      <p:cNvPr id="0" name="Picture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447800"/>
                        <a:ext cx="7412182" cy="5052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5655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18" y="0"/>
            <a:ext cx="8728364" cy="1361515"/>
          </a:xfrm>
        </p:spPr>
        <p:txBody>
          <a:bodyPr/>
          <a:lstStyle/>
          <a:p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Read Minimum Cardinality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Fig5-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07673"/>
            <a:ext cx="4897582" cy="204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209800" y="137725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137725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38855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389459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Employee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743200" y="1758791"/>
            <a:ext cx="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419473" y="1758791"/>
            <a:ext cx="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486400" y="1758791"/>
            <a:ext cx="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58000" y="1797627"/>
            <a:ext cx="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96518" y="5409659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Department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5318" y="540965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4518" y="542095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54102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Employee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823118" y="4343400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426400" y="4176750"/>
            <a:ext cx="0" cy="11572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389672" y="4176750"/>
            <a:ext cx="0" cy="11572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75000" y="4343400"/>
            <a:ext cx="680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1305493" y="3221182"/>
            <a:ext cx="6989708" cy="609600"/>
          </a:xfrm>
          <a:prstGeom prst="rightArrow">
            <a:avLst/>
          </a:prstGeom>
          <a:gradFill>
            <a:gsLst>
              <a:gs pos="0">
                <a:schemeClr val="accent2">
                  <a:shade val="51000"/>
                  <a:satMod val="130000"/>
                  <a:alpha val="38000"/>
                </a:schemeClr>
              </a:gs>
              <a:gs pos="8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42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18" y="0"/>
            <a:ext cx="8728364" cy="1361515"/>
          </a:xfrm>
        </p:spPr>
        <p:txBody>
          <a:bodyPr/>
          <a:lstStyle/>
          <a:p>
            <a:r>
              <a:rPr lang="en-US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How to Read Minimum Cardinality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Fig5-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07673"/>
            <a:ext cx="4897582" cy="204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209800" y="137725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Employee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137725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Works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38855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38945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Department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743200" y="1758791"/>
            <a:ext cx="335280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616162" y="1758791"/>
            <a:ext cx="0" cy="748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3581400" y="1758791"/>
            <a:ext cx="1905000" cy="9082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2943334" y="1797627"/>
            <a:ext cx="3914666" cy="7100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96518" y="540965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Employee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5318" y="5409659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Works 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4518" y="542095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541020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Department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2823118" y="4343400"/>
            <a:ext cx="364527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645753" y="4176750"/>
            <a:ext cx="0" cy="11572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676868" y="4114800"/>
            <a:ext cx="1712804" cy="1219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590800" y="4343400"/>
            <a:ext cx="419100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 rot="10800000">
            <a:off x="1305493" y="3221182"/>
            <a:ext cx="6989708" cy="609600"/>
          </a:xfrm>
          <a:prstGeom prst="rightArrow">
            <a:avLst/>
          </a:prstGeom>
          <a:gradFill>
            <a:gsLst>
              <a:gs pos="0">
                <a:schemeClr val="accent2">
                  <a:shade val="51000"/>
                  <a:satMod val="130000"/>
                  <a:alpha val="38000"/>
                </a:schemeClr>
              </a:gs>
              <a:gs pos="8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23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Cardinality Exercise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032153" cy="2487706"/>
          </a:xfrm>
        </p:spPr>
        <p:txBody>
          <a:bodyPr/>
          <a:lstStyle/>
          <a:p>
            <a:pPr lvl="1" eaLnBrk="1" hangingPunct="1"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NJIT, a professor could teach many courses. A course could be taught by many professors (and naturally by at least one!). However, a professor does not have to teach a course – he might be a research professor</a:t>
            </a:r>
          </a:p>
          <a:p>
            <a:pPr lvl="1" eaLnBrk="1" hangingPunct="1">
              <a:buFont typeface="Arial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the professor – course relationship</a:t>
            </a:r>
            <a:b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00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Cardinality Exercise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803553" cy="2487706"/>
          </a:xfrm>
        </p:spPr>
        <p:txBody>
          <a:bodyPr/>
          <a:lstStyle/>
          <a:p>
            <a:pPr lvl="1" eaLnBrk="1" hangingPunct="1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</a:t>
            </a:r>
            <a:r>
              <a:rPr lang="en-US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 it in two sentences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professor could teach min? – max? courses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course could be taught by min? – max? professor</a:t>
            </a:r>
          </a:p>
          <a:p>
            <a:pPr lvl="1">
              <a:buFont typeface="Arial" pitchFamily="34" charset="0"/>
              <a:buChar char="•"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60713" y="4152900"/>
            <a:ext cx="7445086" cy="342900"/>
            <a:chOff x="2438401" y="5943600"/>
            <a:chExt cx="4831772" cy="3429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438401" y="5943600"/>
              <a:ext cx="924995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PROFESSOR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6330568" y="5943600"/>
              <a:ext cx="939605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COURSE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3363396" y="6115050"/>
              <a:ext cx="2967172" cy="0"/>
            </a:xfrm>
            <a:prstGeom prst="line">
              <a:avLst/>
            </a:prstGeom>
            <a:ln>
              <a:prstDash val="lgDash"/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0" y="3505200"/>
            <a:ext cx="8458200" cy="949036"/>
            <a:chOff x="381000" y="3505200"/>
            <a:chExt cx="8458200" cy="949036"/>
          </a:xfrm>
        </p:grpSpPr>
        <p:sp>
          <p:nvSpPr>
            <p:cNvPr id="2" name="Rectangle 1"/>
            <p:cNvSpPr/>
            <p:nvPr/>
          </p:nvSpPr>
          <p:spPr>
            <a:xfrm>
              <a:off x="381000" y="3505200"/>
              <a:ext cx="84582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1"/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2: work from left </a:t>
              </a: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 right, translate the first sentence into numbers </a:t>
              </a:r>
              <a:endPara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400800" y="4187536"/>
              <a:ext cx="228600" cy="2667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H="1">
              <a:off x="6625936" y="4187536"/>
              <a:ext cx="162790" cy="1333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6669230" y="4330845"/>
              <a:ext cx="162792" cy="878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51" name="Group 6150"/>
          <p:cNvGrpSpPr/>
          <p:nvPr/>
        </p:nvGrpSpPr>
        <p:grpSpPr>
          <a:xfrm>
            <a:off x="408709" y="4187536"/>
            <a:ext cx="8458200" cy="1134796"/>
            <a:chOff x="408709" y="4187536"/>
            <a:chExt cx="8458200" cy="1134796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590800" y="4187536"/>
              <a:ext cx="0" cy="266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 flipV="1">
              <a:off x="2286001" y="4187536"/>
              <a:ext cx="304799" cy="1333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286002" y="4320887"/>
              <a:ext cx="304798" cy="13334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08709" y="4953000"/>
              <a:ext cx="845820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1"/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3: work from right </a:t>
              </a: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 left, translate the second sentence into numbers </a:t>
              </a:r>
              <a:endPara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15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7"/>
          <p:cNvSpPr>
            <a:spLocks noChangeArrowheads="1"/>
          </p:cNvSpPr>
          <p:nvPr/>
        </p:nvSpPr>
        <p:spPr bwMode="auto">
          <a:xfrm flipV="1">
            <a:off x="419676" y="2137166"/>
            <a:ext cx="2137353" cy="805423"/>
          </a:xfrm>
          <a:prstGeom prst="roundRect">
            <a:avLst>
              <a:gd name="adj" fmla="val 0"/>
            </a:avLst>
          </a:prstGeom>
          <a:solidFill>
            <a:srgbClr val="C0C0C0"/>
          </a:solidFill>
          <a:ln w="18574">
            <a:solidFill>
              <a:srgbClr val="0000C2"/>
            </a:solidFill>
            <a:round/>
            <a:headEnd/>
            <a:tailEnd/>
          </a:ln>
          <a:effectLst>
            <a:outerShdw dist="121233" dir="2700000" algn="ctr" rotWithShape="0">
              <a:srgbClr val="404040"/>
            </a:outerShdw>
          </a:effectLst>
        </p:spPr>
        <p:txBody>
          <a:bodyPr wrap="none" lIns="82058" tIns="41029" rIns="82058" bIns="41029" anchor="ctr"/>
          <a:lstStyle/>
          <a:p>
            <a:pPr algn="ctr"/>
            <a:endParaRPr lang="en-US"/>
          </a:p>
        </p:txBody>
      </p:sp>
      <p:sp>
        <p:nvSpPr>
          <p:cNvPr id="10243" name="AutoShape 8"/>
          <p:cNvSpPr>
            <a:spLocks noChangeArrowheads="1"/>
          </p:cNvSpPr>
          <p:nvPr/>
        </p:nvSpPr>
        <p:spPr bwMode="auto">
          <a:xfrm flipV="1">
            <a:off x="6815858" y="2134364"/>
            <a:ext cx="2082512" cy="733985"/>
          </a:xfrm>
          <a:prstGeom prst="roundRect">
            <a:avLst>
              <a:gd name="adj" fmla="val 0"/>
            </a:avLst>
          </a:prstGeom>
          <a:solidFill>
            <a:srgbClr val="C0C0C0"/>
          </a:solidFill>
          <a:ln w="18574">
            <a:solidFill>
              <a:srgbClr val="0000C2"/>
            </a:solidFill>
            <a:round/>
            <a:headEnd/>
            <a:tailEnd/>
          </a:ln>
          <a:effectLst>
            <a:outerShdw dist="121233" dir="2700000" algn="ctr" rotWithShape="0">
              <a:srgbClr val="404040"/>
            </a:outerShdw>
          </a:effectLst>
        </p:spPr>
        <p:txBody>
          <a:bodyPr wrap="none" lIns="82058" tIns="41029" rIns="82058" bIns="41029" anchor="ctr"/>
          <a:lstStyle/>
          <a:p>
            <a:pPr algn="ctr"/>
            <a:endParaRPr lang="en-US"/>
          </a:p>
        </p:txBody>
      </p:sp>
      <p:sp>
        <p:nvSpPr>
          <p:cNvPr id="10244" name="Freeform 9"/>
          <p:cNvSpPr>
            <a:spLocks/>
          </p:cNvSpPr>
          <p:nvPr/>
        </p:nvSpPr>
        <p:spPr bwMode="auto">
          <a:xfrm>
            <a:off x="3969904" y="1885033"/>
            <a:ext cx="1476375" cy="1353110"/>
          </a:xfrm>
          <a:custGeom>
            <a:avLst/>
            <a:gdLst>
              <a:gd name="T0" fmla="*/ 0 w 1023"/>
              <a:gd name="T1" fmla="*/ 2147483647 h 966"/>
              <a:gd name="T2" fmla="*/ 2147483647 w 1023"/>
              <a:gd name="T3" fmla="*/ 0 h 966"/>
              <a:gd name="T4" fmla="*/ 2147483647 w 1023"/>
              <a:gd name="T5" fmla="*/ 2147483647 h 966"/>
              <a:gd name="T6" fmla="*/ 2147483647 w 1023"/>
              <a:gd name="T7" fmla="*/ 2147483647 h 966"/>
              <a:gd name="T8" fmla="*/ 0 w 1023"/>
              <a:gd name="T9" fmla="*/ 2147483647 h 966"/>
              <a:gd name="T10" fmla="*/ 0 w 1023"/>
              <a:gd name="T11" fmla="*/ 2147483647 h 9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23" h="966">
                <a:moveTo>
                  <a:pt x="0" y="481"/>
                </a:moveTo>
                <a:lnTo>
                  <a:pt x="508" y="0"/>
                </a:lnTo>
                <a:lnTo>
                  <a:pt x="1022" y="477"/>
                </a:lnTo>
                <a:lnTo>
                  <a:pt x="508" y="965"/>
                </a:lnTo>
                <a:lnTo>
                  <a:pt x="0" y="481"/>
                </a:lnTo>
              </a:path>
            </a:pathLst>
          </a:custGeom>
          <a:solidFill>
            <a:srgbClr val="C0C0C0"/>
          </a:solidFill>
          <a:ln w="9287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21233" dir="2700000" algn="ctr" rotWithShape="0">
              <a:srgbClr val="404040"/>
            </a:outerShdw>
          </a:effectLst>
        </p:spPr>
        <p:txBody>
          <a:bodyPr lIns="82058" tIns="41029" rIns="82058" bIns="41029"/>
          <a:lstStyle/>
          <a:p>
            <a:endParaRPr lang="en-US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984" y="2254828"/>
            <a:ext cx="2324965" cy="400610"/>
          </a:xfrm>
        </p:spPr>
        <p:txBody>
          <a:bodyPr lIns="0" tIns="0" rIns="0" bIns="0"/>
          <a:lstStyle/>
          <a:p>
            <a:pPr marL="0" indent="0" defTabSz="461578">
              <a:spcBef>
                <a:spcPct val="0"/>
              </a:spcBef>
              <a:buClr>
                <a:srgbClr val="602162"/>
              </a:buClr>
              <a:buSzPct val="90000"/>
              <a:buNone/>
            </a:pPr>
            <a:r>
              <a:rPr lang="en-US" sz="2500" b="1" dirty="0">
                <a:solidFill>
                  <a:srgbClr val="000000"/>
                </a:solidFill>
                <a:latin typeface="NewsGothic"/>
              </a:rPr>
              <a:t>DORMITORY</a:t>
            </a:r>
            <a:endParaRPr lang="en-US" dirty="0"/>
          </a:p>
        </p:txBody>
      </p:sp>
      <p:sp>
        <p:nvSpPr>
          <p:cNvPr id="10246" name="Text Box 10"/>
          <p:cNvSpPr txBox="1">
            <a:spLocks noChangeArrowheads="1"/>
          </p:cNvSpPr>
          <p:nvPr/>
        </p:nvSpPr>
        <p:spPr bwMode="auto">
          <a:xfrm>
            <a:off x="6950075" y="2263232"/>
            <a:ext cx="1682750" cy="39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buClr>
                <a:srgbClr val="602162"/>
              </a:buClr>
              <a:buSzPct val="90000"/>
              <a:buFont typeface="Monotype Sorts"/>
              <a:buNone/>
            </a:pPr>
            <a:r>
              <a:rPr lang="en-US" b="1">
                <a:solidFill>
                  <a:srgbClr val="000000"/>
                </a:solidFill>
                <a:latin typeface="NewsGothic"/>
              </a:rPr>
              <a:t>STUDENT</a:t>
            </a:r>
            <a:endParaRPr lang="en-US"/>
          </a:p>
        </p:txBody>
      </p:sp>
      <p:sp>
        <p:nvSpPr>
          <p:cNvPr id="10247" name="Text Box 11"/>
          <p:cNvSpPr txBox="1">
            <a:spLocks noChangeArrowheads="1"/>
          </p:cNvSpPr>
          <p:nvPr/>
        </p:nvSpPr>
        <p:spPr bwMode="auto">
          <a:xfrm>
            <a:off x="4389870" y="2313658"/>
            <a:ext cx="930852" cy="519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buClr>
                <a:srgbClr val="602162"/>
              </a:buClr>
              <a:buSzPct val="90000"/>
              <a:buFont typeface="Monotype Sorts"/>
              <a:buNone/>
            </a:pPr>
            <a:r>
              <a:rPr lang="en-US" sz="3100" b="1">
                <a:solidFill>
                  <a:srgbClr val="000000"/>
                </a:solidFill>
                <a:latin typeface="NewsGothic"/>
              </a:rPr>
              <a:t>1:N</a:t>
            </a:r>
            <a:endParaRPr lang="en-US"/>
          </a:p>
        </p:txBody>
      </p:sp>
      <p:sp>
        <p:nvSpPr>
          <p:cNvPr id="10248" name="Line 12"/>
          <p:cNvSpPr>
            <a:spLocks noChangeShapeType="1"/>
          </p:cNvSpPr>
          <p:nvPr/>
        </p:nvSpPr>
        <p:spPr bwMode="auto">
          <a:xfrm flipH="1">
            <a:off x="2518063" y="2562989"/>
            <a:ext cx="1450398" cy="0"/>
          </a:xfrm>
          <a:prstGeom prst="line">
            <a:avLst/>
          </a:prstGeom>
          <a:noFill/>
          <a:ln w="47149">
            <a:solidFill>
              <a:srgbClr val="60216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058" tIns="41029" rIns="82058" bIns="41029"/>
          <a:lstStyle/>
          <a:p>
            <a:endParaRPr lang="en-US"/>
          </a:p>
        </p:txBody>
      </p:sp>
      <p:sp>
        <p:nvSpPr>
          <p:cNvPr id="10249" name="Line 13"/>
          <p:cNvSpPr>
            <a:spLocks noChangeShapeType="1"/>
          </p:cNvSpPr>
          <p:nvPr/>
        </p:nvSpPr>
        <p:spPr bwMode="auto">
          <a:xfrm>
            <a:off x="5459268" y="2547581"/>
            <a:ext cx="1395557" cy="0"/>
          </a:xfrm>
          <a:prstGeom prst="line">
            <a:avLst/>
          </a:prstGeom>
          <a:noFill/>
          <a:ln w="47149">
            <a:solidFill>
              <a:srgbClr val="60216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058" tIns="41029" rIns="82058" bIns="41029"/>
          <a:lstStyle/>
          <a:p>
            <a:endParaRPr lang="en-US"/>
          </a:p>
        </p:txBody>
      </p:sp>
      <p:sp>
        <p:nvSpPr>
          <p:cNvPr id="10250" name="Text Box 14"/>
          <p:cNvSpPr txBox="1">
            <a:spLocks noChangeArrowheads="1"/>
          </p:cNvSpPr>
          <p:nvPr/>
        </p:nvSpPr>
        <p:spPr bwMode="auto">
          <a:xfrm>
            <a:off x="2697018" y="2330467"/>
            <a:ext cx="430068" cy="502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buClr>
                <a:srgbClr val="602162"/>
              </a:buClr>
              <a:buSzPct val="90000"/>
              <a:buFont typeface="Monotype Sorts"/>
              <a:buNone/>
            </a:pPr>
            <a:r>
              <a:rPr lang="en-US" sz="3100" b="1">
                <a:solidFill>
                  <a:srgbClr val="000000"/>
                </a:solidFill>
                <a:latin typeface="NewsGothic"/>
              </a:rPr>
              <a:t>0</a:t>
            </a:r>
            <a:endParaRPr lang="en-US"/>
          </a:p>
        </p:txBody>
      </p:sp>
      <p:sp>
        <p:nvSpPr>
          <p:cNvPr id="10251" name="Text Box 15"/>
          <p:cNvSpPr txBox="1">
            <a:spLocks noChangeArrowheads="1"/>
          </p:cNvSpPr>
          <p:nvPr/>
        </p:nvSpPr>
        <p:spPr bwMode="auto">
          <a:xfrm>
            <a:off x="6408881" y="2345876"/>
            <a:ext cx="226580" cy="4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buClr>
                <a:srgbClr val="602162"/>
              </a:buClr>
              <a:buSzPct val="90000"/>
              <a:buFont typeface="Monotype Sorts"/>
              <a:buNone/>
            </a:pPr>
            <a:endParaRPr lang="en-US"/>
          </a:p>
        </p:txBody>
      </p:sp>
      <p:sp>
        <p:nvSpPr>
          <p:cNvPr id="10252" name="Text Box 16"/>
          <p:cNvSpPr txBox="1">
            <a:spLocks noChangeArrowheads="1"/>
          </p:cNvSpPr>
          <p:nvPr/>
        </p:nvSpPr>
        <p:spPr bwMode="auto">
          <a:xfrm>
            <a:off x="762000" y="3630706"/>
            <a:ext cx="7985125" cy="636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Clr>
                <a:srgbClr val="602162"/>
              </a:buClr>
              <a:buSzPct val="90000"/>
              <a:buFont typeface="Monotype Sorts"/>
              <a:buNone/>
            </a:pPr>
            <a:r>
              <a:rPr lang="en-US" sz="29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this ER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53" name="Line 17"/>
          <p:cNvSpPr>
            <a:spLocks noChangeShapeType="1"/>
          </p:cNvSpPr>
          <p:nvPr/>
        </p:nvSpPr>
        <p:spPr bwMode="auto">
          <a:xfrm>
            <a:off x="6535881" y="2322062"/>
            <a:ext cx="0" cy="47064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2058" tIns="41029" rIns="82058" bIns="41029"/>
          <a:lstStyle/>
          <a:p>
            <a:endParaRPr lang="en-US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1706"/>
            <a:ext cx="8728364" cy="1361515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Exercise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506134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467591" y="0"/>
            <a:ext cx="8416636" cy="874059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Crow’s Foot Notation (read from left to right)</a:t>
            </a:r>
          </a:p>
        </p:txBody>
      </p:sp>
      <p:pic>
        <p:nvPicPr>
          <p:cNvPr id="14339" name="Picture 5" descr="Fig5-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96291"/>
            <a:ext cx="4876800" cy="470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638800" y="1752600"/>
            <a:ext cx="2716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Alternate Version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5638800" y="2667000"/>
            <a:ext cx="253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dirty="0" err="1">
                <a:solidFill>
                  <a:srgbClr val="000000"/>
                </a:solidFill>
              </a:rPr>
              <a:t>min:max</a:t>
            </a:r>
            <a:r>
              <a:rPr lang="en-US" sz="2400" dirty="0">
                <a:solidFill>
                  <a:srgbClr val="000000"/>
                </a:solidFill>
              </a:rPr>
              <a:t>) = (1:1)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638800" y="3617233"/>
            <a:ext cx="2621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dirty="0" err="1">
                <a:solidFill>
                  <a:srgbClr val="000000"/>
                </a:solidFill>
              </a:rPr>
              <a:t>min:max</a:t>
            </a:r>
            <a:r>
              <a:rPr lang="en-US" sz="2400" dirty="0">
                <a:solidFill>
                  <a:srgbClr val="000000"/>
                </a:solidFill>
              </a:rPr>
              <a:t>) = (1:m)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638800" y="4495800"/>
            <a:ext cx="253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dirty="0" err="1">
                <a:solidFill>
                  <a:srgbClr val="000000"/>
                </a:solidFill>
              </a:rPr>
              <a:t>min:max</a:t>
            </a:r>
            <a:r>
              <a:rPr lang="en-US" sz="2400" dirty="0">
                <a:solidFill>
                  <a:srgbClr val="000000"/>
                </a:solidFill>
              </a:rPr>
              <a:t>) = (0:1)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638800" y="5486400"/>
            <a:ext cx="2621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dirty="0" err="1">
                <a:solidFill>
                  <a:srgbClr val="000000"/>
                </a:solidFill>
              </a:rPr>
              <a:t>min:max</a:t>
            </a:r>
            <a:r>
              <a:rPr lang="en-US" sz="2400" dirty="0">
                <a:solidFill>
                  <a:srgbClr val="000000"/>
                </a:solidFill>
              </a:rPr>
              <a:t>) = (0:m)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3562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of a Relationship</a:t>
            </a:r>
          </a:p>
        </p:txBody>
      </p:sp>
      <p:sp>
        <p:nvSpPr>
          <p:cNvPr id="11878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The DEGREE of the </a:t>
            </a:r>
            <a:r>
              <a:rPr lang="en-US" sz="2400" dirty="0">
                <a:solidFill>
                  <a:srgbClr val="FF0000"/>
                </a:solidFill>
              </a:rPr>
              <a:t>entity types </a:t>
            </a:r>
            <a:r>
              <a:rPr lang="en-US" sz="2400" dirty="0"/>
              <a:t>is  the number of participants involved in a relationship. Think of how many tables are in a particular relationship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The CARDINALITY of the relationship is the number of </a:t>
            </a:r>
            <a:r>
              <a:rPr lang="en-US" sz="2400" dirty="0">
                <a:solidFill>
                  <a:srgbClr val="FF0000"/>
                </a:solidFill>
              </a:rPr>
              <a:t>entity instances </a:t>
            </a:r>
            <a:r>
              <a:rPr lang="en-US" sz="2400" dirty="0"/>
              <a:t>involved in a relationship. Think of how many rows in one table are connected to how many rows in another table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884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Unary Relationship: Only one entity class is involved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unary relationship is also known as 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relationship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determine the cardinality of such relationships?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18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057400" y="4436051"/>
            <a:ext cx="1485900" cy="1257300"/>
            <a:chOff x="4058371" y="2514600"/>
            <a:chExt cx="1485900" cy="1257300"/>
          </a:xfrm>
        </p:grpSpPr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286971" y="25146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TEAM</a:t>
              </a: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4058371" y="3276600"/>
              <a:ext cx="1485900" cy="4953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PLAYS AGAINST</a:t>
              </a: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H="1">
              <a:off x="4820371" y="2819400"/>
              <a:ext cx="0" cy="4572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cxnSp>
          <p:nvCxnSpPr>
            <p:cNvPr id="18" name="AutoShape 14"/>
            <p:cNvCxnSpPr>
              <a:cxnSpLocks noChangeShapeType="1"/>
              <a:stCxn id="16" idx="2"/>
              <a:endCxn id="15" idx="1"/>
            </p:cNvCxnSpPr>
            <p:nvPr/>
          </p:nvCxnSpPr>
          <p:spPr bwMode="auto">
            <a:xfrm rot="16200000" flipV="1">
              <a:off x="3982171" y="2952750"/>
              <a:ext cx="1123950" cy="514350"/>
            </a:xfrm>
            <a:prstGeom prst="bentConnector4">
              <a:avLst>
                <a:gd name="adj1" fmla="val -20338"/>
                <a:gd name="adj2" fmla="val 188889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7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of a Relationship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696963" y="4436051"/>
            <a:ext cx="1485900" cy="1278949"/>
            <a:chOff x="6269036" y="3524249"/>
            <a:chExt cx="1485900" cy="1278949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6476999" y="3524249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 dirty="0">
                  <a:latin typeface="Times New Roman" pitchFamily="18" charset="0"/>
                </a:rPr>
                <a:t>COURSE</a:t>
              </a:r>
            </a:p>
          </p:txBody>
        </p:sp>
        <p:sp>
          <p:nvSpPr>
            <p:cNvPr id="22" name="AutoShape 24"/>
            <p:cNvSpPr>
              <a:spLocks noChangeArrowheads="1"/>
            </p:cNvSpPr>
            <p:nvPr/>
          </p:nvSpPr>
          <p:spPr bwMode="auto">
            <a:xfrm>
              <a:off x="6269036" y="4307897"/>
              <a:ext cx="1485900" cy="4953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100" dirty="0">
                  <a:latin typeface="Times New Roman" pitchFamily="18" charset="0"/>
                </a:rPr>
                <a:t>IS PREREQUISITE</a:t>
              </a:r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auto">
            <a:xfrm flipH="1">
              <a:off x="7009536" y="3790949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24" name="AutoShape 38"/>
            <p:cNvCxnSpPr>
              <a:cxnSpLocks noChangeShapeType="1"/>
              <a:stCxn id="22" idx="2"/>
              <a:endCxn id="21" idx="1"/>
            </p:cNvCxnSpPr>
            <p:nvPr/>
          </p:nvCxnSpPr>
          <p:spPr bwMode="auto">
            <a:xfrm rot="5400000" flipH="1">
              <a:off x="6171694" y="3962905"/>
              <a:ext cx="1145598" cy="534987"/>
            </a:xfrm>
            <a:prstGeom prst="bentConnector4">
              <a:avLst>
                <a:gd name="adj1" fmla="val -19955"/>
                <a:gd name="adj2" fmla="val 18160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35775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277091" y="0"/>
            <a:ext cx="8451273" cy="941294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1:N Recursive Relationships</a:t>
            </a:r>
          </a:p>
        </p:txBody>
      </p:sp>
      <p:pic>
        <p:nvPicPr>
          <p:cNvPr id="40964" name="Picture 9" descr="C:\Users\Auer.WWU\Auer-Projects\Kroenke-Auer-Projects\Kroenke-Auer-DBP-e11\DBP-e11-Supplements\Images\Chapter05\Fig5-4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698203"/>
            <a:ext cx="2164773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76645" y="1219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employee can manage many other employees, but some employees do not manage any other employees. </a:t>
            </a:r>
          </a:p>
          <a:p>
            <a:pPr eaLnBrk="1" hangingPunct="1"/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hangingPunct="1"/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hangingPunct="1"/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hangingPunct="1"/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hangingPunct="1"/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hangingPunct="1"/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an employee can be managed by at most one other employee, and some employees (the boss!) are not managed by any other employee.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19493" y="2133600"/>
            <a:ext cx="481950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an employee manages 0 – m employees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19200" y="6018128"/>
            <a:ext cx="62484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an employee is managed by 0 – 1 employees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33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322118" y="152400"/>
            <a:ext cx="8451273" cy="739588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N:M Recursive Relationship</a:t>
            </a:r>
          </a:p>
        </p:txBody>
      </p:sp>
      <p:pic>
        <p:nvPicPr>
          <p:cNvPr id="41987" name="Picture 8" descr="C:\Users\Auer.WWU\Auer-Projects\Kroenke-Auer-Projects\Kroenke-Auer-DBP-e11\DBP-e11-Supplements\Images\Chapter05\Fig5-4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414743"/>
            <a:ext cx="5794375" cy="2417669"/>
          </a:xfrm>
        </p:spPr>
      </p:pic>
      <p:pic>
        <p:nvPicPr>
          <p:cNvPr id="41988" name="Picture 9" descr="C:\Users\Auer.WWU\Auer-Projects\Kroenke-Auer-Projects\Kroenke-Auer-DBP-e11\DBP-e11-Supplements\Images\Chapter05\Fig5-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54" y="1197629"/>
            <a:ext cx="2840182" cy="2435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TextBox 6"/>
          <p:cNvSpPr txBox="1">
            <a:spLocks noChangeArrowheads="1"/>
          </p:cNvSpPr>
          <p:nvPr/>
        </p:nvSpPr>
        <p:spPr bwMode="auto">
          <a:xfrm>
            <a:off x="138546" y="3901049"/>
            <a:ext cx="5818909" cy="1929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058" tIns="41029" rIns="82058" bIns="41029">
            <a:spAutoFit/>
          </a:bodyPr>
          <a:lstStyle>
            <a:lvl1pPr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Bill of Materials is common in manufacturing applications. The Child’s Red Wagon consists of three parts: a Handle Assembly, a Body, and a Wheel Assembly. And the Handle Assembly and the Wheel Assembly each consist of ‘many’ other parts  (some of which are common to both).</a:t>
            </a:r>
          </a:p>
        </p:txBody>
      </p:sp>
      <p:sp>
        <p:nvSpPr>
          <p:cNvPr id="41990" name="TextBox 7"/>
          <p:cNvSpPr txBox="1">
            <a:spLocks noChangeArrowheads="1"/>
          </p:cNvSpPr>
          <p:nvPr/>
        </p:nvSpPr>
        <p:spPr bwMode="auto">
          <a:xfrm>
            <a:off x="6165273" y="3832412"/>
            <a:ext cx="2840182" cy="223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058" tIns="41029" rIns="82058" bIns="41029">
            <a:spAutoFit/>
          </a:bodyPr>
          <a:lstStyle>
            <a:lvl1pPr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part may consist of ‘many’ other parts, or none at all. </a:t>
            </a:r>
          </a:p>
          <a:p>
            <a:pPr algn="l" eaLnBrk="1" hangingPunct="1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each part may be used in ‘many’ other parts, or perhaps none.</a:t>
            </a:r>
          </a:p>
        </p:txBody>
      </p:sp>
      <p:cxnSp>
        <p:nvCxnSpPr>
          <p:cNvPr id="41991" name="Straight Arrow Connector 9"/>
          <p:cNvCxnSpPr>
            <a:cxnSpLocks noChangeShapeType="1"/>
          </p:cNvCxnSpPr>
          <p:nvPr/>
        </p:nvCxnSpPr>
        <p:spPr bwMode="auto">
          <a:xfrm flipV="1">
            <a:off x="3532909" y="3025588"/>
            <a:ext cx="0" cy="875461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2" name="Straight Arrow Connector 10"/>
          <p:cNvCxnSpPr>
            <a:cxnSpLocks noChangeShapeType="1"/>
          </p:cNvCxnSpPr>
          <p:nvPr/>
        </p:nvCxnSpPr>
        <p:spPr bwMode="auto">
          <a:xfrm flipV="1">
            <a:off x="6650182" y="2956953"/>
            <a:ext cx="138545" cy="875459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38335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6675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Binary Relationship: Two entity types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common type</a:t>
            </a: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2200" y="3048000"/>
            <a:ext cx="4346575" cy="1028700"/>
            <a:chOff x="2362200" y="3505200"/>
            <a:chExt cx="4346575" cy="1028700"/>
          </a:xfrm>
        </p:grpSpPr>
        <p:sp>
          <p:nvSpPr>
            <p:cNvPr id="119816" name="Rectangle 8"/>
            <p:cNvSpPr>
              <a:spLocks noChangeArrowheads="1"/>
            </p:cNvSpPr>
            <p:nvPr/>
          </p:nvSpPr>
          <p:spPr bwMode="auto">
            <a:xfrm>
              <a:off x="2362200" y="358140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EMPLOYEE</a:t>
              </a:r>
            </a:p>
          </p:txBody>
        </p:sp>
        <p:sp>
          <p:nvSpPr>
            <p:cNvPr id="119817" name="Rectangle 9"/>
            <p:cNvSpPr>
              <a:spLocks noChangeArrowheads="1"/>
            </p:cNvSpPr>
            <p:nvPr/>
          </p:nvSpPr>
          <p:spPr bwMode="auto">
            <a:xfrm>
              <a:off x="5638800" y="35814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119818" name="Line 10"/>
            <p:cNvSpPr>
              <a:spLocks noChangeShapeType="1"/>
            </p:cNvSpPr>
            <p:nvPr/>
          </p:nvSpPr>
          <p:spPr bwMode="auto">
            <a:xfrm>
              <a:off x="3429000" y="37338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19819" name="Line 11"/>
            <p:cNvSpPr>
              <a:spLocks noChangeShapeType="1"/>
            </p:cNvSpPr>
            <p:nvPr/>
          </p:nvSpPr>
          <p:spPr bwMode="auto">
            <a:xfrm>
              <a:off x="5257800" y="37338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19820" name="AutoShape 12"/>
            <p:cNvSpPr>
              <a:spLocks noChangeArrowheads="1"/>
            </p:cNvSpPr>
            <p:nvPr/>
          </p:nvSpPr>
          <p:spPr bwMode="auto">
            <a:xfrm>
              <a:off x="3810000" y="3505200"/>
              <a:ext cx="1485900" cy="4191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MAY BE</a:t>
              </a:r>
            </a:p>
          </p:txBody>
        </p:sp>
        <p:sp>
          <p:nvSpPr>
            <p:cNvPr id="119821" name="Rectangle 13"/>
            <p:cNvSpPr>
              <a:spLocks noChangeArrowheads="1"/>
            </p:cNvSpPr>
            <p:nvPr/>
          </p:nvSpPr>
          <p:spPr bwMode="auto">
            <a:xfrm>
              <a:off x="2362200" y="419100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119822" name="Rectangle 14"/>
            <p:cNvSpPr>
              <a:spLocks noChangeArrowheads="1"/>
            </p:cNvSpPr>
            <p:nvPr/>
          </p:nvSpPr>
          <p:spPr bwMode="auto">
            <a:xfrm>
              <a:off x="5638800" y="41910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BOOK</a:t>
              </a:r>
            </a:p>
          </p:txBody>
        </p:sp>
        <p:sp>
          <p:nvSpPr>
            <p:cNvPr id="119823" name="Line 15"/>
            <p:cNvSpPr>
              <a:spLocks noChangeShapeType="1"/>
            </p:cNvSpPr>
            <p:nvPr/>
          </p:nvSpPr>
          <p:spPr bwMode="auto">
            <a:xfrm>
              <a:off x="3429000" y="43434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19824" name="Line 16"/>
            <p:cNvSpPr>
              <a:spLocks noChangeShapeType="1"/>
            </p:cNvSpPr>
            <p:nvPr/>
          </p:nvSpPr>
          <p:spPr bwMode="auto">
            <a:xfrm>
              <a:off x="5257800" y="43434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19825" name="AutoShape 17"/>
            <p:cNvSpPr>
              <a:spLocks noChangeArrowheads="1"/>
            </p:cNvSpPr>
            <p:nvPr/>
          </p:nvSpPr>
          <p:spPr bwMode="auto">
            <a:xfrm>
              <a:off x="3810000" y="4114800"/>
              <a:ext cx="1485900" cy="4191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PURCHASE</a:t>
              </a:r>
            </a:p>
          </p:txBody>
        </p:sp>
      </p:grp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7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of a relationship</a:t>
            </a:r>
          </a:p>
        </p:txBody>
      </p:sp>
    </p:spTree>
    <p:extLst>
      <p:ext uri="{BB962C8B-B14F-4D97-AF65-F5344CB8AC3E}">
        <p14:creationId xmlns:p14="http://schemas.microsoft.com/office/powerpoint/2010/main" val="557823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of a Relationship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83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Ternary Relationship: Three entity types</a:t>
            </a:r>
          </a:p>
          <a:p>
            <a:pPr marL="1257300" lvl="2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Assume we add this sentence to the bookstore case:</a:t>
            </a:r>
          </a:p>
          <a:p>
            <a:pPr marL="1828800" lvl="2" indent="-64008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ct val="11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“</a:t>
            </a:r>
            <a:r>
              <a:rPr lang="en-US" sz="2400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student made a purchase of a book under 	the help of one employee”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Now, a purchase action involves three entities: student, employee, and book</a:t>
            </a: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14600" y="5143500"/>
            <a:ext cx="4346575" cy="1181100"/>
            <a:chOff x="2514600" y="5143500"/>
            <a:chExt cx="4346575" cy="1181100"/>
          </a:xfrm>
        </p:grpSpPr>
        <p:sp>
          <p:nvSpPr>
            <p:cNvPr id="120841" name="Rectangle 9"/>
            <p:cNvSpPr>
              <a:spLocks noChangeArrowheads="1"/>
            </p:cNvSpPr>
            <p:nvPr/>
          </p:nvSpPr>
          <p:spPr bwMode="auto">
            <a:xfrm>
              <a:off x="2514600" y="521970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STUDENT</a:t>
              </a:r>
            </a:p>
          </p:txBody>
        </p:sp>
        <p:sp>
          <p:nvSpPr>
            <p:cNvPr id="120842" name="Rectangle 10"/>
            <p:cNvSpPr>
              <a:spLocks noChangeArrowheads="1"/>
            </p:cNvSpPr>
            <p:nvPr/>
          </p:nvSpPr>
          <p:spPr bwMode="auto">
            <a:xfrm>
              <a:off x="5791200" y="52197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BOOK</a:t>
              </a:r>
            </a:p>
          </p:txBody>
        </p:sp>
        <p:sp>
          <p:nvSpPr>
            <p:cNvPr id="120843" name="Line 11"/>
            <p:cNvSpPr>
              <a:spLocks noChangeShapeType="1"/>
            </p:cNvSpPr>
            <p:nvPr/>
          </p:nvSpPr>
          <p:spPr bwMode="auto">
            <a:xfrm>
              <a:off x="3581400" y="53721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20844" name="Line 12"/>
            <p:cNvSpPr>
              <a:spLocks noChangeShapeType="1"/>
            </p:cNvSpPr>
            <p:nvPr/>
          </p:nvSpPr>
          <p:spPr bwMode="auto">
            <a:xfrm>
              <a:off x="5410200" y="537210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20845" name="AutoShape 13"/>
            <p:cNvSpPr>
              <a:spLocks noChangeArrowheads="1"/>
            </p:cNvSpPr>
            <p:nvPr/>
          </p:nvSpPr>
          <p:spPr bwMode="auto">
            <a:xfrm>
              <a:off x="3962400" y="5143500"/>
              <a:ext cx="1485900" cy="4191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PURCHASE</a:t>
              </a:r>
            </a:p>
          </p:txBody>
        </p:sp>
        <p:sp>
          <p:nvSpPr>
            <p:cNvPr id="120846" name="Line 14"/>
            <p:cNvSpPr>
              <a:spLocks noChangeShapeType="1"/>
            </p:cNvSpPr>
            <p:nvPr/>
          </p:nvSpPr>
          <p:spPr bwMode="auto">
            <a:xfrm>
              <a:off x="4724400" y="5600700"/>
              <a:ext cx="0" cy="4572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20847" name="Rectangle 15"/>
            <p:cNvSpPr>
              <a:spLocks noChangeArrowheads="1"/>
            </p:cNvSpPr>
            <p:nvPr/>
          </p:nvSpPr>
          <p:spPr bwMode="auto">
            <a:xfrm>
              <a:off x="4191000" y="605790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pitchFamily="18" charset="0"/>
                </a:rPr>
                <a:t>EMPLOYEE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3663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are we?</a:t>
            </a:r>
          </a:p>
        </p:txBody>
      </p:sp>
      <p:sp>
        <p:nvSpPr>
          <p:cNvPr id="44" name="Text Box 1051"/>
          <p:cNvSpPr txBox="1">
            <a:spLocks noChangeArrowheads="1"/>
          </p:cNvSpPr>
          <p:nvPr/>
        </p:nvSpPr>
        <p:spPr bwMode="auto">
          <a:xfrm>
            <a:off x="342900" y="1752600"/>
            <a:ext cx="19050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Conceptual Design </a:t>
            </a:r>
          </a:p>
        </p:txBody>
      </p:sp>
      <p:sp>
        <p:nvSpPr>
          <p:cNvPr id="45" name="Line 1052"/>
          <p:cNvSpPr>
            <a:spLocks noChangeShapeType="1"/>
          </p:cNvSpPr>
          <p:nvPr/>
        </p:nvSpPr>
        <p:spPr bwMode="auto">
          <a:xfrm>
            <a:off x="2362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Text Box 1053"/>
          <p:cNvSpPr txBox="1">
            <a:spLocks noChangeArrowheads="1"/>
          </p:cNvSpPr>
          <p:nvPr/>
        </p:nvSpPr>
        <p:spPr bwMode="auto">
          <a:xfrm>
            <a:off x="2667000" y="2514600"/>
            <a:ext cx="914400" cy="3762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/>
              <a:t>Entity</a:t>
            </a:r>
          </a:p>
        </p:txBody>
      </p:sp>
      <p:sp>
        <p:nvSpPr>
          <p:cNvPr id="47" name="Line 1056"/>
          <p:cNvSpPr>
            <a:spLocks noChangeShapeType="1"/>
          </p:cNvSpPr>
          <p:nvPr/>
        </p:nvSpPr>
        <p:spPr bwMode="auto">
          <a:xfrm>
            <a:off x="2057400" y="3581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1057"/>
          <p:cNvSpPr>
            <a:spLocks noChangeShapeType="1"/>
          </p:cNvSpPr>
          <p:nvPr/>
        </p:nvSpPr>
        <p:spPr bwMode="auto">
          <a:xfrm>
            <a:off x="23622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9" name="Line 1058"/>
          <p:cNvSpPr>
            <a:spLocks noChangeShapeType="1"/>
          </p:cNvSpPr>
          <p:nvPr/>
        </p:nvSpPr>
        <p:spPr bwMode="auto">
          <a:xfrm>
            <a:off x="2362200" y="2667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" name="Text Box 1072"/>
          <p:cNvSpPr txBox="1">
            <a:spLocks noChangeArrowheads="1"/>
          </p:cNvSpPr>
          <p:nvPr/>
        </p:nvSpPr>
        <p:spPr bwMode="auto">
          <a:xfrm>
            <a:off x="533400" y="3429000"/>
            <a:ext cx="1524000" cy="461665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ER Model</a:t>
            </a:r>
          </a:p>
        </p:txBody>
      </p:sp>
      <p:sp>
        <p:nvSpPr>
          <p:cNvPr id="51" name="Line 1073"/>
          <p:cNvSpPr>
            <a:spLocks noChangeShapeType="1"/>
          </p:cNvSpPr>
          <p:nvPr/>
        </p:nvSpPr>
        <p:spPr bwMode="auto">
          <a:xfrm>
            <a:off x="12954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" name="Text Box 1074"/>
          <p:cNvSpPr txBox="1">
            <a:spLocks noChangeArrowheads="1"/>
          </p:cNvSpPr>
          <p:nvPr/>
        </p:nvSpPr>
        <p:spPr bwMode="auto">
          <a:xfrm>
            <a:off x="2667000" y="3352800"/>
            <a:ext cx="1295400" cy="3762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</p:txBody>
      </p:sp>
      <p:sp>
        <p:nvSpPr>
          <p:cNvPr id="53" name="Text Box 1075"/>
          <p:cNvSpPr txBox="1">
            <a:spLocks noChangeArrowheads="1"/>
          </p:cNvSpPr>
          <p:nvPr/>
        </p:nvSpPr>
        <p:spPr bwMode="auto">
          <a:xfrm>
            <a:off x="2667000" y="4267200"/>
            <a:ext cx="1524000" cy="3762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Relationship</a:t>
            </a:r>
          </a:p>
        </p:txBody>
      </p:sp>
      <p:sp>
        <p:nvSpPr>
          <p:cNvPr id="54" name="Text Box 1080"/>
          <p:cNvSpPr txBox="1">
            <a:spLocks noChangeArrowheads="1"/>
          </p:cNvSpPr>
          <p:nvPr/>
        </p:nvSpPr>
        <p:spPr bwMode="auto">
          <a:xfrm>
            <a:off x="4267200" y="15240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Basics</a:t>
            </a:r>
          </a:p>
        </p:txBody>
      </p:sp>
      <p:sp>
        <p:nvSpPr>
          <p:cNvPr id="55" name="Text Box 1081"/>
          <p:cNvSpPr txBox="1">
            <a:spLocks noChangeArrowheads="1"/>
          </p:cNvSpPr>
          <p:nvPr/>
        </p:nvSpPr>
        <p:spPr bwMode="auto">
          <a:xfrm>
            <a:off x="4267200" y="2057400"/>
            <a:ext cx="2133600" cy="707886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 dirty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Two advanced types of Entity</a:t>
            </a:r>
          </a:p>
        </p:txBody>
      </p:sp>
      <p:sp>
        <p:nvSpPr>
          <p:cNvPr id="56" name="Text Box 1082"/>
          <p:cNvSpPr txBox="1">
            <a:spLocks noChangeArrowheads="1"/>
          </p:cNvSpPr>
          <p:nvPr/>
        </p:nvSpPr>
        <p:spPr bwMode="auto">
          <a:xfrm>
            <a:off x="4267200" y="2819400"/>
            <a:ext cx="2133600" cy="37623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Super/subtypes</a:t>
            </a:r>
          </a:p>
        </p:txBody>
      </p:sp>
      <p:sp>
        <p:nvSpPr>
          <p:cNvPr id="57" name="Line 1083"/>
          <p:cNvSpPr>
            <a:spLocks noChangeShapeType="1"/>
          </p:cNvSpPr>
          <p:nvPr/>
        </p:nvSpPr>
        <p:spPr bwMode="auto">
          <a:xfrm>
            <a:off x="38862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1084"/>
          <p:cNvSpPr>
            <a:spLocks noChangeShapeType="1"/>
          </p:cNvSpPr>
          <p:nvPr/>
        </p:nvSpPr>
        <p:spPr bwMode="auto">
          <a:xfrm>
            <a:off x="35814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Line 1085"/>
          <p:cNvSpPr>
            <a:spLocks noChangeShapeType="1"/>
          </p:cNvSpPr>
          <p:nvPr/>
        </p:nvSpPr>
        <p:spPr bwMode="auto">
          <a:xfrm>
            <a:off x="3886200" y="3048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" name="Line 1086"/>
          <p:cNvSpPr>
            <a:spLocks noChangeShapeType="1"/>
          </p:cNvSpPr>
          <p:nvPr/>
        </p:nvSpPr>
        <p:spPr bwMode="auto">
          <a:xfrm>
            <a:off x="3886200" y="1752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" name="Text Box 1087"/>
          <p:cNvSpPr txBox="1">
            <a:spLocks noChangeArrowheads="1"/>
          </p:cNvSpPr>
          <p:nvPr/>
        </p:nvSpPr>
        <p:spPr bwMode="auto">
          <a:xfrm>
            <a:off x="4495800" y="39624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Basics</a:t>
            </a:r>
          </a:p>
        </p:txBody>
      </p:sp>
      <p:sp>
        <p:nvSpPr>
          <p:cNvPr id="62" name="Text Box 1088"/>
          <p:cNvSpPr txBox="1">
            <a:spLocks noChangeArrowheads="1"/>
          </p:cNvSpPr>
          <p:nvPr/>
        </p:nvSpPr>
        <p:spPr bwMode="auto">
          <a:xfrm>
            <a:off x="4495800" y="4876800"/>
            <a:ext cx="21336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Cardinality and Participation</a:t>
            </a:r>
          </a:p>
        </p:txBody>
      </p:sp>
      <p:sp>
        <p:nvSpPr>
          <p:cNvPr id="63" name="Line 1090"/>
          <p:cNvSpPr>
            <a:spLocks noChangeShapeType="1"/>
          </p:cNvSpPr>
          <p:nvPr/>
        </p:nvSpPr>
        <p:spPr bwMode="auto">
          <a:xfrm>
            <a:off x="4343400" y="5257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1091"/>
          <p:cNvSpPr>
            <a:spLocks noChangeShapeType="1"/>
          </p:cNvSpPr>
          <p:nvPr/>
        </p:nvSpPr>
        <p:spPr bwMode="auto">
          <a:xfrm>
            <a:off x="43434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1092"/>
          <p:cNvSpPr>
            <a:spLocks noChangeShapeType="1"/>
          </p:cNvSpPr>
          <p:nvPr/>
        </p:nvSpPr>
        <p:spPr bwMode="auto">
          <a:xfrm>
            <a:off x="4343400" y="4038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Line 1094"/>
          <p:cNvSpPr>
            <a:spLocks noChangeShapeType="1"/>
          </p:cNvSpPr>
          <p:nvPr/>
        </p:nvSpPr>
        <p:spPr bwMode="auto">
          <a:xfrm>
            <a:off x="4191000" y="4495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" name="Rectangle 1097"/>
          <p:cNvSpPr>
            <a:spLocks noChangeArrowheads="1"/>
          </p:cNvSpPr>
          <p:nvPr/>
        </p:nvSpPr>
        <p:spPr bwMode="auto">
          <a:xfrm>
            <a:off x="4152900" y="2025727"/>
            <a:ext cx="2362200" cy="79367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Line 1098"/>
          <p:cNvSpPr>
            <a:spLocks noChangeShapeType="1"/>
          </p:cNvSpPr>
          <p:nvPr/>
        </p:nvSpPr>
        <p:spPr bwMode="auto">
          <a:xfrm>
            <a:off x="6400800" y="24141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" name="Line 1099"/>
          <p:cNvSpPr>
            <a:spLocks noChangeShapeType="1"/>
          </p:cNvSpPr>
          <p:nvPr/>
        </p:nvSpPr>
        <p:spPr bwMode="auto">
          <a:xfrm>
            <a:off x="7010399" y="4728910"/>
            <a:ext cx="5576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2" name="Line 1100"/>
          <p:cNvSpPr>
            <a:spLocks noChangeShapeType="1"/>
          </p:cNvSpPr>
          <p:nvPr/>
        </p:nvSpPr>
        <p:spPr bwMode="auto">
          <a:xfrm>
            <a:off x="6634163" y="5230743"/>
            <a:ext cx="376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" name="Line 1101"/>
          <p:cNvSpPr>
            <a:spLocks noChangeShapeType="1"/>
          </p:cNvSpPr>
          <p:nvPr/>
        </p:nvSpPr>
        <p:spPr bwMode="auto">
          <a:xfrm>
            <a:off x="7010400" y="2411342"/>
            <a:ext cx="0" cy="28134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4" name="Text Box 1102"/>
          <p:cNvSpPr txBox="1">
            <a:spLocks noChangeArrowheads="1"/>
          </p:cNvSpPr>
          <p:nvPr/>
        </p:nvSpPr>
        <p:spPr bwMode="auto">
          <a:xfrm>
            <a:off x="7620000" y="3200400"/>
            <a:ext cx="1295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ER Modeling</a:t>
            </a:r>
          </a:p>
        </p:txBody>
      </p:sp>
      <p:sp>
        <p:nvSpPr>
          <p:cNvPr id="75" name="Rectangle 1103"/>
          <p:cNvSpPr>
            <a:spLocks noChangeArrowheads="1"/>
          </p:cNvSpPr>
          <p:nvPr/>
        </p:nvSpPr>
        <p:spPr bwMode="auto">
          <a:xfrm>
            <a:off x="7498773" y="4211637"/>
            <a:ext cx="1447800" cy="10668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1108"/>
          <p:cNvSpPr txBox="1">
            <a:spLocks noChangeArrowheads="1"/>
          </p:cNvSpPr>
          <p:nvPr/>
        </p:nvSpPr>
        <p:spPr bwMode="auto">
          <a:xfrm>
            <a:off x="7568045" y="4419600"/>
            <a:ext cx="1340427" cy="6463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 dirty="0">
                <a:solidFill>
                  <a:schemeClr val="bg1"/>
                </a:solidFill>
              </a:rPr>
              <a:t>ER Modeling</a:t>
            </a:r>
          </a:p>
        </p:txBody>
      </p:sp>
      <p:sp>
        <p:nvSpPr>
          <p:cNvPr id="77" name="Text Box 1111"/>
          <p:cNvSpPr txBox="1">
            <a:spLocks noChangeArrowheads="1"/>
          </p:cNvSpPr>
          <p:nvPr/>
        </p:nvSpPr>
        <p:spPr bwMode="auto">
          <a:xfrm>
            <a:off x="7568044" y="1826641"/>
            <a:ext cx="1347356" cy="6508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EER Modeling</a:t>
            </a:r>
          </a:p>
        </p:txBody>
      </p:sp>
    </p:spTree>
    <p:extLst>
      <p:ext uri="{BB962C8B-B14F-4D97-AF65-F5344CB8AC3E}">
        <p14:creationId xmlns:p14="http://schemas.microsoft.com/office/powerpoint/2010/main" val="1770545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39882" y="3464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More on Entities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</p:txBody>
      </p:sp>
      <p:sp>
        <p:nvSpPr>
          <p:cNvPr id="71686" name="Rectangle 6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have gone over the basics about entities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now learn three new types of entities: 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An entity that cannot exist without another entity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Entity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 special type of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2502663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Weak Entity    </a:t>
            </a:r>
          </a:p>
        </p:txBody>
      </p:sp>
      <p:sp>
        <p:nvSpPr>
          <p:cNvPr id="9933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99332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2954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Definition: an entity whose existence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database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depends on other entities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entity that a weak entity depends on is called its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from the bookstore case:</a:t>
            </a: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now assume that we have a new entity called “dependent.” This new entity holds dependents of the students</a:t>
            </a: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 dependent should not exist without a corresponding student: if the student data is deleted, then the dependent data must be deleted too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7004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100356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76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 the primary keys for the following entity pairs: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Class:     Section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Building: Room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Painting: Print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Movie:    DVD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 they share in common?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1200150" lvl="2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Examples</a:t>
            </a:r>
          </a:p>
        </p:txBody>
      </p:sp>
    </p:spTree>
    <p:extLst>
      <p:ext uri="{BB962C8B-B14F-4D97-AF65-F5344CB8AC3E}">
        <p14:creationId xmlns:p14="http://schemas.microsoft.com/office/powerpoint/2010/main" val="2311312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– Dependent Entity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ID-dependent entity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child entity whose identifier includes the identifier of the parent entity.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ID-dependent entity is a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extension or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sub-unit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the parent: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BUILDING : APARTMENT (Building 369, Apt 4)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PAINTING : PRINT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minimum cardinality from the ID-dependent entity to the parent?</a:t>
            </a:r>
          </a:p>
        </p:txBody>
      </p:sp>
    </p:spTree>
    <p:extLst>
      <p:ext uri="{BB962C8B-B14F-4D97-AF65-F5344CB8AC3E}">
        <p14:creationId xmlns:p14="http://schemas.microsoft.com/office/powerpoint/2010/main" val="745472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ID–Dependent Entity Notation</a:t>
            </a:r>
          </a:p>
        </p:txBody>
      </p:sp>
      <p:graphicFrame>
        <p:nvGraphicFramePr>
          <p:cNvPr id="7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088829"/>
              </p:ext>
            </p:extLst>
          </p:nvPr>
        </p:nvGraphicFramePr>
        <p:xfrm>
          <a:off x="1600200" y="1447800"/>
          <a:ext cx="6781800" cy="455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5514286" imgH="3704762" progId="">
                  <p:embed/>
                </p:oleObj>
              </mc:Choice>
              <mc:Fallback>
                <p:oleObj name="Photo Editor Photo" r:id="rId3" imgW="5514286" imgH="3704762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447800"/>
                        <a:ext cx="6781800" cy="455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52400" y="2514600"/>
            <a:ext cx="1524000" cy="1371600"/>
          </a:xfrm>
          <a:prstGeom prst="wedgeRectCallout">
            <a:avLst>
              <a:gd name="adj1" fmla="val 106458"/>
              <a:gd name="adj2" fmla="val 33681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solid line indicates an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relationship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6096000"/>
            <a:ext cx="4572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 the edges of the rectangle are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rounded</a:t>
            </a:r>
            <a:r>
              <a:rPr 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denote the weak entity</a:t>
            </a:r>
          </a:p>
        </p:txBody>
      </p:sp>
    </p:spTree>
    <p:extLst>
      <p:ext uri="{BB962C8B-B14F-4D97-AF65-F5344CB8AC3E}">
        <p14:creationId xmlns:p14="http://schemas.microsoft.com/office/powerpoint/2010/main" val="3817053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ID–Dependent vs. Weak Entities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ID-dependent entity,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by definition, is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relationship between ID-dependent entity and its parent is called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identifying relationship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uses a solid line in Crow’s foot notation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the “normal” relationships we studied before are called “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non-identifying relationships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and use dashed lines in Crow’s foot notation</a:t>
            </a:r>
          </a:p>
        </p:txBody>
      </p:sp>
    </p:spTree>
    <p:extLst>
      <p:ext uri="{BB962C8B-B14F-4D97-AF65-F5344CB8AC3E}">
        <p14:creationId xmlns:p14="http://schemas.microsoft.com/office/powerpoint/2010/main" val="41044511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ID-Dependent Relationships</a:t>
            </a:r>
            <a:b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Arch type/Instance Pattern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archtype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/instance pattern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occurs when the ID-dependent child entity is the physical manifestation (instance) of an abstract or logical parent: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PAINTING : PRINT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: SECTION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YACHT_DESIGN : YACHT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HOUSE_MODEL : HOUSE</a:t>
            </a:r>
          </a:p>
          <a:p>
            <a:pPr marL="457200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2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743200" y="1554163"/>
          <a:ext cx="5667375" cy="456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285714" imgH="4258269" progId="">
                  <p:embed/>
                </p:oleObj>
              </mc:Choice>
              <mc:Fallback>
                <p:oleObj name="Photo Editor Photo" r:id="rId2" imgW="5285714" imgH="4258269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554163"/>
                        <a:ext cx="5667375" cy="456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2" name="AutoShape 6"/>
          <p:cNvSpPr>
            <a:spLocks noChangeArrowheads="1"/>
          </p:cNvSpPr>
          <p:nvPr/>
        </p:nvSpPr>
        <p:spPr bwMode="auto">
          <a:xfrm>
            <a:off x="228600" y="1828800"/>
            <a:ext cx="2362200" cy="2362200"/>
          </a:xfrm>
          <a:prstGeom prst="wedgeRectCallout">
            <a:avLst>
              <a:gd name="adj1" fmla="val 88042"/>
              <a:gd name="adj2" fmla="val 3854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that these are true ID-dependent relationships -  the identifier of the parent appears as part of the composite identifier of the ID-dependent child.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ID-Dependent Relationships</a:t>
            </a:r>
            <a:b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Arch type/Instance Pattern</a:t>
            </a:r>
          </a:p>
        </p:txBody>
      </p:sp>
    </p:spTree>
    <p:extLst>
      <p:ext uri="{BB962C8B-B14F-4D97-AF65-F5344CB8AC3E}">
        <p14:creationId xmlns:p14="http://schemas.microsoft.com/office/powerpoint/2010/main" val="1472543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Is an ID-dependent entity is always a weak entity?</a:t>
            </a: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However, is a weak entity always ID-dependent?</a:t>
            </a:r>
          </a:p>
          <a:p>
            <a:endParaRPr lang="en-US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counter-example?</a:t>
            </a:r>
          </a:p>
          <a:p>
            <a:endParaRPr lang="en-US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ID-Dependent entity is always weak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Entities are not always ID-dependent</a:t>
            </a:r>
          </a:p>
          <a:p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8421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Non-ID-Dependent Weak Entity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352800" y="1676400"/>
          <a:ext cx="3336925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448531" imgH="4676190" progId="">
                  <p:embed/>
                </p:oleObj>
              </mc:Choice>
              <mc:Fallback>
                <p:oleObj name="Photo Editor Photo" r:id="rId3" imgW="3448531" imgH="467619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76400"/>
                        <a:ext cx="3336925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33400" y="2362200"/>
            <a:ext cx="1905000" cy="1371600"/>
          </a:xfrm>
          <a:prstGeom prst="wedgeRectCallout">
            <a:avLst>
              <a:gd name="adj1" fmla="val 165750"/>
              <a:gd name="adj2" fmla="val 64468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dashed line indicates a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nonidentifying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15238328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28800" y="1508125"/>
          <a:ext cx="6858000" cy="471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800000" imgH="3895238" progId="">
                  <p:embed/>
                </p:oleObj>
              </mc:Choice>
              <mc:Fallback>
                <p:oleObj name="Photo Editor Photo" r:id="rId2" imgW="5800000" imgH="3895238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508125"/>
                        <a:ext cx="6858000" cy="471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8" name="AutoShape 6"/>
          <p:cNvSpPr>
            <a:spLocks noChangeArrowheads="1"/>
          </p:cNvSpPr>
          <p:nvPr/>
        </p:nvSpPr>
        <p:spPr bwMode="auto">
          <a:xfrm>
            <a:off x="228600" y="1837765"/>
            <a:ext cx="1524000" cy="1828800"/>
          </a:xfrm>
          <a:prstGeom prst="wedgeRectCallout">
            <a:avLst>
              <a:gd name="adj1" fmla="val 90931"/>
              <a:gd name="adj2" fmla="val 80208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the use of weak, but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ID-dependent children.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ID-Dependent Relationships</a:t>
            </a:r>
            <a:b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Arch Type/Instance Pattern</a:t>
            </a:r>
          </a:p>
        </p:txBody>
      </p:sp>
    </p:spTree>
    <p:extLst>
      <p:ext uri="{BB962C8B-B14F-4D97-AF65-F5344CB8AC3E}">
        <p14:creationId xmlns:p14="http://schemas.microsoft.com/office/powerpoint/2010/main" val="306170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More Information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297363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non ID-dependent, non-identifying type of weak entity adds a lot of confusion to your modeling task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Logically, they are not too different from other “normal” entities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Therefore, when you model weak entities, just focus on the ID-dependent ones</a:t>
            </a:r>
          </a:p>
        </p:txBody>
      </p:sp>
    </p:spTree>
    <p:extLst>
      <p:ext uri="{BB962C8B-B14F-4D97-AF65-F5344CB8AC3E}">
        <p14:creationId xmlns:p14="http://schemas.microsoft.com/office/powerpoint/2010/main" val="1236369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71055" y="1385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Associative Entity   </a:t>
            </a:r>
          </a:p>
        </p:txBody>
      </p:sp>
      <p:sp>
        <p:nvSpPr>
          <p:cNvPr id="7270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371600"/>
            <a:ext cx="7772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entity type that associates the instance of one or more entity types and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attributes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are peculiar to the relationship between those entity instances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English, please? 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simple: Just understand it as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which have attributes. Known as an intersection table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2667000" y="5029200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9" name="AutoShape 5"/>
          <p:cNvSpPr>
            <a:spLocks noChangeArrowheads="1"/>
          </p:cNvSpPr>
          <p:nvPr/>
        </p:nvSpPr>
        <p:spPr bwMode="auto">
          <a:xfrm>
            <a:off x="2667000" y="5029200"/>
            <a:ext cx="1371600" cy="5334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872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Associative Entity   </a:t>
            </a:r>
          </a:p>
        </p:txBody>
      </p:sp>
      <p:sp>
        <p:nvSpPr>
          <p:cNvPr id="10342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dirty="0"/>
              <a:t>Example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103431" name="Rectangle 7"/>
          <p:cNvSpPr>
            <a:spLocks noChangeArrowheads="1"/>
          </p:cNvSpPr>
          <p:nvPr/>
        </p:nvSpPr>
        <p:spPr bwMode="auto">
          <a:xfrm>
            <a:off x="4724400" y="3581400"/>
            <a:ext cx="1066800" cy="2667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STUDENT</a:t>
            </a:r>
          </a:p>
        </p:txBody>
      </p:sp>
      <p:sp>
        <p:nvSpPr>
          <p:cNvPr id="103432" name="Oval 8"/>
          <p:cNvSpPr>
            <a:spLocks noChangeArrowheads="1"/>
          </p:cNvSpPr>
          <p:nvPr/>
        </p:nvSpPr>
        <p:spPr bwMode="auto">
          <a:xfrm>
            <a:off x="6172200" y="36210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ADDRESS</a:t>
            </a:r>
          </a:p>
        </p:txBody>
      </p:sp>
      <p:sp>
        <p:nvSpPr>
          <p:cNvPr id="103433" name="Oval 9"/>
          <p:cNvSpPr>
            <a:spLocks noChangeArrowheads="1"/>
          </p:cNvSpPr>
          <p:nvPr/>
        </p:nvSpPr>
        <p:spPr bwMode="auto">
          <a:xfrm>
            <a:off x="6208713" y="39624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PHONE</a:t>
            </a:r>
          </a:p>
        </p:txBody>
      </p:sp>
      <p:sp>
        <p:nvSpPr>
          <p:cNvPr id="103434" name="Oval 10"/>
          <p:cNvSpPr>
            <a:spLocks noChangeArrowheads="1"/>
          </p:cNvSpPr>
          <p:nvPr/>
        </p:nvSpPr>
        <p:spPr bwMode="auto">
          <a:xfrm>
            <a:off x="6248400" y="2895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SID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03435" name="Oval 11"/>
          <p:cNvSpPr>
            <a:spLocks noChangeArrowheads="1"/>
          </p:cNvSpPr>
          <p:nvPr/>
        </p:nvSpPr>
        <p:spPr bwMode="auto">
          <a:xfrm>
            <a:off x="6172200" y="3276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SNAME</a:t>
            </a:r>
          </a:p>
        </p:txBody>
      </p:sp>
      <p:cxnSp>
        <p:nvCxnSpPr>
          <p:cNvPr id="103436" name="AutoShape 12"/>
          <p:cNvCxnSpPr>
            <a:cxnSpLocks noChangeShapeType="1"/>
            <a:stCxn id="103431" idx="3"/>
            <a:endCxn id="103433" idx="2"/>
          </p:cNvCxnSpPr>
          <p:nvPr/>
        </p:nvCxnSpPr>
        <p:spPr bwMode="auto">
          <a:xfrm>
            <a:off x="5791200" y="3714750"/>
            <a:ext cx="4175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37" name="AutoShape 13"/>
          <p:cNvCxnSpPr>
            <a:cxnSpLocks noChangeShapeType="1"/>
            <a:stCxn id="103431" idx="3"/>
            <a:endCxn id="103435" idx="3"/>
          </p:cNvCxnSpPr>
          <p:nvPr/>
        </p:nvCxnSpPr>
        <p:spPr bwMode="auto">
          <a:xfrm flipV="1">
            <a:off x="5791200" y="3503613"/>
            <a:ext cx="509588" cy="211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38" name="AutoShape 14"/>
          <p:cNvCxnSpPr>
            <a:cxnSpLocks noChangeShapeType="1"/>
            <a:stCxn id="103431" idx="3"/>
            <a:endCxn id="103432" idx="2"/>
          </p:cNvCxnSpPr>
          <p:nvPr/>
        </p:nvCxnSpPr>
        <p:spPr bwMode="auto">
          <a:xfrm>
            <a:off x="5791200" y="3714750"/>
            <a:ext cx="381000" cy="39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39" name="AutoShape 15"/>
          <p:cNvCxnSpPr>
            <a:cxnSpLocks noChangeShapeType="1"/>
            <a:stCxn id="103431" idx="3"/>
            <a:endCxn id="103434" idx="2"/>
          </p:cNvCxnSpPr>
          <p:nvPr/>
        </p:nvCxnSpPr>
        <p:spPr bwMode="auto">
          <a:xfrm flipV="1">
            <a:off x="5791200" y="3028950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40" name="Oval 16"/>
          <p:cNvSpPr>
            <a:spLocks noChangeArrowheads="1"/>
          </p:cNvSpPr>
          <p:nvPr/>
        </p:nvSpPr>
        <p:spPr bwMode="auto">
          <a:xfrm>
            <a:off x="7200900" y="3505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FNAME</a:t>
            </a:r>
          </a:p>
        </p:txBody>
      </p:sp>
      <p:sp>
        <p:nvSpPr>
          <p:cNvPr id="103441" name="Oval 17"/>
          <p:cNvSpPr>
            <a:spLocks noChangeArrowheads="1"/>
          </p:cNvSpPr>
          <p:nvPr/>
        </p:nvSpPr>
        <p:spPr bwMode="auto">
          <a:xfrm>
            <a:off x="7277100" y="2895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LNAME</a:t>
            </a:r>
          </a:p>
        </p:txBody>
      </p:sp>
      <p:cxnSp>
        <p:nvCxnSpPr>
          <p:cNvPr id="103442" name="AutoShape 18"/>
          <p:cNvCxnSpPr>
            <a:cxnSpLocks noChangeShapeType="1"/>
            <a:stCxn id="103435" idx="6"/>
            <a:endCxn id="103441" idx="2"/>
          </p:cNvCxnSpPr>
          <p:nvPr/>
        </p:nvCxnSpPr>
        <p:spPr bwMode="auto">
          <a:xfrm flipV="1">
            <a:off x="7050088" y="3028950"/>
            <a:ext cx="227012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43" name="AutoShape 19"/>
          <p:cNvCxnSpPr>
            <a:cxnSpLocks noChangeShapeType="1"/>
            <a:stCxn id="103440" idx="2"/>
            <a:endCxn id="103435" idx="6"/>
          </p:cNvCxnSpPr>
          <p:nvPr/>
        </p:nvCxnSpPr>
        <p:spPr bwMode="auto">
          <a:xfrm flipH="1" flipV="1">
            <a:off x="7050088" y="3409950"/>
            <a:ext cx="150812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44" name="Rectangle 20"/>
          <p:cNvSpPr>
            <a:spLocks noChangeArrowheads="1"/>
          </p:cNvSpPr>
          <p:nvPr/>
        </p:nvSpPr>
        <p:spPr bwMode="auto">
          <a:xfrm>
            <a:off x="1981200" y="4456113"/>
            <a:ext cx="1069975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BOOK</a:t>
            </a:r>
          </a:p>
        </p:txBody>
      </p:sp>
      <p:sp>
        <p:nvSpPr>
          <p:cNvPr id="103445" name="Oval 21"/>
          <p:cNvSpPr>
            <a:spLocks noChangeArrowheads="1"/>
          </p:cNvSpPr>
          <p:nvPr/>
        </p:nvSpPr>
        <p:spPr bwMode="auto">
          <a:xfrm>
            <a:off x="685800" y="41148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ISBN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03446" name="Oval 22"/>
          <p:cNvSpPr>
            <a:spLocks noChangeArrowheads="1"/>
          </p:cNvSpPr>
          <p:nvPr/>
        </p:nvSpPr>
        <p:spPr bwMode="auto">
          <a:xfrm>
            <a:off x="685800" y="4724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AUTHOR</a:t>
            </a:r>
          </a:p>
        </p:txBody>
      </p:sp>
      <p:sp>
        <p:nvSpPr>
          <p:cNvPr id="103447" name="Oval 23"/>
          <p:cNvSpPr>
            <a:spLocks noChangeArrowheads="1"/>
          </p:cNvSpPr>
          <p:nvPr/>
        </p:nvSpPr>
        <p:spPr bwMode="auto">
          <a:xfrm>
            <a:off x="685800" y="44196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TITLE</a:t>
            </a:r>
          </a:p>
        </p:txBody>
      </p:sp>
      <p:cxnSp>
        <p:nvCxnSpPr>
          <p:cNvPr id="103448" name="AutoShape 24"/>
          <p:cNvCxnSpPr>
            <a:cxnSpLocks noChangeShapeType="1"/>
            <a:stCxn id="103445" idx="6"/>
            <a:endCxn id="103444" idx="1"/>
          </p:cNvCxnSpPr>
          <p:nvPr/>
        </p:nvCxnSpPr>
        <p:spPr bwMode="auto">
          <a:xfrm>
            <a:off x="1563688" y="4248150"/>
            <a:ext cx="417512" cy="341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49" name="AutoShape 25"/>
          <p:cNvCxnSpPr>
            <a:cxnSpLocks noChangeShapeType="1"/>
            <a:stCxn id="103447" idx="6"/>
            <a:endCxn id="103444" idx="1"/>
          </p:cNvCxnSpPr>
          <p:nvPr/>
        </p:nvCxnSpPr>
        <p:spPr bwMode="auto">
          <a:xfrm>
            <a:off x="1563688" y="4552950"/>
            <a:ext cx="417512" cy="36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50" name="AutoShape 26"/>
          <p:cNvCxnSpPr>
            <a:cxnSpLocks noChangeShapeType="1"/>
            <a:stCxn id="103446" idx="6"/>
            <a:endCxn id="103444" idx="1"/>
          </p:cNvCxnSpPr>
          <p:nvPr/>
        </p:nvCxnSpPr>
        <p:spPr bwMode="auto">
          <a:xfrm flipV="1">
            <a:off x="1563688" y="4589463"/>
            <a:ext cx="417512" cy="268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51" name="Oval 27"/>
          <p:cNvSpPr>
            <a:spLocks noChangeArrowheads="1"/>
          </p:cNvSpPr>
          <p:nvPr/>
        </p:nvSpPr>
        <p:spPr bwMode="auto">
          <a:xfrm>
            <a:off x="685800" y="5141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PUBLISHER</a:t>
            </a:r>
          </a:p>
        </p:txBody>
      </p:sp>
      <p:sp>
        <p:nvSpPr>
          <p:cNvPr id="103452" name="Oval 28"/>
          <p:cNvSpPr>
            <a:spLocks noChangeArrowheads="1"/>
          </p:cNvSpPr>
          <p:nvPr/>
        </p:nvSpPr>
        <p:spPr bwMode="auto">
          <a:xfrm>
            <a:off x="685800" y="5522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STOCK</a:t>
            </a:r>
          </a:p>
        </p:txBody>
      </p:sp>
      <p:sp>
        <p:nvSpPr>
          <p:cNvPr id="103453" name="Oval 29"/>
          <p:cNvSpPr>
            <a:spLocks noChangeArrowheads="1"/>
          </p:cNvSpPr>
          <p:nvPr/>
        </p:nvSpPr>
        <p:spPr bwMode="auto">
          <a:xfrm>
            <a:off x="685800" y="5903913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cxnSp>
        <p:nvCxnSpPr>
          <p:cNvPr id="103454" name="AutoShape 30"/>
          <p:cNvCxnSpPr>
            <a:cxnSpLocks noChangeShapeType="1"/>
            <a:stCxn id="103453" idx="6"/>
            <a:endCxn id="103444" idx="1"/>
          </p:cNvCxnSpPr>
          <p:nvPr/>
        </p:nvCxnSpPr>
        <p:spPr bwMode="auto">
          <a:xfrm flipV="1">
            <a:off x="1563688" y="4589463"/>
            <a:ext cx="417512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55" name="AutoShape 31"/>
          <p:cNvCxnSpPr>
            <a:cxnSpLocks noChangeShapeType="1"/>
            <a:stCxn id="103451" idx="6"/>
            <a:endCxn id="103444" idx="1"/>
          </p:cNvCxnSpPr>
          <p:nvPr/>
        </p:nvCxnSpPr>
        <p:spPr bwMode="auto">
          <a:xfrm flipV="1">
            <a:off x="1563688" y="4589463"/>
            <a:ext cx="417512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56" name="AutoShape 32"/>
          <p:cNvCxnSpPr>
            <a:cxnSpLocks noChangeShapeType="1"/>
            <a:stCxn id="103452" idx="6"/>
            <a:endCxn id="103444" idx="1"/>
          </p:cNvCxnSpPr>
          <p:nvPr/>
        </p:nvCxnSpPr>
        <p:spPr bwMode="auto">
          <a:xfrm flipV="1">
            <a:off x="1563688" y="4589463"/>
            <a:ext cx="417512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57" name="Rectangle 33"/>
          <p:cNvSpPr>
            <a:spLocks noChangeArrowheads="1"/>
          </p:cNvSpPr>
          <p:nvPr/>
        </p:nvSpPr>
        <p:spPr bwMode="auto">
          <a:xfrm>
            <a:off x="5943600" y="6096000"/>
            <a:ext cx="1069975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SOFTWARE</a:t>
            </a:r>
          </a:p>
        </p:txBody>
      </p:sp>
      <p:sp>
        <p:nvSpPr>
          <p:cNvPr id="103458" name="Oval 34"/>
          <p:cNvSpPr>
            <a:spLocks noChangeArrowheads="1"/>
          </p:cNvSpPr>
          <p:nvPr/>
        </p:nvSpPr>
        <p:spPr bwMode="auto">
          <a:xfrm>
            <a:off x="7620000" y="5486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NAME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03459" name="Oval 35"/>
          <p:cNvSpPr>
            <a:spLocks noChangeArrowheads="1"/>
          </p:cNvSpPr>
          <p:nvPr/>
        </p:nvSpPr>
        <p:spPr bwMode="auto">
          <a:xfrm>
            <a:off x="7620000" y="5791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PLATFORM</a:t>
            </a:r>
          </a:p>
        </p:txBody>
      </p:sp>
      <p:cxnSp>
        <p:nvCxnSpPr>
          <p:cNvPr id="103460" name="AutoShape 36"/>
          <p:cNvCxnSpPr>
            <a:cxnSpLocks noChangeShapeType="1"/>
            <a:stCxn id="103458" idx="2"/>
            <a:endCxn id="103457" idx="3"/>
          </p:cNvCxnSpPr>
          <p:nvPr/>
        </p:nvCxnSpPr>
        <p:spPr bwMode="auto">
          <a:xfrm flipH="1">
            <a:off x="7013575" y="5619750"/>
            <a:ext cx="6064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61" name="AutoShape 37"/>
          <p:cNvCxnSpPr>
            <a:cxnSpLocks noChangeShapeType="1"/>
            <a:stCxn id="103459" idx="2"/>
            <a:endCxn id="103457" idx="3"/>
          </p:cNvCxnSpPr>
          <p:nvPr/>
        </p:nvCxnSpPr>
        <p:spPr bwMode="auto">
          <a:xfrm flipH="1">
            <a:off x="7013575" y="5924550"/>
            <a:ext cx="606425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62" name="Oval 38"/>
          <p:cNvSpPr>
            <a:spLocks noChangeArrowheads="1"/>
          </p:cNvSpPr>
          <p:nvPr/>
        </p:nvSpPr>
        <p:spPr bwMode="auto">
          <a:xfrm>
            <a:off x="7620000" y="6172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cxnSp>
        <p:nvCxnSpPr>
          <p:cNvPr id="103463" name="AutoShape 39"/>
          <p:cNvCxnSpPr>
            <a:cxnSpLocks noChangeShapeType="1"/>
            <a:stCxn id="103462" idx="2"/>
            <a:endCxn id="103457" idx="3"/>
          </p:cNvCxnSpPr>
          <p:nvPr/>
        </p:nvCxnSpPr>
        <p:spPr bwMode="auto">
          <a:xfrm flipH="1" flipV="1">
            <a:off x="7013575" y="6229350"/>
            <a:ext cx="606425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64" name="AutoShape 40"/>
          <p:cNvSpPr>
            <a:spLocks noChangeArrowheads="1"/>
          </p:cNvSpPr>
          <p:nvPr/>
        </p:nvSpPr>
        <p:spPr bwMode="auto">
          <a:xfrm>
            <a:off x="3124200" y="38100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PURCHASE</a:t>
            </a:r>
          </a:p>
        </p:txBody>
      </p:sp>
      <p:sp>
        <p:nvSpPr>
          <p:cNvPr id="103465" name="AutoShape 41"/>
          <p:cNvSpPr>
            <a:spLocks noChangeArrowheads="1"/>
          </p:cNvSpPr>
          <p:nvPr/>
        </p:nvSpPr>
        <p:spPr bwMode="auto">
          <a:xfrm>
            <a:off x="5105400" y="44958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PURCHASE</a:t>
            </a:r>
          </a:p>
        </p:txBody>
      </p:sp>
      <p:sp>
        <p:nvSpPr>
          <p:cNvPr id="103466" name="Oval 42"/>
          <p:cNvSpPr>
            <a:spLocks noChangeArrowheads="1"/>
          </p:cNvSpPr>
          <p:nvPr/>
        </p:nvSpPr>
        <p:spPr bwMode="auto">
          <a:xfrm>
            <a:off x="2362200" y="5029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QTY</a:t>
            </a:r>
          </a:p>
        </p:txBody>
      </p:sp>
      <p:cxnSp>
        <p:nvCxnSpPr>
          <p:cNvPr id="103467" name="AutoShape 43"/>
          <p:cNvCxnSpPr>
            <a:cxnSpLocks noChangeShapeType="1"/>
            <a:stCxn id="103464" idx="2"/>
            <a:endCxn id="103466" idx="6"/>
          </p:cNvCxnSpPr>
          <p:nvPr/>
        </p:nvCxnSpPr>
        <p:spPr bwMode="auto">
          <a:xfrm flipH="1">
            <a:off x="3240088" y="4229100"/>
            <a:ext cx="512762" cy="933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68" name="Oval 44"/>
          <p:cNvSpPr>
            <a:spLocks noChangeArrowheads="1"/>
          </p:cNvSpPr>
          <p:nvPr/>
        </p:nvSpPr>
        <p:spPr bwMode="auto">
          <a:xfrm>
            <a:off x="4419600" y="4953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QTY</a:t>
            </a:r>
          </a:p>
        </p:txBody>
      </p:sp>
      <p:cxnSp>
        <p:nvCxnSpPr>
          <p:cNvPr id="103469" name="AutoShape 45"/>
          <p:cNvCxnSpPr>
            <a:cxnSpLocks noChangeShapeType="1"/>
            <a:stCxn id="103465" idx="2"/>
            <a:endCxn id="103468" idx="6"/>
          </p:cNvCxnSpPr>
          <p:nvPr/>
        </p:nvCxnSpPr>
        <p:spPr bwMode="auto">
          <a:xfrm flipH="1">
            <a:off x="5297488" y="4914900"/>
            <a:ext cx="436562" cy="17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70" name="Line 46"/>
          <p:cNvSpPr>
            <a:spLocks noChangeShapeType="1"/>
          </p:cNvSpPr>
          <p:nvPr/>
        </p:nvSpPr>
        <p:spPr bwMode="auto">
          <a:xfrm flipH="1">
            <a:off x="2514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471" name="Line 47"/>
          <p:cNvSpPr>
            <a:spLocks noChangeShapeType="1"/>
          </p:cNvSpPr>
          <p:nvPr/>
        </p:nvSpPr>
        <p:spPr bwMode="auto">
          <a:xfrm flipH="1">
            <a:off x="4343400" y="3733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472" name="Line 48"/>
          <p:cNvSpPr>
            <a:spLocks noChangeShapeType="1"/>
          </p:cNvSpPr>
          <p:nvPr/>
        </p:nvSpPr>
        <p:spPr bwMode="auto">
          <a:xfrm>
            <a:off x="5257800" y="38100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473" name="Line 49"/>
          <p:cNvSpPr>
            <a:spLocks noChangeShapeType="1"/>
          </p:cNvSpPr>
          <p:nvPr/>
        </p:nvSpPr>
        <p:spPr bwMode="auto">
          <a:xfrm>
            <a:off x="5715000" y="4876800"/>
            <a:ext cx="762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474" name="Oval 50"/>
          <p:cNvSpPr>
            <a:spLocks noChangeArrowheads="1"/>
          </p:cNvSpPr>
          <p:nvPr/>
        </p:nvSpPr>
        <p:spPr bwMode="auto">
          <a:xfrm>
            <a:off x="3124200" y="533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sp>
        <p:nvSpPr>
          <p:cNvPr id="103475" name="Oval 51"/>
          <p:cNvSpPr>
            <a:spLocks noChangeArrowheads="1"/>
          </p:cNvSpPr>
          <p:nvPr/>
        </p:nvSpPr>
        <p:spPr bwMode="auto">
          <a:xfrm>
            <a:off x="3810000" y="56388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DISCOUNT_TYPE</a:t>
            </a:r>
          </a:p>
        </p:txBody>
      </p:sp>
      <p:cxnSp>
        <p:nvCxnSpPr>
          <p:cNvPr id="103476" name="AutoShape 52"/>
          <p:cNvCxnSpPr>
            <a:cxnSpLocks noChangeShapeType="1"/>
            <a:stCxn id="103464" idx="2"/>
            <a:endCxn id="103474" idx="0"/>
          </p:cNvCxnSpPr>
          <p:nvPr/>
        </p:nvCxnSpPr>
        <p:spPr bwMode="auto">
          <a:xfrm flipH="1">
            <a:off x="3563938" y="4229100"/>
            <a:ext cx="188912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77" name="AutoShape 53"/>
          <p:cNvCxnSpPr>
            <a:cxnSpLocks noChangeShapeType="1"/>
            <a:stCxn id="103464" idx="2"/>
            <a:endCxn id="103475" idx="0"/>
          </p:cNvCxnSpPr>
          <p:nvPr/>
        </p:nvCxnSpPr>
        <p:spPr bwMode="auto">
          <a:xfrm>
            <a:off x="3752850" y="4229100"/>
            <a:ext cx="666750" cy="140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78" name="Oval 54"/>
          <p:cNvSpPr>
            <a:spLocks noChangeArrowheads="1"/>
          </p:cNvSpPr>
          <p:nvPr/>
        </p:nvSpPr>
        <p:spPr bwMode="auto">
          <a:xfrm>
            <a:off x="3276600" y="31242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Total</a:t>
            </a:r>
          </a:p>
        </p:txBody>
      </p:sp>
      <p:cxnSp>
        <p:nvCxnSpPr>
          <p:cNvPr id="103479" name="AutoShape 55"/>
          <p:cNvCxnSpPr>
            <a:cxnSpLocks noChangeShapeType="1"/>
            <a:stCxn id="103478" idx="4"/>
            <a:endCxn id="103464" idx="0"/>
          </p:cNvCxnSpPr>
          <p:nvPr/>
        </p:nvCxnSpPr>
        <p:spPr bwMode="auto">
          <a:xfrm>
            <a:off x="3716338" y="3389313"/>
            <a:ext cx="36512" cy="420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80" name="Oval 56"/>
          <p:cNvSpPr>
            <a:spLocks noChangeArrowheads="1"/>
          </p:cNvSpPr>
          <p:nvPr/>
        </p:nvSpPr>
        <p:spPr bwMode="auto">
          <a:xfrm>
            <a:off x="4953000" y="53340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sp>
        <p:nvSpPr>
          <p:cNvPr id="103481" name="Oval 57"/>
          <p:cNvSpPr>
            <a:spLocks noChangeArrowheads="1"/>
          </p:cNvSpPr>
          <p:nvPr/>
        </p:nvSpPr>
        <p:spPr bwMode="auto">
          <a:xfrm>
            <a:off x="6172200" y="51816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DISCOUNT_TYPE</a:t>
            </a:r>
          </a:p>
        </p:txBody>
      </p:sp>
      <p:cxnSp>
        <p:nvCxnSpPr>
          <p:cNvPr id="103482" name="AutoShape 58"/>
          <p:cNvCxnSpPr>
            <a:cxnSpLocks noChangeShapeType="1"/>
            <a:stCxn id="103473" idx="0"/>
            <a:endCxn id="103480" idx="0"/>
          </p:cNvCxnSpPr>
          <p:nvPr/>
        </p:nvCxnSpPr>
        <p:spPr bwMode="auto">
          <a:xfrm flipH="1">
            <a:off x="5392738" y="4876800"/>
            <a:ext cx="32226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83" name="AutoShape 59"/>
          <p:cNvCxnSpPr>
            <a:cxnSpLocks noChangeShapeType="1"/>
            <a:stCxn id="103473" idx="0"/>
            <a:endCxn id="103481" idx="0"/>
          </p:cNvCxnSpPr>
          <p:nvPr/>
        </p:nvCxnSpPr>
        <p:spPr bwMode="auto">
          <a:xfrm>
            <a:off x="5715000" y="4876800"/>
            <a:ext cx="1066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84" name="Oval 60"/>
          <p:cNvSpPr>
            <a:spLocks noChangeArrowheads="1"/>
          </p:cNvSpPr>
          <p:nvPr/>
        </p:nvSpPr>
        <p:spPr bwMode="auto">
          <a:xfrm>
            <a:off x="7010400" y="47244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Total</a:t>
            </a:r>
          </a:p>
        </p:txBody>
      </p:sp>
      <p:cxnSp>
        <p:nvCxnSpPr>
          <p:cNvPr id="103485" name="AutoShape 61"/>
          <p:cNvCxnSpPr>
            <a:cxnSpLocks noChangeShapeType="1"/>
            <a:stCxn id="103473" idx="0"/>
            <a:endCxn id="103484" idx="2"/>
          </p:cNvCxnSpPr>
          <p:nvPr/>
        </p:nvCxnSpPr>
        <p:spPr bwMode="auto">
          <a:xfrm flipV="1">
            <a:off x="5715000" y="4857750"/>
            <a:ext cx="1295400" cy="19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86" name="Rectangle 62"/>
          <p:cNvSpPr>
            <a:spLocks noChangeArrowheads="1"/>
          </p:cNvSpPr>
          <p:nvPr/>
        </p:nvSpPr>
        <p:spPr bwMode="auto">
          <a:xfrm>
            <a:off x="4876800" y="1447800"/>
            <a:ext cx="1066800" cy="2667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EMPLOYEE</a:t>
            </a:r>
          </a:p>
        </p:txBody>
      </p:sp>
      <p:sp>
        <p:nvSpPr>
          <p:cNvPr id="103487" name="Oval 63"/>
          <p:cNvSpPr>
            <a:spLocks noChangeArrowheads="1"/>
          </p:cNvSpPr>
          <p:nvPr/>
        </p:nvSpPr>
        <p:spPr bwMode="auto">
          <a:xfrm>
            <a:off x="6324600" y="17922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ADDRESS</a:t>
            </a:r>
          </a:p>
        </p:txBody>
      </p:sp>
      <p:sp>
        <p:nvSpPr>
          <p:cNvPr id="103488" name="Oval 64"/>
          <p:cNvSpPr>
            <a:spLocks noChangeArrowheads="1"/>
          </p:cNvSpPr>
          <p:nvPr/>
        </p:nvSpPr>
        <p:spPr bwMode="auto">
          <a:xfrm>
            <a:off x="6361113" y="22098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PHONE</a:t>
            </a:r>
          </a:p>
        </p:txBody>
      </p:sp>
      <p:sp>
        <p:nvSpPr>
          <p:cNvPr id="103489" name="Oval 65"/>
          <p:cNvSpPr>
            <a:spLocks noChangeArrowheads="1"/>
          </p:cNvSpPr>
          <p:nvPr/>
        </p:nvSpPr>
        <p:spPr bwMode="auto">
          <a:xfrm>
            <a:off x="6324600" y="1106487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EID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03490" name="Oval 66"/>
          <p:cNvSpPr>
            <a:spLocks noChangeArrowheads="1"/>
          </p:cNvSpPr>
          <p:nvPr/>
        </p:nvSpPr>
        <p:spPr bwMode="auto">
          <a:xfrm>
            <a:off x="6324600" y="1411287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ENAME</a:t>
            </a:r>
          </a:p>
        </p:txBody>
      </p:sp>
      <p:cxnSp>
        <p:nvCxnSpPr>
          <p:cNvPr id="103491" name="AutoShape 67"/>
          <p:cNvCxnSpPr>
            <a:cxnSpLocks noChangeShapeType="1"/>
            <a:stCxn id="103486" idx="3"/>
            <a:endCxn id="103488" idx="2"/>
          </p:cNvCxnSpPr>
          <p:nvPr/>
        </p:nvCxnSpPr>
        <p:spPr bwMode="auto">
          <a:xfrm>
            <a:off x="5943600" y="1581150"/>
            <a:ext cx="417513" cy="76120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92" name="AutoShape 68"/>
          <p:cNvCxnSpPr>
            <a:cxnSpLocks noChangeShapeType="1"/>
            <a:stCxn id="103486" idx="3"/>
            <a:endCxn id="103490" idx="3"/>
          </p:cNvCxnSpPr>
          <p:nvPr/>
        </p:nvCxnSpPr>
        <p:spPr bwMode="auto">
          <a:xfrm>
            <a:off x="5943600" y="1581150"/>
            <a:ext cx="509564" cy="56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93" name="AutoShape 69"/>
          <p:cNvCxnSpPr>
            <a:cxnSpLocks noChangeShapeType="1"/>
            <a:stCxn id="103486" idx="3"/>
            <a:endCxn id="103487" idx="2"/>
          </p:cNvCxnSpPr>
          <p:nvPr/>
        </p:nvCxnSpPr>
        <p:spPr bwMode="auto">
          <a:xfrm>
            <a:off x="5943600" y="1581150"/>
            <a:ext cx="381000" cy="3436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94" name="AutoShape 70"/>
          <p:cNvCxnSpPr>
            <a:cxnSpLocks noChangeShapeType="1"/>
            <a:stCxn id="103486" idx="3"/>
            <a:endCxn id="103489" idx="2"/>
          </p:cNvCxnSpPr>
          <p:nvPr/>
        </p:nvCxnSpPr>
        <p:spPr bwMode="auto">
          <a:xfrm flipV="1">
            <a:off x="5943600" y="1239044"/>
            <a:ext cx="381000" cy="3421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95" name="Oval 71"/>
          <p:cNvSpPr>
            <a:spLocks noChangeArrowheads="1"/>
          </p:cNvSpPr>
          <p:nvPr/>
        </p:nvSpPr>
        <p:spPr bwMode="auto">
          <a:xfrm>
            <a:off x="7353300" y="1639887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FNAME</a:t>
            </a:r>
          </a:p>
        </p:txBody>
      </p:sp>
      <p:sp>
        <p:nvSpPr>
          <p:cNvPr id="103496" name="Oval 72"/>
          <p:cNvSpPr>
            <a:spLocks noChangeArrowheads="1"/>
          </p:cNvSpPr>
          <p:nvPr/>
        </p:nvSpPr>
        <p:spPr bwMode="auto">
          <a:xfrm>
            <a:off x="7353300" y="1182687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LNAME</a:t>
            </a:r>
          </a:p>
        </p:txBody>
      </p:sp>
      <p:cxnSp>
        <p:nvCxnSpPr>
          <p:cNvPr id="103497" name="AutoShape 73"/>
          <p:cNvCxnSpPr>
            <a:cxnSpLocks noChangeShapeType="1"/>
            <a:stCxn id="103490" idx="6"/>
            <a:endCxn id="103496" idx="2"/>
          </p:cNvCxnSpPr>
          <p:nvPr/>
        </p:nvCxnSpPr>
        <p:spPr bwMode="auto">
          <a:xfrm flipV="1">
            <a:off x="7202488" y="1315244"/>
            <a:ext cx="150812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98" name="AutoShape 74"/>
          <p:cNvCxnSpPr>
            <a:cxnSpLocks noChangeShapeType="1"/>
            <a:stCxn id="103495" idx="2"/>
            <a:endCxn id="103490" idx="6"/>
          </p:cNvCxnSpPr>
          <p:nvPr/>
        </p:nvCxnSpPr>
        <p:spPr bwMode="auto">
          <a:xfrm flipH="1" flipV="1">
            <a:off x="7202488" y="1543844"/>
            <a:ext cx="150812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499" name="Oval 75"/>
          <p:cNvSpPr>
            <a:spLocks noChangeArrowheads="1"/>
          </p:cNvSpPr>
          <p:nvPr/>
        </p:nvSpPr>
        <p:spPr bwMode="auto">
          <a:xfrm>
            <a:off x="6324600" y="21336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02" name="Rectangle 78"/>
          <p:cNvSpPr>
            <a:spLocks noChangeArrowheads="1"/>
          </p:cNvSpPr>
          <p:nvPr/>
        </p:nvSpPr>
        <p:spPr bwMode="auto">
          <a:xfrm>
            <a:off x="3124200" y="3810000"/>
            <a:ext cx="1219200" cy="45720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03" name="Rectangle 79"/>
          <p:cNvSpPr>
            <a:spLocks noChangeArrowheads="1"/>
          </p:cNvSpPr>
          <p:nvPr/>
        </p:nvSpPr>
        <p:spPr bwMode="auto">
          <a:xfrm>
            <a:off x="5105400" y="4495800"/>
            <a:ext cx="1219200" cy="45720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04" name="Line 80"/>
          <p:cNvSpPr>
            <a:spLocks noChangeShapeType="1"/>
          </p:cNvSpPr>
          <p:nvPr/>
        </p:nvSpPr>
        <p:spPr bwMode="auto">
          <a:xfrm flipH="1">
            <a:off x="5334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505" name="AutoShape 81"/>
          <p:cNvSpPr>
            <a:spLocks noChangeArrowheads="1"/>
          </p:cNvSpPr>
          <p:nvPr/>
        </p:nvSpPr>
        <p:spPr bwMode="auto">
          <a:xfrm>
            <a:off x="4724400" y="23622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MAY BE</a:t>
            </a:r>
          </a:p>
        </p:txBody>
      </p:sp>
      <p:sp>
        <p:nvSpPr>
          <p:cNvPr id="103506" name="Line 82"/>
          <p:cNvSpPr>
            <a:spLocks noChangeShapeType="1"/>
          </p:cNvSpPr>
          <p:nvPr/>
        </p:nvSpPr>
        <p:spPr bwMode="auto">
          <a:xfrm flipH="1">
            <a:off x="5334000" y="2819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73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909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thoughts</a:t>
            </a:r>
          </a:p>
        </p:txBody>
      </p:sp>
      <p:sp>
        <p:nvSpPr>
          <p:cNvPr id="10547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54627" y="1430482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textbook calls this “the association pattern”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pattern is how the Crow’s foot model solves the “relationship with attributes” problem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13688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909" y="0"/>
            <a:ext cx="8229600" cy="990600"/>
          </a:xfrm>
        </p:spPr>
        <p:txBody>
          <a:bodyPr/>
          <a:lstStyle/>
          <a:p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Translating Associative Entity into Crow’s Foot Model</a:t>
            </a:r>
          </a:p>
        </p:txBody>
      </p:sp>
      <p:sp>
        <p:nvSpPr>
          <p:cNvPr id="10547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54627" y="1430482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Breaks the m:n relationship into two 1:m relationships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attributes belong to the “associative entity” in the middle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88756"/>
              </p:ext>
            </p:extLst>
          </p:nvPr>
        </p:nvGraphicFramePr>
        <p:xfrm>
          <a:off x="5791200" y="3487882"/>
          <a:ext cx="2971800" cy="275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200000" imgH="3895238" progId="">
                  <p:embed/>
                </p:oleObj>
              </mc:Choice>
              <mc:Fallback>
                <p:oleObj name="Photo Editor Photo" r:id="rId2" imgW="4200000" imgH="3895238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487882"/>
                        <a:ext cx="2971800" cy="27565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381000" y="3860223"/>
            <a:ext cx="4346575" cy="937915"/>
            <a:chOff x="722312" y="3867150"/>
            <a:chExt cx="4346575" cy="937915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722312" y="394335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COMPANY</a:t>
              </a: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998912" y="394335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PART</a:t>
              </a: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1789112" y="409575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 sz="240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3617912" y="409575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 sz="2400"/>
            </a:p>
          </p:txBody>
        </p:sp>
        <p:sp>
          <p:nvSpPr>
            <p:cNvPr id="10" name="AutoShape 12"/>
            <p:cNvSpPr>
              <a:spLocks noChangeArrowheads="1"/>
            </p:cNvSpPr>
            <p:nvPr/>
          </p:nvSpPr>
          <p:spPr bwMode="auto">
            <a:xfrm>
              <a:off x="2170112" y="3867150"/>
              <a:ext cx="1485900" cy="4191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M : N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2213191" y="4343400"/>
              <a:ext cx="13997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dirty="0">
                  <a:latin typeface="Times New Roman" pitchFamily="18" charset="0"/>
                </a:rPr>
                <a:t>QUOTES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4727575" y="4567305"/>
            <a:ext cx="758825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Oval 38"/>
          <p:cNvSpPr>
            <a:spLocks noChangeArrowheads="1"/>
          </p:cNvSpPr>
          <p:nvPr/>
        </p:nvSpPr>
        <p:spPr bwMode="auto">
          <a:xfrm>
            <a:off x="2132806" y="3355325"/>
            <a:ext cx="877888" cy="2651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PRICE</a:t>
            </a:r>
          </a:p>
        </p:txBody>
      </p:sp>
      <p:cxnSp>
        <p:nvCxnSpPr>
          <p:cNvPr id="19" name="Straight Connector 18"/>
          <p:cNvCxnSpPr>
            <a:stCxn id="20" idx="4"/>
            <a:endCxn id="10" idx="0"/>
          </p:cNvCxnSpPr>
          <p:nvPr/>
        </p:nvCxnSpPr>
        <p:spPr>
          <a:xfrm>
            <a:off x="2571750" y="3620438"/>
            <a:ext cx="0" cy="2397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915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909" y="0"/>
            <a:ext cx="8229600" cy="990600"/>
          </a:xfrm>
        </p:spPr>
        <p:txBody>
          <a:bodyPr/>
          <a:lstStyle/>
          <a:p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Associative Entity Examples</a:t>
            </a:r>
          </a:p>
        </p:txBody>
      </p:sp>
      <p:sp>
        <p:nvSpPr>
          <p:cNvPr id="105475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54627" y="1430482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Classical “Line-Item Pattern”: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04800" y="2031945"/>
            <a:ext cx="4346575" cy="804565"/>
            <a:chOff x="722312" y="3481685"/>
            <a:chExt cx="4346575" cy="804565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722312" y="3943350"/>
              <a:ext cx="1066800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ORDER</a:t>
              </a: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998912" y="3943350"/>
              <a:ext cx="1069975" cy="2667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ITEM</a:t>
              </a: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1789112" y="409575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 sz="240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3617912" y="4095750"/>
              <a:ext cx="381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/>
            <a:lstStyle/>
            <a:p>
              <a:endParaRPr lang="en-US" sz="2400"/>
            </a:p>
          </p:txBody>
        </p:sp>
        <p:sp>
          <p:nvSpPr>
            <p:cNvPr id="10" name="AutoShape 12"/>
            <p:cNvSpPr>
              <a:spLocks noChangeArrowheads="1"/>
            </p:cNvSpPr>
            <p:nvPr/>
          </p:nvSpPr>
          <p:spPr bwMode="auto">
            <a:xfrm>
              <a:off x="2170112" y="3867150"/>
              <a:ext cx="1485900" cy="419100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M : N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2087103" y="3481685"/>
              <a:ext cx="17181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dirty="0">
                  <a:latin typeface="Times New Roman" pitchFamily="18" charset="0"/>
                </a:rPr>
                <a:t>CONTAINS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3581400" y="3810000"/>
            <a:ext cx="1905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Oval 38"/>
          <p:cNvSpPr>
            <a:spLocks noChangeArrowheads="1"/>
          </p:cNvSpPr>
          <p:nvPr/>
        </p:nvSpPr>
        <p:spPr bwMode="auto">
          <a:xfrm>
            <a:off x="1123156" y="3337647"/>
            <a:ext cx="877888" cy="2651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 err="1">
                <a:latin typeface="Times New Roman" pitchFamily="18" charset="0"/>
              </a:rPr>
              <a:t>UPrice</a:t>
            </a:r>
            <a:endParaRPr lang="en-US" sz="1200" dirty="0">
              <a:latin typeface="Times New Roman" pitchFamily="18" charset="0"/>
            </a:endParaRPr>
          </a:p>
        </p:txBody>
      </p:sp>
      <p:cxnSp>
        <p:nvCxnSpPr>
          <p:cNvPr id="19" name="Straight Connector 18"/>
          <p:cNvCxnSpPr>
            <a:stCxn id="20" idx="0"/>
            <a:endCxn id="10" idx="2"/>
          </p:cNvCxnSpPr>
          <p:nvPr/>
        </p:nvCxnSpPr>
        <p:spPr>
          <a:xfrm flipV="1">
            <a:off x="1562100" y="2836510"/>
            <a:ext cx="933450" cy="501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758" y="2836510"/>
            <a:ext cx="2989442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Oval 38"/>
          <p:cNvSpPr>
            <a:spLocks noChangeArrowheads="1"/>
          </p:cNvSpPr>
          <p:nvPr/>
        </p:nvSpPr>
        <p:spPr bwMode="auto">
          <a:xfrm>
            <a:off x="2089728" y="3362252"/>
            <a:ext cx="877888" cy="2651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Quantity</a:t>
            </a:r>
          </a:p>
        </p:txBody>
      </p:sp>
      <p:sp>
        <p:nvSpPr>
          <p:cNvPr id="24" name="Oval 38"/>
          <p:cNvSpPr>
            <a:spLocks noChangeArrowheads="1"/>
          </p:cNvSpPr>
          <p:nvPr/>
        </p:nvSpPr>
        <p:spPr bwMode="auto">
          <a:xfrm>
            <a:off x="3142456" y="3355325"/>
            <a:ext cx="877888" cy="2651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1200" dirty="0" err="1">
                <a:latin typeface="Times New Roman" pitchFamily="18" charset="0"/>
              </a:rPr>
              <a:t>EPrice</a:t>
            </a:r>
            <a:endParaRPr lang="en-US" sz="1200" dirty="0">
              <a:latin typeface="Times New Roman" pitchFamily="18" charset="0"/>
            </a:endParaRPr>
          </a:p>
        </p:txBody>
      </p:sp>
      <p:cxnSp>
        <p:nvCxnSpPr>
          <p:cNvPr id="26" name="Straight Connector 25"/>
          <p:cNvCxnSpPr>
            <a:stCxn id="23" idx="0"/>
            <a:endCxn id="10" idx="2"/>
          </p:cNvCxnSpPr>
          <p:nvPr/>
        </p:nvCxnSpPr>
        <p:spPr>
          <a:xfrm flipH="1" flipV="1">
            <a:off x="2495550" y="2836510"/>
            <a:ext cx="33122" cy="5257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4" idx="0"/>
            <a:endCxn id="10" idx="2"/>
          </p:cNvCxnSpPr>
          <p:nvPr/>
        </p:nvCxnSpPr>
        <p:spPr>
          <a:xfrm flipH="1" flipV="1">
            <a:off x="2495550" y="2836510"/>
            <a:ext cx="1085850" cy="5188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7688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909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21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62000" y="14478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covered: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on relationships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relationship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relationship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a relationship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on entities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Definition, examples and notation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entity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Definition, examples and notation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Next week, we will:</a:t>
            </a:r>
          </a:p>
          <a:p>
            <a:pPr lvl="1">
              <a:lnSpc>
                <a:spcPct val="90000"/>
              </a:lnSpc>
            </a:pPr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Put everything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together by doing an ER Modeling Exercise</a:t>
            </a:r>
          </a:p>
          <a:p>
            <a:pPr lvl="1">
              <a:lnSpc>
                <a:spcPct val="9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And use VISIO to do it!</a:t>
            </a:r>
          </a:p>
        </p:txBody>
      </p:sp>
    </p:spTree>
    <p:extLst>
      <p:ext uri="{BB962C8B-B14F-4D97-AF65-F5344CB8AC3E}">
        <p14:creationId xmlns:p14="http://schemas.microsoft.com/office/powerpoint/2010/main" val="1271153413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1512</TotalTime>
  <Words>3129</Words>
  <Application>Microsoft Office PowerPoint</Application>
  <PresentationFormat>On-screen Show (4:3)</PresentationFormat>
  <Paragraphs>582</Paragraphs>
  <Slides>59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Monotype Sorts</vt:lpstr>
      <vt:lpstr>NewsGothic</vt:lpstr>
      <vt:lpstr>Times New Roman</vt:lpstr>
      <vt:lpstr>Wingdings</vt:lpstr>
      <vt:lpstr>TS101983022</vt:lpstr>
      <vt:lpstr>Photo Editor Photo</vt:lpstr>
      <vt:lpstr>IS 331  Database Design, Management and Applications</vt:lpstr>
      <vt:lpstr>Learning Objectives </vt:lpstr>
      <vt:lpstr>Overview</vt:lpstr>
      <vt:lpstr>Road Map For Conceptual Design</vt:lpstr>
      <vt:lpstr>More on Relationship</vt:lpstr>
      <vt:lpstr>What is Missing?</vt:lpstr>
      <vt:lpstr>Introducing Cardinality</vt:lpstr>
      <vt:lpstr>Three Numbers To Know About Crow’s Foot Notation</vt:lpstr>
      <vt:lpstr>Maximum Cardinality:  How many instances CAN be involved?</vt:lpstr>
      <vt:lpstr>Maximum Cardinality:  One to One Relationship</vt:lpstr>
      <vt:lpstr>Maximum Cardinality:  One to One Relationship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Cardinality of a Relationship</vt:lpstr>
      <vt:lpstr>Minimum Cardinality:  How many instances MUST be involved?</vt:lpstr>
      <vt:lpstr>Minimum Cardinality </vt:lpstr>
      <vt:lpstr>Minimum Cardinality </vt:lpstr>
      <vt:lpstr>Participation</vt:lpstr>
      <vt:lpstr>Minimum Cardinality Notation  </vt:lpstr>
      <vt:lpstr>Minimum Cardinality Notation </vt:lpstr>
      <vt:lpstr>Minimum Cardinality Notation  </vt:lpstr>
      <vt:lpstr>The Three Types of Minimum Cardinality</vt:lpstr>
      <vt:lpstr>How to Read Minimum Cardinality</vt:lpstr>
      <vt:lpstr>How to Read Minimum Cardinality</vt:lpstr>
      <vt:lpstr>Cardinality Exercise </vt:lpstr>
      <vt:lpstr>Cardinality Exercise </vt:lpstr>
      <vt:lpstr>Cardinality Exercise </vt:lpstr>
      <vt:lpstr>Crow’s Foot Notation (read from left to right)</vt:lpstr>
      <vt:lpstr>Degree of a Relationship</vt:lpstr>
      <vt:lpstr>Degree of a Relationship</vt:lpstr>
      <vt:lpstr>1:N Recursive Relationships</vt:lpstr>
      <vt:lpstr>N:M Recursive Relationship</vt:lpstr>
      <vt:lpstr>Degree of a relationship</vt:lpstr>
      <vt:lpstr>Degree of a Relationship</vt:lpstr>
      <vt:lpstr>Where are we?</vt:lpstr>
      <vt:lpstr>More on Entities  </vt:lpstr>
      <vt:lpstr>Weak Entity    </vt:lpstr>
      <vt:lpstr>PowerPoint Presentation</vt:lpstr>
      <vt:lpstr>PowerPoint Presentation</vt:lpstr>
      <vt:lpstr>PowerPoint Presentation</vt:lpstr>
      <vt:lpstr>PowerPoint Presentation</vt:lpstr>
      <vt:lpstr>ID-Dependent Relationships The Arch type/Instance Pattern</vt:lpstr>
      <vt:lpstr>ID-Dependent Relationships The Arch type/Instance Pattern</vt:lpstr>
      <vt:lpstr>PowerPoint Presentation</vt:lpstr>
      <vt:lpstr>PowerPoint Presentation</vt:lpstr>
      <vt:lpstr>ID-Dependent Relationships The Arch Type/Instance Pattern</vt:lpstr>
      <vt:lpstr>Some More Information</vt:lpstr>
      <vt:lpstr>Associative Entity   </vt:lpstr>
      <vt:lpstr>Associative Entity   </vt:lpstr>
      <vt:lpstr>Other thoughts</vt:lpstr>
      <vt:lpstr>Translating Associative Entity into Crow’s Foot Model</vt:lpstr>
      <vt:lpstr>More Associative Entity Examples</vt:lpstr>
      <vt:lpstr>REVIEW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376</cp:revision>
  <cp:lastPrinted>2017-01-21T21:02:53Z</cp:lastPrinted>
  <dcterms:created xsi:type="dcterms:W3CDTF">2012-09-02T01:42:14Z</dcterms:created>
  <dcterms:modified xsi:type="dcterms:W3CDTF">2024-09-09T22:20:37Z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