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58"/>
  </p:notesMasterIdLst>
  <p:handoutMasterIdLst>
    <p:handoutMasterId r:id="rId59"/>
  </p:handoutMasterIdLst>
  <p:sldIdLst>
    <p:sldId id="256" r:id="rId3"/>
    <p:sldId id="274" r:id="rId4"/>
    <p:sldId id="275" r:id="rId5"/>
    <p:sldId id="277" r:id="rId6"/>
    <p:sldId id="278" r:id="rId7"/>
    <p:sldId id="332" r:id="rId8"/>
    <p:sldId id="319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320" r:id="rId22"/>
    <p:sldId id="322" r:id="rId23"/>
    <p:sldId id="321" r:id="rId24"/>
    <p:sldId id="323" r:id="rId25"/>
    <p:sldId id="291" r:id="rId26"/>
    <p:sldId id="292" r:id="rId27"/>
    <p:sldId id="293" r:id="rId28"/>
    <p:sldId id="294" r:id="rId29"/>
    <p:sldId id="330" r:id="rId30"/>
    <p:sldId id="324" r:id="rId31"/>
    <p:sldId id="295" r:id="rId32"/>
    <p:sldId id="296" r:id="rId33"/>
    <p:sldId id="297" r:id="rId34"/>
    <p:sldId id="326" r:id="rId35"/>
    <p:sldId id="325" r:id="rId36"/>
    <p:sldId id="298" r:id="rId37"/>
    <p:sldId id="299" r:id="rId38"/>
    <p:sldId id="300" r:id="rId39"/>
    <p:sldId id="301" r:id="rId40"/>
    <p:sldId id="302" r:id="rId41"/>
    <p:sldId id="331" r:id="rId42"/>
    <p:sldId id="303" r:id="rId43"/>
    <p:sldId id="304" r:id="rId44"/>
    <p:sldId id="305" r:id="rId45"/>
    <p:sldId id="308" r:id="rId46"/>
    <p:sldId id="309" r:id="rId47"/>
    <p:sldId id="306" r:id="rId48"/>
    <p:sldId id="307" r:id="rId49"/>
    <p:sldId id="329" r:id="rId50"/>
    <p:sldId id="311" r:id="rId51"/>
    <p:sldId id="312" r:id="rId52"/>
    <p:sldId id="313" r:id="rId53"/>
    <p:sldId id="314" r:id="rId54"/>
    <p:sldId id="315" r:id="rId55"/>
    <p:sldId id="316" r:id="rId56"/>
    <p:sldId id="317" r:id="rId5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7" autoAdjust="0"/>
    <p:restoredTop sz="94676" autoAdjust="0"/>
  </p:normalViewPr>
  <p:slideViewPr>
    <p:cSldViewPr>
      <p:cViewPr varScale="1">
        <p:scale>
          <a:sx n="110" d="100"/>
          <a:sy n="110" d="100"/>
        </p:scale>
        <p:origin x="16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-3106" y="-77"/>
      </p:cViewPr>
      <p:guideLst>
        <p:guide orient="horz" pos="2928"/>
        <p:guide pos="220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ED0D479-93E8-4290-BCCE-7B3FE1CB8E4E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0C3AE2B6-B9FC-4AC0-ABD8-7E7556C0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29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1keydata.com/datawarehousing/data-modeling-levels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</a:t>
            </a:r>
          </a:p>
          <a:p>
            <a:r>
              <a:rPr lang="en-US" dirty="0">
                <a:hlinkClick r:id="rId3"/>
              </a:rPr>
              <a:t>http://www.1keydata.com/datawarehousing/data-modeling-levels.html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82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all about U, U, U! </a:t>
            </a:r>
          </a:p>
          <a:p>
            <a:endParaRPr lang="en-US" dirty="0"/>
          </a:p>
          <a:p>
            <a:r>
              <a:rPr lang="en-US" dirty="0"/>
              <a:t>OO</a:t>
            </a:r>
          </a:p>
          <a:p>
            <a:r>
              <a:rPr lang="en-US" dirty="0" err="1"/>
              <a:t>aaaaaaaaaaaaaaaa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43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message if you try to delete the reference table entry from Assignment 3 is “The record cannot be deleted or changed because table ‘Customer Record’ includes related records”</a:t>
            </a:r>
          </a:p>
          <a:p>
            <a:endParaRPr lang="en-US" dirty="0"/>
          </a:p>
          <a:p>
            <a:r>
              <a:rPr lang="en-US" dirty="0"/>
              <a:t>That’s along way to say that nothing is going to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B6BB5A-CE4E-4664-B71A-76645C9280C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0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F9888-3879-4F22-AF80-4177AA4AC351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E6D5-0B56-4E95-B722-0CB6C0A3DFB2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FFF54-01E0-4551-9739-57A7061C7C08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D2CFF-A0B0-4311-A3BC-DA4ED30FECE4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968AA-672A-4F83-8CBC-80A82B39BD57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DC351-E228-4CFD-9822-9AA74CDFB27E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B6B7A-DD0C-47D2-AB40-2FCF80BF4872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A7482-F815-4503-A2A0-9B4E6F587FB9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C3AE-F697-4CAB-BB32-676A80268F9B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FAD3-E4D3-41AF-A684-34713DD70029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88E4D-B080-487F-B7C6-C1728A511627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2411DB9-75D0-41F5-ABD3-D260E26E5BCC}" type="datetime1">
              <a:rPr lang="en-US" smtClean="0"/>
              <a:pPr>
                <a:defRPr/>
              </a:pPr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1keydata.com/datawarehousing/data-modeling-level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IS 331 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Arial" charset="0"/>
                <a:cs typeface="Arial" charset="0"/>
              </a:rPr>
              <a:t>Dr. Art Hendela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2667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7:  Logical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Design (I)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33400" y="3433762"/>
            <a:ext cx="27432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Requirement Analysis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828800" y="4043362"/>
            <a:ext cx="25908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Conceptual Design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048000" y="4576762"/>
            <a:ext cx="25146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Design</a:t>
            </a:r>
            <a:r>
              <a:rPr lang="en-US" sz="24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4267200" y="5186362"/>
            <a:ext cx="24384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Physical Design 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5334000" y="5719762"/>
            <a:ext cx="22860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6477000" y="6253162"/>
            <a:ext cx="19812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Maintenance </a:t>
            </a: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3276600" y="44243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4572000" y="50339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5562600" y="55673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>
            <a:off x="6705600" y="6100762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>
            <a:off x="2590800" y="38909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Objectives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following concepts: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 and understand </a:t>
            </a:r>
            <a:r>
              <a:rPr lang="en-US" sz="24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characteristics of relations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 and understand </a:t>
            </a:r>
            <a:r>
              <a:rPr lang="en-US" sz="24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</a:t>
            </a: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types of integrity constraints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 able to identify super key, candidate key, primary key, surrogate key and foreign key given description of a relation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303062"/>
              </p:ext>
            </p:extLst>
          </p:nvPr>
        </p:nvGraphicFramePr>
        <p:xfrm>
          <a:off x="1143000" y="1981200"/>
          <a:ext cx="69342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Logical Design</a:t>
                      </a:r>
                      <a:endParaRPr lang="en-US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Relational Data </a:t>
                      </a:r>
                      <a:endParaRPr lang="en-US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Integrity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Domain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Entity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Referential Integrity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87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82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058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Logical Model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Relational Model Introduction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structure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integrity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manipulation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Structure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 and other basic terminology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Notations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Characteristics of relations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Integrity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Entity integrity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Domain Constraints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Operational Constraints</a:t>
            </a:r>
          </a:p>
        </p:txBody>
      </p:sp>
    </p:spTree>
    <p:extLst>
      <p:ext uri="{BB962C8B-B14F-4D97-AF65-F5344CB8AC3E}">
        <p14:creationId xmlns:p14="http://schemas.microsoft.com/office/powerpoint/2010/main" val="291811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173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Road Map for Logical Design</a:t>
            </a:r>
          </a:p>
        </p:txBody>
      </p:sp>
      <p:sp>
        <p:nvSpPr>
          <p:cNvPr id="174134" name="Text Box 54"/>
          <p:cNvSpPr txBox="1">
            <a:spLocks noChangeArrowheads="1"/>
          </p:cNvSpPr>
          <p:nvPr/>
        </p:nvSpPr>
        <p:spPr bwMode="auto">
          <a:xfrm>
            <a:off x="304800" y="4191000"/>
            <a:ext cx="1905000" cy="9556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Logical Design </a:t>
            </a:r>
          </a:p>
        </p:txBody>
      </p:sp>
      <p:sp>
        <p:nvSpPr>
          <p:cNvPr id="174135" name="Line 55"/>
          <p:cNvSpPr>
            <a:spLocks noChangeShapeType="1"/>
          </p:cNvSpPr>
          <p:nvPr/>
        </p:nvSpPr>
        <p:spPr bwMode="auto">
          <a:xfrm>
            <a:off x="6705600" y="175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36" name="Text Box 56"/>
          <p:cNvSpPr txBox="1">
            <a:spLocks noChangeArrowheads="1"/>
          </p:cNvSpPr>
          <p:nvPr/>
        </p:nvSpPr>
        <p:spPr bwMode="auto">
          <a:xfrm>
            <a:off x="7086600" y="16002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/>
              <a:t>Data Structure</a:t>
            </a:r>
          </a:p>
        </p:txBody>
      </p:sp>
      <p:sp>
        <p:nvSpPr>
          <p:cNvPr id="174137" name="Text Box 57"/>
          <p:cNvSpPr txBox="1">
            <a:spLocks noChangeArrowheads="1"/>
          </p:cNvSpPr>
          <p:nvPr/>
        </p:nvSpPr>
        <p:spPr bwMode="auto">
          <a:xfrm>
            <a:off x="7010400" y="2438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/>
              <a:t>Data Integrity</a:t>
            </a:r>
          </a:p>
        </p:txBody>
      </p:sp>
      <p:sp>
        <p:nvSpPr>
          <p:cNvPr id="174138" name="Text Box 58"/>
          <p:cNvSpPr txBox="1">
            <a:spLocks noChangeArrowheads="1"/>
          </p:cNvSpPr>
          <p:nvPr/>
        </p:nvSpPr>
        <p:spPr bwMode="auto">
          <a:xfrm>
            <a:off x="6934200" y="33528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Manipulation</a:t>
            </a:r>
          </a:p>
        </p:txBody>
      </p:sp>
      <p:sp>
        <p:nvSpPr>
          <p:cNvPr id="174139" name="Line 59"/>
          <p:cNvSpPr>
            <a:spLocks noChangeShapeType="1"/>
          </p:cNvSpPr>
          <p:nvPr/>
        </p:nvSpPr>
        <p:spPr bwMode="auto">
          <a:xfrm>
            <a:off x="65532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0" name="Line 60"/>
          <p:cNvSpPr>
            <a:spLocks noChangeShapeType="1"/>
          </p:cNvSpPr>
          <p:nvPr/>
        </p:nvSpPr>
        <p:spPr bwMode="auto">
          <a:xfrm>
            <a:off x="6705600" y="3581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1" name="Line 61"/>
          <p:cNvSpPr>
            <a:spLocks noChangeShapeType="1"/>
          </p:cNvSpPr>
          <p:nvPr/>
        </p:nvSpPr>
        <p:spPr bwMode="auto">
          <a:xfrm>
            <a:off x="6705600" y="1752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2" name="Line 62"/>
          <p:cNvSpPr>
            <a:spLocks noChangeShapeType="1"/>
          </p:cNvSpPr>
          <p:nvPr/>
        </p:nvSpPr>
        <p:spPr bwMode="auto">
          <a:xfrm>
            <a:off x="2438400" y="3733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3" name="Line 63"/>
          <p:cNvSpPr>
            <a:spLocks noChangeShapeType="1"/>
          </p:cNvSpPr>
          <p:nvPr/>
        </p:nvSpPr>
        <p:spPr bwMode="auto">
          <a:xfrm>
            <a:off x="22098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4" name="Line 64"/>
          <p:cNvSpPr>
            <a:spLocks noChangeShapeType="1"/>
          </p:cNvSpPr>
          <p:nvPr/>
        </p:nvSpPr>
        <p:spPr bwMode="auto">
          <a:xfrm>
            <a:off x="2438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5" name="Line 65"/>
          <p:cNvSpPr>
            <a:spLocks noChangeShapeType="1"/>
          </p:cNvSpPr>
          <p:nvPr/>
        </p:nvSpPr>
        <p:spPr bwMode="auto">
          <a:xfrm>
            <a:off x="2438400" y="3733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6" name="Text Box 66"/>
          <p:cNvSpPr txBox="1">
            <a:spLocks noChangeArrowheads="1"/>
          </p:cNvSpPr>
          <p:nvPr/>
        </p:nvSpPr>
        <p:spPr bwMode="auto">
          <a:xfrm>
            <a:off x="2590800" y="3267670"/>
            <a:ext cx="1752600" cy="92333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Translate ER Into Relational Model</a:t>
            </a:r>
          </a:p>
        </p:txBody>
      </p:sp>
      <p:sp>
        <p:nvSpPr>
          <p:cNvPr id="174147" name="Text Box 67"/>
          <p:cNvSpPr txBox="1">
            <a:spLocks noChangeArrowheads="1"/>
          </p:cNvSpPr>
          <p:nvPr/>
        </p:nvSpPr>
        <p:spPr bwMode="auto">
          <a:xfrm>
            <a:off x="2590800" y="5410200"/>
            <a:ext cx="1905000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Normalization</a:t>
            </a:r>
          </a:p>
        </p:txBody>
      </p:sp>
      <p:sp>
        <p:nvSpPr>
          <p:cNvPr id="174148" name="Line 68"/>
          <p:cNvSpPr>
            <a:spLocks noChangeShapeType="1"/>
          </p:cNvSpPr>
          <p:nvPr/>
        </p:nvSpPr>
        <p:spPr bwMode="auto">
          <a:xfrm>
            <a:off x="4668982" y="2829791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9" name="Line 69"/>
          <p:cNvSpPr>
            <a:spLocks noChangeShapeType="1"/>
          </p:cNvSpPr>
          <p:nvPr/>
        </p:nvSpPr>
        <p:spPr bwMode="auto">
          <a:xfrm>
            <a:off x="43434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0" name="Line 70"/>
          <p:cNvSpPr>
            <a:spLocks noChangeShapeType="1"/>
          </p:cNvSpPr>
          <p:nvPr/>
        </p:nvSpPr>
        <p:spPr bwMode="auto">
          <a:xfrm>
            <a:off x="4672445" y="4668982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1" name="Line 71"/>
          <p:cNvSpPr>
            <a:spLocks noChangeShapeType="1"/>
          </p:cNvSpPr>
          <p:nvPr/>
        </p:nvSpPr>
        <p:spPr bwMode="auto">
          <a:xfrm>
            <a:off x="4665518" y="2840037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2" name="Text Box 72"/>
          <p:cNvSpPr txBox="1">
            <a:spLocks noChangeArrowheads="1"/>
          </p:cNvSpPr>
          <p:nvPr/>
        </p:nvSpPr>
        <p:spPr bwMode="auto">
          <a:xfrm>
            <a:off x="4800600" y="2209800"/>
            <a:ext cx="1752600" cy="92333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 Relational Model</a:t>
            </a:r>
          </a:p>
        </p:txBody>
      </p:sp>
      <p:sp>
        <p:nvSpPr>
          <p:cNvPr id="174153" name="Text Box 73"/>
          <p:cNvSpPr txBox="1">
            <a:spLocks noChangeArrowheads="1"/>
          </p:cNvSpPr>
          <p:nvPr/>
        </p:nvSpPr>
        <p:spPr bwMode="auto">
          <a:xfrm>
            <a:off x="4838699" y="4454236"/>
            <a:ext cx="2019301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Translate?</a:t>
            </a:r>
          </a:p>
        </p:txBody>
      </p:sp>
      <p:sp>
        <p:nvSpPr>
          <p:cNvPr id="174154" name="Rectangle 74"/>
          <p:cNvSpPr>
            <a:spLocks noChangeArrowheads="1"/>
          </p:cNvSpPr>
          <p:nvPr/>
        </p:nvSpPr>
        <p:spPr bwMode="auto">
          <a:xfrm>
            <a:off x="7086600" y="1600200"/>
            <a:ext cx="1676400" cy="369332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55" name="Rectangle 75"/>
          <p:cNvSpPr>
            <a:spLocks noChangeArrowheads="1"/>
          </p:cNvSpPr>
          <p:nvPr/>
        </p:nvSpPr>
        <p:spPr bwMode="auto">
          <a:xfrm>
            <a:off x="7086600" y="2438400"/>
            <a:ext cx="1524000" cy="401638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75"/>
          <p:cNvSpPr>
            <a:spLocks noChangeArrowheads="1"/>
          </p:cNvSpPr>
          <p:nvPr/>
        </p:nvSpPr>
        <p:spPr bwMode="auto">
          <a:xfrm>
            <a:off x="4745182" y="2057400"/>
            <a:ext cx="1884218" cy="1210269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871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Textbook Chapter 3</a:t>
            </a:r>
          </a:p>
        </p:txBody>
      </p:sp>
      <p:sp>
        <p:nvSpPr>
          <p:cNvPr id="147487" name="Rectangle 3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textbook covers today’s lecture AND normalization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will cover normalization later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Several topics in this lecture are NOT covered in the book.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Super key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four constraint types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Etc. </a:t>
            </a:r>
          </a:p>
          <a:p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308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99060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What’s Missing in Conceptual Models?</a:t>
            </a:r>
          </a:p>
        </p:txBody>
      </p:sp>
      <p:sp>
        <p:nvSpPr>
          <p:cNvPr id="147487" name="Rectangle 3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7772400" cy="50292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gets included in each type of model?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Conceptual model leaves out a lot of detail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552302"/>
              </p:ext>
            </p:extLst>
          </p:nvPr>
        </p:nvGraphicFramePr>
        <p:xfrm>
          <a:off x="1295400" y="2286000"/>
          <a:ext cx="6096000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Entity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Entity Relationships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Attributes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Primary Keys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Foreign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19200" y="5867400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http://www.1keydata.com/datawarehousing/data-modeling-</a:t>
            </a:r>
            <a:r>
              <a:rPr lang="en-US" dirty="0" err="1">
                <a:hlinkClick r:id="rId3"/>
              </a:rPr>
              <a:t>levels.html</a:t>
            </a:r>
            <a:r>
              <a:rPr lang="en-US" dirty="0"/>
              <a:t>  (Accessed September 22, 2024)</a:t>
            </a:r>
          </a:p>
        </p:txBody>
      </p:sp>
    </p:spTree>
    <p:extLst>
      <p:ext uri="{BB962C8B-B14F-4D97-AF65-F5344CB8AC3E}">
        <p14:creationId xmlns:p14="http://schemas.microsoft.com/office/powerpoint/2010/main" val="3356372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87" name="Rectangle 3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14800"/>
          </a:xfrm>
          <a:noFill/>
          <a:ln/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ER Model do </a:t>
            </a:r>
            <a:r>
              <a:rPr lang="en-US" sz="24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consider ANY database-related concepts</a:t>
            </a:r>
          </a:p>
          <a:p>
            <a:pPr lvl="1"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this point, do not think about tables. Entities and relationships are high level abstractions of the mini-world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ER Model (ERD) helps users to understand their business better. It does not say anything about implementation </a:t>
            </a:r>
          </a:p>
          <a:p>
            <a:pPr>
              <a:spcBef>
                <a:spcPts val="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Analogy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 develop the blueprint for the best house design and build the worst house. It depends on what you do next to implement or build the design</a:t>
            </a:r>
          </a:p>
          <a:p>
            <a:pPr lvl="1"/>
            <a:endParaRPr lang="en-US" sz="20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99060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What’s Missing in Conceptual Models?</a:t>
            </a:r>
          </a:p>
        </p:txBody>
      </p:sp>
    </p:spTree>
    <p:extLst>
      <p:ext uri="{BB962C8B-B14F-4D97-AF65-F5344CB8AC3E}">
        <p14:creationId xmlns:p14="http://schemas.microsoft.com/office/powerpoint/2010/main" val="56705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Logical Models</a:t>
            </a:r>
          </a:p>
        </p:txBody>
      </p:sp>
      <p:sp>
        <p:nvSpPr>
          <p:cNvPr id="1484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Logical models are </a:t>
            </a:r>
            <a:r>
              <a:rPr lang="en-US" sz="20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on the DBMS you select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is the first software-dependent designing model we’ve encountered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Logical designs show the users how the data will look like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logically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the actual database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one level less abstract than conceptual level: we start to model actual objects that are going to be in the database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Analogy: Remember the architect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Conceptual design: How does it look like?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Logical Design: What is the size of each room? How thick should the wall be?… After this, you could know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exactly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how the house will look like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Physical Design: How to build the house? Wood or concrete? </a:t>
            </a:r>
          </a:p>
        </p:txBody>
      </p:sp>
    </p:spTree>
    <p:extLst>
      <p:ext uri="{BB962C8B-B14F-4D97-AF65-F5344CB8AC3E}">
        <p14:creationId xmlns:p14="http://schemas.microsoft.com/office/powerpoint/2010/main" val="95540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</a:p>
        </p:txBody>
      </p:sp>
      <p:sp>
        <p:nvSpPr>
          <p:cNvPr id="1495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logical model for a relational DBMS is the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data 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 DBMS (RDBMS) products dominate the market: Oracle, MS SQL Server, DB2, Access…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They dominate the market because of the mathematical beauty of the relational model </a:t>
            </a:r>
          </a:p>
          <a:p>
            <a:pPr lvl="1">
              <a:lnSpc>
                <a:spcPct val="9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introduction of the relational model by the mathematician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 F.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Codd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1970 is the single most important event in database history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the foundation that makes this field a science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Unfortunately, the computers at the time were not powerful enough to put that model into physical reality</a:t>
            </a: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609600" y="6019800"/>
            <a:ext cx="7543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CC0000"/>
                </a:solidFill>
              </a:rPr>
              <a:t>WARNING:</a:t>
            </a:r>
            <a:r>
              <a:rPr lang="en-US" sz="1400" dirty="0"/>
              <a:t> The Relational model is only </a:t>
            </a:r>
            <a:r>
              <a:rPr lang="en-US" sz="1400" b="1" dirty="0">
                <a:solidFill>
                  <a:srgbClr val="FF0000"/>
                </a:solidFill>
              </a:rPr>
              <a:t>one type </a:t>
            </a:r>
            <a:r>
              <a:rPr lang="en-US" sz="1400" dirty="0"/>
              <a:t>of logical model. Don’t mix these two concepts. There are also hierarchical and network models to name a couple others.</a:t>
            </a:r>
          </a:p>
        </p:txBody>
      </p:sp>
    </p:spTree>
    <p:extLst>
      <p:ext uri="{BB962C8B-B14F-4D97-AF65-F5344CB8AC3E}">
        <p14:creationId xmlns:p14="http://schemas.microsoft.com/office/powerpoint/2010/main" val="1864156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114800"/>
          </a:xfrm>
          <a:noFill/>
          <a:ln/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Why is it named “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”?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is represented in the form of “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relations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“Relation” is just a mathematical way of saying “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Therefore, it is a model about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After this, we will use informal language in order to better understand the model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Keep in mind that the relational model is a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That does not necessarily mean that it is hard, but a theory has a set of terminology that you will need to learn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</a:p>
        </p:txBody>
      </p:sp>
    </p:spTree>
    <p:extLst>
      <p:ext uri="{BB962C8B-B14F-4D97-AF65-F5344CB8AC3E}">
        <p14:creationId xmlns:p14="http://schemas.microsoft.com/office/powerpoint/2010/main" val="30982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6136" y="1447800"/>
            <a:ext cx="7772400" cy="4114800"/>
          </a:xfrm>
          <a:noFill/>
          <a:ln/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Three Aspects of the Relational Model</a:t>
            </a:r>
          </a:p>
          <a:p>
            <a:pPr lvl="1"/>
            <a:r>
              <a:rPr lang="en-US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Data are stored in the form of tables (relations)</a:t>
            </a:r>
          </a:p>
          <a:p>
            <a:pPr lvl="1"/>
            <a:r>
              <a:rPr lang="en-US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Integrity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Tables have to satisfy several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integrity constraints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1200"/>
              </a:spcAft>
            </a:pPr>
            <a:r>
              <a:rPr lang="en-US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SQL provides powerful operations to manipulate the stored tables and generate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Structure and Data Integrity deal with how to store data, Data Manipulation deals with how to manipulation such as creating or changing data, listing data, or deleting it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manipulation is covered later</a:t>
            </a:r>
          </a:p>
          <a:p>
            <a:pPr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09600" y="762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</a:p>
        </p:txBody>
      </p:sp>
    </p:spTree>
    <p:extLst>
      <p:ext uri="{BB962C8B-B14F-4D97-AF65-F5344CB8AC3E}">
        <p14:creationId xmlns:p14="http://schemas.microsoft.com/office/powerpoint/2010/main" val="156151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Relation</a:t>
            </a:r>
          </a:p>
        </p:txBody>
      </p:sp>
      <p:sp>
        <p:nvSpPr>
          <p:cNvPr id="1525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572000"/>
          </a:xfrm>
          <a:noFill/>
          <a:ln/>
        </p:spPr>
        <p:txBody>
          <a:bodyPr/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Relation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Definition: a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named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two-dimensional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table of data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1">
              <a:buFont typeface="Wingdings" pitchFamily="2" charset="2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607" name="Rectangle 31"/>
          <p:cNvSpPr>
            <a:spLocks noChangeArrowheads="1"/>
          </p:cNvSpPr>
          <p:nvPr/>
        </p:nvSpPr>
        <p:spPr bwMode="auto">
          <a:xfrm>
            <a:off x="1752600" y="33528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52608" name="Rectangle 32"/>
          <p:cNvSpPr>
            <a:spLocks noChangeArrowheads="1"/>
          </p:cNvSpPr>
          <p:nvPr/>
        </p:nvSpPr>
        <p:spPr bwMode="auto">
          <a:xfrm>
            <a:off x="2438400" y="3352800"/>
            <a:ext cx="2286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2609" name="Rectangle 33"/>
          <p:cNvSpPr>
            <a:spLocks noChangeArrowheads="1"/>
          </p:cNvSpPr>
          <p:nvPr/>
        </p:nvSpPr>
        <p:spPr bwMode="auto">
          <a:xfrm>
            <a:off x="4724400" y="3352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2610" name="Rectangle 34"/>
          <p:cNvSpPr>
            <a:spLocks noChangeArrowheads="1"/>
          </p:cNvSpPr>
          <p:nvPr/>
        </p:nvSpPr>
        <p:spPr bwMode="auto">
          <a:xfrm>
            <a:off x="5867400" y="3352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2611" name="Rectangle 35"/>
          <p:cNvSpPr>
            <a:spLocks noChangeArrowheads="1"/>
          </p:cNvSpPr>
          <p:nvPr/>
        </p:nvSpPr>
        <p:spPr bwMode="auto">
          <a:xfrm>
            <a:off x="1752600" y="3657600"/>
            <a:ext cx="6858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B6</a:t>
            </a:r>
            <a:endParaRPr lang="en-US">
              <a:latin typeface="Times New Roman" charset="0"/>
            </a:endParaRPr>
          </a:p>
        </p:txBody>
      </p:sp>
      <p:sp>
        <p:nvSpPr>
          <p:cNvPr id="152612" name="Rectangle 36"/>
          <p:cNvSpPr>
            <a:spLocks noChangeArrowheads="1"/>
          </p:cNvSpPr>
          <p:nvPr/>
        </p:nvSpPr>
        <p:spPr bwMode="auto">
          <a:xfrm>
            <a:off x="2438400" y="3657600"/>
            <a:ext cx="2286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‘Rainbow Six’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‘Five days in Paris’</a:t>
            </a:r>
            <a:endParaRPr lang="en-US" dirty="0">
              <a:latin typeface="Times New Roman" charset="0"/>
            </a:endParaRPr>
          </a:p>
        </p:txBody>
      </p:sp>
      <p:sp>
        <p:nvSpPr>
          <p:cNvPr id="152613" name="Rectangle 37"/>
          <p:cNvSpPr>
            <a:spLocks noChangeArrowheads="1"/>
          </p:cNvSpPr>
          <p:nvPr/>
        </p:nvSpPr>
        <p:spPr bwMode="auto">
          <a:xfrm>
            <a:off x="4724400" y="3657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34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19</a:t>
            </a:r>
          </a:p>
        </p:txBody>
      </p:sp>
      <p:sp>
        <p:nvSpPr>
          <p:cNvPr id="152614" name="Rectangle 38"/>
          <p:cNvSpPr>
            <a:spLocks noChangeArrowheads="1"/>
          </p:cNvSpPr>
          <p:nvPr/>
        </p:nvSpPr>
        <p:spPr bwMode="auto">
          <a:xfrm>
            <a:off x="5867400" y="3657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19</a:t>
            </a:r>
            <a:endParaRPr lang="en-US">
              <a:latin typeface="Times New Roman" charset="0"/>
            </a:endParaRPr>
          </a:p>
        </p:txBody>
      </p:sp>
      <p:sp>
        <p:nvSpPr>
          <p:cNvPr id="152617" name="Text Box 41"/>
          <p:cNvSpPr txBox="1">
            <a:spLocks noChangeArrowheads="1"/>
          </p:cNvSpPr>
          <p:nvPr/>
        </p:nvSpPr>
        <p:spPr bwMode="auto">
          <a:xfrm>
            <a:off x="1676400" y="28956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charset="0"/>
              </a:rPr>
              <a:t>Book</a:t>
            </a:r>
          </a:p>
        </p:txBody>
      </p:sp>
    </p:spTree>
    <p:extLst>
      <p:ext uri="{BB962C8B-B14F-4D97-AF65-F5344CB8AC3E}">
        <p14:creationId xmlns:p14="http://schemas.microsoft.com/office/powerpoint/2010/main" val="1797786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2362200" y="2438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 dirty="0">
                <a:latin typeface="Times New Roman" charset="0"/>
              </a:rPr>
              <a:t>BID</a:t>
            </a:r>
            <a:endParaRPr lang="en-US" dirty="0">
              <a:latin typeface="Times New Roman" charset="0"/>
            </a:endParaRPr>
          </a:p>
        </p:txBody>
      </p:sp>
      <p:sp>
        <p:nvSpPr>
          <p:cNvPr id="153605" name="Rectangle 5"/>
          <p:cNvSpPr>
            <a:spLocks noChangeArrowheads="1"/>
          </p:cNvSpPr>
          <p:nvPr/>
        </p:nvSpPr>
        <p:spPr bwMode="auto">
          <a:xfrm>
            <a:off x="3048000" y="2438400"/>
            <a:ext cx="2286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3606" name="Rectangle 6"/>
          <p:cNvSpPr>
            <a:spLocks noChangeArrowheads="1"/>
          </p:cNvSpPr>
          <p:nvPr/>
        </p:nvSpPr>
        <p:spPr bwMode="auto">
          <a:xfrm>
            <a:off x="5334000" y="2438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3607" name="Rectangle 7"/>
          <p:cNvSpPr>
            <a:spLocks noChangeArrowheads="1"/>
          </p:cNvSpPr>
          <p:nvPr/>
        </p:nvSpPr>
        <p:spPr bwMode="auto">
          <a:xfrm>
            <a:off x="6477000" y="2438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3608" name="Rectangle 8"/>
          <p:cNvSpPr>
            <a:spLocks noChangeArrowheads="1"/>
          </p:cNvSpPr>
          <p:nvPr/>
        </p:nvSpPr>
        <p:spPr bwMode="auto">
          <a:xfrm>
            <a:off x="2362200" y="2743200"/>
            <a:ext cx="6858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B6</a:t>
            </a:r>
            <a:endParaRPr lang="en-US">
              <a:latin typeface="Times New Roman" charset="0"/>
            </a:endParaRPr>
          </a:p>
        </p:txBody>
      </p:sp>
      <p:sp>
        <p:nvSpPr>
          <p:cNvPr id="153609" name="Rectangle 9"/>
          <p:cNvSpPr>
            <a:spLocks noChangeArrowheads="1"/>
          </p:cNvSpPr>
          <p:nvPr/>
        </p:nvSpPr>
        <p:spPr bwMode="auto">
          <a:xfrm>
            <a:off x="3048000" y="2743200"/>
            <a:ext cx="2286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‘Rainbow Six’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‘Five days in Paris’</a:t>
            </a:r>
            <a:endParaRPr lang="en-US" dirty="0">
              <a:latin typeface="Times New Roman" charset="0"/>
            </a:endParaRPr>
          </a:p>
        </p:txBody>
      </p:sp>
      <p:sp>
        <p:nvSpPr>
          <p:cNvPr id="153610" name="Rectangle 10"/>
          <p:cNvSpPr>
            <a:spLocks noChangeArrowheads="1"/>
          </p:cNvSpPr>
          <p:nvPr/>
        </p:nvSpPr>
        <p:spPr bwMode="auto">
          <a:xfrm>
            <a:off x="5334000" y="27432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34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19</a:t>
            </a:r>
          </a:p>
        </p:txBody>
      </p:sp>
      <p:sp>
        <p:nvSpPr>
          <p:cNvPr id="153611" name="Rectangle 11"/>
          <p:cNvSpPr>
            <a:spLocks noChangeArrowheads="1"/>
          </p:cNvSpPr>
          <p:nvPr/>
        </p:nvSpPr>
        <p:spPr bwMode="auto">
          <a:xfrm>
            <a:off x="6477000" y="27432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19</a:t>
            </a:r>
            <a:endParaRPr lang="en-US">
              <a:latin typeface="Times New Roman" charset="0"/>
            </a:endParaRPr>
          </a:p>
        </p:txBody>
      </p:sp>
      <p:sp>
        <p:nvSpPr>
          <p:cNvPr id="153613" name="Rectangle 13"/>
          <p:cNvSpPr>
            <a:spLocks noChangeArrowheads="1"/>
          </p:cNvSpPr>
          <p:nvPr/>
        </p:nvSpPr>
        <p:spPr bwMode="auto">
          <a:xfrm>
            <a:off x="5334000" y="2438400"/>
            <a:ext cx="1143000" cy="2209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14" name="Text Box 14"/>
          <p:cNvSpPr txBox="1">
            <a:spLocks noChangeArrowheads="1"/>
          </p:cNvSpPr>
          <p:nvPr/>
        </p:nvSpPr>
        <p:spPr bwMode="auto">
          <a:xfrm>
            <a:off x="4800600" y="1447800"/>
            <a:ext cx="2590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Attribute: column</a:t>
            </a:r>
          </a:p>
        </p:txBody>
      </p:sp>
      <p:sp>
        <p:nvSpPr>
          <p:cNvPr id="153615" name="AutoShape 15"/>
          <p:cNvSpPr>
            <a:spLocks noChangeArrowheads="1"/>
          </p:cNvSpPr>
          <p:nvPr/>
        </p:nvSpPr>
        <p:spPr bwMode="auto">
          <a:xfrm>
            <a:off x="5791200" y="1905000"/>
            <a:ext cx="304800" cy="4572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16" name="Text Box 16"/>
          <p:cNvSpPr txBox="1">
            <a:spLocks noChangeArrowheads="1"/>
          </p:cNvSpPr>
          <p:nvPr/>
        </p:nvSpPr>
        <p:spPr bwMode="auto">
          <a:xfrm>
            <a:off x="152400" y="3276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Tuple: row</a:t>
            </a:r>
          </a:p>
        </p:txBody>
      </p:sp>
      <p:sp>
        <p:nvSpPr>
          <p:cNvPr id="153618" name="AutoShape 18"/>
          <p:cNvSpPr>
            <a:spLocks noChangeArrowheads="1"/>
          </p:cNvSpPr>
          <p:nvPr/>
        </p:nvSpPr>
        <p:spPr bwMode="auto">
          <a:xfrm>
            <a:off x="1600200" y="342900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19" name="Rectangle 19"/>
          <p:cNvSpPr>
            <a:spLocks noChangeArrowheads="1"/>
          </p:cNvSpPr>
          <p:nvPr/>
        </p:nvSpPr>
        <p:spPr bwMode="auto">
          <a:xfrm>
            <a:off x="2362200" y="3352800"/>
            <a:ext cx="5257800" cy="3810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20" name="Line 20"/>
          <p:cNvSpPr>
            <a:spLocks noChangeShapeType="1"/>
          </p:cNvSpPr>
          <p:nvPr/>
        </p:nvSpPr>
        <p:spPr bwMode="auto">
          <a:xfrm flipH="1">
            <a:off x="2362200" y="4953000"/>
            <a:ext cx="518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21" name="Text Box 21"/>
          <p:cNvSpPr txBox="1">
            <a:spLocks noChangeArrowheads="1"/>
          </p:cNvSpPr>
          <p:nvPr/>
        </p:nvSpPr>
        <p:spPr bwMode="auto">
          <a:xfrm>
            <a:off x="3810000" y="4800600"/>
            <a:ext cx="2057400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 Degree = 4</a:t>
            </a:r>
          </a:p>
        </p:txBody>
      </p:sp>
      <p:sp>
        <p:nvSpPr>
          <p:cNvPr id="153622" name="Line 22"/>
          <p:cNvSpPr>
            <a:spLocks noChangeShapeType="1"/>
          </p:cNvSpPr>
          <p:nvPr/>
        </p:nvSpPr>
        <p:spPr bwMode="auto">
          <a:xfrm>
            <a:off x="8153400" y="2438400"/>
            <a:ext cx="0" cy="2209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23" name="Text Box 23"/>
          <p:cNvSpPr txBox="1">
            <a:spLocks noChangeArrowheads="1"/>
          </p:cNvSpPr>
          <p:nvPr/>
        </p:nvSpPr>
        <p:spPr bwMode="auto">
          <a:xfrm>
            <a:off x="7696200" y="3276600"/>
            <a:ext cx="1143000" cy="584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Cardinality = 6</a:t>
            </a:r>
          </a:p>
        </p:txBody>
      </p:sp>
      <p:sp>
        <p:nvSpPr>
          <p:cNvPr id="153624" name="Text Box 24"/>
          <p:cNvSpPr txBox="1">
            <a:spLocks noChangeArrowheads="1"/>
          </p:cNvSpPr>
          <p:nvPr/>
        </p:nvSpPr>
        <p:spPr bwMode="auto">
          <a:xfrm>
            <a:off x="685800" y="5334000"/>
            <a:ext cx="4495800" cy="951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1800" dirty="0"/>
              <a:t>Degree: Number of attributes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1800" dirty="0"/>
              <a:t>Cardinality: Number of rows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1800" dirty="0"/>
              <a:t>(SQL Cardinality : Unique values)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4572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Relation</a:t>
            </a:r>
          </a:p>
        </p:txBody>
      </p:sp>
    </p:spTree>
    <p:extLst>
      <p:ext uri="{BB962C8B-B14F-4D97-AF65-F5344CB8AC3E}">
        <p14:creationId xmlns:p14="http://schemas.microsoft.com/office/powerpoint/2010/main" val="3767498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  <a:noFill/>
          <a:ln/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Conceptual Model vs. Logical model: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share many terms: cardinality, degree, keys, etc.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However,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terms mean different things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Put everything we learned about ER Modeling to the side for now to avoid confusion. Focus on the relational model and only the relational model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next class, we will construct connections between these conceptual and logical models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Basic Terminology</a:t>
            </a:r>
          </a:p>
        </p:txBody>
      </p:sp>
    </p:spTree>
    <p:extLst>
      <p:ext uri="{BB962C8B-B14F-4D97-AF65-F5344CB8AC3E}">
        <p14:creationId xmlns:p14="http://schemas.microsoft.com/office/powerpoint/2010/main" val="1766531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Notation</a:t>
            </a:r>
          </a:p>
        </p:txBody>
      </p:sp>
      <p:sp>
        <p:nvSpPr>
          <p:cNvPr id="1566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Notation: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express the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a relation by the names of its attributes: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		BOOK(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BID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TITLE, PRICE, STOCK)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name of the relation is to the left of the opening parenthesis.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attribute names are listed inside of the parentheses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primary key is underlined</a:t>
            </a:r>
          </a:p>
          <a:p>
            <a:pPr marL="457200" lvl="1" indent="0">
              <a:buFont typeface="Wingdings" pitchFamily="2" charset="2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160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 : Exercise</a:t>
            </a:r>
          </a:p>
        </p:txBody>
      </p:sp>
      <p:sp>
        <p:nvSpPr>
          <p:cNvPr id="1576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Question: Are these two the same relation?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Answer: Yes</a:t>
            </a: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685800" y="23622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57701" name="Rectangle 5"/>
          <p:cNvSpPr>
            <a:spLocks noChangeArrowheads="1"/>
          </p:cNvSpPr>
          <p:nvPr/>
        </p:nvSpPr>
        <p:spPr bwMode="auto">
          <a:xfrm>
            <a:off x="1371600" y="23622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7702" name="Rectangle 6"/>
          <p:cNvSpPr>
            <a:spLocks noChangeArrowheads="1"/>
          </p:cNvSpPr>
          <p:nvPr/>
        </p:nvSpPr>
        <p:spPr bwMode="auto">
          <a:xfrm>
            <a:off x="3429000" y="2362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7703" name="Rectangle 7"/>
          <p:cNvSpPr>
            <a:spLocks noChangeArrowheads="1"/>
          </p:cNvSpPr>
          <p:nvPr/>
        </p:nvSpPr>
        <p:spPr bwMode="auto">
          <a:xfrm>
            <a:off x="4572000" y="2362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7704" name="Rectangle 8"/>
          <p:cNvSpPr>
            <a:spLocks noChangeArrowheads="1"/>
          </p:cNvSpPr>
          <p:nvPr/>
        </p:nvSpPr>
        <p:spPr bwMode="auto">
          <a:xfrm>
            <a:off x="685800" y="2667000"/>
            <a:ext cx="6858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  <a:endParaRPr lang="en-US">
              <a:latin typeface="Times New Roman" charset="0"/>
            </a:endParaRPr>
          </a:p>
        </p:txBody>
      </p:sp>
      <p:sp>
        <p:nvSpPr>
          <p:cNvPr id="157705" name="Rectangle 9"/>
          <p:cNvSpPr>
            <a:spLocks noChangeArrowheads="1"/>
          </p:cNvSpPr>
          <p:nvPr/>
        </p:nvSpPr>
        <p:spPr bwMode="auto">
          <a:xfrm>
            <a:off x="1371600" y="2667000"/>
            <a:ext cx="2057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  <a:endParaRPr lang="en-US" dirty="0">
              <a:latin typeface="Times New Roman" charset="0"/>
            </a:endParaRPr>
          </a:p>
        </p:txBody>
      </p:sp>
      <p:sp>
        <p:nvSpPr>
          <p:cNvPr id="157706" name="Rectangle 10"/>
          <p:cNvSpPr>
            <a:spLocks noChangeArrowheads="1"/>
          </p:cNvSpPr>
          <p:nvPr/>
        </p:nvSpPr>
        <p:spPr bwMode="auto">
          <a:xfrm>
            <a:off x="3429000" y="26670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</p:txBody>
      </p:sp>
      <p:sp>
        <p:nvSpPr>
          <p:cNvPr id="157707" name="Rectangle 11"/>
          <p:cNvSpPr>
            <a:spLocks noChangeArrowheads="1"/>
          </p:cNvSpPr>
          <p:nvPr/>
        </p:nvSpPr>
        <p:spPr bwMode="auto">
          <a:xfrm>
            <a:off x="4572000" y="26670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</p:txBody>
      </p:sp>
      <p:sp>
        <p:nvSpPr>
          <p:cNvPr id="157708" name="Rectangle 12"/>
          <p:cNvSpPr>
            <a:spLocks noChangeArrowheads="1"/>
          </p:cNvSpPr>
          <p:nvPr/>
        </p:nvSpPr>
        <p:spPr bwMode="auto">
          <a:xfrm>
            <a:off x="3505200" y="41148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57709" name="Rectangle 13"/>
          <p:cNvSpPr>
            <a:spLocks noChangeArrowheads="1"/>
          </p:cNvSpPr>
          <p:nvPr/>
        </p:nvSpPr>
        <p:spPr bwMode="auto">
          <a:xfrm>
            <a:off x="4191000" y="41148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7710" name="Rectangle 14"/>
          <p:cNvSpPr>
            <a:spLocks noChangeArrowheads="1"/>
          </p:cNvSpPr>
          <p:nvPr/>
        </p:nvSpPr>
        <p:spPr bwMode="auto">
          <a:xfrm>
            <a:off x="62484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7711" name="Rectangle 15"/>
          <p:cNvSpPr>
            <a:spLocks noChangeArrowheads="1"/>
          </p:cNvSpPr>
          <p:nvPr/>
        </p:nvSpPr>
        <p:spPr bwMode="auto">
          <a:xfrm>
            <a:off x="73914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7712" name="Rectangle 16"/>
          <p:cNvSpPr>
            <a:spLocks noChangeArrowheads="1"/>
          </p:cNvSpPr>
          <p:nvPr/>
        </p:nvSpPr>
        <p:spPr bwMode="auto">
          <a:xfrm>
            <a:off x="3505200" y="4419600"/>
            <a:ext cx="6858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B6</a:t>
            </a:r>
            <a:endParaRPr lang="en-US">
              <a:latin typeface="Times New Roman" charset="0"/>
            </a:endParaRPr>
          </a:p>
        </p:txBody>
      </p:sp>
      <p:sp>
        <p:nvSpPr>
          <p:cNvPr id="157713" name="Rectangle 17"/>
          <p:cNvSpPr>
            <a:spLocks noChangeArrowheads="1"/>
          </p:cNvSpPr>
          <p:nvPr/>
        </p:nvSpPr>
        <p:spPr bwMode="auto">
          <a:xfrm>
            <a:off x="4191000" y="4419600"/>
            <a:ext cx="20574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‘Rainbow Six’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‘Five days in Paris’</a:t>
            </a:r>
            <a:endParaRPr lang="en-US" dirty="0">
              <a:latin typeface="Times New Roman" charset="0"/>
            </a:endParaRPr>
          </a:p>
        </p:txBody>
      </p:sp>
      <p:sp>
        <p:nvSpPr>
          <p:cNvPr id="157714" name="Rectangle 18"/>
          <p:cNvSpPr>
            <a:spLocks noChangeArrowheads="1"/>
          </p:cNvSpPr>
          <p:nvPr/>
        </p:nvSpPr>
        <p:spPr bwMode="auto">
          <a:xfrm>
            <a:off x="62484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34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19</a:t>
            </a:r>
          </a:p>
        </p:txBody>
      </p:sp>
      <p:sp>
        <p:nvSpPr>
          <p:cNvPr id="157715" name="Rectangle 19"/>
          <p:cNvSpPr>
            <a:spLocks noChangeArrowheads="1"/>
          </p:cNvSpPr>
          <p:nvPr/>
        </p:nvSpPr>
        <p:spPr bwMode="auto">
          <a:xfrm>
            <a:off x="73914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19</a:t>
            </a:r>
            <a:endParaRPr lang="en-US">
              <a:latin typeface="Times New Roman" charset="0"/>
            </a:endParaRPr>
          </a:p>
        </p:txBody>
      </p:sp>
      <p:sp>
        <p:nvSpPr>
          <p:cNvPr id="157716" name="Text Box 20"/>
          <p:cNvSpPr txBox="1">
            <a:spLocks noChangeArrowheads="1"/>
          </p:cNvSpPr>
          <p:nvPr/>
        </p:nvSpPr>
        <p:spPr bwMode="auto">
          <a:xfrm>
            <a:off x="609600" y="4495800"/>
            <a:ext cx="25908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CC0000"/>
                </a:solidFill>
              </a:rPr>
              <a:t>Number of Rows </a:t>
            </a:r>
            <a:r>
              <a:rPr lang="en-US" sz="2000" dirty="0">
                <a:solidFill>
                  <a:srgbClr val="CC0000"/>
                </a:solidFill>
              </a:rPr>
              <a:t>doesn’t matter: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CC0000"/>
                </a:solidFill>
              </a:rPr>
              <a:t>Even if the table is empty, it is still the same table!</a:t>
            </a:r>
            <a:endParaRPr lang="en-US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59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229600" cy="45720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Question: Are these two the same relation?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Answer: Yes</a:t>
            </a:r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685800" y="23622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58725" name="Rectangle 5"/>
          <p:cNvSpPr>
            <a:spLocks noChangeArrowheads="1"/>
          </p:cNvSpPr>
          <p:nvPr/>
        </p:nvSpPr>
        <p:spPr bwMode="auto">
          <a:xfrm>
            <a:off x="1371600" y="23622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8726" name="Rectangle 6"/>
          <p:cNvSpPr>
            <a:spLocks noChangeArrowheads="1"/>
          </p:cNvSpPr>
          <p:nvPr/>
        </p:nvSpPr>
        <p:spPr bwMode="auto">
          <a:xfrm>
            <a:off x="3429000" y="2362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8727" name="Rectangle 7"/>
          <p:cNvSpPr>
            <a:spLocks noChangeArrowheads="1"/>
          </p:cNvSpPr>
          <p:nvPr/>
        </p:nvSpPr>
        <p:spPr bwMode="auto">
          <a:xfrm>
            <a:off x="4572000" y="2362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8728" name="Rectangle 8"/>
          <p:cNvSpPr>
            <a:spLocks noChangeArrowheads="1"/>
          </p:cNvSpPr>
          <p:nvPr/>
        </p:nvSpPr>
        <p:spPr bwMode="auto">
          <a:xfrm>
            <a:off x="685800" y="2667000"/>
            <a:ext cx="6858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</a:p>
        </p:txBody>
      </p:sp>
      <p:sp>
        <p:nvSpPr>
          <p:cNvPr id="158729" name="Rectangle 9"/>
          <p:cNvSpPr>
            <a:spLocks noChangeArrowheads="1"/>
          </p:cNvSpPr>
          <p:nvPr/>
        </p:nvSpPr>
        <p:spPr bwMode="auto">
          <a:xfrm>
            <a:off x="1371600" y="2667000"/>
            <a:ext cx="2057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</a:p>
        </p:txBody>
      </p:sp>
      <p:sp>
        <p:nvSpPr>
          <p:cNvPr id="158730" name="Rectangle 10"/>
          <p:cNvSpPr>
            <a:spLocks noChangeArrowheads="1"/>
          </p:cNvSpPr>
          <p:nvPr/>
        </p:nvSpPr>
        <p:spPr bwMode="auto">
          <a:xfrm>
            <a:off x="3429000" y="26670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</p:txBody>
      </p:sp>
      <p:sp>
        <p:nvSpPr>
          <p:cNvPr id="158731" name="Rectangle 11"/>
          <p:cNvSpPr>
            <a:spLocks noChangeArrowheads="1"/>
          </p:cNvSpPr>
          <p:nvPr/>
        </p:nvSpPr>
        <p:spPr bwMode="auto">
          <a:xfrm>
            <a:off x="4572000" y="26670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</p:txBody>
      </p:sp>
      <p:sp>
        <p:nvSpPr>
          <p:cNvPr id="158732" name="Rectangle 12"/>
          <p:cNvSpPr>
            <a:spLocks noChangeArrowheads="1"/>
          </p:cNvSpPr>
          <p:nvPr/>
        </p:nvSpPr>
        <p:spPr bwMode="auto">
          <a:xfrm>
            <a:off x="3505200" y="41148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58733" name="Rectangle 13"/>
          <p:cNvSpPr>
            <a:spLocks noChangeArrowheads="1"/>
          </p:cNvSpPr>
          <p:nvPr/>
        </p:nvSpPr>
        <p:spPr bwMode="auto">
          <a:xfrm>
            <a:off x="4191000" y="41148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8734" name="Rectangle 14"/>
          <p:cNvSpPr>
            <a:spLocks noChangeArrowheads="1"/>
          </p:cNvSpPr>
          <p:nvPr/>
        </p:nvSpPr>
        <p:spPr bwMode="auto">
          <a:xfrm>
            <a:off x="62484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8735" name="Rectangle 15"/>
          <p:cNvSpPr>
            <a:spLocks noChangeArrowheads="1"/>
          </p:cNvSpPr>
          <p:nvPr/>
        </p:nvSpPr>
        <p:spPr bwMode="auto">
          <a:xfrm>
            <a:off x="73914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8736" name="Rectangle 16"/>
          <p:cNvSpPr>
            <a:spLocks noChangeArrowheads="1"/>
          </p:cNvSpPr>
          <p:nvPr/>
        </p:nvSpPr>
        <p:spPr bwMode="auto">
          <a:xfrm>
            <a:off x="3505200" y="4419600"/>
            <a:ext cx="6858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</a:p>
        </p:txBody>
      </p:sp>
      <p:sp>
        <p:nvSpPr>
          <p:cNvPr id="158737" name="Rectangle 17"/>
          <p:cNvSpPr>
            <a:spLocks noChangeArrowheads="1"/>
          </p:cNvSpPr>
          <p:nvPr/>
        </p:nvSpPr>
        <p:spPr bwMode="auto">
          <a:xfrm>
            <a:off x="4191000" y="4419600"/>
            <a:ext cx="20574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  <a:endParaRPr lang="en-US" dirty="0">
              <a:latin typeface="Times New Roman" charset="0"/>
            </a:endParaRPr>
          </a:p>
        </p:txBody>
      </p:sp>
      <p:sp>
        <p:nvSpPr>
          <p:cNvPr id="158738" name="Rectangle 18"/>
          <p:cNvSpPr>
            <a:spLocks noChangeArrowheads="1"/>
          </p:cNvSpPr>
          <p:nvPr/>
        </p:nvSpPr>
        <p:spPr bwMode="auto">
          <a:xfrm>
            <a:off x="6248400" y="4419600"/>
            <a:ext cx="11430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</p:txBody>
      </p:sp>
      <p:sp>
        <p:nvSpPr>
          <p:cNvPr id="158739" name="Rectangle 19"/>
          <p:cNvSpPr>
            <a:spLocks noChangeArrowheads="1"/>
          </p:cNvSpPr>
          <p:nvPr/>
        </p:nvSpPr>
        <p:spPr bwMode="auto">
          <a:xfrm>
            <a:off x="7391400" y="4419600"/>
            <a:ext cx="11430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  <a:endParaRPr lang="en-US">
              <a:latin typeface="Times New Roman" charset="0"/>
            </a:endParaRPr>
          </a:p>
        </p:txBody>
      </p:sp>
      <p:sp>
        <p:nvSpPr>
          <p:cNvPr id="158740" name="Line 20"/>
          <p:cNvSpPr>
            <a:spLocks noChangeShapeType="1"/>
          </p:cNvSpPr>
          <p:nvPr/>
        </p:nvSpPr>
        <p:spPr bwMode="auto">
          <a:xfrm>
            <a:off x="1143000" y="3276600"/>
            <a:ext cx="2514600" cy="20574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41" name="Line 21"/>
          <p:cNvSpPr>
            <a:spLocks noChangeShapeType="1"/>
          </p:cNvSpPr>
          <p:nvPr/>
        </p:nvSpPr>
        <p:spPr bwMode="auto">
          <a:xfrm>
            <a:off x="1143000" y="3581400"/>
            <a:ext cx="2514600" cy="14478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42" name="Text Box 22"/>
          <p:cNvSpPr txBox="1">
            <a:spLocks noChangeArrowheads="1"/>
          </p:cNvSpPr>
          <p:nvPr/>
        </p:nvSpPr>
        <p:spPr bwMode="auto">
          <a:xfrm>
            <a:off x="609600" y="4800600"/>
            <a:ext cx="2590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CC0000"/>
                </a:solidFill>
              </a:rPr>
              <a:t>Order of rows </a:t>
            </a:r>
            <a:r>
              <a:rPr lang="en-US" sz="2000" dirty="0">
                <a:solidFill>
                  <a:srgbClr val="CC0000"/>
                </a:solidFill>
              </a:rPr>
              <a:t>doesn’t matter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4572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 : Exercise</a:t>
            </a:r>
          </a:p>
        </p:txBody>
      </p:sp>
    </p:spTree>
    <p:extLst>
      <p:ext uri="{BB962C8B-B14F-4D97-AF65-F5344CB8AC3E}">
        <p14:creationId xmlns:p14="http://schemas.microsoft.com/office/powerpoint/2010/main" val="1374633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229600" cy="45720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Question: Are these two the same relation?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Answer: Yes</a:t>
            </a:r>
          </a:p>
        </p:txBody>
      </p:sp>
      <p:sp>
        <p:nvSpPr>
          <p:cNvPr id="159748" name="Rectangle 4"/>
          <p:cNvSpPr>
            <a:spLocks noChangeArrowheads="1"/>
          </p:cNvSpPr>
          <p:nvPr/>
        </p:nvSpPr>
        <p:spPr bwMode="auto">
          <a:xfrm>
            <a:off x="685800" y="23622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1371600" y="23622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9750" name="Rectangle 6"/>
          <p:cNvSpPr>
            <a:spLocks noChangeArrowheads="1"/>
          </p:cNvSpPr>
          <p:nvPr/>
        </p:nvSpPr>
        <p:spPr bwMode="auto">
          <a:xfrm>
            <a:off x="3429000" y="2362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9751" name="Rectangle 7"/>
          <p:cNvSpPr>
            <a:spLocks noChangeArrowheads="1"/>
          </p:cNvSpPr>
          <p:nvPr/>
        </p:nvSpPr>
        <p:spPr bwMode="auto">
          <a:xfrm>
            <a:off x="4572000" y="2362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9752" name="Rectangle 8"/>
          <p:cNvSpPr>
            <a:spLocks noChangeArrowheads="1"/>
          </p:cNvSpPr>
          <p:nvPr/>
        </p:nvSpPr>
        <p:spPr bwMode="auto">
          <a:xfrm>
            <a:off x="685800" y="2667000"/>
            <a:ext cx="6858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</a:p>
        </p:txBody>
      </p:sp>
      <p:sp>
        <p:nvSpPr>
          <p:cNvPr id="159753" name="Rectangle 9"/>
          <p:cNvSpPr>
            <a:spLocks noChangeArrowheads="1"/>
          </p:cNvSpPr>
          <p:nvPr/>
        </p:nvSpPr>
        <p:spPr bwMode="auto">
          <a:xfrm>
            <a:off x="1371600" y="2667000"/>
            <a:ext cx="2057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</a:p>
        </p:txBody>
      </p:sp>
      <p:sp>
        <p:nvSpPr>
          <p:cNvPr id="159754" name="Rectangle 10"/>
          <p:cNvSpPr>
            <a:spLocks noChangeArrowheads="1"/>
          </p:cNvSpPr>
          <p:nvPr/>
        </p:nvSpPr>
        <p:spPr bwMode="auto">
          <a:xfrm>
            <a:off x="3429000" y="26670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</p:txBody>
      </p:sp>
      <p:sp>
        <p:nvSpPr>
          <p:cNvPr id="159755" name="Rectangle 11"/>
          <p:cNvSpPr>
            <a:spLocks noChangeArrowheads="1"/>
          </p:cNvSpPr>
          <p:nvPr/>
        </p:nvSpPr>
        <p:spPr bwMode="auto">
          <a:xfrm>
            <a:off x="4572000" y="26670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</p:txBody>
      </p:sp>
      <p:sp>
        <p:nvSpPr>
          <p:cNvPr id="159766" name="Rectangle 22"/>
          <p:cNvSpPr>
            <a:spLocks noChangeArrowheads="1"/>
          </p:cNvSpPr>
          <p:nvPr/>
        </p:nvSpPr>
        <p:spPr bwMode="auto">
          <a:xfrm>
            <a:off x="3352800" y="4343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59767" name="Rectangle 23"/>
          <p:cNvSpPr>
            <a:spLocks noChangeArrowheads="1"/>
          </p:cNvSpPr>
          <p:nvPr/>
        </p:nvSpPr>
        <p:spPr bwMode="auto">
          <a:xfrm>
            <a:off x="4038600" y="43434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9768" name="Rectangle 24"/>
          <p:cNvSpPr>
            <a:spLocks noChangeArrowheads="1"/>
          </p:cNvSpPr>
          <p:nvPr/>
        </p:nvSpPr>
        <p:spPr bwMode="auto">
          <a:xfrm>
            <a:off x="7239000" y="4343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9769" name="Rectangle 25"/>
          <p:cNvSpPr>
            <a:spLocks noChangeArrowheads="1"/>
          </p:cNvSpPr>
          <p:nvPr/>
        </p:nvSpPr>
        <p:spPr bwMode="auto">
          <a:xfrm>
            <a:off x="6096000" y="4343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9770" name="Rectangle 26"/>
          <p:cNvSpPr>
            <a:spLocks noChangeArrowheads="1"/>
          </p:cNvSpPr>
          <p:nvPr/>
        </p:nvSpPr>
        <p:spPr bwMode="auto">
          <a:xfrm>
            <a:off x="3352800" y="4648200"/>
            <a:ext cx="6858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</a:p>
        </p:txBody>
      </p:sp>
      <p:sp>
        <p:nvSpPr>
          <p:cNvPr id="159771" name="Rectangle 27"/>
          <p:cNvSpPr>
            <a:spLocks noChangeArrowheads="1"/>
          </p:cNvSpPr>
          <p:nvPr/>
        </p:nvSpPr>
        <p:spPr bwMode="auto">
          <a:xfrm>
            <a:off x="4038600" y="4648200"/>
            <a:ext cx="2057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</a:p>
        </p:txBody>
      </p:sp>
      <p:sp>
        <p:nvSpPr>
          <p:cNvPr id="159772" name="Rectangle 28"/>
          <p:cNvSpPr>
            <a:spLocks noChangeArrowheads="1"/>
          </p:cNvSpPr>
          <p:nvPr/>
        </p:nvSpPr>
        <p:spPr bwMode="auto">
          <a:xfrm>
            <a:off x="7239000" y="46482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</p:txBody>
      </p:sp>
      <p:sp>
        <p:nvSpPr>
          <p:cNvPr id="159773" name="Rectangle 29"/>
          <p:cNvSpPr>
            <a:spLocks noChangeArrowheads="1"/>
          </p:cNvSpPr>
          <p:nvPr/>
        </p:nvSpPr>
        <p:spPr bwMode="auto">
          <a:xfrm>
            <a:off x="6096000" y="46482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</p:txBody>
      </p:sp>
      <p:sp>
        <p:nvSpPr>
          <p:cNvPr id="159774" name="Line 30"/>
          <p:cNvSpPr>
            <a:spLocks noChangeShapeType="1"/>
          </p:cNvSpPr>
          <p:nvPr/>
        </p:nvSpPr>
        <p:spPr bwMode="auto">
          <a:xfrm>
            <a:off x="4114800" y="2667000"/>
            <a:ext cx="3581400" cy="16764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75" name="Line 31"/>
          <p:cNvSpPr>
            <a:spLocks noChangeShapeType="1"/>
          </p:cNvSpPr>
          <p:nvPr/>
        </p:nvSpPr>
        <p:spPr bwMode="auto">
          <a:xfrm>
            <a:off x="5181600" y="2667000"/>
            <a:ext cx="1447800" cy="16764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76" name="Text Box 32"/>
          <p:cNvSpPr txBox="1">
            <a:spLocks noChangeArrowheads="1"/>
          </p:cNvSpPr>
          <p:nvPr/>
        </p:nvSpPr>
        <p:spPr bwMode="auto">
          <a:xfrm>
            <a:off x="381000" y="4800600"/>
            <a:ext cx="3124200" cy="182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CC0000"/>
                </a:solidFill>
              </a:rPr>
              <a:t>Order of columns </a:t>
            </a:r>
            <a:r>
              <a:rPr lang="en-US" sz="2000" dirty="0">
                <a:solidFill>
                  <a:srgbClr val="CC0000"/>
                </a:solidFill>
              </a:rPr>
              <a:t>doesn’t matter:</a:t>
            </a:r>
          </a:p>
          <a:p>
            <a:pPr>
              <a:spcBef>
                <a:spcPct val="50000"/>
              </a:spcBef>
            </a:pPr>
            <a:r>
              <a:rPr lang="en-US" sz="1400" dirty="0"/>
              <a:t>BOOK(</a:t>
            </a:r>
            <a:r>
              <a:rPr lang="en-US" sz="1400" u="sng" dirty="0"/>
              <a:t>BID</a:t>
            </a:r>
            <a:r>
              <a:rPr lang="en-US" sz="1400" dirty="0"/>
              <a:t>, TITLE, PRICE, STOCK)</a:t>
            </a:r>
          </a:p>
          <a:p>
            <a:pPr>
              <a:spcBef>
                <a:spcPct val="50000"/>
              </a:spcBef>
            </a:pPr>
            <a:r>
              <a:rPr lang="en-US" sz="1400" dirty="0"/>
              <a:t>= BOOK(</a:t>
            </a:r>
            <a:r>
              <a:rPr lang="en-US" sz="1400" u="sng" dirty="0"/>
              <a:t>BID</a:t>
            </a:r>
            <a:r>
              <a:rPr lang="en-US" sz="1400" dirty="0"/>
              <a:t>, TITLE, STOCK, PRICE)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1400" dirty="0">
              <a:solidFill>
                <a:srgbClr val="CC0000"/>
              </a:solidFill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457200" y="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 : Exercise</a:t>
            </a:r>
          </a:p>
        </p:txBody>
      </p:sp>
    </p:spTree>
    <p:extLst>
      <p:ext uri="{BB962C8B-B14F-4D97-AF65-F5344CB8AC3E}">
        <p14:creationId xmlns:p14="http://schemas.microsoft.com/office/powerpoint/2010/main" val="190465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</a:t>
            </a:r>
            <a:b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 Characteristics </a:t>
            </a:r>
          </a:p>
        </p:txBody>
      </p:sp>
      <p:sp>
        <p:nvSpPr>
          <p:cNvPr id="160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pPr lvl="1"/>
            <a:r>
              <a:rPr lang="en-US" sz="32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en-US" sz="2400" dirty="0"/>
              <a:t>nique table name: each relation has a unique name</a:t>
            </a:r>
          </a:p>
          <a:p>
            <a:pPr lvl="1"/>
            <a:r>
              <a:rPr lang="en-US" sz="32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en-US" sz="2400" dirty="0"/>
              <a:t>nique attribute name</a:t>
            </a:r>
          </a:p>
          <a:p>
            <a:pPr lvl="1"/>
            <a:r>
              <a:rPr lang="en-US" sz="32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</a:t>
            </a:r>
            <a:r>
              <a:rPr lang="en-US" sz="2400" dirty="0"/>
              <a:t>nique row: no two rows are identical </a:t>
            </a:r>
          </a:p>
          <a:p>
            <a:pPr lvl="1"/>
            <a:r>
              <a:rPr lang="en-US" sz="32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r>
              <a:rPr lang="en-US" sz="2400" dirty="0"/>
              <a:t>rder(sequence) of rows is not significant</a:t>
            </a:r>
          </a:p>
          <a:p>
            <a:pPr lvl="1"/>
            <a:r>
              <a:rPr lang="en-US" sz="32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r>
              <a:rPr lang="en-US" sz="2400" dirty="0"/>
              <a:t>rder(sequence) of columns is not significant</a:t>
            </a:r>
          </a:p>
          <a:p>
            <a:pPr lvl="1"/>
            <a:r>
              <a:rPr lang="en-US" sz="32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sz="2400" dirty="0"/>
              <a:t>tomic cells: Each cell contains a single value. </a:t>
            </a:r>
            <a:br>
              <a:rPr lang="en-US" sz="2400" dirty="0"/>
            </a:br>
            <a:r>
              <a:rPr lang="en-US" sz="2400" dirty="0"/>
              <a:t>No multi-value attributes allowed</a:t>
            </a:r>
          </a:p>
        </p:txBody>
      </p:sp>
    </p:spTree>
    <p:extLst>
      <p:ext uri="{BB962C8B-B14F-4D97-AF65-F5344CB8AC3E}">
        <p14:creationId xmlns:p14="http://schemas.microsoft.com/office/powerpoint/2010/main" val="1521197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More Exercise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09600" y="1905000"/>
          <a:ext cx="7924800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7392432" imgH="1980952" progId="">
                  <p:embed/>
                </p:oleObj>
              </mc:Choice>
              <mc:Fallback>
                <p:oleObj name="Photo Editor Photo" r:id="rId2" imgW="7392432" imgH="1980952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05000"/>
                        <a:ext cx="7924800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88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More Exercise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293277"/>
              </p:ext>
            </p:extLst>
          </p:nvPr>
        </p:nvGraphicFramePr>
        <p:xfrm>
          <a:off x="304800" y="1600200"/>
          <a:ext cx="8731788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5904762" imgH="2010056" progId="">
                  <p:embed/>
                </p:oleObj>
              </mc:Choice>
              <mc:Fallback>
                <p:oleObj name="Photo Editor Photo" r:id="rId2" imgW="5904762" imgH="2010056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00200"/>
                        <a:ext cx="8731788" cy="297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0337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More Exercise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852059"/>
              </p:ext>
            </p:extLst>
          </p:nvPr>
        </p:nvGraphicFramePr>
        <p:xfrm>
          <a:off x="76200" y="1905000"/>
          <a:ext cx="8891144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7497221" imgH="1800476" progId="">
                  <p:embed/>
                </p:oleObj>
              </mc:Choice>
              <mc:Fallback>
                <p:oleObj name="Photo Editor Photo" r:id="rId2" imgW="7497221" imgH="1800476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05000"/>
                        <a:ext cx="8891144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6037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More Exercise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8802"/>
              </p:ext>
            </p:extLst>
          </p:nvPr>
        </p:nvGraphicFramePr>
        <p:xfrm>
          <a:off x="228599" y="1676400"/>
          <a:ext cx="8517391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5896798" imgH="2057143" progId="">
                  <p:embed/>
                </p:oleObj>
              </mc:Choice>
              <mc:Fallback>
                <p:oleObj name="Photo Editor Photo" r:id="rId2" imgW="5896798" imgH="2057143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9" y="1676400"/>
                        <a:ext cx="8517391" cy="297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4119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05691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Super Key</a:t>
            </a:r>
          </a:p>
        </p:txBody>
      </p:sp>
      <p:sp>
        <p:nvSpPr>
          <p:cNvPr id="1556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endParaRPr lang="en-US" sz="2400" dirty="0"/>
          </a:p>
          <a:p>
            <a:pPr lvl="1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155652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33400" y="13716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dirty="0"/>
              <a:t>The concept of keys has its root in the fact that </a:t>
            </a:r>
            <a:r>
              <a:rPr lang="en-US" sz="2000" b="1" i="1" dirty="0">
                <a:solidFill>
                  <a:srgbClr val="FF0000"/>
                </a:solidFill>
              </a:rPr>
              <a:t>no two rows can be identical in a relation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1" dirty="0">
                <a:solidFill>
                  <a:srgbClr val="FF0000"/>
                </a:solidFill>
              </a:rPr>
              <a:t>Super Key  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1" u="sng" dirty="0">
                <a:solidFill>
                  <a:srgbClr val="FF0000"/>
                </a:solidFill>
              </a:rPr>
              <a:t>Any</a:t>
            </a:r>
            <a:r>
              <a:rPr lang="en-US" sz="2000" u="sng" dirty="0"/>
              <a:t> attribute (or combination of attributes) that can uniquely identify a row in a relation</a:t>
            </a:r>
            <a:endParaRPr lang="en-US" sz="2000" i="1" u="sng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/>
          </a:p>
        </p:txBody>
      </p:sp>
      <p:sp>
        <p:nvSpPr>
          <p:cNvPr id="155653" name="Rectangle 5"/>
          <p:cNvSpPr>
            <a:spLocks noChangeArrowheads="1"/>
          </p:cNvSpPr>
          <p:nvPr/>
        </p:nvSpPr>
        <p:spPr bwMode="auto">
          <a:xfrm>
            <a:off x="1905000" y="3276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55654" name="Rectangle 6"/>
          <p:cNvSpPr>
            <a:spLocks noChangeArrowheads="1"/>
          </p:cNvSpPr>
          <p:nvPr/>
        </p:nvSpPr>
        <p:spPr bwMode="auto">
          <a:xfrm>
            <a:off x="2590800" y="32766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55655" name="Rectangle 7"/>
          <p:cNvSpPr>
            <a:spLocks noChangeArrowheads="1"/>
          </p:cNvSpPr>
          <p:nvPr/>
        </p:nvSpPr>
        <p:spPr bwMode="auto">
          <a:xfrm>
            <a:off x="4648200" y="32766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55656" name="Rectangle 8"/>
          <p:cNvSpPr>
            <a:spLocks noChangeArrowheads="1"/>
          </p:cNvSpPr>
          <p:nvPr/>
        </p:nvSpPr>
        <p:spPr bwMode="auto">
          <a:xfrm>
            <a:off x="5791200" y="32766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55657" name="Rectangle 9"/>
          <p:cNvSpPr>
            <a:spLocks noChangeArrowheads="1"/>
          </p:cNvSpPr>
          <p:nvPr/>
        </p:nvSpPr>
        <p:spPr bwMode="auto">
          <a:xfrm>
            <a:off x="1905000" y="3581400"/>
            <a:ext cx="6858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  <a:endParaRPr lang="en-US">
              <a:latin typeface="Times New Roman" charset="0"/>
            </a:endParaRPr>
          </a:p>
        </p:txBody>
      </p:sp>
      <p:sp>
        <p:nvSpPr>
          <p:cNvPr id="155658" name="Rectangle 10"/>
          <p:cNvSpPr>
            <a:spLocks noChangeArrowheads="1"/>
          </p:cNvSpPr>
          <p:nvPr/>
        </p:nvSpPr>
        <p:spPr bwMode="auto">
          <a:xfrm>
            <a:off x="2590800" y="3581400"/>
            <a:ext cx="2057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  <a:endParaRPr lang="en-US" dirty="0">
              <a:latin typeface="Times New Roman" charset="0"/>
            </a:endParaRPr>
          </a:p>
        </p:txBody>
      </p:sp>
      <p:sp>
        <p:nvSpPr>
          <p:cNvPr id="155659" name="Rectangle 11"/>
          <p:cNvSpPr>
            <a:spLocks noChangeArrowheads="1"/>
          </p:cNvSpPr>
          <p:nvPr/>
        </p:nvSpPr>
        <p:spPr bwMode="auto">
          <a:xfrm>
            <a:off x="4648200" y="35814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23</a:t>
            </a:r>
          </a:p>
        </p:txBody>
      </p:sp>
      <p:sp>
        <p:nvSpPr>
          <p:cNvPr id="155660" name="Rectangle 12"/>
          <p:cNvSpPr>
            <a:spLocks noChangeArrowheads="1"/>
          </p:cNvSpPr>
          <p:nvPr/>
        </p:nvSpPr>
        <p:spPr bwMode="auto">
          <a:xfrm>
            <a:off x="5791200" y="35814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</p:txBody>
      </p:sp>
      <p:sp>
        <p:nvSpPr>
          <p:cNvPr id="155661" name="Text Box 13"/>
          <p:cNvSpPr txBox="1">
            <a:spLocks noChangeArrowheads="1"/>
          </p:cNvSpPr>
          <p:nvPr/>
        </p:nvSpPr>
        <p:spPr bwMode="auto">
          <a:xfrm>
            <a:off x="952500" y="5051425"/>
            <a:ext cx="7391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CC0000"/>
                </a:solidFill>
              </a:rPr>
              <a:t>How many </a:t>
            </a:r>
            <a:r>
              <a:rPr lang="en-US" sz="2000" b="1" u="sng" dirty="0">
                <a:solidFill>
                  <a:srgbClr val="CC0000"/>
                </a:solidFill>
              </a:rPr>
              <a:t>super keys</a:t>
            </a:r>
            <a:r>
              <a:rPr lang="en-US" sz="2000" b="1" dirty="0">
                <a:solidFill>
                  <a:srgbClr val="CC0000"/>
                </a:solidFill>
              </a:rPr>
              <a:t> </a:t>
            </a:r>
            <a:r>
              <a:rPr lang="en-US" sz="2000" dirty="0">
                <a:solidFill>
                  <a:srgbClr val="CC0000"/>
                </a:solidFill>
              </a:rPr>
              <a:t>can we find in the above relation?</a:t>
            </a:r>
          </a:p>
        </p:txBody>
      </p:sp>
      <p:sp>
        <p:nvSpPr>
          <p:cNvPr id="155662" name="Rectangle 14"/>
          <p:cNvSpPr>
            <a:spLocks noChangeArrowheads="1"/>
          </p:cNvSpPr>
          <p:nvPr/>
        </p:nvSpPr>
        <p:spPr bwMode="auto">
          <a:xfrm>
            <a:off x="812942" y="6336268"/>
            <a:ext cx="7404592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Theory: The set of all attributes of relation R is a super key of R.</a:t>
            </a:r>
          </a:p>
        </p:txBody>
      </p:sp>
    </p:spTree>
    <p:extLst>
      <p:ext uri="{BB962C8B-B14F-4D97-AF65-F5344CB8AC3E}">
        <p14:creationId xmlns:p14="http://schemas.microsoft.com/office/powerpoint/2010/main" val="699170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279092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/>
              <a:t>Candidate Key: a minimum </a:t>
            </a:r>
            <a:r>
              <a:rPr lang="en-US" sz="2400" dirty="0" err="1"/>
              <a:t>superkey</a:t>
            </a: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/>
              <a:t>Say Again ?</a:t>
            </a:r>
          </a:p>
          <a:p>
            <a:pPr marL="1200150" lvl="2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b="1" dirty="0">
                <a:solidFill>
                  <a:srgbClr val="FF0000"/>
                </a:solidFill>
              </a:rPr>
              <a:t>Remove any attribute from the candidate key, and it will no long be a super key.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400" i="1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/>
          </a:p>
        </p:txBody>
      </p:sp>
      <p:sp>
        <p:nvSpPr>
          <p:cNvPr id="161797" name="Rectangle 5"/>
          <p:cNvSpPr>
            <a:spLocks noChangeArrowheads="1"/>
          </p:cNvSpPr>
          <p:nvPr/>
        </p:nvSpPr>
        <p:spPr bwMode="auto">
          <a:xfrm>
            <a:off x="20574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BID</a:t>
            </a:r>
            <a:endParaRPr lang="en-US">
              <a:latin typeface="Times New Roman" charset="0"/>
            </a:endParaRPr>
          </a:p>
        </p:txBody>
      </p:sp>
      <p:sp>
        <p:nvSpPr>
          <p:cNvPr id="161798" name="Rectangle 6"/>
          <p:cNvSpPr>
            <a:spLocks noChangeArrowheads="1"/>
          </p:cNvSpPr>
          <p:nvPr/>
        </p:nvSpPr>
        <p:spPr bwMode="auto">
          <a:xfrm>
            <a:off x="2743200" y="28956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TITLE</a:t>
            </a:r>
            <a:endParaRPr lang="en-US">
              <a:latin typeface="Times New Roman" charset="0"/>
            </a:endParaRPr>
          </a:p>
        </p:txBody>
      </p:sp>
      <p:sp>
        <p:nvSpPr>
          <p:cNvPr id="161799" name="Rectangle 7"/>
          <p:cNvSpPr>
            <a:spLocks noChangeArrowheads="1"/>
          </p:cNvSpPr>
          <p:nvPr/>
        </p:nvSpPr>
        <p:spPr bwMode="auto">
          <a:xfrm>
            <a:off x="4800600" y="28956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61800" name="Rectangle 8"/>
          <p:cNvSpPr>
            <a:spLocks noChangeArrowheads="1"/>
          </p:cNvSpPr>
          <p:nvPr/>
        </p:nvSpPr>
        <p:spPr bwMode="auto">
          <a:xfrm>
            <a:off x="5943600" y="28956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61801" name="Rectangle 9"/>
          <p:cNvSpPr>
            <a:spLocks noChangeArrowheads="1"/>
          </p:cNvSpPr>
          <p:nvPr/>
        </p:nvSpPr>
        <p:spPr bwMode="auto">
          <a:xfrm>
            <a:off x="2057400" y="3200400"/>
            <a:ext cx="6858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  <a:endParaRPr lang="en-US">
              <a:latin typeface="Times New Roman" charset="0"/>
            </a:endParaRPr>
          </a:p>
        </p:txBody>
      </p:sp>
      <p:sp>
        <p:nvSpPr>
          <p:cNvPr id="161802" name="Rectangle 10"/>
          <p:cNvSpPr>
            <a:spLocks noChangeArrowheads="1"/>
          </p:cNvSpPr>
          <p:nvPr/>
        </p:nvSpPr>
        <p:spPr bwMode="auto">
          <a:xfrm>
            <a:off x="2743200" y="3200400"/>
            <a:ext cx="2057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‘Harry Potter,V’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‘Blue Mountain’</a:t>
            </a:r>
            <a:endParaRPr lang="en-US">
              <a:latin typeface="Times New Roman" charset="0"/>
            </a:endParaRPr>
          </a:p>
        </p:txBody>
      </p:sp>
      <p:sp>
        <p:nvSpPr>
          <p:cNvPr id="161803" name="Rectangle 11"/>
          <p:cNvSpPr>
            <a:spLocks noChangeArrowheads="1"/>
          </p:cNvSpPr>
          <p:nvPr/>
        </p:nvSpPr>
        <p:spPr bwMode="auto">
          <a:xfrm>
            <a:off x="4800600" y="32004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</p:txBody>
      </p:sp>
      <p:sp>
        <p:nvSpPr>
          <p:cNvPr id="161804" name="Rectangle 12"/>
          <p:cNvSpPr>
            <a:spLocks noChangeArrowheads="1"/>
          </p:cNvSpPr>
          <p:nvPr/>
        </p:nvSpPr>
        <p:spPr bwMode="auto">
          <a:xfrm>
            <a:off x="5943600" y="32004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</p:txBody>
      </p:sp>
      <p:sp>
        <p:nvSpPr>
          <p:cNvPr id="161806" name="Text Box 14"/>
          <p:cNvSpPr txBox="1">
            <a:spLocks noChangeArrowheads="1"/>
          </p:cNvSpPr>
          <p:nvPr/>
        </p:nvSpPr>
        <p:spPr bwMode="auto">
          <a:xfrm>
            <a:off x="1104900" y="4572000"/>
            <a:ext cx="7391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CC0000"/>
                </a:solidFill>
              </a:rPr>
              <a:t>How many </a:t>
            </a:r>
            <a:r>
              <a:rPr lang="en-US" sz="2000" b="1" u="sng" dirty="0">
                <a:solidFill>
                  <a:srgbClr val="CC0000"/>
                </a:solidFill>
              </a:rPr>
              <a:t>candidate keys</a:t>
            </a:r>
            <a:r>
              <a:rPr lang="en-US" sz="2000" b="1" dirty="0">
                <a:solidFill>
                  <a:srgbClr val="CC0000"/>
                </a:solidFill>
              </a:rPr>
              <a:t> </a:t>
            </a:r>
            <a:r>
              <a:rPr lang="en-US" sz="2000" dirty="0">
                <a:solidFill>
                  <a:srgbClr val="CC0000"/>
                </a:solidFill>
              </a:rPr>
              <a:t>can we find in the above relation?</a:t>
            </a:r>
          </a:p>
        </p:txBody>
      </p:sp>
      <p:sp>
        <p:nvSpPr>
          <p:cNvPr id="161807" name="Rectangle 15"/>
          <p:cNvSpPr>
            <a:spLocks noChangeArrowheads="1"/>
          </p:cNvSpPr>
          <p:nvPr/>
        </p:nvSpPr>
        <p:spPr bwMode="auto">
          <a:xfrm>
            <a:off x="1941714" y="6324600"/>
            <a:ext cx="5480924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Theory: Any candidate key is also a super key.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505691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Candidate Key</a:t>
            </a:r>
          </a:p>
        </p:txBody>
      </p:sp>
    </p:spTree>
    <p:extLst>
      <p:ext uri="{BB962C8B-B14F-4D97-AF65-F5344CB8AC3E}">
        <p14:creationId xmlns:p14="http://schemas.microsoft.com/office/powerpoint/2010/main" val="2881591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305800" cy="5410200"/>
          </a:xfrm>
          <a:noFill/>
          <a:ln/>
        </p:spPr>
        <p:txBody>
          <a:bodyPr/>
          <a:lstStyle/>
          <a:p>
            <a:endParaRPr lang="en-US" sz="2400" dirty="0"/>
          </a:p>
          <a:p>
            <a:pPr lvl="1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that the set of all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 in a relation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superkey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buFont typeface="Wingdings" pitchFamily="2" charset="2"/>
              <a:buNone/>
            </a:pPr>
            <a:endParaRPr lang="en-US" sz="20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588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81446" y="13716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400" dirty="0"/>
              <a:t>Find the Candidate Keys for the following relation: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400" dirty="0"/>
              <a:t>BOOK(BID, TITLE, PRICE, STOCK)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5691" y="31173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Candidate Key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81447" y="2514600"/>
            <a:ext cx="8052953" cy="24006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Super Keys: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(TITLE) (TITLE, PRICE) (TITLE, STOCK) (TITLE, PRICE, STOCK)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(BID) (BID, PRICE) (BID, STOCK)  (BID, PRICE, STOCK)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(BID, TITLE)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(BID, TITLE, PRICE)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(BID, TITLE, STOCK)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(BID, TITLE, PRICE, STOCK)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5029200"/>
            <a:ext cx="4953000" cy="14403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Candidate keys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(BID, TITLE) ?  (BID)?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(BID, STOCK)?  (TITLE)?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(TITLE, PRICE)? Any more?</a:t>
            </a:r>
          </a:p>
        </p:txBody>
      </p:sp>
    </p:spTree>
    <p:extLst>
      <p:ext uri="{BB962C8B-B14F-4D97-AF65-F5344CB8AC3E}">
        <p14:creationId xmlns:p14="http://schemas.microsoft.com/office/powerpoint/2010/main" val="4276315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endParaRPr lang="en-US" sz="2400"/>
          </a:p>
          <a:p>
            <a:pPr lvl="1"/>
            <a:endParaRPr lang="en-US" sz="2000"/>
          </a:p>
          <a:p>
            <a:pPr lvl="1">
              <a:buFont typeface="Wingdings" pitchFamily="2" charset="2"/>
              <a:buNone/>
            </a:pPr>
            <a:endParaRPr lang="en-US" sz="2000"/>
          </a:p>
          <a:p>
            <a:pPr lvl="1">
              <a:buFont typeface="Wingdings" pitchFamily="2" charset="2"/>
              <a:buNone/>
            </a:pPr>
            <a:endParaRPr lang="en-US" sz="2000"/>
          </a:p>
        </p:txBody>
      </p:sp>
      <p:sp>
        <p:nvSpPr>
          <p:cNvPr id="16282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2954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85800" lvl="1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 very different from candidate key: In fact, it is one of the candidate keys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equivalent to the concept of “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in the ER model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start, look at the column data to see if all of the values are unique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Notation: underline the attribute(s)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2133600" y="3962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 dirty="0">
                <a:latin typeface="Times New Roman" charset="0"/>
              </a:rPr>
              <a:t>BID</a:t>
            </a:r>
            <a:endParaRPr lang="en-US" dirty="0">
              <a:latin typeface="Times New Roman" charset="0"/>
            </a:endParaRPr>
          </a:p>
        </p:txBody>
      </p:sp>
      <p:sp>
        <p:nvSpPr>
          <p:cNvPr id="162822" name="Rectangle 6"/>
          <p:cNvSpPr>
            <a:spLocks noChangeArrowheads="1"/>
          </p:cNvSpPr>
          <p:nvPr/>
        </p:nvSpPr>
        <p:spPr bwMode="auto">
          <a:xfrm>
            <a:off x="2819400" y="3962400"/>
            <a:ext cx="2057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charset="0"/>
              </a:rPr>
              <a:t>TITLE</a:t>
            </a:r>
            <a:endParaRPr lang="en-US" dirty="0">
              <a:latin typeface="Times New Roman" charset="0"/>
            </a:endParaRPr>
          </a:p>
        </p:txBody>
      </p:sp>
      <p:sp>
        <p:nvSpPr>
          <p:cNvPr id="162823" name="Rectangle 7"/>
          <p:cNvSpPr>
            <a:spLocks noChangeArrowheads="1"/>
          </p:cNvSpPr>
          <p:nvPr/>
        </p:nvSpPr>
        <p:spPr bwMode="auto">
          <a:xfrm>
            <a:off x="4876800" y="3962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PRICE</a:t>
            </a:r>
            <a:endParaRPr lang="en-US">
              <a:latin typeface="Times New Roman" charset="0"/>
            </a:endParaRPr>
          </a:p>
        </p:txBody>
      </p:sp>
      <p:sp>
        <p:nvSpPr>
          <p:cNvPr id="162824" name="Rectangle 8"/>
          <p:cNvSpPr>
            <a:spLocks noChangeArrowheads="1"/>
          </p:cNvSpPr>
          <p:nvPr/>
        </p:nvSpPr>
        <p:spPr bwMode="auto">
          <a:xfrm>
            <a:off x="6019800" y="3962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STOCK</a:t>
            </a:r>
            <a:endParaRPr lang="en-US">
              <a:latin typeface="Times New Roman" charset="0"/>
            </a:endParaRPr>
          </a:p>
        </p:txBody>
      </p:sp>
      <p:sp>
        <p:nvSpPr>
          <p:cNvPr id="162825" name="Rectangle 9"/>
          <p:cNvSpPr>
            <a:spLocks noChangeArrowheads="1"/>
          </p:cNvSpPr>
          <p:nvPr/>
        </p:nvSpPr>
        <p:spPr bwMode="auto">
          <a:xfrm>
            <a:off x="2133600" y="4267200"/>
            <a:ext cx="6858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B1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B4</a:t>
            </a:r>
            <a:endParaRPr lang="en-US">
              <a:latin typeface="Times New Roman" charset="0"/>
            </a:endParaRPr>
          </a:p>
        </p:txBody>
      </p:sp>
      <p:sp>
        <p:nvSpPr>
          <p:cNvPr id="162826" name="Rectangle 10"/>
          <p:cNvSpPr>
            <a:spLocks noChangeArrowheads="1"/>
          </p:cNvSpPr>
          <p:nvPr/>
        </p:nvSpPr>
        <p:spPr bwMode="auto">
          <a:xfrm>
            <a:off x="2819400" y="4267200"/>
            <a:ext cx="2057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‘Nutcracker’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‘Harry </a:t>
            </a:r>
            <a:r>
              <a:rPr lang="en-US" sz="2000" dirty="0" err="1">
                <a:latin typeface="Times New Roman" charset="0"/>
              </a:rPr>
              <a:t>Potter,VII</a:t>
            </a:r>
            <a:r>
              <a:rPr lang="en-US" sz="2000" dirty="0">
                <a:latin typeface="Times New Roman" charset="0"/>
              </a:rPr>
              <a:t>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‘Modern Database’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‘Blue Mountain’</a:t>
            </a:r>
            <a:endParaRPr lang="en-US" dirty="0">
              <a:latin typeface="Times New Roman" charset="0"/>
            </a:endParaRPr>
          </a:p>
        </p:txBody>
      </p:sp>
      <p:sp>
        <p:nvSpPr>
          <p:cNvPr id="162827" name="Rectangle 11"/>
          <p:cNvSpPr>
            <a:spLocks noChangeArrowheads="1"/>
          </p:cNvSpPr>
          <p:nvPr/>
        </p:nvSpPr>
        <p:spPr bwMode="auto">
          <a:xfrm>
            <a:off x="4876800" y="42672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45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66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23</a:t>
            </a:r>
          </a:p>
        </p:txBody>
      </p:sp>
      <p:sp>
        <p:nvSpPr>
          <p:cNvPr id="162828" name="Rectangle 12"/>
          <p:cNvSpPr>
            <a:spLocks noChangeArrowheads="1"/>
          </p:cNvSpPr>
          <p:nvPr/>
        </p:nvSpPr>
        <p:spPr bwMode="auto">
          <a:xfrm>
            <a:off x="6019800" y="4267200"/>
            <a:ext cx="11430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</p:txBody>
      </p:sp>
      <p:sp>
        <p:nvSpPr>
          <p:cNvPr id="162829" name="Text Box 13"/>
          <p:cNvSpPr txBox="1">
            <a:spLocks noChangeArrowheads="1"/>
          </p:cNvSpPr>
          <p:nvPr/>
        </p:nvSpPr>
        <p:spPr bwMode="auto">
          <a:xfrm>
            <a:off x="1219200" y="5715000"/>
            <a:ext cx="7391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CC0000"/>
                </a:solidFill>
              </a:rPr>
              <a:t>How many primary keys can we find in the above relation?</a:t>
            </a:r>
          </a:p>
          <a:p>
            <a:pPr>
              <a:spcBef>
                <a:spcPct val="50000"/>
              </a:spcBef>
            </a:pPr>
            <a:r>
              <a:rPr lang="en-US" sz="1600" dirty="0" err="1">
                <a:solidFill>
                  <a:srgbClr val="CC0000"/>
                </a:solidFill>
              </a:rPr>
              <a:t>Ans</a:t>
            </a:r>
            <a:r>
              <a:rPr lang="en-US" sz="1600" dirty="0">
                <a:solidFill>
                  <a:srgbClr val="CC0000"/>
                </a:solidFill>
              </a:rPr>
              <a:t>: 2 – BID and TITLE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5691" y="31173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Primary Key</a:t>
            </a:r>
          </a:p>
        </p:txBody>
      </p:sp>
    </p:spTree>
    <p:extLst>
      <p:ext uri="{BB962C8B-B14F-4D97-AF65-F5344CB8AC3E}">
        <p14:creationId xmlns:p14="http://schemas.microsoft.com/office/powerpoint/2010/main" val="3265822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5691" y="31173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b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Linking ER to Relational Model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14478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In ER Model: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14478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</a:rPr>
              <a:t>In Relational Model: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0" y="2851868"/>
            <a:ext cx="4925291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/>
              <a:t>BOOK(</a:t>
            </a:r>
            <a:r>
              <a:rPr lang="en-US" sz="2400" b="1" u="sng" dirty="0">
                <a:solidFill>
                  <a:srgbClr val="FF0000"/>
                </a:solidFill>
              </a:rPr>
              <a:t>BID</a:t>
            </a:r>
            <a:r>
              <a:rPr lang="en-US" sz="2000" dirty="0"/>
              <a:t>, TITLE, PRICE, STOCK)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33600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502932"/>
            <a:ext cx="18288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2964597"/>
            <a:ext cx="182880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</a:p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</a:t>
            </a:r>
          </a:p>
        </p:txBody>
      </p:sp>
    </p:spTree>
    <p:extLst>
      <p:ext uri="{BB962C8B-B14F-4D97-AF65-F5344CB8AC3E}">
        <p14:creationId xmlns:p14="http://schemas.microsoft.com/office/powerpoint/2010/main" val="2088575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endParaRPr lang="en-US" sz="2400"/>
          </a:p>
          <a:p>
            <a:pPr lvl="1"/>
            <a:endParaRPr lang="en-US" sz="2000"/>
          </a:p>
          <a:p>
            <a:pPr lvl="1">
              <a:buFont typeface="Wingdings" pitchFamily="2" charset="2"/>
              <a:buNone/>
            </a:pPr>
            <a:endParaRPr lang="en-US" sz="2000"/>
          </a:p>
          <a:p>
            <a:pPr lvl="1">
              <a:buFont typeface="Wingdings" pitchFamily="2" charset="2"/>
              <a:buNone/>
            </a:pPr>
            <a:endParaRPr lang="en-US" sz="2000"/>
          </a:p>
        </p:txBody>
      </p:sp>
      <p:sp>
        <p:nvSpPr>
          <p:cNvPr id="16282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304800" y="15240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00100" lvl="1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and only one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primary key per relation</a:t>
            </a:r>
          </a:p>
          <a:p>
            <a:pPr marL="800100" lvl="1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primary key may be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composite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key, i.e., the key may made up of more than one attribute</a:t>
            </a:r>
          </a:p>
          <a:p>
            <a:pPr marL="800100" lvl="1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primary key is in the set of all candidate keys</a:t>
            </a:r>
          </a:p>
          <a:p>
            <a:pPr marL="800100" lvl="1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ideal primary key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short, numeric and never changes</a:t>
            </a:r>
          </a:p>
          <a:p>
            <a:pPr marL="800100" lvl="1" indent="-342900">
              <a:spcAft>
                <a:spcPts val="1200"/>
              </a:spcAft>
              <a:buFont typeface="Arial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5691" y="31173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vs. Candidate Key</a:t>
            </a:r>
          </a:p>
        </p:txBody>
      </p:sp>
    </p:spTree>
    <p:extLst>
      <p:ext uri="{BB962C8B-B14F-4D97-AF65-F5344CB8AC3E}">
        <p14:creationId xmlns:p14="http://schemas.microsoft.com/office/powerpoint/2010/main" val="959523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4" name="Oval 14"/>
          <p:cNvSpPr>
            <a:spLocks noChangeArrowheads="1"/>
          </p:cNvSpPr>
          <p:nvPr/>
        </p:nvSpPr>
        <p:spPr bwMode="auto">
          <a:xfrm>
            <a:off x="1828800" y="2362200"/>
            <a:ext cx="5715000" cy="3352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3855" name="Text Box 15"/>
          <p:cNvSpPr txBox="1">
            <a:spLocks noChangeArrowheads="1"/>
          </p:cNvSpPr>
          <p:nvPr/>
        </p:nvSpPr>
        <p:spPr bwMode="auto">
          <a:xfrm>
            <a:off x="3581400" y="2514600"/>
            <a:ext cx="2133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 key</a:t>
            </a:r>
          </a:p>
        </p:txBody>
      </p:sp>
      <p:sp>
        <p:nvSpPr>
          <p:cNvPr id="163856" name="Oval 16"/>
          <p:cNvSpPr>
            <a:spLocks noChangeArrowheads="1"/>
          </p:cNvSpPr>
          <p:nvPr/>
        </p:nvSpPr>
        <p:spPr bwMode="auto">
          <a:xfrm>
            <a:off x="2819400" y="3048000"/>
            <a:ext cx="4343400" cy="2438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3857" name="Text Box 17"/>
          <p:cNvSpPr txBox="1">
            <a:spLocks noChangeArrowheads="1"/>
          </p:cNvSpPr>
          <p:nvPr/>
        </p:nvSpPr>
        <p:spPr bwMode="auto">
          <a:xfrm>
            <a:off x="3886200" y="3276600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Candidate key</a:t>
            </a:r>
          </a:p>
        </p:txBody>
      </p:sp>
      <p:sp>
        <p:nvSpPr>
          <p:cNvPr id="163858" name="Oval 18"/>
          <p:cNvSpPr>
            <a:spLocks noChangeArrowheads="1"/>
          </p:cNvSpPr>
          <p:nvPr/>
        </p:nvSpPr>
        <p:spPr bwMode="auto">
          <a:xfrm>
            <a:off x="3810000" y="3810000"/>
            <a:ext cx="2895600" cy="1524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59" name="Text Box 19"/>
          <p:cNvSpPr txBox="1">
            <a:spLocks noChangeArrowheads="1"/>
          </p:cNvSpPr>
          <p:nvPr/>
        </p:nvSpPr>
        <p:spPr bwMode="auto">
          <a:xfrm>
            <a:off x="4114800" y="4267200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163861" name="Rectangle 21"/>
          <p:cNvSpPr>
            <a:spLocks noGrp="1" noChangeArrowheads="1"/>
          </p:cNvSpPr>
          <p:nvPr>
            <p:ph type="title"/>
          </p:nvPr>
        </p:nvSpPr>
        <p:spPr>
          <a:xfrm>
            <a:off x="571500" y="152400"/>
            <a:ext cx="8229600" cy="990600"/>
          </a:xfrm>
          <a:noFill/>
          <a:ln/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Structure: Keys</a:t>
            </a:r>
          </a:p>
        </p:txBody>
      </p:sp>
    </p:spTree>
    <p:extLst>
      <p:ext uri="{BB962C8B-B14F-4D97-AF65-F5344CB8AC3E}">
        <p14:creationId xmlns:p14="http://schemas.microsoft.com/office/powerpoint/2010/main" val="3984216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endParaRPr lang="en-US" sz="2400" dirty="0"/>
          </a:p>
          <a:p>
            <a:pPr lvl="1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164868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6764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Exercise: Find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super key, candidate key, and primary key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the following relation:</a:t>
            </a:r>
          </a:p>
          <a:p>
            <a:pPr marL="1143000" lvl="2" indent="-228600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EMPLOYEE(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Name,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Salary,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Employee ID uniquely identifies each employee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two employees have the same name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than one employee may work in the same department 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than one employee may take the same course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000" i="1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/>
          </a:p>
        </p:txBody>
      </p:sp>
      <p:sp>
        <p:nvSpPr>
          <p:cNvPr id="164876" name="Rectangle 1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  <a:noFill/>
          <a:ln/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Keys: Exercise</a:t>
            </a:r>
          </a:p>
        </p:txBody>
      </p:sp>
    </p:spTree>
    <p:extLst>
      <p:ext uri="{BB962C8B-B14F-4D97-AF65-F5344CB8AC3E}">
        <p14:creationId xmlns:p14="http://schemas.microsoft.com/office/powerpoint/2010/main" val="1979102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2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7526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Exercise: Find the super key, candidate key, and primary key for the following relation: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DVD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FilmID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DVDNum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Status)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Composite key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primary key that contains more than one attribute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  <a:noFill/>
          <a:ln/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Keys: Exercise</a:t>
            </a:r>
          </a:p>
        </p:txBody>
      </p:sp>
    </p:spTree>
    <p:extLst>
      <p:ext uri="{BB962C8B-B14F-4D97-AF65-F5344CB8AC3E}">
        <p14:creationId xmlns:p14="http://schemas.microsoft.com/office/powerpoint/2010/main" val="4062056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29736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RENTAL_PROPERTY: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RENTAL_PROPERTY (</a:t>
            </a:r>
            <a:r>
              <a:rPr lang="en-US" sz="2000" b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Street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b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State/Province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Zip/</a:t>
            </a:r>
            <a:r>
              <a:rPr lang="en-US" sz="2000" b="1" u="sng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PostalCode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u="sng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Rental_Rate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RENTAL_PROPERTY, a different solution: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		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RENTAL_PROPERTY (</a:t>
            </a:r>
            <a:r>
              <a:rPr lang="en-US" sz="2000" b="1" u="sng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PropertyID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Street, City,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State/Province, Zip/</a:t>
            </a:r>
            <a:r>
              <a:rPr lang="en-US" sz="2000" b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PostalCode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Country, </a:t>
            </a:r>
            <a:r>
              <a:rPr lang="en-US" sz="2000" b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Rental_Rate</a:t>
            </a:r>
            <a:r>
              <a:rPr lang="en-US" sz="20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  <a:noFill/>
          <a:ln/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Keys: Exercise</a:t>
            </a:r>
          </a:p>
        </p:txBody>
      </p:sp>
    </p:spTree>
    <p:extLst>
      <p:ext uri="{BB962C8B-B14F-4D97-AF65-F5344CB8AC3E}">
        <p14:creationId xmlns:p14="http://schemas.microsoft.com/office/powerpoint/2010/main" val="2774759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DAVID M. KROENKE’S DATABASE PROCESSING, 10th Edition </a:t>
            </a:r>
          </a:p>
          <a:p>
            <a:r>
              <a:rPr lang="en-US" dirty="0">
                <a:solidFill>
                  <a:srgbClr val="0066FF"/>
                </a:solidFill>
              </a:rPr>
              <a:t>© 2006 Pearson Prentice Hall</a:t>
            </a:r>
          </a:p>
          <a:p>
            <a:endParaRPr lang="en-US" dirty="0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Surrogate Keys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29736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surrogate key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an artificial column added to a relation to serve as a primary key: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DBMS supplied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Short, numeric and never changes. It’s an ideal primary key!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Has artificial values that are meaningless to users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Normally hidden in forms and reports</a:t>
            </a:r>
          </a:p>
        </p:txBody>
      </p:sp>
    </p:spTree>
    <p:extLst>
      <p:ext uri="{BB962C8B-B14F-4D97-AF65-F5344CB8AC3E}">
        <p14:creationId xmlns:p14="http://schemas.microsoft.com/office/powerpoint/2010/main" val="31061656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endParaRPr lang="en-US" sz="2400"/>
          </a:p>
          <a:p>
            <a:pPr lvl="1"/>
            <a:endParaRPr lang="en-US" sz="2000"/>
          </a:p>
          <a:p>
            <a:pPr lvl="1">
              <a:buFont typeface="Wingdings" pitchFamily="2" charset="2"/>
              <a:buNone/>
            </a:pPr>
            <a:endParaRPr lang="en-US" sz="2000"/>
          </a:p>
          <a:p>
            <a:pPr lvl="1">
              <a:buFont typeface="Wingdings" pitchFamily="2" charset="2"/>
              <a:buNone/>
            </a:pPr>
            <a:endParaRPr lang="en-US" sz="2000"/>
          </a:p>
        </p:txBody>
      </p:sp>
      <p:sp>
        <p:nvSpPr>
          <p:cNvPr id="166916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676400"/>
            <a:ext cx="82296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primary key of one relation that is placed in another relation to form a link between the relations:</a:t>
            </a:r>
          </a:p>
          <a:p>
            <a:pPr marL="685800" lvl="1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the keys we covered so far are about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relation</a:t>
            </a:r>
          </a:p>
          <a:p>
            <a:pPr marL="685800" lvl="1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Foreign key is about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relations and how to tie them together</a:t>
            </a:r>
          </a:p>
          <a:p>
            <a:pPr marL="685800" lvl="1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Remember the word “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in ER model?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Foreign keys are how relationships are translated into the relational model. We will cover this later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endParaRPr lang="en-US" dirty="0"/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  <a:noFill/>
          <a:ln/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92624" y="5486400"/>
            <a:ext cx="6248400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REVIEW: THERE IS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AS AN ATTRIBUTE IN ER DESIGN!</a:t>
            </a:r>
          </a:p>
        </p:txBody>
      </p:sp>
    </p:spTree>
    <p:extLst>
      <p:ext uri="{BB962C8B-B14F-4D97-AF65-F5344CB8AC3E}">
        <p14:creationId xmlns:p14="http://schemas.microsoft.com/office/powerpoint/2010/main" val="3974100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Key: Example</a:t>
            </a:r>
          </a:p>
        </p:txBody>
      </p:sp>
      <p:sp>
        <p:nvSpPr>
          <p:cNvPr id="168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endParaRPr lang="en-US" sz="2400" dirty="0"/>
          </a:p>
          <a:p>
            <a:pPr lvl="1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990600" y="1676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b="1" u="sng" dirty="0">
                <a:solidFill>
                  <a:srgbClr val="FF0000"/>
                </a:solidFill>
                <a:latin typeface="Times New Roman" charset="0"/>
              </a:rPr>
              <a:t>S#</a:t>
            </a:r>
            <a:endParaRPr lang="en-US" b="1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168966" name="Rectangle 6"/>
          <p:cNvSpPr>
            <a:spLocks noChangeArrowheads="1"/>
          </p:cNvSpPr>
          <p:nvPr/>
        </p:nvSpPr>
        <p:spPr bwMode="auto">
          <a:xfrm>
            <a:off x="1676400" y="1676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SNAME</a:t>
            </a:r>
            <a:endParaRPr lang="en-US">
              <a:latin typeface="Times New Roman" charset="0"/>
            </a:endParaRPr>
          </a:p>
        </p:txBody>
      </p:sp>
      <p:sp>
        <p:nvSpPr>
          <p:cNvPr id="168967" name="Rectangle 7"/>
          <p:cNvSpPr>
            <a:spLocks noChangeArrowheads="1"/>
          </p:cNvSpPr>
          <p:nvPr/>
        </p:nvSpPr>
        <p:spPr bwMode="auto">
          <a:xfrm>
            <a:off x="2819400" y="1676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STATUS</a:t>
            </a:r>
            <a:endParaRPr lang="en-US">
              <a:latin typeface="Times New Roman" charset="0"/>
            </a:endParaRPr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3962400" y="1676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CITY</a:t>
            </a:r>
            <a:endParaRPr lang="en-US">
              <a:latin typeface="Times New Roman" charset="0"/>
            </a:endParaRPr>
          </a:p>
        </p:txBody>
      </p:sp>
      <p:sp>
        <p:nvSpPr>
          <p:cNvPr id="168969" name="Rectangle 9"/>
          <p:cNvSpPr>
            <a:spLocks noChangeArrowheads="1"/>
          </p:cNvSpPr>
          <p:nvPr/>
        </p:nvSpPr>
        <p:spPr bwMode="auto">
          <a:xfrm>
            <a:off x="990600" y="1981200"/>
            <a:ext cx="68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S5</a:t>
            </a:r>
            <a:endParaRPr lang="en-US" dirty="0">
              <a:latin typeface="Times New Roman" charset="0"/>
            </a:endParaRPr>
          </a:p>
        </p:txBody>
      </p:sp>
      <p:sp>
        <p:nvSpPr>
          <p:cNvPr id="168970" name="Rectangle 10"/>
          <p:cNvSpPr>
            <a:spLocks noChangeArrowheads="1"/>
          </p:cNvSpPr>
          <p:nvPr/>
        </p:nvSpPr>
        <p:spPr bwMode="auto">
          <a:xfrm>
            <a:off x="1676400" y="19812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Smith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Jones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Blake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Clark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Adams</a:t>
            </a:r>
            <a:endParaRPr lang="en-US">
              <a:latin typeface="Times New Roman" charset="0"/>
            </a:endParaRPr>
          </a:p>
        </p:txBody>
      </p:sp>
      <p:sp>
        <p:nvSpPr>
          <p:cNvPr id="168971" name="Rectangle 11"/>
          <p:cNvSpPr>
            <a:spLocks noChangeArrowheads="1"/>
          </p:cNvSpPr>
          <p:nvPr/>
        </p:nvSpPr>
        <p:spPr bwMode="auto">
          <a:xfrm>
            <a:off x="2819400" y="19812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  <a:endParaRPr lang="en-US">
              <a:latin typeface="Times New Roman" charset="0"/>
            </a:endParaRPr>
          </a:p>
        </p:txBody>
      </p:sp>
      <p:sp>
        <p:nvSpPr>
          <p:cNvPr id="168972" name="Rectangle 12"/>
          <p:cNvSpPr>
            <a:spLocks noChangeArrowheads="1"/>
          </p:cNvSpPr>
          <p:nvPr/>
        </p:nvSpPr>
        <p:spPr bwMode="auto">
          <a:xfrm>
            <a:off x="3962400" y="19812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Athens</a:t>
            </a:r>
            <a:endParaRPr lang="en-US">
              <a:latin typeface="Times New Roman" charset="0"/>
            </a:endParaRPr>
          </a:p>
        </p:txBody>
      </p:sp>
      <p:sp>
        <p:nvSpPr>
          <p:cNvPr id="168973" name="Rectangle 13"/>
          <p:cNvSpPr>
            <a:spLocks noChangeArrowheads="1"/>
          </p:cNvSpPr>
          <p:nvPr/>
        </p:nvSpPr>
        <p:spPr bwMode="auto">
          <a:xfrm>
            <a:off x="990600" y="41148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b="1" u="sng" dirty="0">
                <a:solidFill>
                  <a:srgbClr val="0070C0"/>
                </a:solidFill>
                <a:latin typeface="Times New Roman" charset="0"/>
              </a:rPr>
              <a:t>P#</a:t>
            </a:r>
            <a:endParaRPr lang="en-US" b="1" dirty="0">
              <a:solidFill>
                <a:srgbClr val="0070C0"/>
              </a:solidFill>
              <a:latin typeface="Times New Roman" charset="0"/>
            </a:endParaRPr>
          </a:p>
        </p:txBody>
      </p:sp>
      <p:sp>
        <p:nvSpPr>
          <p:cNvPr id="168974" name="Rectangle 14"/>
          <p:cNvSpPr>
            <a:spLocks noChangeArrowheads="1"/>
          </p:cNvSpPr>
          <p:nvPr/>
        </p:nvSpPr>
        <p:spPr bwMode="auto">
          <a:xfrm>
            <a:off x="16764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PNAME</a:t>
            </a:r>
            <a:endParaRPr lang="en-US">
              <a:latin typeface="Times New Roman" charset="0"/>
            </a:endParaRPr>
          </a:p>
        </p:txBody>
      </p:sp>
      <p:sp>
        <p:nvSpPr>
          <p:cNvPr id="168975" name="Rectangle 15"/>
          <p:cNvSpPr>
            <a:spLocks noChangeArrowheads="1"/>
          </p:cNvSpPr>
          <p:nvPr/>
        </p:nvSpPr>
        <p:spPr bwMode="auto">
          <a:xfrm>
            <a:off x="28194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COLOR</a:t>
            </a:r>
            <a:endParaRPr lang="en-US">
              <a:latin typeface="Times New Roman" charset="0"/>
            </a:endParaRPr>
          </a:p>
        </p:txBody>
      </p:sp>
      <p:sp>
        <p:nvSpPr>
          <p:cNvPr id="168976" name="Rectangle 16"/>
          <p:cNvSpPr>
            <a:spLocks noChangeArrowheads="1"/>
          </p:cNvSpPr>
          <p:nvPr/>
        </p:nvSpPr>
        <p:spPr bwMode="auto">
          <a:xfrm>
            <a:off x="39624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WEIGHT</a:t>
            </a:r>
            <a:endParaRPr lang="en-US">
              <a:latin typeface="Times New Roman" charset="0"/>
            </a:endParaRPr>
          </a:p>
        </p:txBody>
      </p:sp>
      <p:sp>
        <p:nvSpPr>
          <p:cNvPr id="168977" name="Rectangle 17"/>
          <p:cNvSpPr>
            <a:spLocks noChangeArrowheads="1"/>
          </p:cNvSpPr>
          <p:nvPr/>
        </p:nvSpPr>
        <p:spPr bwMode="auto">
          <a:xfrm>
            <a:off x="990600" y="4419600"/>
            <a:ext cx="6858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P6</a:t>
            </a:r>
            <a:endParaRPr lang="en-US">
              <a:latin typeface="Times New Roman" charset="0"/>
            </a:endParaRPr>
          </a:p>
        </p:txBody>
      </p:sp>
      <p:sp>
        <p:nvSpPr>
          <p:cNvPr id="168978" name="Rectangle 18"/>
          <p:cNvSpPr>
            <a:spLocks noChangeArrowheads="1"/>
          </p:cNvSpPr>
          <p:nvPr/>
        </p:nvSpPr>
        <p:spPr bwMode="auto">
          <a:xfrm>
            <a:off x="16764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Nut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Bolt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Screw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Screw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Cam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Cog</a:t>
            </a:r>
            <a:endParaRPr lang="en-US">
              <a:latin typeface="Times New Roman" charset="0"/>
            </a:endParaRPr>
          </a:p>
        </p:txBody>
      </p:sp>
      <p:sp>
        <p:nvSpPr>
          <p:cNvPr id="168979" name="Rectangle 19"/>
          <p:cNvSpPr>
            <a:spLocks noChangeArrowheads="1"/>
          </p:cNvSpPr>
          <p:nvPr/>
        </p:nvSpPr>
        <p:spPr bwMode="auto">
          <a:xfrm>
            <a:off x="28194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Red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Green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Blue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Red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Blue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Red</a:t>
            </a:r>
          </a:p>
        </p:txBody>
      </p:sp>
      <p:sp>
        <p:nvSpPr>
          <p:cNvPr id="168980" name="Rectangle 20"/>
          <p:cNvSpPr>
            <a:spLocks noChangeArrowheads="1"/>
          </p:cNvSpPr>
          <p:nvPr/>
        </p:nvSpPr>
        <p:spPr bwMode="auto">
          <a:xfrm>
            <a:off x="39624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19</a:t>
            </a:r>
            <a:endParaRPr lang="en-US">
              <a:latin typeface="Times New Roman" charset="0"/>
            </a:endParaRPr>
          </a:p>
        </p:txBody>
      </p:sp>
      <p:sp>
        <p:nvSpPr>
          <p:cNvPr id="168981" name="Rectangle 21"/>
          <p:cNvSpPr>
            <a:spLocks noChangeArrowheads="1"/>
          </p:cNvSpPr>
          <p:nvPr/>
        </p:nvSpPr>
        <p:spPr bwMode="auto">
          <a:xfrm>
            <a:off x="51054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CITY</a:t>
            </a:r>
            <a:endParaRPr lang="en-US">
              <a:latin typeface="Times New Roman" charset="0"/>
            </a:endParaRPr>
          </a:p>
        </p:txBody>
      </p:sp>
      <p:sp>
        <p:nvSpPr>
          <p:cNvPr id="168982" name="Rectangle 22"/>
          <p:cNvSpPr>
            <a:spLocks noChangeArrowheads="1"/>
          </p:cNvSpPr>
          <p:nvPr/>
        </p:nvSpPr>
        <p:spPr bwMode="auto">
          <a:xfrm>
            <a:off x="51054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 dirty="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Rome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 dirty="0">
                <a:latin typeface="Times New Roman" charset="0"/>
              </a:rPr>
              <a:t>London</a:t>
            </a:r>
            <a:endParaRPr lang="en-US" dirty="0">
              <a:latin typeface="Times New Roman" charset="0"/>
            </a:endParaRPr>
          </a:p>
        </p:txBody>
      </p:sp>
      <p:sp>
        <p:nvSpPr>
          <p:cNvPr id="168983" name="Rectangle 23"/>
          <p:cNvSpPr>
            <a:spLocks noChangeArrowheads="1"/>
          </p:cNvSpPr>
          <p:nvPr/>
        </p:nvSpPr>
        <p:spPr bwMode="auto">
          <a:xfrm>
            <a:off x="6705600" y="1676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b="1" u="sng" dirty="0">
                <a:solidFill>
                  <a:srgbClr val="FF0000"/>
                </a:solidFill>
                <a:latin typeface="Times New Roman" charset="0"/>
              </a:rPr>
              <a:t>S#</a:t>
            </a:r>
            <a:endParaRPr lang="en-US" b="1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168984" name="Rectangle 24"/>
          <p:cNvSpPr>
            <a:spLocks noChangeArrowheads="1"/>
          </p:cNvSpPr>
          <p:nvPr/>
        </p:nvSpPr>
        <p:spPr bwMode="auto">
          <a:xfrm>
            <a:off x="6705600" y="1981200"/>
            <a:ext cx="685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S4</a:t>
            </a:r>
            <a:endParaRPr lang="en-US" dirty="0">
              <a:latin typeface="Times New Roman" charset="0"/>
            </a:endParaRPr>
          </a:p>
        </p:txBody>
      </p:sp>
      <p:sp>
        <p:nvSpPr>
          <p:cNvPr id="168985" name="Rectangle 25"/>
          <p:cNvSpPr>
            <a:spLocks noChangeArrowheads="1"/>
          </p:cNvSpPr>
          <p:nvPr/>
        </p:nvSpPr>
        <p:spPr bwMode="auto">
          <a:xfrm>
            <a:off x="7391400" y="1676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b="1" u="sng" dirty="0">
                <a:solidFill>
                  <a:srgbClr val="0070C0"/>
                </a:solidFill>
                <a:latin typeface="Times New Roman" charset="0"/>
              </a:rPr>
              <a:t>P#</a:t>
            </a:r>
            <a:endParaRPr lang="en-US" b="1" dirty="0">
              <a:solidFill>
                <a:srgbClr val="0070C0"/>
              </a:solidFill>
              <a:latin typeface="Times New Roman" charset="0"/>
            </a:endParaRPr>
          </a:p>
        </p:txBody>
      </p:sp>
      <p:sp>
        <p:nvSpPr>
          <p:cNvPr id="168986" name="Rectangle 26"/>
          <p:cNvSpPr>
            <a:spLocks noChangeArrowheads="1"/>
          </p:cNvSpPr>
          <p:nvPr/>
        </p:nvSpPr>
        <p:spPr bwMode="auto">
          <a:xfrm>
            <a:off x="7391400" y="1981200"/>
            <a:ext cx="685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charset="0"/>
              </a:rPr>
              <a:t>P1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P3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P5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P6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P5</a:t>
            </a:r>
            <a:endParaRPr lang="en-US" dirty="0">
              <a:latin typeface="Times New Roman" charset="0"/>
            </a:endParaRPr>
          </a:p>
        </p:txBody>
      </p:sp>
      <p:sp>
        <p:nvSpPr>
          <p:cNvPr id="168987" name="Rectangle 27"/>
          <p:cNvSpPr>
            <a:spLocks noChangeArrowheads="1"/>
          </p:cNvSpPr>
          <p:nvPr/>
        </p:nvSpPr>
        <p:spPr bwMode="auto">
          <a:xfrm>
            <a:off x="8077200" y="1676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QTY</a:t>
            </a:r>
            <a:endParaRPr lang="en-US">
              <a:latin typeface="Times New Roman" charset="0"/>
            </a:endParaRPr>
          </a:p>
        </p:txBody>
      </p:sp>
      <p:sp>
        <p:nvSpPr>
          <p:cNvPr id="168988" name="Rectangle 28"/>
          <p:cNvSpPr>
            <a:spLocks noChangeArrowheads="1"/>
          </p:cNvSpPr>
          <p:nvPr/>
        </p:nvSpPr>
        <p:spPr bwMode="auto">
          <a:xfrm>
            <a:off x="8077200" y="1981200"/>
            <a:ext cx="685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charset="0"/>
              </a:rPr>
              <a:t>300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300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300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400</a:t>
            </a:r>
            <a:endParaRPr lang="en-US" dirty="0">
              <a:latin typeface="Times New Roman" charset="0"/>
            </a:endParaRPr>
          </a:p>
        </p:txBody>
      </p:sp>
      <p:sp>
        <p:nvSpPr>
          <p:cNvPr id="168989" name="Text Box 29"/>
          <p:cNvSpPr txBox="1">
            <a:spLocks noChangeArrowheads="1"/>
          </p:cNvSpPr>
          <p:nvPr/>
        </p:nvSpPr>
        <p:spPr bwMode="auto">
          <a:xfrm>
            <a:off x="381000" y="175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charset="0"/>
              </a:rPr>
              <a:t>S</a:t>
            </a:r>
          </a:p>
        </p:txBody>
      </p:sp>
      <p:sp>
        <p:nvSpPr>
          <p:cNvPr id="168990" name="Text Box 30"/>
          <p:cNvSpPr txBox="1">
            <a:spLocks noChangeArrowheads="1"/>
          </p:cNvSpPr>
          <p:nvPr/>
        </p:nvSpPr>
        <p:spPr bwMode="auto">
          <a:xfrm>
            <a:off x="381000" y="4267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charset="0"/>
              </a:rPr>
              <a:t>P</a:t>
            </a:r>
          </a:p>
        </p:txBody>
      </p:sp>
      <p:sp>
        <p:nvSpPr>
          <p:cNvPr id="168991" name="Text Box 31"/>
          <p:cNvSpPr txBox="1">
            <a:spLocks noChangeArrowheads="1"/>
          </p:cNvSpPr>
          <p:nvPr/>
        </p:nvSpPr>
        <p:spPr bwMode="auto">
          <a:xfrm>
            <a:off x="6019800" y="1752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charset="0"/>
              </a:rPr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2273390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82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Key: Example</a:t>
            </a:r>
          </a:p>
        </p:txBody>
      </p:sp>
      <p:sp>
        <p:nvSpPr>
          <p:cNvPr id="170016" name="Rectangle 3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8229600" cy="41148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1800"/>
              </a:spcAft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EMPLOYEE(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Name,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Salary,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800"/>
              </a:spcAft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date_offered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Location, Fax)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may use different names for the attributes: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Course_name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recommend that you use the same name to avoid confusion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Notice that the foreign key in one table is the primary key of the second table</a:t>
            </a:r>
          </a:p>
        </p:txBody>
      </p:sp>
      <p:sp>
        <p:nvSpPr>
          <p:cNvPr id="170018" name="Line 34"/>
          <p:cNvSpPr>
            <a:spLocks noChangeShapeType="1"/>
          </p:cNvSpPr>
          <p:nvPr/>
        </p:nvSpPr>
        <p:spPr bwMode="auto">
          <a:xfrm flipV="1">
            <a:off x="2971800" y="2209800"/>
            <a:ext cx="3124200" cy="381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0019" name="Line 35"/>
          <p:cNvSpPr>
            <a:spLocks noChangeShapeType="1"/>
          </p:cNvSpPr>
          <p:nvPr/>
        </p:nvSpPr>
        <p:spPr bwMode="auto">
          <a:xfrm flipV="1">
            <a:off x="3200400" y="2151529"/>
            <a:ext cx="762000" cy="972671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43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Key: Notation</a:t>
            </a:r>
          </a:p>
        </p:txBody>
      </p:sp>
      <p:sp>
        <p:nvSpPr>
          <p:cNvPr id="171014" name="Rectangle 6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EMPLOYEE(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Name,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Salary,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REFERENCES DEPARTMENT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REFERENCES COURSE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date_offered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Font typeface="Wingding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Location, Fax)</a:t>
            </a:r>
          </a:p>
          <a:p>
            <a:pPr>
              <a:buFont typeface="Wingding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NOTE: Each Foreign Key is placed on a new line after the definition of the main table</a:t>
            </a:r>
          </a:p>
          <a:p>
            <a:pPr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276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Key: Notation</a:t>
            </a:r>
          </a:p>
        </p:txBody>
      </p:sp>
      <p:sp>
        <p:nvSpPr>
          <p:cNvPr id="17203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297363"/>
          </a:xfrm>
        </p:spPr>
        <p:txBody>
          <a:bodyPr/>
          <a:lstStyle/>
          <a:p>
            <a:r>
              <a:rPr lang="en-US" sz="2000" dirty="0"/>
              <a:t>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SUPPLIER(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status, city)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PART(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Color, weight, city)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SUPPLY_PART(</a:t>
            </a: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SID,PID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SID REFERENCES SUPPLIER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 PID REFERENCES PART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002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05691" y="31173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Key</a:t>
            </a:r>
            <a:b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Linking ER to Relational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4478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In ER Model: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14478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</a:rPr>
              <a:t>In Relational Model: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733800"/>
            <a:ext cx="18288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EMPLOYEE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209800"/>
            <a:ext cx="18288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DEPARTMENT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9600" y="2462242"/>
            <a:ext cx="4114800" cy="22621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EMPLOYEE(</a:t>
            </a:r>
            <a:r>
              <a:rPr lang="en-US" sz="2000" u="sng" dirty="0" err="1"/>
              <a:t>EmpID</a:t>
            </a:r>
            <a:r>
              <a:rPr lang="en-US" sz="2000" dirty="0"/>
              <a:t>, Name, </a:t>
            </a:r>
            <a:br>
              <a:rPr lang="en-US" sz="2000" dirty="0"/>
            </a:br>
            <a:r>
              <a:rPr lang="en-US" sz="2000" dirty="0" err="1"/>
              <a:t>Dept_name</a:t>
            </a:r>
            <a:r>
              <a:rPr lang="en-US" sz="2000" dirty="0"/>
              <a:t>, Salary, </a:t>
            </a:r>
            <a:r>
              <a:rPr lang="en-US" sz="2000" dirty="0" err="1"/>
              <a:t>Course_title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None/>
            </a:pPr>
            <a:r>
              <a:rPr lang="en-US" dirty="0">
                <a:solidFill>
                  <a:srgbClr val="FF0000"/>
                </a:solidFill>
              </a:rPr>
              <a:t>FOREIGN KEY </a:t>
            </a:r>
            <a:r>
              <a:rPr lang="en-US" dirty="0" err="1">
                <a:solidFill>
                  <a:srgbClr val="FF0000"/>
                </a:solidFill>
              </a:rPr>
              <a:t>Dept_name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REFERENCES DEPARTMENT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None/>
            </a:pPr>
            <a:r>
              <a:rPr lang="en-US" dirty="0">
                <a:solidFill>
                  <a:srgbClr val="FF0000"/>
                </a:solidFill>
              </a:rPr>
              <a:t>FOREIGN KEY </a:t>
            </a:r>
            <a:r>
              <a:rPr lang="en-US" dirty="0" err="1">
                <a:solidFill>
                  <a:srgbClr val="FF0000"/>
                </a:solidFill>
              </a:rPr>
              <a:t>Course_title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REFERENCES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5334000"/>
            <a:ext cx="18288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COURSE</a:t>
            </a:r>
          </a:p>
        </p:txBody>
      </p:sp>
      <p:cxnSp>
        <p:nvCxnSpPr>
          <p:cNvPr id="13" name="Straight Connector 12"/>
          <p:cNvCxnSpPr>
            <a:stCxn id="12" idx="2"/>
            <a:endCxn id="11" idx="0"/>
          </p:cNvCxnSpPr>
          <p:nvPr/>
        </p:nvCxnSpPr>
        <p:spPr>
          <a:xfrm>
            <a:off x="2133600" y="2609910"/>
            <a:ext cx="0" cy="112389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1" idx="2"/>
            <a:endCxn id="14" idx="0"/>
          </p:cNvCxnSpPr>
          <p:nvPr/>
        </p:nvCxnSpPr>
        <p:spPr>
          <a:xfrm>
            <a:off x="2133600" y="4133910"/>
            <a:ext cx="0" cy="120009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057400" y="2743200"/>
            <a:ext cx="15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060864" y="2819400"/>
            <a:ext cx="15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060864" y="5257800"/>
            <a:ext cx="15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057400" y="5098474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2060864" y="4343400"/>
            <a:ext cx="15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137064" y="4133910"/>
            <a:ext cx="148936" cy="2094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981200" y="4133910"/>
            <a:ext cx="152400" cy="2094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2137064" y="3513083"/>
            <a:ext cx="148936" cy="2094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1974273" y="3513083"/>
            <a:ext cx="159327" cy="2094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053936" y="3516547"/>
            <a:ext cx="15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038" name="Shape 172037"/>
          <p:cNvSpPr/>
          <p:nvPr/>
        </p:nvSpPr>
        <p:spPr>
          <a:xfrm rot="4396374">
            <a:off x="2865838" y="2256236"/>
            <a:ext cx="1330495" cy="1929432"/>
          </a:xfrm>
          <a:prstGeom prst="swooshArrow">
            <a:avLst>
              <a:gd name="adj1" fmla="val 16310"/>
              <a:gd name="adj2" fmla="val 3137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Shape 43"/>
          <p:cNvSpPr/>
          <p:nvPr/>
        </p:nvSpPr>
        <p:spPr>
          <a:xfrm rot="1981060">
            <a:off x="2684295" y="3608589"/>
            <a:ext cx="1330495" cy="1929432"/>
          </a:xfrm>
          <a:prstGeom prst="swooshArrow">
            <a:avLst>
              <a:gd name="adj1" fmla="val 16310"/>
              <a:gd name="adj2" fmla="val 3137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88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</a:p>
        </p:txBody>
      </p:sp>
      <p:sp>
        <p:nvSpPr>
          <p:cNvPr id="173062" name="Rectangle 6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297363"/>
          </a:xfrm>
        </p:spPr>
        <p:txBody>
          <a:bodyPr/>
          <a:lstStyle/>
          <a:p>
            <a:pPr marL="511175" indent="-511175"/>
            <a:r>
              <a:rPr lang="en-US" sz="36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We’ve covered the data structure perspective of the relational model comprised of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Relation and other basic terminologies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Next, we will cover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integrity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perspective of relational model  </a:t>
            </a:r>
          </a:p>
        </p:txBody>
      </p:sp>
    </p:spTree>
    <p:extLst>
      <p:ext uri="{BB962C8B-B14F-4D97-AF65-F5344CB8AC3E}">
        <p14:creationId xmlns:p14="http://schemas.microsoft.com/office/powerpoint/2010/main" val="356243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Integrity</a:t>
            </a:r>
          </a:p>
        </p:txBody>
      </p:sp>
      <p:sp>
        <p:nvSpPr>
          <p:cNvPr id="175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Integrity means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correctness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data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Integrity constraints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rules that guarantee data integrity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 integrity?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data structure alone, we still cannot avoid redundancy and inconsistency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Even a file system may have a logical structure like relations, but that does not mean that data integrity is assured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460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92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Integrity Constraints: Four Types</a:t>
            </a:r>
          </a:p>
        </p:txBody>
      </p:sp>
      <p:sp>
        <p:nvSpPr>
          <p:cNvPr id="176131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524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Entity Integrity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Every relation must have a primary key, and the key cannot be null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Domain Constraints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values of an attribute should be taken from the same domain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Maintains the consistency between two related relations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Operational Constraints</a:t>
            </a:r>
          </a:p>
          <a:p>
            <a:pPr marL="800100" lvl="1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Business rules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58591" y="1611868"/>
            <a:ext cx="121340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ONE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0192" y="2754868"/>
            <a:ext cx="167340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ONE ATTRIBUTE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232" y="3974068"/>
            <a:ext cx="137056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TWO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311" y="4812268"/>
            <a:ext cx="190468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WHOLE DATABASE</a:t>
            </a:r>
          </a:p>
        </p:txBody>
      </p:sp>
    </p:spTree>
    <p:extLst>
      <p:ext uri="{BB962C8B-B14F-4D97-AF65-F5344CB8AC3E}">
        <p14:creationId xmlns:p14="http://schemas.microsoft.com/office/powerpoint/2010/main" val="1309268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Integrity</a:t>
            </a:r>
          </a:p>
        </p:txBody>
      </p:sp>
      <p:sp>
        <p:nvSpPr>
          <p:cNvPr id="185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382000" cy="4876800"/>
          </a:xfrm>
          <a:noFill/>
          <a:ln/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Definition: No primary key value may be null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definition indicates two facts: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relation MUST have a primary key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tuple in a relation has to have a value for the primary key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null?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“empty”, “non-existent”: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when there is no value to assign to a cell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makes logical sense: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row of data represents a unique fact.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Without a primary key we cannot identify it</a:t>
            </a:r>
          </a:p>
          <a:p>
            <a:pPr lvl="2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198092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114800"/>
          </a:xfrm>
          <a:noFill/>
          <a:ln/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EMPLOYEE(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Name,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Salary,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COURSE(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date_offered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Font typeface="Wingdings" pitchFamily="2" charset="2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DEPARTMENT(</a:t>
            </a:r>
            <a:r>
              <a:rPr lang="en-US" sz="2000" u="sng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Location, Fax)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EMPLOYEE.empID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 null? 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COURSE.course_title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 null?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DEPARTMENT.dept_name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 null?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about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EMPLOYEE.course_title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>
              <a:buFont typeface="Wingdings" pitchFamily="2" charset="2"/>
              <a:buNone/>
            </a:pPr>
            <a:endParaRPr lang="en-US" sz="1800" b="1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Integrity</a:t>
            </a:r>
          </a:p>
        </p:txBody>
      </p:sp>
    </p:spTree>
    <p:extLst>
      <p:ext uri="{BB962C8B-B14F-4D97-AF65-F5344CB8AC3E}">
        <p14:creationId xmlns:p14="http://schemas.microsoft.com/office/powerpoint/2010/main" val="17598581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</a:p>
        </p:txBody>
      </p:sp>
      <p:sp>
        <p:nvSpPr>
          <p:cNvPr id="181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  <a:noFill/>
          <a:ln/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Domain: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Definition: Set of values that may be assigned to an attribute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In relation “BOOK”, the domain of attribute “price” could be [$0.00, $1,000.00]</a:t>
            </a:r>
          </a:p>
          <a:p>
            <a:pPr lvl="2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generally, people also define domain as “data type”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“Integer”, “date”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attribute could be viewed as a user-defined data type: “price” is a data type that is similar to “money” but has min and max limitations</a:t>
            </a:r>
          </a:p>
        </p:txBody>
      </p:sp>
    </p:spTree>
    <p:extLst>
      <p:ext uri="{BB962C8B-B14F-4D97-AF65-F5344CB8AC3E}">
        <p14:creationId xmlns:p14="http://schemas.microsoft.com/office/powerpoint/2010/main" val="36764662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98764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Constraints</a:t>
            </a:r>
          </a:p>
        </p:txBody>
      </p:sp>
      <p:sp>
        <p:nvSpPr>
          <p:cNvPr id="184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610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values in an attribute must come from the same domain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Which means: One attribute (column) can have only one data type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define a domain?</a:t>
            </a:r>
          </a:p>
          <a:p>
            <a:pPr lvl="1">
              <a:buFont typeface="Wingdings" pitchFamily="2" charset="2"/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itchFamily="2" charset="2"/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Attribute	Domain 		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Desc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			Domain 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	Name	</a:t>
            </a:r>
          </a:p>
          <a:p>
            <a:pPr lvl="1">
              <a:buFont typeface="Wingdings" pitchFamily="2" charset="2"/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Price	prices	 set of all possible book prices monetary: 6 digits</a:t>
            </a:r>
          </a:p>
          <a:p>
            <a:pPr lvl="1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24" name="Line 4"/>
          <p:cNvSpPr>
            <a:spLocks noChangeShapeType="1"/>
          </p:cNvSpPr>
          <p:nvPr/>
        </p:nvSpPr>
        <p:spPr bwMode="auto">
          <a:xfrm>
            <a:off x="990600" y="41148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914400" y="5029200"/>
            <a:ext cx="6705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CC0000"/>
                </a:solidFill>
              </a:rPr>
              <a:t>Pay attention to the last field: It defines the data type as well as the range of values attribute “price” can take</a:t>
            </a:r>
          </a:p>
        </p:txBody>
      </p:sp>
    </p:spTree>
    <p:extLst>
      <p:ext uri="{BB962C8B-B14F-4D97-AF65-F5344CB8AC3E}">
        <p14:creationId xmlns:p14="http://schemas.microsoft.com/office/powerpoint/2010/main" val="26501966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Referential Integrity Constraint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297363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 constraint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a statement that limits the values of the foreign key to those already existing as primary key values in the corresponding relation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there is a foreign key in a relation, the foreign key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MUST have a value that matches a primary key value in the other relation </a:t>
            </a:r>
          </a:p>
          <a:p>
            <a:pPr marL="914400" lvl="2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Or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MUST be NULL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91814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Integrity: Example</a:t>
            </a:r>
          </a:p>
        </p:txBody>
      </p:sp>
      <p:sp>
        <p:nvSpPr>
          <p:cNvPr id="188421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114800"/>
          </a:xfrm>
          <a:noFill/>
          <a:ln/>
        </p:spPr>
        <p:txBody>
          <a:bodyPr/>
          <a:lstStyle/>
          <a:p>
            <a:endParaRPr lang="en-US" sz="2400" dirty="0"/>
          </a:p>
          <a:p>
            <a:pPr lvl="1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188422" name="Rectangle 6"/>
          <p:cNvSpPr>
            <a:spLocks noChangeArrowheads="1"/>
          </p:cNvSpPr>
          <p:nvPr/>
        </p:nvSpPr>
        <p:spPr bwMode="auto">
          <a:xfrm>
            <a:off x="990600" y="1676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88423" name="Rectangle 7"/>
          <p:cNvSpPr>
            <a:spLocks noChangeArrowheads="1"/>
          </p:cNvSpPr>
          <p:nvPr/>
        </p:nvSpPr>
        <p:spPr bwMode="auto">
          <a:xfrm>
            <a:off x="1676400" y="1676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SNAME</a:t>
            </a:r>
            <a:endParaRPr lang="en-US">
              <a:latin typeface="Times New Roman" charset="0"/>
            </a:endParaRPr>
          </a:p>
        </p:txBody>
      </p:sp>
      <p:sp>
        <p:nvSpPr>
          <p:cNvPr id="188424" name="Rectangle 8"/>
          <p:cNvSpPr>
            <a:spLocks noChangeArrowheads="1"/>
          </p:cNvSpPr>
          <p:nvPr/>
        </p:nvSpPr>
        <p:spPr bwMode="auto">
          <a:xfrm>
            <a:off x="2819400" y="1676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STATUS</a:t>
            </a:r>
            <a:endParaRPr lang="en-US">
              <a:latin typeface="Times New Roman" charset="0"/>
            </a:endParaRPr>
          </a:p>
        </p:txBody>
      </p:sp>
      <p:sp>
        <p:nvSpPr>
          <p:cNvPr id="188425" name="Rectangle 9"/>
          <p:cNvSpPr>
            <a:spLocks noChangeArrowheads="1"/>
          </p:cNvSpPr>
          <p:nvPr/>
        </p:nvSpPr>
        <p:spPr bwMode="auto">
          <a:xfrm>
            <a:off x="3962400" y="16764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CITY</a:t>
            </a:r>
            <a:endParaRPr lang="en-US">
              <a:latin typeface="Times New Roman" charset="0"/>
            </a:endParaRPr>
          </a:p>
        </p:txBody>
      </p:sp>
      <p:sp>
        <p:nvSpPr>
          <p:cNvPr id="188426" name="Rectangle 10"/>
          <p:cNvSpPr>
            <a:spLocks noChangeArrowheads="1"/>
          </p:cNvSpPr>
          <p:nvPr/>
        </p:nvSpPr>
        <p:spPr bwMode="auto">
          <a:xfrm>
            <a:off x="990600" y="1981200"/>
            <a:ext cx="68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S5</a:t>
            </a:r>
            <a:endParaRPr lang="en-US">
              <a:latin typeface="Times New Roman" charset="0"/>
            </a:endParaRPr>
          </a:p>
        </p:txBody>
      </p:sp>
      <p:sp>
        <p:nvSpPr>
          <p:cNvPr id="188427" name="Rectangle 11"/>
          <p:cNvSpPr>
            <a:spLocks noChangeArrowheads="1"/>
          </p:cNvSpPr>
          <p:nvPr/>
        </p:nvSpPr>
        <p:spPr bwMode="auto">
          <a:xfrm>
            <a:off x="1676400" y="19812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Smith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Jones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Blake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Clark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Adams</a:t>
            </a:r>
            <a:endParaRPr lang="en-US">
              <a:latin typeface="Times New Roman" charset="0"/>
            </a:endParaRPr>
          </a:p>
        </p:txBody>
      </p:sp>
      <p:sp>
        <p:nvSpPr>
          <p:cNvPr id="188428" name="Rectangle 12"/>
          <p:cNvSpPr>
            <a:spLocks noChangeArrowheads="1"/>
          </p:cNvSpPr>
          <p:nvPr/>
        </p:nvSpPr>
        <p:spPr bwMode="auto">
          <a:xfrm>
            <a:off x="2819400" y="19812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  <a:endParaRPr lang="en-US">
              <a:latin typeface="Times New Roman" charset="0"/>
            </a:endParaRPr>
          </a:p>
        </p:txBody>
      </p:sp>
      <p:sp>
        <p:nvSpPr>
          <p:cNvPr id="188429" name="Rectangle 13"/>
          <p:cNvSpPr>
            <a:spLocks noChangeArrowheads="1"/>
          </p:cNvSpPr>
          <p:nvPr/>
        </p:nvSpPr>
        <p:spPr bwMode="auto">
          <a:xfrm>
            <a:off x="3962400" y="19812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Athens</a:t>
            </a:r>
            <a:endParaRPr lang="en-US">
              <a:latin typeface="Times New Roman" charset="0"/>
            </a:endParaRPr>
          </a:p>
        </p:txBody>
      </p:sp>
      <p:sp>
        <p:nvSpPr>
          <p:cNvPr id="188440" name="Rectangle 24"/>
          <p:cNvSpPr>
            <a:spLocks noChangeArrowheads="1"/>
          </p:cNvSpPr>
          <p:nvPr/>
        </p:nvSpPr>
        <p:spPr bwMode="auto">
          <a:xfrm>
            <a:off x="6705600" y="1676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88441" name="Rectangle 25"/>
          <p:cNvSpPr>
            <a:spLocks noChangeArrowheads="1"/>
          </p:cNvSpPr>
          <p:nvPr/>
        </p:nvSpPr>
        <p:spPr bwMode="auto">
          <a:xfrm>
            <a:off x="6705600" y="1981200"/>
            <a:ext cx="685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 b="1" dirty="0">
                <a:solidFill>
                  <a:srgbClr val="CC0000"/>
                </a:solidFill>
                <a:latin typeface="Times New Roman" charset="0"/>
              </a:rPr>
              <a:t>S6</a:t>
            </a:r>
            <a:endParaRPr lang="en-US" b="1" dirty="0">
              <a:solidFill>
                <a:srgbClr val="CC0000"/>
              </a:solidFill>
              <a:latin typeface="Times New Roman" charset="0"/>
            </a:endParaRPr>
          </a:p>
        </p:txBody>
      </p:sp>
      <p:sp>
        <p:nvSpPr>
          <p:cNvPr id="188442" name="Rectangle 26"/>
          <p:cNvSpPr>
            <a:spLocks noChangeArrowheads="1"/>
          </p:cNvSpPr>
          <p:nvPr/>
        </p:nvSpPr>
        <p:spPr bwMode="auto">
          <a:xfrm>
            <a:off x="7391400" y="1676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P#</a:t>
            </a:r>
            <a:endParaRPr lang="en-US">
              <a:latin typeface="Times New Roman" charset="0"/>
            </a:endParaRPr>
          </a:p>
        </p:txBody>
      </p:sp>
      <p:sp>
        <p:nvSpPr>
          <p:cNvPr id="188443" name="Rectangle 27"/>
          <p:cNvSpPr>
            <a:spLocks noChangeArrowheads="1"/>
          </p:cNvSpPr>
          <p:nvPr/>
        </p:nvSpPr>
        <p:spPr bwMode="auto">
          <a:xfrm>
            <a:off x="7391400" y="1981200"/>
            <a:ext cx="685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P6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P5</a:t>
            </a:r>
            <a:endParaRPr lang="en-US">
              <a:latin typeface="Times New Roman" charset="0"/>
            </a:endParaRPr>
          </a:p>
        </p:txBody>
      </p:sp>
      <p:sp>
        <p:nvSpPr>
          <p:cNvPr id="188444" name="Rectangle 28"/>
          <p:cNvSpPr>
            <a:spLocks noChangeArrowheads="1"/>
          </p:cNvSpPr>
          <p:nvPr/>
        </p:nvSpPr>
        <p:spPr bwMode="auto">
          <a:xfrm>
            <a:off x="8077200" y="16764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QTY</a:t>
            </a:r>
            <a:endParaRPr lang="en-US">
              <a:latin typeface="Times New Roman" charset="0"/>
            </a:endParaRPr>
          </a:p>
        </p:txBody>
      </p:sp>
      <p:sp>
        <p:nvSpPr>
          <p:cNvPr id="188445" name="Rectangle 29"/>
          <p:cNvSpPr>
            <a:spLocks noChangeArrowheads="1"/>
          </p:cNvSpPr>
          <p:nvPr/>
        </p:nvSpPr>
        <p:spPr bwMode="auto">
          <a:xfrm>
            <a:off x="8077200" y="1981200"/>
            <a:ext cx="685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300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  <a:endParaRPr lang="en-US">
              <a:latin typeface="Times New Roman" charset="0"/>
            </a:endParaRPr>
          </a:p>
        </p:txBody>
      </p:sp>
      <p:sp>
        <p:nvSpPr>
          <p:cNvPr id="188448" name="Text Box 32"/>
          <p:cNvSpPr txBox="1">
            <a:spLocks noChangeArrowheads="1"/>
          </p:cNvSpPr>
          <p:nvPr/>
        </p:nvSpPr>
        <p:spPr bwMode="auto">
          <a:xfrm>
            <a:off x="8229600" y="1295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charset="0"/>
              </a:rPr>
              <a:t>SP</a:t>
            </a:r>
          </a:p>
        </p:txBody>
      </p:sp>
      <p:sp>
        <p:nvSpPr>
          <p:cNvPr id="188449" name="Text Box 33"/>
          <p:cNvSpPr txBox="1">
            <a:spLocks noChangeArrowheads="1"/>
          </p:cNvSpPr>
          <p:nvPr/>
        </p:nvSpPr>
        <p:spPr bwMode="auto">
          <a:xfrm>
            <a:off x="5105400" y="2614136"/>
            <a:ext cx="1600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rgbClr val="CC0000"/>
                </a:solidFill>
              </a:rPr>
              <a:t>S6 in SP table, but No S6 in Supplier table</a:t>
            </a:r>
            <a:endParaRPr lang="en-US" sz="2800" b="1" dirty="0">
              <a:solidFill>
                <a:srgbClr val="CC0000"/>
              </a:solidFill>
            </a:endParaRPr>
          </a:p>
        </p:txBody>
      </p:sp>
      <p:sp>
        <p:nvSpPr>
          <p:cNvPr id="188451" name="Rectangle 35"/>
          <p:cNvSpPr>
            <a:spLocks noChangeArrowheads="1"/>
          </p:cNvSpPr>
          <p:nvPr/>
        </p:nvSpPr>
        <p:spPr bwMode="auto">
          <a:xfrm>
            <a:off x="914400" y="41148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P#</a:t>
            </a:r>
            <a:endParaRPr lang="en-US">
              <a:latin typeface="Times New Roman" charset="0"/>
            </a:endParaRPr>
          </a:p>
        </p:txBody>
      </p:sp>
      <p:sp>
        <p:nvSpPr>
          <p:cNvPr id="188452" name="Rectangle 36"/>
          <p:cNvSpPr>
            <a:spLocks noChangeArrowheads="1"/>
          </p:cNvSpPr>
          <p:nvPr/>
        </p:nvSpPr>
        <p:spPr bwMode="auto">
          <a:xfrm>
            <a:off x="16002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PNAME</a:t>
            </a:r>
            <a:endParaRPr lang="en-US">
              <a:latin typeface="Times New Roman" charset="0"/>
            </a:endParaRPr>
          </a:p>
        </p:txBody>
      </p:sp>
      <p:sp>
        <p:nvSpPr>
          <p:cNvPr id="188453" name="Rectangle 37"/>
          <p:cNvSpPr>
            <a:spLocks noChangeArrowheads="1"/>
          </p:cNvSpPr>
          <p:nvPr/>
        </p:nvSpPr>
        <p:spPr bwMode="auto">
          <a:xfrm>
            <a:off x="27432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COLOR</a:t>
            </a:r>
            <a:endParaRPr lang="en-US">
              <a:latin typeface="Times New Roman" charset="0"/>
            </a:endParaRPr>
          </a:p>
        </p:txBody>
      </p:sp>
      <p:sp>
        <p:nvSpPr>
          <p:cNvPr id="188454" name="Rectangle 38"/>
          <p:cNvSpPr>
            <a:spLocks noChangeArrowheads="1"/>
          </p:cNvSpPr>
          <p:nvPr/>
        </p:nvSpPr>
        <p:spPr bwMode="auto">
          <a:xfrm>
            <a:off x="38862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WEIGHT</a:t>
            </a:r>
            <a:endParaRPr lang="en-US">
              <a:latin typeface="Times New Roman" charset="0"/>
            </a:endParaRPr>
          </a:p>
        </p:txBody>
      </p:sp>
      <p:sp>
        <p:nvSpPr>
          <p:cNvPr id="188455" name="Rectangle 39"/>
          <p:cNvSpPr>
            <a:spLocks noChangeArrowheads="1"/>
          </p:cNvSpPr>
          <p:nvPr/>
        </p:nvSpPr>
        <p:spPr bwMode="auto">
          <a:xfrm>
            <a:off x="914400" y="4419600"/>
            <a:ext cx="6858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P1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P6</a:t>
            </a:r>
            <a:endParaRPr lang="en-US">
              <a:latin typeface="Times New Roman" charset="0"/>
            </a:endParaRPr>
          </a:p>
        </p:txBody>
      </p:sp>
      <p:sp>
        <p:nvSpPr>
          <p:cNvPr id="188456" name="Rectangle 40"/>
          <p:cNvSpPr>
            <a:spLocks noChangeArrowheads="1"/>
          </p:cNvSpPr>
          <p:nvPr/>
        </p:nvSpPr>
        <p:spPr bwMode="auto">
          <a:xfrm>
            <a:off x="16002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Nut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Bolt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Screw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Screw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Cam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Cog</a:t>
            </a:r>
            <a:endParaRPr lang="en-US">
              <a:latin typeface="Times New Roman" charset="0"/>
            </a:endParaRPr>
          </a:p>
        </p:txBody>
      </p:sp>
      <p:sp>
        <p:nvSpPr>
          <p:cNvPr id="188457" name="Rectangle 41"/>
          <p:cNvSpPr>
            <a:spLocks noChangeArrowheads="1"/>
          </p:cNvSpPr>
          <p:nvPr/>
        </p:nvSpPr>
        <p:spPr bwMode="auto">
          <a:xfrm>
            <a:off x="27432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Red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Green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Blue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Red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Blue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Red</a:t>
            </a:r>
          </a:p>
        </p:txBody>
      </p:sp>
      <p:sp>
        <p:nvSpPr>
          <p:cNvPr id="188458" name="Rectangle 42"/>
          <p:cNvSpPr>
            <a:spLocks noChangeArrowheads="1"/>
          </p:cNvSpPr>
          <p:nvPr/>
        </p:nvSpPr>
        <p:spPr bwMode="auto">
          <a:xfrm>
            <a:off x="38862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17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19</a:t>
            </a:r>
            <a:endParaRPr lang="en-US">
              <a:latin typeface="Times New Roman" charset="0"/>
            </a:endParaRPr>
          </a:p>
        </p:txBody>
      </p:sp>
      <p:sp>
        <p:nvSpPr>
          <p:cNvPr id="188459" name="Rectangle 43"/>
          <p:cNvSpPr>
            <a:spLocks noChangeArrowheads="1"/>
          </p:cNvSpPr>
          <p:nvPr/>
        </p:nvSpPr>
        <p:spPr bwMode="auto">
          <a:xfrm>
            <a:off x="5029200" y="41148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CITY</a:t>
            </a:r>
            <a:endParaRPr lang="en-US">
              <a:latin typeface="Times New Roman" charset="0"/>
            </a:endParaRPr>
          </a:p>
        </p:txBody>
      </p:sp>
      <p:sp>
        <p:nvSpPr>
          <p:cNvPr id="188460" name="Rectangle 44"/>
          <p:cNvSpPr>
            <a:spLocks noChangeArrowheads="1"/>
          </p:cNvSpPr>
          <p:nvPr/>
        </p:nvSpPr>
        <p:spPr bwMode="auto">
          <a:xfrm>
            <a:off x="5029200" y="4419600"/>
            <a:ext cx="1143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Rome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  <a:endParaRPr lang="en-US">
              <a:latin typeface="Times New Roman" charset="0"/>
            </a:endParaRPr>
          </a:p>
        </p:txBody>
      </p:sp>
      <p:sp>
        <p:nvSpPr>
          <p:cNvPr id="188461" name="Text Box 45"/>
          <p:cNvSpPr txBox="1">
            <a:spLocks noChangeArrowheads="1"/>
          </p:cNvSpPr>
          <p:nvPr/>
        </p:nvSpPr>
        <p:spPr bwMode="auto">
          <a:xfrm>
            <a:off x="914400" y="381000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1">
                <a:latin typeface="Times New Roman" charset="0"/>
              </a:rPr>
              <a:t>Parts</a:t>
            </a:r>
          </a:p>
        </p:txBody>
      </p:sp>
      <p:sp>
        <p:nvSpPr>
          <p:cNvPr id="188462" name="Line 46"/>
          <p:cNvSpPr>
            <a:spLocks noChangeShapeType="1"/>
          </p:cNvSpPr>
          <p:nvPr/>
        </p:nvSpPr>
        <p:spPr bwMode="auto">
          <a:xfrm>
            <a:off x="6019800" y="3342620"/>
            <a:ext cx="838200" cy="214378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8463" name="Text Box 47"/>
          <p:cNvSpPr txBox="1">
            <a:spLocks noChangeArrowheads="1"/>
          </p:cNvSpPr>
          <p:nvPr/>
        </p:nvSpPr>
        <p:spPr bwMode="auto">
          <a:xfrm>
            <a:off x="4114800" y="1371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1">
                <a:latin typeface="Times New Roman" charset="0"/>
              </a:rPr>
              <a:t>Supplier</a:t>
            </a:r>
          </a:p>
        </p:txBody>
      </p:sp>
      <p:sp>
        <p:nvSpPr>
          <p:cNvPr id="35" name="Line 46"/>
          <p:cNvSpPr>
            <a:spLocks noChangeShapeType="1"/>
          </p:cNvSpPr>
          <p:nvPr/>
        </p:nvSpPr>
        <p:spPr bwMode="auto">
          <a:xfrm flipH="1">
            <a:off x="1333500" y="3342620"/>
            <a:ext cx="4585446" cy="31498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25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6927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</p:txBody>
      </p:sp>
      <p:sp>
        <p:nvSpPr>
          <p:cNvPr id="1894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foreign key has a value that does not exist in its primary key column, we have a “missing link”: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 foreign key take null value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9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 null?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about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Course_title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609600" y="3429000"/>
            <a:ext cx="71866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1800" dirty="0"/>
              <a:t>	EMPLOYEE(</a:t>
            </a:r>
            <a:r>
              <a:rPr lang="en-US" sz="1800" u="sng" dirty="0" err="1"/>
              <a:t>EmpID</a:t>
            </a:r>
            <a:r>
              <a:rPr lang="en-US" sz="1800" dirty="0"/>
              <a:t>, Name, </a:t>
            </a:r>
            <a:r>
              <a:rPr lang="en-US" sz="1800" dirty="0" err="1"/>
              <a:t>Dept_name</a:t>
            </a:r>
            <a:r>
              <a:rPr lang="en-US" sz="1800" dirty="0"/>
              <a:t>, Salary, </a:t>
            </a:r>
            <a:r>
              <a:rPr lang="en-US" sz="1800" dirty="0" err="1"/>
              <a:t>Course_title</a:t>
            </a:r>
            <a:r>
              <a:rPr lang="en-US" sz="1800" dirty="0"/>
              <a:t>)</a:t>
            </a:r>
          </a:p>
        </p:txBody>
      </p:sp>
      <p:sp>
        <p:nvSpPr>
          <p:cNvPr id="2" name="Rectangle 1"/>
          <p:cNvSpPr/>
          <p:nvPr/>
        </p:nvSpPr>
        <p:spPr>
          <a:xfrm>
            <a:off x="152400" y="5276671"/>
            <a:ext cx="88392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800100" lvl="1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employee HAS TO belong to a department: No null here</a:t>
            </a:r>
          </a:p>
          <a:p>
            <a:pPr marL="800100" lvl="1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However, he may or may not take a course: Can be null</a:t>
            </a:r>
          </a:p>
          <a:p>
            <a:pPr marL="800100" lvl="1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Whether a foreign key can be a null or not actually reflects an entity’s participation situation: optional or mandatory? (Remember ER?)</a:t>
            </a:r>
          </a:p>
        </p:txBody>
      </p:sp>
    </p:spTree>
    <p:extLst>
      <p:ext uri="{BB962C8B-B14F-4D97-AF65-F5344CB8AC3E}">
        <p14:creationId xmlns:p14="http://schemas.microsoft.com/office/powerpoint/2010/main" val="658377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16082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</p:txBody>
      </p:sp>
      <p:sp>
        <p:nvSpPr>
          <p:cNvPr id="1904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82000" cy="51054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Referential Integrity is how relational model deals with inconsistency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if we need to delete “S4” from Supplier table?</a:t>
            </a:r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65532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90472" name="Rectangle 8"/>
          <p:cNvSpPr>
            <a:spLocks noChangeArrowheads="1"/>
          </p:cNvSpPr>
          <p:nvPr/>
        </p:nvSpPr>
        <p:spPr bwMode="auto">
          <a:xfrm>
            <a:off x="65532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 dirty="0">
                <a:latin typeface="Times New Roman" charset="0"/>
              </a:rPr>
              <a:t>S4</a:t>
            </a:r>
          </a:p>
          <a:p>
            <a:pPr algn="ctr" eaLnBrk="0" hangingPunct="0"/>
            <a:endParaRPr lang="en-US" b="1" dirty="0">
              <a:solidFill>
                <a:srgbClr val="CC0000"/>
              </a:solidFill>
              <a:latin typeface="Times New Roman" charset="0"/>
            </a:endParaRPr>
          </a:p>
        </p:txBody>
      </p:sp>
      <p:sp>
        <p:nvSpPr>
          <p:cNvPr id="190473" name="Rectangle 9"/>
          <p:cNvSpPr>
            <a:spLocks noChangeArrowheads="1"/>
          </p:cNvSpPr>
          <p:nvPr/>
        </p:nvSpPr>
        <p:spPr bwMode="auto">
          <a:xfrm>
            <a:off x="72390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P#</a:t>
            </a:r>
            <a:endParaRPr lang="en-US">
              <a:latin typeface="Times New Roman" charset="0"/>
            </a:endParaRPr>
          </a:p>
        </p:txBody>
      </p:sp>
      <p:sp>
        <p:nvSpPr>
          <p:cNvPr id="190474" name="Rectangle 10"/>
          <p:cNvSpPr>
            <a:spLocks noChangeArrowheads="1"/>
          </p:cNvSpPr>
          <p:nvPr/>
        </p:nvSpPr>
        <p:spPr bwMode="auto">
          <a:xfrm>
            <a:off x="72390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P6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endParaRPr lang="en-US">
              <a:latin typeface="Times New Roman" charset="0"/>
            </a:endParaRPr>
          </a:p>
        </p:txBody>
      </p:sp>
      <p:sp>
        <p:nvSpPr>
          <p:cNvPr id="190475" name="Rectangle 11"/>
          <p:cNvSpPr>
            <a:spLocks noChangeArrowheads="1"/>
          </p:cNvSpPr>
          <p:nvPr/>
        </p:nvSpPr>
        <p:spPr bwMode="auto">
          <a:xfrm>
            <a:off x="79248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QTY</a:t>
            </a:r>
            <a:endParaRPr lang="en-US">
              <a:latin typeface="Times New Roman" charset="0"/>
            </a:endParaRPr>
          </a:p>
        </p:txBody>
      </p:sp>
      <p:sp>
        <p:nvSpPr>
          <p:cNvPr id="190476" name="Rectangle 12"/>
          <p:cNvSpPr>
            <a:spLocks noChangeArrowheads="1"/>
          </p:cNvSpPr>
          <p:nvPr/>
        </p:nvSpPr>
        <p:spPr bwMode="auto">
          <a:xfrm>
            <a:off x="79248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300</a:t>
            </a:r>
          </a:p>
          <a:p>
            <a:pPr algn="ctr" eaLnBrk="0" hangingPunct="0"/>
            <a:endParaRPr lang="en-US">
              <a:latin typeface="Times New Roman" charset="0"/>
            </a:endParaRPr>
          </a:p>
        </p:txBody>
      </p:sp>
      <p:sp>
        <p:nvSpPr>
          <p:cNvPr id="190477" name="Rectangle 13"/>
          <p:cNvSpPr>
            <a:spLocks noChangeArrowheads="1"/>
          </p:cNvSpPr>
          <p:nvPr/>
        </p:nvSpPr>
        <p:spPr bwMode="auto">
          <a:xfrm>
            <a:off x="1905000" y="38862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90478" name="Rectangle 14"/>
          <p:cNvSpPr>
            <a:spLocks noChangeArrowheads="1"/>
          </p:cNvSpPr>
          <p:nvPr/>
        </p:nvSpPr>
        <p:spPr bwMode="auto">
          <a:xfrm>
            <a:off x="2590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SNAME</a:t>
            </a:r>
            <a:endParaRPr lang="en-US">
              <a:latin typeface="Times New Roman" charset="0"/>
            </a:endParaRPr>
          </a:p>
        </p:txBody>
      </p:sp>
      <p:sp>
        <p:nvSpPr>
          <p:cNvPr id="190479" name="Rectangle 15"/>
          <p:cNvSpPr>
            <a:spLocks noChangeArrowheads="1"/>
          </p:cNvSpPr>
          <p:nvPr/>
        </p:nvSpPr>
        <p:spPr bwMode="auto">
          <a:xfrm>
            <a:off x="3733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STATUS</a:t>
            </a:r>
            <a:endParaRPr lang="en-US">
              <a:latin typeface="Times New Roman" charset="0"/>
            </a:endParaRPr>
          </a:p>
        </p:txBody>
      </p:sp>
      <p:sp>
        <p:nvSpPr>
          <p:cNvPr id="190480" name="Rectangle 16"/>
          <p:cNvSpPr>
            <a:spLocks noChangeArrowheads="1"/>
          </p:cNvSpPr>
          <p:nvPr/>
        </p:nvSpPr>
        <p:spPr bwMode="auto">
          <a:xfrm>
            <a:off x="4876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CITY</a:t>
            </a:r>
            <a:endParaRPr lang="en-US">
              <a:latin typeface="Times New Roman" charset="0"/>
            </a:endParaRPr>
          </a:p>
        </p:txBody>
      </p:sp>
      <p:sp>
        <p:nvSpPr>
          <p:cNvPr id="190481" name="Rectangle 17"/>
          <p:cNvSpPr>
            <a:spLocks noChangeArrowheads="1"/>
          </p:cNvSpPr>
          <p:nvPr/>
        </p:nvSpPr>
        <p:spPr bwMode="auto">
          <a:xfrm>
            <a:off x="1905000" y="4191000"/>
            <a:ext cx="68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S5</a:t>
            </a:r>
            <a:endParaRPr lang="en-US">
              <a:latin typeface="Times New Roman" charset="0"/>
            </a:endParaRPr>
          </a:p>
        </p:txBody>
      </p:sp>
      <p:sp>
        <p:nvSpPr>
          <p:cNvPr id="190482" name="Rectangle 18"/>
          <p:cNvSpPr>
            <a:spLocks noChangeArrowheads="1"/>
          </p:cNvSpPr>
          <p:nvPr/>
        </p:nvSpPr>
        <p:spPr bwMode="auto">
          <a:xfrm>
            <a:off x="2590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Smith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Jones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Blake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Clark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Adams</a:t>
            </a:r>
            <a:endParaRPr lang="en-US">
              <a:latin typeface="Times New Roman" charset="0"/>
            </a:endParaRPr>
          </a:p>
        </p:txBody>
      </p:sp>
      <p:sp>
        <p:nvSpPr>
          <p:cNvPr id="190483" name="Rectangle 19"/>
          <p:cNvSpPr>
            <a:spLocks noChangeArrowheads="1"/>
          </p:cNvSpPr>
          <p:nvPr/>
        </p:nvSpPr>
        <p:spPr bwMode="auto">
          <a:xfrm>
            <a:off x="3733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  <a:endParaRPr lang="en-US">
              <a:latin typeface="Times New Roman" charset="0"/>
            </a:endParaRPr>
          </a:p>
        </p:txBody>
      </p:sp>
      <p:sp>
        <p:nvSpPr>
          <p:cNvPr id="190484" name="Rectangle 20"/>
          <p:cNvSpPr>
            <a:spLocks noChangeArrowheads="1"/>
          </p:cNvSpPr>
          <p:nvPr/>
        </p:nvSpPr>
        <p:spPr bwMode="auto">
          <a:xfrm>
            <a:off x="4876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Athens</a:t>
            </a:r>
            <a:endParaRPr lang="en-US">
              <a:latin typeface="Times New Roman" charset="0"/>
            </a:endParaRPr>
          </a:p>
        </p:txBody>
      </p:sp>
      <p:sp>
        <p:nvSpPr>
          <p:cNvPr id="190485" name="Text Box 21"/>
          <p:cNvSpPr txBox="1">
            <a:spLocks noChangeArrowheads="1"/>
          </p:cNvSpPr>
          <p:nvPr/>
        </p:nvSpPr>
        <p:spPr bwMode="auto">
          <a:xfrm>
            <a:off x="533400" y="3962400"/>
            <a:ext cx="129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Supplier</a:t>
            </a:r>
          </a:p>
        </p:txBody>
      </p:sp>
      <p:sp>
        <p:nvSpPr>
          <p:cNvPr id="190486" name="Line 22"/>
          <p:cNvSpPr>
            <a:spLocks noChangeShapeType="1"/>
          </p:cNvSpPr>
          <p:nvPr/>
        </p:nvSpPr>
        <p:spPr bwMode="auto">
          <a:xfrm>
            <a:off x="1676400" y="5334000"/>
            <a:ext cx="44958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0487" name="Line 23"/>
          <p:cNvSpPr>
            <a:spLocks noChangeShapeType="1"/>
          </p:cNvSpPr>
          <p:nvPr/>
        </p:nvSpPr>
        <p:spPr bwMode="auto">
          <a:xfrm>
            <a:off x="6096000" y="5562600"/>
            <a:ext cx="6096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0488" name="Line 24"/>
          <p:cNvSpPr>
            <a:spLocks noChangeShapeType="1"/>
          </p:cNvSpPr>
          <p:nvPr/>
        </p:nvSpPr>
        <p:spPr bwMode="auto">
          <a:xfrm>
            <a:off x="6096000" y="5943600"/>
            <a:ext cx="6096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28800" y="5181600"/>
            <a:ext cx="42672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71600" y="6172200"/>
            <a:ext cx="480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to the rows in SP that use S4?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0" y="2667000"/>
            <a:ext cx="647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34905700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0273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</p:txBody>
      </p:sp>
      <p:sp>
        <p:nvSpPr>
          <p:cNvPr id="191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05691" y="1440873"/>
            <a:ext cx="83820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Deletion: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 solution: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DELETE CASCADE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row in Supplier and two rows in SP are deleted</a:t>
            </a:r>
          </a:p>
          <a:p>
            <a:pPr lvl="1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1600" b="1" dirty="0"/>
          </a:p>
        </p:txBody>
      </p:sp>
      <p:sp>
        <p:nvSpPr>
          <p:cNvPr id="191492" name="Rectangle 4"/>
          <p:cNvSpPr>
            <a:spLocks noChangeArrowheads="1"/>
          </p:cNvSpPr>
          <p:nvPr/>
        </p:nvSpPr>
        <p:spPr bwMode="auto">
          <a:xfrm>
            <a:off x="65532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91493" name="Rectangle 5"/>
          <p:cNvSpPr>
            <a:spLocks noChangeArrowheads="1"/>
          </p:cNvSpPr>
          <p:nvPr/>
        </p:nvSpPr>
        <p:spPr bwMode="auto">
          <a:xfrm>
            <a:off x="65532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endParaRPr lang="en-US" b="1">
              <a:solidFill>
                <a:srgbClr val="CC0000"/>
              </a:solidFill>
              <a:latin typeface="Times New Roman" charset="0"/>
            </a:endParaRPr>
          </a:p>
        </p:txBody>
      </p:sp>
      <p:sp>
        <p:nvSpPr>
          <p:cNvPr id="191494" name="Rectangle 6"/>
          <p:cNvSpPr>
            <a:spLocks noChangeArrowheads="1"/>
          </p:cNvSpPr>
          <p:nvPr/>
        </p:nvSpPr>
        <p:spPr bwMode="auto">
          <a:xfrm>
            <a:off x="72390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P#</a:t>
            </a:r>
            <a:endParaRPr lang="en-US">
              <a:latin typeface="Times New Roman" charset="0"/>
            </a:endParaRPr>
          </a:p>
        </p:txBody>
      </p:sp>
      <p:sp>
        <p:nvSpPr>
          <p:cNvPr id="191495" name="Rectangle 7"/>
          <p:cNvSpPr>
            <a:spLocks noChangeArrowheads="1"/>
          </p:cNvSpPr>
          <p:nvPr/>
        </p:nvSpPr>
        <p:spPr bwMode="auto">
          <a:xfrm>
            <a:off x="72390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P6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endParaRPr lang="en-US">
              <a:latin typeface="Times New Roman" charset="0"/>
            </a:endParaRPr>
          </a:p>
        </p:txBody>
      </p:sp>
      <p:sp>
        <p:nvSpPr>
          <p:cNvPr id="191496" name="Rectangle 8"/>
          <p:cNvSpPr>
            <a:spLocks noChangeArrowheads="1"/>
          </p:cNvSpPr>
          <p:nvPr/>
        </p:nvSpPr>
        <p:spPr bwMode="auto">
          <a:xfrm>
            <a:off x="79248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QTY</a:t>
            </a:r>
            <a:endParaRPr lang="en-US">
              <a:latin typeface="Times New Roman" charset="0"/>
            </a:endParaRPr>
          </a:p>
        </p:txBody>
      </p:sp>
      <p:sp>
        <p:nvSpPr>
          <p:cNvPr id="191497" name="Rectangle 9"/>
          <p:cNvSpPr>
            <a:spLocks noChangeArrowheads="1"/>
          </p:cNvSpPr>
          <p:nvPr/>
        </p:nvSpPr>
        <p:spPr bwMode="auto">
          <a:xfrm>
            <a:off x="79248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300</a:t>
            </a:r>
          </a:p>
          <a:p>
            <a:pPr algn="ctr" eaLnBrk="0" hangingPunct="0"/>
            <a:endParaRPr lang="en-US">
              <a:latin typeface="Times New Roman" charset="0"/>
            </a:endParaRPr>
          </a:p>
        </p:txBody>
      </p:sp>
      <p:sp>
        <p:nvSpPr>
          <p:cNvPr id="191498" name="Rectangle 10"/>
          <p:cNvSpPr>
            <a:spLocks noChangeArrowheads="1"/>
          </p:cNvSpPr>
          <p:nvPr/>
        </p:nvSpPr>
        <p:spPr bwMode="auto">
          <a:xfrm>
            <a:off x="1905000" y="38862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91499" name="Rectangle 11"/>
          <p:cNvSpPr>
            <a:spLocks noChangeArrowheads="1"/>
          </p:cNvSpPr>
          <p:nvPr/>
        </p:nvSpPr>
        <p:spPr bwMode="auto">
          <a:xfrm>
            <a:off x="2590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SNAME</a:t>
            </a:r>
            <a:endParaRPr lang="en-US">
              <a:latin typeface="Times New Roman" charset="0"/>
            </a:endParaRPr>
          </a:p>
        </p:txBody>
      </p:sp>
      <p:sp>
        <p:nvSpPr>
          <p:cNvPr id="191500" name="Rectangle 12"/>
          <p:cNvSpPr>
            <a:spLocks noChangeArrowheads="1"/>
          </p:cNvSpPr>
          <p:nvPr/>
        </p:nvSpPr>
        <p:spPr bwMode="auto">
          <a:xfrm>
            <a:off x="3733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STATUS</a:t>
            </a:r>
            <a:endParaRPr lang="en-US">
              <a:latin typeface="Times New Roman" charset="0"/>
            </a:endParaRPr>
          </a:p>
        </p:txBody>
      </p:sp>
      <p:sp>
        <p:nvSpPr>
          <p:cNvPr id="191501" name="Rectangle 13"/>
          <p:cNvSpPr>
            <a:spLocks noChangeArrowheads="1"/>
          </p:cNvSpPr>
          <p:nvPr/>
        </p:nvSpPr>
        <p:spPr bwMode="auto">
          <a:xfrm>
            <a:off x="4876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CITY</a:t>
            </a:r>
            <a:endParaRPr lang="en-US">
              <a:latin typeface="Times New Roman" charset="0"/>
            </a:endParaRPr>
          </a:p>
        </p:txBody>
      </p:sp>
      <p:sp>
        <p:nvSpPr>
          <p:cNvPr id="191502" name="Rectangle 14"/>
          <p:cNvSpPr>
            <a:spLocks noChangeArrowheads="1"/>
          </p:cNvSpPr>
          <p:nvPr/>
        </p:nvSpPr>
        <p:spPr bwMode="auto">
          <a:xfrm>
            <a:off x="1905000" y="4191000"/>
            <a:ext cx="68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S5</a:t>
            </a:r>
            <a:endParaRPr lang="en-US">
              <a:latin typeface="Times New Roman" charset="0"/>
            </a:endParaRPr>
          </a:p>
        </p:txBody>
      </p:sp>
      <p:sp>
        <p:nvSpPr>
          <p:cNvPr id="191503" name="Rectangle 15"/>
          <p:cNvSpPr>
            <a:spLocks noChangeArrowheads="1"/>
          </p:cNvSpPr>
          <p:nvPr/>
        </p:nvSpPr>
        <p:spPr bwMode="auto">
          <a:xfrm>
            <a:off x="2590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Smith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Jones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Blake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Clark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Adams</a:t>
            </a:r>
            <a:endParaRPr lang="en-US">
              <a:latin typeface="Times New Roman" charset="0"/>
            </a:endParaRPr>
          </a:p>
        </p:txBody>
      </p:sp>
      <p:sp>
        <p:nvSpPr>
          <p:cNvPr id="191504" name="Rectangle 16"/>
          <p:cNvSpPr>
            <a:spLocks noChangeArrowheads="1"/>
          </p:cNvSpPr>
          <p:nvPr/>
        </p:nvSpPr>
        <p:spPr bwMode="auto">
          <a:xfrm>
            <a:off x="3733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  <a:endParaRPr lang="en-US">
              <a:latin typeface="Times New Roman" charset="0"/>
            </a:endParaRPr>
          </a:p>
        </p:txBody>
      </p:sp>
      <p:sp>
        <p:nvSpPr>
          <p:cNvPr id="191505" name="Rectangle 17"/>
          <p:cNvSpPr>
            <a:spLocks noChangeArrowheads="1"/>
          </p:cNvSpPr>
          <p:nvPr/>
        </p:nvSpPr>
        <p:spPr bwMode="auto">
          <a:xfrm>
            <a:off x="4876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Athens</a:t>
            </a:r>
            <a:endParaRPr lang="en-US">
              <a:latin typeface="Times New Roman" charset="0"/>
            </a:endParaRPr>
          </a:p>
        </p:txBody>
      </p:sp>
      <p:sp>
        <p:nvSpPr>
          <p:cNvPr id="191506" name="Text Box 18"/>
          <p:cNvSpPr txBox="1">
            <a:spLocks noChangeArrowheads="1"/>
          </p:cNvSpPr>
          <p:nvPr/>
        </p:nvSpPr>
        <p:spPr bwMode="auto">
          <a:xfrm>
            <a:off x="533400" y="3962400"/>
            <a:ext cx="129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Supplier</a:t>
            </a:r>
          </a:p>
        </p:txBody>
      </p:sp>
      <p:sp>
        <p:nvSpPr>
          <p:cNvPr id="191507" name="Line 19"/>
          <p:cNvSpPr>
            <a:spLocks noChangeShapeType="1"/>
          </p:cNvSpPr>
          <p:nvPr/>
        </p:nvSpPr>
        <p:spPr bwMode="auto">
          <a:xfrm>
            <a:off x="1676400" y="5334000"/>
            <a:ext cx="44958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1510" name="Line 22"/>
          <p:cNvSpPr>
            <a:spLocks noChangeShapeType="1"/>
          </p:cNvSpPr>
          <p:nvPr/>
        </p:nvSpPr>
        <p:spPr bwMode="auto">
          <a:xfrm>
            <a:off x="6553200" y="5638800"/>
            <a:ext cx="21336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1511" name="Line 23"/>
          <p:cNvSpPr>
            <a:spLocks noChangeShapeType="1"/>
          </p:cNvSpPr>
          <p:nvPr/>
        </p:nvSpPr>
        <p:spPr bwMode="auto">
          <a:xfrm>
            <a:off x="6553200" y="5943600"/>
            <a:ext cx="21336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5905500" y="2913529"/>
            <a:ext cx="495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25782917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820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Deletion: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Second solution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DELETE RESTRICT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records are deleted in either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supplier or SP tables</a:t>
            </a:r>
          </a:p>
          <a:p>
            <a:pPr lvl="1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1600" b="1" dirty="0"/>
          </a:p>
        </p:txBody>
      </p:sp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65532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65532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endParaRPr lang="en-US" b="1">
              <a:solidFill>
                <a:srgbClr val="CC0000"/>
              </a:solidFill>
              <a:latin typeface="Times New Roman" charset="0"/>
            </a:endParaRPr>
          </a:p>
        </p:txBody>
      </p:sp>
      <p:sp>
        <p:nvSpPr>
          <p:cNvPr id="192518" name="Rectangle 6"/>
          <p:cNvSpPr>
            <a:spLocks noChangeArrowheads="1"/>
          </p:cNvSpPr>
          <p:nvPr/>
        </p:nvSpPr>
        <p:spPr bwMode="auto">
          <a:xfrm>
            <a:off x="72390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P#</a:t>
            </a:r>
            <a:endParaRPr lang="en-US">
              <a:latin typeface="Times New Roman" charset="0"/>
            </a:endParaRPr>
          </a:p>
        </p:txBody>
      </p:sp>
      <p:sp>
        <p:nvSpPr>
          <p:cNvPr id="192519" name="Rectangle 7"/>
          <p:cNvSpPr>
            <a:spLocks noChangeArrowheads="1"/>
          </p:cNvSpPr>
          <p:nvPr/>
        </p:nvSpPr>
        <p:spPr bwMode="auto">
          <a:xfrm>
            <a:off x="72390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P6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endParaRPr lang="en-US">
              <a:latin typeface="Times New Roman" charset="0"/>
            </a:endParaRPr>
          </a:p>
        </p:txBody>
      </p:sp>
      <p:sp>
        <p:nvSpPr>
          <p:cNvPr id="192520" name="Rectangle 8"/>
          <p:cNvSpPr>
            <a:spLocks noChangeArrowheads="1"/>
          </p:cNvSpPr>
          <p:nvPr/>
        </p:nvSpPr>
        <p:spPr bwMode="auto">
          <a:xfrm>
            <a:off x="79248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QTY</a:t>
            </a:r>
            <a:endParaRPr lang="en-US">
              <a:latin typeface="Times New Roman" charset="0"/>
            </a:endParaRPr>
          </a:p>
        </p:txBody>
      </p:sp>
      <p:sp>
        <p:nvSpPr>
          <p:cNvPr id="192521" name="Rectangle 9"/>
          <p:cNvSpPr>
            <a:spLocks noChangeArrowheads="1"/>
          </p:cNvSpPr>
          <p:nvPr/>
        </p:nvSpPr>
        <p:spPr bwMode="auto">
          <a:xfrm>
            <a:off x="79248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300</a:t>
            </a:r>
          </a:p>
          <a:p>
            <a:pPr algn="ctr" eaLnBrk="0" hangingPunct="0"/>
            <a:endParaRPr lang="en-US">
              <a:latin typeface="Times New Roman" charset="0"/>
            </a:endParaRPr>
          </a:p>
        </p:txBody>
      </p:sp>
      <p:sp>
        <p:nvSpPr>
          <p:cNvPr id="192522" name="Rectangle 10"/>
          <p:cNvSpPr>
            <a:spLocks noChangeArrowheads="1"/>
          </p:cNvSpPr>
          <p:nvPr/>
        </p:nvSpPr>
        <p:spPr bwMode="auto">
          <a:xfrm>
            <a:off x="1905000" y="38862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92523" name="Rectangle 11"/>
          <p:cNvSpPr>
            <a:spLocks noChangeArrowheads="1"/>
          </p:cNvSpPr>
          <p:nvPr/>
        </p:nvSpPr>
        <p:spPr bwMode="auto">
          <a:xfrm>
            <a:off x="2590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SNAME</a:t>
            </a:r>
            <a:endParaRPr lang="en-US">
              <a:latin typeface="Times New Roman" charset="0"/>
            </a:endParaRPr>
          </a:p>
        </p:txBody>
      </p:sp>
      <p:sp>
        <p:nvSpPr>
          <p:cNvPr id="192524" name="Rectangle 12"/>
          <p:cNvSpPr>
            <a:spLocks noChangeArrowheads="1"/>
          </p:cNvSpPr>
          <p:nvPr/>
        </p:nvSpPr>
        <p:spPr bwMode="auto">
          <a:xfrm>
            <a:off x="3733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STATUS</a:t>
            </a:r>
            <a:endParaRPr lang="en-US">
              <a:latin typeface="Times New Roman" charset="0"/>
            </a:endParaRPr>
          </a:p>
        </p:txBody>
      </p:sp>
      <p:sp>
        <p:nvSpPr>
          <p:cNvPr id="192525" name="Rectangle 13"/>
          <p:cNvSpPr>
            <a:spLocks noChangeArrowheads="1"/>
          </p:cNvSpPr>
          <p:nvPr/>
        </p:nvSpPr>
        <p:spPr bwMode="auto">
          <a:xfrm>
            <a:off x="4876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CITY</a:t>
            </a:r>
            <a:endParaRPr lang="en-US">
              <a:latin typeface="Times New Roman" charset="0"/>
            </a:endParaRPr>
          </a:p>
        </p:txBody>
      </p:sp>
      <p:sp>
        <p:nvSpPr>
          <p:cNvPr id="192526" name="Rectangle 14"/>
          <p:cNvSpPr>
            <a:spLocks noChangeArrowheads="1"/>
          </p:cNvSpPr>
          <p:nvPr/>
        </p:nvSpPr>
        <p:spPr bwMode="auto">
          <a:xfrm>
            <a:off x="1905000" y="4191000"/>
            <a:ext cx="68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S5</a:t>
            </a:r>
            <a:endParaRPr lang="en-US">
              <a:latin typeface="Times New Roman" charset="0"/>
            </a:endParaRPr>
          </a:p>
        </p:txBody>
      </p:sp>
      <p:sp>
        <p:nvSpPr>
          <p:cNvPr id="192527" name="Rectangle 15"/>
          <p:cNvSpPr>
            <a:spLocks noChangeArrowheads="1"/>
          </p:cNvSpPr>
          <p:nvPr/>
        </p:nvSpPr>
        <p:spPr bwMode="auto">
          <a:xfrm>
            <a:off x="2590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Smith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Jones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Blake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Clark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Adams</a:t>
            </a:r>
            <a:endParaRPr lang="en-US">
              <a:latin typeface="Times New Roman" charset="0"/>
            </a:endParaRPr>
          </a:p>
        </p:txBody>
      </p:sp>
      <p:sp>
        <p:nvSpPr>
          <p:cNvPr id="192528" name="Rectangle 16"/>
          <p:cNvSpPr>
            <a:spLocks noChangeArrowheads="1"/>
          </p:cNvSpPr>
          <p:nvPr/>
        </p:nvSpPr>
        <p:spPr bwMode="auto">
          <a:xfrm>
            <a:off x="3733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  <a:endParaRPr lang="en-US">
              <a:latin typeface="Times New Roman" charset="0"/>
            </a:endParaRPr>
          </a:p>
        </p:txBody>
      </p:sp>
      <p:sp>
        <p:nvSpPr>
          <p:cNvPr id="192529" name="Rectangle 17"/>
          <p:cNvSpPr>
            <a:spLocks noChangeArrowheads="1"/>
          </p:cNvSpPr>
          <p:nvPr/>
        </p:nvSpPr>
        <p:spPr bwMode="auto">
          <a:xfrm>
            <a:off x="4876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Athens</a:t>
            </a:r>
            <a:endParaRPr lang="en-US">
              <a:latin typeface="Times New Roman" charset="0"/>
            </a:endParaRPr>
          </a:p>
        </p:txBody>
      </p:sp>
      <p:sp>
        <p:nvSpPr>
          <p:cNvPr id="192530" name="Text Box 18"/>
          <p:cNvSpPr txBox="1">
            <a:spLocks noChangeArrowheads="1"/>
          </p:cNvSpPr>
          <p:nvPr/>
        </p:nvSpPr>
        <p:spPr bwMode="auto">
          <a:xfrm>
            <a:off x="497541" y="3962400"/>
            <a:ext cx="129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Supplier</a:t>
            </a:r>
          </a:p>
        </p:txBody>
      </p:sp>
      <p:sp>
        <p:nvSpPr>
          <p:cNvPr id="192531" name="Line 19"/>
          <p:cNvSpPr>
            <a:spLocks noChangeShapeType="1"/>
          </p:cNvSpPr>
          <p:nvPr/>
        </p:nvSpPr>
        <p:spPr bwMode="auto">
          <a:xfrm>
            <a:off x="1676400" y="5334000"/>
            <a:ext cx="44958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2534" name="Line 22"/>
          <p:cNvSpPr>
            <a:spLocks noChangeShapeType="1"/>
          </p:cNvSpPr>
          <p:nvPr/>
        </p:nvSpPr>
        <p:spPr bwMode="auto">
          <a:xfrm>
            <a:off x="3124200" y="4800600"/>
            <a:ext cx="1219200" cy="1143000"/>
          </a:xfrm>
          <a:prstGeom prst="line">
            <a:avLst/>
          </a:prstGeom>
          <a:noFill/>
          <a:ln w="28575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2535" name="Line 23"/>
          <p:cNvSpPr>
            <a:spLocks noChangeShapeType="1"/>
          </p:cNvSpPr>
          <p:nvPr/>
        </p:nvSpPr>
        <p:spPr bwMode="auto">
          <a:xfrm flipH="1">
            <a:off x="3124200" y="4724400"/>
            <a:ext cx="1219200" cy="1143000"/>
          </a:xfrm>
          <a:prstGeom prst="line">
            <a:avLst/>
          </a:prstGeom>
          <a:noFill/>
          <a:ln w="28575">
            <a:solidFill>
              <a:srgbClr val="08080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0273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5905500" y="2924273"/>
            <a:ext cx="647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5020317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382000" cy="4572000"/>
          </a:xfrm>
          <a:noFill/>
          <a:ln/>
        </p:spPr>
        <p:txBody>
          <a:bodyPr/>
          <a:lstStyle/>
          <a:p>
            <a:pPr marL="401638" indent="-28575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Deletion:</a:t>
            </a:r>
          </a:p>
          <a:p>
            <a:pPr marL="401638"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Third solution: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DELETE NO ACTION</a:t>
            </a:r>
          </a:p>
          <a:p>
            <a:pPr marL="401638"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Referential Integrity is VIOLATED!</a:t>
            </a:r>
          </a:p>
          <a:p>
            <a:pPr marL="401638"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want to do that –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it is the </a:t>
            </a:r>
            <a:b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in MS Access!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(Think assignment 3)</a:t>
            </a:r>
          </a:p>
          <a:p>
            <a:pPr marL="401638"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Access throws an error message when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you try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/>
          </a:p>
          <a:p>
            <a:pPr lvl="1">
              <a:buFont typeface="Wingdings" pitchFamily="2" charset="2"/>
              <a:buNone/>
            </a:pPr>
            <a:endParaRPr lang="en-US" sz="1600" b="1" dirty="0"/>
          </a:p>
        </p:txBody>
      </p:sp>
      <p:sp>
        <p:nvSpPr>
          <p:cNvPr id="193540" name="Rectangle 4"/>
          <p:cNvSpPr>
            <a:spLocks noChangeArrowheads="1"/>
          </p:cNvSpPr>
          <p:nvPr/>
        </p:nvSpPr>
        <p:spPr bwMode="auto">
          <a:xfrm>
            <a:off x="65532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93541" name="Rectangle 5"/>
          <p:cNvSpPr>
            <a:spLocks noChangeArrowheads="1"/>
          </p:cNvSpPr>
          <p:nvPr/>
        </p:nvSpPr>
        <p:spPr bwMode="auto">
          <a:xfrm>
            <a:off x="65532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endParaRPr lang="en-US" b="1">
              <a:solidFill>
                <a:srgbClr val="CC0000"/>
              </a:solidFill>
              <a:latin typeface="Times New Roman" charset="0"/>
            </a:endParaRPr>
          </a:p>
        </p:txBody>
      </p:sp>
      <p:sp>
        <p:nvSpPr>
          <p:cNvPr id="193542" name="Rectangle 6"/>
          <p:cNvSpPr>
            <a:spLocks noChangeArrowheads="1"/>
          </p:cNvSpPr>
          <p:nvPr/>
        </p:nvSpPr>
        <p:spPr bwMode="auto">
          <a:xfrm>
            <a:off x="72390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P#</a:t>
            </a:r>
            <a:endParaRPr lang="en-US">
              <a:latin typeface="Times New Roman" charset="0"/>
            </a:endParaRPr>
          </a:p>
        </p:txBody>
      </p:sp>
      <p:sp>
        <p:nvSpPr>
          <p:cNvPr id="193543" name="Rectangle 7"/>
          <p:cNvSpPr>
            <a:spLocks noChangeArrowheads="1"/>
          </p:cNvSpPr>
          <p:nvPr/>
        </p:nvSpPr>
        <p:spPr bwMode="auto">
          <a:xfrm>
            <a:off x="72390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P5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P6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P4</a:t>
            </a:r>
          </a:p>
          <a:p>
            <a:pPr algn="ctr" eaLnBrk="0" hangingPunct="0"/>
            <a:endParaRPr lang="en-US">
              <a:latin typeface="Times New Roman" charset="0"/>
            </a:endParaRPr>
          </a:p>
        </p:txBody>
      </p:sp>
      <p:sp>
        <p:nvSpPr>
          <p:cNvPr id="193544" name="Rectangle 8"/>
          <p:cNvSpPr>
            <a:spLocks noChangeArrowheads="1"/>
          </p:cNvSpPr>
          <p:nvPr/>
        </p:nvSpPr>
        <p:spPr bwMode="auto">
          <a:xfrm>
            <a:off x="7924800" y="28956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QTY</a:t>
            </a:r>
            <a:endParaRPr lang="en-US">
              <a:latin typeface="Times New Roman" charset="0"/>
            </a:endParaRPr>
          </a:p>
        </p:txBody>
      </p:sp>
      <p:sp>
        <p:nvSpPr>
          <p:cNvPr id="193545" name="Rectangle 9"/>
          <p:cNvSpPr>
            <a:spLocks noChangeArrowheads="1"/>
          </p:cNvSpPr>
          <p:nvPr/>
        </p:nvSpPr>
        <p:spPr bwMode="auto">
          <a:xfrm>
            <a:off x="7924800" y="3200400"/>
            <a:ext cx="6858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 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300</a:t>
            </a:r>
          </a:p>
          <a:p>
            <a:pPr algn="ctr" eaLnBrk="0" hangingPunct="0"/>
            <a:endParaRPr lang="en-US">
              <a:latin typeface="Times New Roman" charset="0"/>
            </a:endParaRPr>
          </a:p>
        </p:txBody>
      </p:sp>
      <p:sp>
        <p:nvSpPr>
          <p:cNvPr id="193546" name="Rectangle 10"/>
          <p:cNvSpPr>
            <a:spLocks noChangeArrowheads="1"/>
          </p:cNvSpPr>
          <p:nvPr/>
        </p:nvSpPr>
        <p:spPr bwMode="auto">
          <a:xfrm>
            <a:off x="1905000" y="3886200"/>
            <a:ext cx="6858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charset="0"/>
              </a:rPr>
              <a:t>S#</a:t>
            </a:r>
            <a:endParaRPr lang="en-US">
              <a:latin typeface="Times New Roman" charset="0"/>
            </a:endParaRPr>
          </a:p>
        </p:txBody>
      </p:sp>
      <p:sp>
        <p:nvSpPr>
          <p:cNvPr id="193547" name="Rectangle 11"/>
          <p:cNvSpPr>
            <a:spLocks noChangeArrowheads="1"/>
          </p:cNvSpPr>
          <p:nvPr/>
        </p:nvSpPr>
        <p:spPr bwMode="auto">
          <a:xfrm>
            <a:off x="2590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>
                <a:latin typeface="Times New Roman" charset="0"/>
              </a:rPr>
              <a:t>SNAME</a:t>
            </a:r>
            <a:endParaRPr lang="en-US" dirty="0">
              <a:latin typeface="Times New Roman" charset="0"/>
            </a:endParaRPr>
          </a:p>
        </p:txBody>
      </p:sp>
      <p:sp>
        <p:nvSpPr>
          <p:cNvPr id="193548" name="Rectangle 12"/>
          <p:cNvSpPr>
            <a:spLocks noChangeArrowheads="1"/>
          </p:cNvSpPr>
          <p:nvPr/>
        </p:nvSpPr>
        <p:spPr bwMode="auto">
          <a:xfrm>
            <a:off x="3733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STATUS</a:t>
            </a:r>
            <a:endParaRPr lang="en-US">
              <a:latin typeface="Times New Roman" charset="0"/>
            </a:endParaRPr>
          </a:p>
        </p:txBody>
      </p:sp>
      <p:sp>
        <p:nvSpPr>
          <p:cNvPr id="193549" name="Rectangle 13"/>
          <p:cNvSpPr>
            <a:spLocks noChangeArrowheads="1"/>
          </p:cNvSpPr>
          <p:nvPr/>
        </p:nvSpPr>
        <p:spPr bwMode="auto">
          <a:xfrm>
            <a:off x="4876800" y="388620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CITY</a:t>
            </a:r>
            <a:endParaRPr lang="en-US">
              <a:latin typeface="Times New Roman" charset="0"/>
            </a:endParaRPr>
          </a:p>
        </p:txBody>
      </p:sp>
      <p:sp>
        <p:nvSpPr>
          <p:cNvPr id="193550" name="Rectangle 14"/>
          <p:cNvSpPr>
            <a:spLocks noChangeArrowheads="1"/>
          </p:cNvSpPr>
          <p:nvPr/>
        </p:nvSpPr>
        <p:spPr bwMode="auto">
          <a:xfrm>
            <a:off x="1905000" y="4191000"/>
            <a:ext cx="68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S1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S2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S3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S4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S5</a:t>
            </a:r>
            <a:endParaRPr lang="en-US">
              <a:latin typeface="Times New Roman" charset="0"/>
            </a:endParaRPr>
          </a:p>
        </p:txBody>
      </p:sp>
      <p:sp>
        <p:nvSpPr>
          <p:cNvPr id="193551" name="Rectangle 15"/>
          <p:cNvSpPr>
            <a:spLocks noChangeArrowheads="1"/>
          </p:cNvSpPr>
          <p:nvPr/>
        </p:nvSpPr>
        <p:spPr bwMode="auto">
          <a:xfrm>
            <a:off x="2590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Smith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Jones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Blake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Clark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Adams</a:t>
            </a:r>
            <a:endParaRPr lang="en-US">
              <a:latin typeface="Times New Roman" charset="0"/>
            </a:endParaRPr>
          </a:p>
        </p:txBody>
      </p:sp>
      <p:sp>
        <p:nvSpPr>
          <p:cNvPr id="193552" name="Rectangle 16"/>
          <p:cNvSpPr>
            <a:spLocks noChangeArrowheads="1"/>
          </p:cNvSpPr>
          <p:nvPr/>
        </p:nvSpPr>
        <p:spPr bwMode="auto">
          <a:xfrm>
            <a:off x="3733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10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20</a:t>
            </a:r>
          </a:p>
          <a:p>
            <a:pPr algn="ctr" eaLnBrk="0" hangingPunct="0"/>
            <a:r>
              <a:rPr lang="en-US" sz="2000">
                <a:latin typeface="Times New Roman" charset="0"/>
              </a:rPr>
              <a:t>30</a:t>
            </a:r>
            <a:endParaRPr lang="en-US">
              <a:latin typeface="Times New Roman" charset="0"/>
            </a:endParaRPr>
          </a:p>
        </p:txBody>
      </p:sp>
      <p:sp>
        <p:nvSpPr>
          <p:cNvPr id="193553" name="Rectangle 17"/>
          <p:cNvSpPr>
            <a:spLocks noChangeArrowheads="1"/>
          </p:cNvSpPr>
          <p:nvPr/>
        </p:nvSpPr>
        <p:spPr bwMode="auto">
          <a:xfrm>
            <a:off x="4876800" y="4191000"/>
            <a:ext cx="1143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charset="0"/>
              </a:rPr>
              <a:t>Athens</a:t>
            </a:r>
            <a:endParaRPr lang="en-US">
              <a:latin typeface="Times New Roman" charset="0"/>
            </a:endParaRPr>
          </a:p>
        </p:txBody>
      </p:sp>
      <p:sp>
        <p:nvSpPr>
          <p:cNvPr id="193554" name="Text Box 18"/>
          <p:cNvSpPr txBox="1">
            <a:spLocks noChangeArrowheads="1"/>
          </p:cNvSpPr>
          <p:nvPr/>
        </p:nvSpPr>
        <p:spPr bwMode="auto">
          <a:xfrm>
            <a:off x="533400" y="3962400"/>
            <a:ext cx="129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Supplier</a:t>
            </a:r>
          </a:p>
        </p:txBody>
      </p:sp>
      <p:sp>
        <p:nvSpPr>
          <p:cNvPr id="193555" name="Line 19"/>
          <p:cNvSpPr>
            <a:spLocks noChangeShapeType="1"/>
          </p:cNvSpPr>
          <p:nvPr/>
        </p:nvSpPr>
        <p:spPr bwMode="auto">
          <a:xfrm>
            <a:off x="1676400" y="5334000"/>
            <a:ext cx="44958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0273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Referential Integrity</a:t>
            </a: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7391400" y="2438400"/>
            <a:ext cx="533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29272404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Constraints</a:t>
            </a:r>
          </a:p>
        </p:txBody>
      </p:sp>
      <p:sp>
        <p:nvSpPr>
          <p:cNvPr id="1945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820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Additional business rules specific to the users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cannot buy part P2 from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Supplier S1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Operational Constraints are case-based and are enforced by writing specific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procedures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We’ll cover those much later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676286"/>
      </p:ext>
    </p:extLst>
  </p:cSld>
  <p:clrMapOvr>
    <a:masterClrMapping/>
  </p:clrMapOvr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2035</TotalTime>
  <Words>3962</Words>
  <Application>Microsoft Office PowerPoint</Application>
  <PresentationFormat>On-screen Show (4:3)</PresentationFormat>
  <Paragraphs>1156</Paragraphs>
  <Slides>55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Times New Roman</vt:lpstr>
      <vt:lpstr>Wingdings</vt:lpstr>
      <vt:lpstr>TS101983022</vt:lpstr>
      <vt:lpstr>Photo Editor Photo</vt:lpstr>
      <vt:lpstr>IS 331  Database Design, Management and Applications</vt:lpstr>
      <vt:lpstr>Learning Objectives </vt:lpstr>
      <vt:lpstr>Overview</vt:lpstr>
      <vt:lpstr>Road Map for Logical Design</vt:lpstr>
      <vt:lpstr>Textbook Chapter 3</vt:lpstr>
      <vt:lpstr>What’s Missing in Conceptual Models?</vt:lpstr>
      <vt:lpstr>What’s Missing in Conceptual Models?</vt:lpstr>
      <vt:lpstr>Introducing Logical Models</vt:lpstr>
      <vt:lpstr>Relational Model</vt:lpstr>
      <vt:lpstr>Relational Model</vt:lpstr>
      <vt:lpstr>PowerPoint Presentation</vt:lpstr>
      <vt:lpstr>Data Structure: Relation</vt:lpstr>
      <vt:lpstr>PowerPoint Presentation</vt:lpstr>
      <vt:lpstr>PowerPoint Presentation</vt:lpstr>
      <vt:lpstr>Data Structure: Notation</vt:lpstr>
      <vt:lpstr>Data Structure : Exercise</vt:lpstr>
      <vt:lpstr>PowerPoint Presentation</vt:lpstr>
      <vt:lpstr>PowerPoint Presentation</vt:lpstr>
      <vt:lpstr>Data Structure:  Relation Characteristics </vt:lpstr>
      <vt:lpstr>Data Structure: More Exercise</vt:lpstr>
      <vt:lpstr>Data Structure: More Exercise</vt:lpstr>
      <vt:lpstr>Data Structure: More Exercise</vt:lpstr>
      <vt:lpstr>Data Structure: More Exercise</vt:lpstr>
      <vt:lpstr>Data Structure: Super Key</vt:lpstr>
      <vt:lpstr>Data Structure: Candidate Key</vt:lpstr>
      <vt:lpstr>PowerPoint Presentation</vt:lpstr>
      <vt:lpstr>PowerPoint Presentation</vt:lpstr>
      <vt:lpstr>PowerPoint Presentation</vt:lpstr>
      <vt:lpstr>PowerPoint Presentation</vt:lpstr>
      <vt:lpstr>Data Structure: Keys</vt:lpstr>
      <vt:lpstr>Keys: Exercise</vt:lpstr>
      <vt:lpstr>Keys: Exercise</vt:lpstr>
      <vt:lpstr>Keys: Exercise</vt:lpstr>
      <vt:lpstr>Surrogate Keys</vt:lpstr>
      <vt:lpstr>Foreign Key</vt:lpstr>
      <vt:lpstr>Foreign Key: Example</vt:lpstr>
      <vt:lpstr>Foreign Key: Example</vt:lpstr>
      <vt:lpstr>Foreign Key: Notation</vt:lpstr>
      <vt:lpstr>Foreign Key: Notation</vt:lpstr>
      <vt:lpstr>PowerPoint Presentation</vt:lpstr>
      <vt:lpstr>Recap</vt:lpstr>
      <vt:lpstr>Data Integrity</vt:lpstr>
      <vt:lpstr>Integrity Constraints: Four Types</vt:lpstr>
      <vt:lpstr>Entity Integrity</vt:lpstr>
      <vt:lpstr>Entity Integrity</vt:lpstr>
      <vt:lpstr>Domain</vt:lpstr>
      <vt:lpstr>Domain Constraints</vt:lpstr>
      <vt:lpstr>The Referential Integrity Constraint</vt:lpstr>
      <vt:lpstr>Referential Integrity: Example</vt:lpstr>
      <vt:lpstr>Referential Integrity</vt:lpstr>
      <vt:lpstr>Referential Integrity</vt:lpstr>
      <vt:lpstr>Referential Integrity</vt:lpstr>
      <vt:lpstr>Referential Integrity</vt:lpstr>
      <vt:lpstr>Referential Integrity</vt:lpstr>
      <vt:lpstr>Operational Constraints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Art Hendela</cp:lastModifiedBy>
  <cp:revision>452</cp:revision>
  <cp:lastPrinted>2017-01-29T00:05:22Z</cp:lastPrinted>
  <dcterms:created xsi:type="dcterms:W3CDTF">2012-09-02T01:42:14Z</dcterms:created>
  <dcterms:modified xsi:type="dcterms:W3CDTF">2024-09-22T21:33:52Z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