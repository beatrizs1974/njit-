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36"/>
  </p:notesMasterIdLst>
  <p:handoutMasterIdLst>
    <p:handoutMasterId r:id="rId37"/>
  </p:handoutMasterIdLst>
  <p:sldIdLst>
    <p:sldId id="256" r:id="rId3"/>
    <p:sldId id="332" r:id="rId4"/>
    <p:sldId id="334" r:id="rId5"/>
    <p:sldId id="277" r:id="rId6"/>
    <p:sldId id="336" r:id="rId7"/>
    <p:sldId id="360" r:id="rId8"/>
    <p:sldId id="338" r:id="rId9"/>
    <p:sldId id="339" r:id="rId10"/>
    <p:sldId id="368" r:id="rId11"/>
    <p:sldId id="361" r:id="rId12"/>
    <p:sldId id="341" r:id="rId13"/>
    <p:sldId id="362" r:id="rId14"/>
    <p:sldId id="343" r:id="rId15"/>
    <p:sldId id="363" r:id="rId16"/>
    <p:sldId id="344" r:id="rId17"/>
    <p:sldId id="345" r:id="rId18"/>
    <p:sldId id="369" r:id="rId19"/>
    <p:sldId id="364" r:id="rId20"/>
    <p:sldId id="346" r:id="rId21"/>
    <p:sldId id="347" r:id="rId22"/>
    <p:sldId id="348" r:id="rId23"/>
    <p:sldId id="370" r:id="rId24"/>
    <p:sldId id="365" r:id="rId25"/>
    <p:sldId id="350" r:id="rId26"/>
    <p:sldId id="351" r:id="rId27"/>
    <p:sldId id="352" r:id="rId28"/>
    <p:sldId id="353" r:id="rId29"/>
    <p:sldId id="371" r:id="rId30"/>
    <p:sldId id="354" r:id="rId31"/>
    <p:sldId id="367" r:id="rId32"/>
    <p:sldId id="355" r:id="rId33"/>
    <p:sldId id="356" r:id="rId34"/>
    <p:sldId id="357" r:id="rId35"/>
  </p:sldIdLst>
  <p:sldSz cx="9144000" cy="6858000" type="screen4x3"/>
  <p:notesSz cx="7010400" cy="9296400"/>
  <p:custDataLst>
    <p:tags r:id="rId3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97" autoAdjust="0"/>
    <p:restoredTop sz="94676" autoAdjust="0"/>
  </p:normalViewPr>
  <p:slideViewPr>
    <p:cSldViewPr>
      <p:cViewPr varScale="1">
        <p:scale>
          <a:sx n="110" d="100"/>
          <a:sy n="110" d="100"/>
        </p:scale>
        <p:origin x="164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-2904" y="-67"/>
      </p:cViewPr>
      <p:guideLst>
        <p:guide orient="horz" pos="2928"/>
        <p:guide pos="220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5D753B2E-E165-424B-8336-6EFEBCB568D7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EF3438B6-3C1D-4F12-8382-2FE25D263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80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9034493C-0454-4866-BCBA-B08E80B79975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2446" tIns="46223" rIns="92446" bIns="4622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47B6BB5A-CE4E-4664-B71A-76645C9280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6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78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1. Introduction:</a:t>
            </a:r>
            <a:endParaRPr lang="en-US" dirty="0"/>
          </a:p>
          <a:p>
            <a:r>
              <a:rPr lang="en-US" dirty="0"/>
              <a:t>i. The participation constraint specifies if an entity’s existence depends on its being related to any other entity via the relationship type.</a:t>
            </a:r>
          </a:p>
          <a:p>
            <a:r>
              <a:rPr lang="en-US" dirty="0"/>
              <a:t>ii. This constraint specifies the minimum number of relationship instances that each entity can participate in, and is sometimes called the minimum cardinality constraint.</a:t>
            </a:r>
          </a:p>
          <a:p>
            <a:r>
              <a:rPr lang="en-US" b="1" dirty="0"/>
              <a:t>2. Total Participation:</a:t>
            </a:r>
            <a:endParaRPr lang="en-US" dirty="0"/>
          </a:p>
          <a:p>
            <a:r>
              <a:rPr lang="en-US" dirty="0"/>
              <a:t>i. The participation of an entity set E in a relationship set R is said to be total if every entity in E participates in at least one relationship in R.</a:t>
            </a:r>
          </a:p>
          <a:p>
            <a:r>
              <a:rPr lang="en-US" dirty="0"/>
              <a:t>ii. Consider two entities EMPLOYEE and DEPARTMENT related with the help of relationship WORKS_FOR.</a:t>
            </a:r>
          </a:p>
          <a:p>
            <a:r>
              <a:rPr lang="en-US" dirty="0"/>
              <a:t>iii. If a company policy states that every employee must work for a department, then an employee entity can exist only if it participates in at least one WORKS_FOR relationship instance. Thus, the participation of EMPLOYEE in WORKS_FOR is called total participation, meaning that every entity in the total set of employee entities must be related to a department entity via WORKS_FOR.</a:t>
            </a:r>
          </a:p>
          <a:p>
            <a:r>
              <a:rPr lang="en-US" dirty="0"/>
              <a:t>iv. Total participation is also called existence dependency.</a:t>
            </a:r>
          </a:p>
          <a:p>
            <a:r>
              <a:rPr lang="en-US" dirty="0"/>
              <a:t>v. Total participation is displayed as a double line in ER diagram connecting the participating entity type to the relationship</a:t>
            </a:r>
          </a:p>
          <a:p>
            <a:r>
              <a:rPr lang="en-US" b="1" dirty="0"/>
              <a:t>3. Partial Participation:</a:t>
            </a:r>
            <a:endParaRPr lang="en-US" dirty="0"/>
          </a:p>
          <a:p>
            <a:r>
              <a:rPr lang="en-US" dirty="0"/>
              <a:t>i. If only some entities in entity set E participates in relationships in R, the participation of entity set E in relationship set R is said to be partial.</a:t>
            </a:r>
          </a:p>
          <a:p>
            <a:r>
              <a:rPr lang="en-US" dirty="0"/>
              <a:t>ii. Consider two entities EMPLOYEE and DEPARTMENT related with the help of relationship MANAGES.</a:t>
            </a:r>
          </a:p>
          <a:p>
            <a:r>
              <a:rPr lang="en-US" dirty="0"/>
              <a:t>iii. Here, not all employees are expected to manage a department, so the participation of EMPLOYEE in the MANAGES relationship type is partial.</a:t>
            </a:r>
          </a:p>
          <a:p>
            <a:r>
              <a:rPr lang="en-US" dirty="0"/>
              <a:t>iv. </a:t>
            </a:r>
            <a:r>
              <a:rPr lang="en-US" dirty="0" err="1"/>
              <a:t>Thismeans</a:t>
            </a:r>
            <a:r>
              <a:rPr lang="en-US" dirty="0"/>
              <a:t> that some or part of the set of employee entities are related to some department entity via MANAGES, but not necessarily all.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25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8580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6400800" cy="1143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F9888-3879-4F22-AF80-4177AA4AC351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2E01B-07BF-4B7E-88E3-0FA8BF19F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3E6D5-0B56-4E95-B722-0CB6C0A3DFB2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A86C6-259A-43E0-A3DD-0DFA14BC01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FFF54-01E0-4551-9739-57A7061C7C08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E8DC3-00CB-499E-BCBF-41EFC7DC6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D2CFF-A0B0-4311-A3BC-DA4ED30FECE4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DC61A-4458-4BE4-A110-01546114C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968AA-672A-4F83-8CBC-80A82B39BD57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CBE0-2B4C-4AC7-8AB2-4E56AB82E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DC351-E228-4CFD-9822-9AA74CDFB27E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50111-24E0-487D-A93D-2ADA9C1B1F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B6B7A-DD0C-47D2-AB40-2FCF80BF4872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9E701-1039-4E30-A4DD-EC6D092F2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A7482-F815-4503-A2A0-9B4E6F587FB9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D85B6-AB61-42AA-AA9B-6499F108AB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DC3AE-F697-4CAB-BB32-676A80268F9B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E4D34-0B1F-4B9D-BA42-7F457ADCEC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5FAD3-E4D3-41AF-A684-34713DD70029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03B4-DDAB-4006-AAC3-F33B0E420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88E4D-B080-487F-B7C6-C1728A511627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B4DCF-00E7-4B5E-9DDA-00BC26936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858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28800"/>
            <a:ext cx="8229600" cy="429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2411DB9-75D0-41F5-ABD3-D260E26E5BCC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A87BF71-DEC3-4FE4-8E61-8936FC1D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09600" y="152400"/>
            <a:ext cx="7772400" cy="1470025"/>
          </a:xfrm>
        </p:spPr>
        <p:txBody>
          <a:bodyPr/>
          <a:lstStyle/>
          <a:p>
            <a:pPr defTabSz="474663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IS 331 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Database Design, Management and Applications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5334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Arial" charset="0"/>
                <a:cs typeface="Arial" charset="0"/>
              </a:rPr>
              <a:t>Dr. Art Hendela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762000" y="2667000"/>
            <a:ext cx="7467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DAY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8:  Logical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Design (II)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42E01B-07BF-4B7E-88E3-0FA8BF19FC4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533400" y="3433762"/>
            <a:ext cx="27432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Requirement Analysis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828800" y="4043362"/>
            <a:ext cx="25908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Conceptual Design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3048000" y="4576762"/>
            <a:ext cx="251460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Design</a:t>
            </a:r>
            <a:r>
              <a:rPr lang="en-US" sz="2400"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4267200" y="5186362"/>
            <a:ext cx="24384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Physical Design </a:t>
            </a: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5334000" y="5719762"/>
            <a:ext cx="22860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Implementation 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6477000" y="6253162"/>
            <a:ext cx="19812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Maintenance </a:t>
            </a:r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>
            <a:off x="3276600" y="44243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" name="Line 15"/>
          <p:cNvSpPr>
            <a:spLocks noChangeShapeType="1"/>
          </p:cNvSpPr>
          <p:nvPr/>
        </p:nvSpPr>
        <p:spPr bwMode="auto">
          <a:xfrm>
            <a:off x="4572000" y="50339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5562600" y="55673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" name="Line 17"/>
          <p:cNvSpPr>
            <a:spLocks noChangeShapeType="1"/>
          </p:cNvSpPr>
          <p:nvPr/>
        </p:nvSpPr>
        <p:spPr bwMode="auto">
          <a:xfrm>
            <a:off x="6705600" y="6100762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" name="Line 18"/>
          <p:cNvSpPr>
            <a:spLocks noChangeShapeType="1"/>
          </p:cNvSpPr>
          <p:nvPr/>
        </p:nvSpPr>
        <p:spPr bwMode="auto">
          <a:xfrm>
            <a:off x="2590800" y="38909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Preview</a:t>
            </a:r>
          </a:p>
        </p:txBody>
      </p:sp>
      <p:sp>
        <p:nvSpPr>
          <p:cNvPr id="34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Translate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ERD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relational model </a:t>
            </a:r>
          </a:p>
          <a:p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ink conceptual design with logical design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NOTE: You are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required to memorize all the steps.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Follow the steps through three or four cases and it will become instinctive</a:t>
            </a:r>
            <a:endParaRPr lang="en-US" sz="2400" dirty="0"/>
          </a:p>
          <a:p>
            <a:pPr>
              <a:buFont typeface="Wingdings" pitchFamily="2" charset="2"/>
              <a:buNone/>
            </a:pPr>
            <a:endParaRPr lang="en-US" sz="2400" dirty="0"/>
          </a:p>
          <a:p>
            <a:endParaRPr lang="en-US" sz="2400" i="1" dirty="0"/>
          </a:p>
          <a:p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4033826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114800"/>
          </a:xfrm>
        </p:spPr>
        <p:txBody>
          <a:bodyPr/>
          <a:lstStyle/>
          <a:p>
            <a:r>
              <a:rPr lang="en-US" sz="2400" dirty="0"/>
              <a:t>How to transform the following types of EERDs into relations:</a:t>
            </a:r>
            <a:endParaRPr lang="en-US" sz="2000" dirty="0"/>
          </a:p>
          <a:p>
            <a:pPr lvl="1"/>
            <a:r>
              <a:rPr lang="en-US" sz="2000" dirty="0"/>
              <a:t>Regular Entity types (Step 1)</a:t>
            </a:r>
          </a:p>
          <a:p>
            <a:pPr lvl="1"/>
            <a:r>
              <a:rPr lang="en-US" sz="2000" dirty="0"/>
              <a:t>Multi-value attributes (Step 2)</a:t>
            </a:r>
          </a:p>
          <a:p>
            <a:pPr lvl="1"/>
            <a:r>
              <a:rPr lang="en-US" sz="2000" dirty="0"/>
              <a:t>ID-Dependent Entity types  (Step 3)</a:t>
            </a:r>
          </a:p>
          <a:p>
            <a:pPr lvl="1"/>
            <a:r>
              <a:rPr lang="en-US" sz="2000" dirty="0"/>
              <a:t>Binary m:n relationship types (Step 4)</a:t>
            </a:r>
          </a:p>
          <a:p>
            <a:pPr lvl="1"/>
            <a:r>
              <a:rPr lang="en-US" sz="2000" dirty="0"/>
              <a:t>Binary 1:m relationship types (Step 5)</a:t>
            </a:r>
          </a:p>
          <a:p>
            <a:pPr lvl="1"/>
            <a:r>
              <a:rPr lang="en-US" sz="2000" dirty="0"/>
              <a:t>Binary 1:1 relationship types (Step 6)</a:t>
            </a:r>
          </a:p>
          <a:p>
            <a:pPr lvl="1"/>
            <a:r>
              <a:rPr lang="en-US" sz="2000" dirty="0"/>
              <a:t>N-</a:t>
            </a:r>
            <a:r>
              <a:rPr lang="en-US" sz="2000" dirty="0" err="1"/>
              <a:t>ary</a:t>
            </a:r>
            <a:r>
              <a:rPr lang="en-US" sz="2000" dirty="0"/>
              <a:t> relationship types (Step 7)</a:t>
            </a:r>
          </a:p>
          <a:p>
            <a:pPr lvl="1"/>
            <a:r>
              <a:rPr lang="en-US" sz="2000" dirty="0"/>
              <a:t>Super/sub types (Step 8)	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4198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Road Map for Logical Design</a:t>
            </a:r>
          </a:p>
        </p:txBody>
      </p:sp>
      <p:sp>
        <p:nvSpPr>
          <p:cNvPr id="174134" name="Text Box 54"/>
          <p:cNvSpPr txBox="1">
            <a:spLocks noChangeArrowheads="1"/>
          </p:cNvSpPr>
          <p:nvPr/>
        </p:nvSpPr>
        <p:spPr bwMode="auto">
          <a:xfrm>
            <a:off x="304800" y="4191000"/>
            <a:ext cx="1905000" cy="9556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Logical Design </a:t>
            </a:r>
          </a:p>
        </p:txBody>
      </p:sp>
      <p:sp>
        <p:nvSpPr>
          <p:cNvPr id="174135" name="Line 55"/>
          <p:cNvSpPr>
            <a:spLocks noChangeShapeType="1"/>
          </p:cNvSpPr>
          <p:nvPr/>
        </p:nvSpPr>
        <p:spPr bwMode="auto">
          <a:xfrm>
            <a:off x="6705600" y="1752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36" name="Text Box 56"/>
          <p:cNvSpPr txBox="1">
            <a:spLocks noChangeArrowheads="1"/>
          </p:cNvSpPr>
          <p:nvPr/>
        </p:nvSpPr>
        <p:spPr bwMode="auto">
          <a:xfrm>
            <a:off x="7086600" y="16002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Data Structure</a:t>
            </a:r>
          </a:p>
        </p:txBody>
      </p:sp>
      <p:sp>
        <p:nvSpPr>
          <p:cNvPr id="174137" name="Text Box 57"/>
          <p:cNvSpPr txBox="1">
            <a:spLocks noChangeArrowheads="1"/>
          </p:cNvSpPr>
          <p:nvPr/>
        </p:nvSpPr>
        <p:spPr bwMode="auto">
          <a:xfrm>
            <a:off x="7010400" y="24384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 Data Integrity</a:t>
            </a:r>
          </a:p>
        </p:txBody>
      </p:sp>
      <p:sp>
        <p:nvSpPr>
          <p:cNvPr id="174138" name="Text Box 58"/>
          <p:cNvSpPr txBox="1">
            <a:spLocks noChangeArrowheads="1"/>
          </p:cNvSpPr>
          <p:nvPr/>
        </p:nvSpPr>
        <p:spPr bwMode="auto">
          <a:xfrm>
            <a:off x="6934200" y="3352800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Data Manipulation</a:t>
            </a:r>
          </a:p>
        </p:txBody>
      </p:sp>
      <p:sp>
        <p:nvSpPr>
          <p:cNvPr id="174139" name="Line 59"/>
          <p:cNvSpPr>
            <a:spLocks noChangeShapeType="1"/>
          </p:cNvSpPr>
          <p:nvPr/>
        </p:nvSpPr>
        <p:spPr bwMode="auto">
          <a:xfrm>
            <a:off x="6553200" y="2667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0" name="Line 60"/>
          <p:cNvSpPr>
            <a:spLocks noChangeShapeType="1"/>
          </p:cNvSpPr>
          <p:nvPr/>
        </p:nvSpPr>
        <p:spPr bwMode="auto">
          <a:xfrm>
            <a:off x="6705600" y="3581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1" name="Line 61"/>
          <p:cNvSpPr>
            <a:spLocks noChangeShapeType="1"/>
          </p:cNvSpPr>
          <p:nvPr/>
        </p:nvSpPr>
        <p:spPr bwMode="auto">
          <a:xfrm>
            <a:off x="6705600" y="17526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2" name="Line 62"/>
          <p:cNvSpPr>
            <a:spLocks noChangeShapeType="1"/>
          </p:cNvSpPr>
          <p:nvPr/>
        </p:nvSpPr>
        <p:spPr bwMode="auto">
          <a:xfrm>
            <a:off x="2438400" y="3733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3" name="Line 63"/>
          <p:cNvSpPr>
            <a:spLocks noChangeShapeType="1"/>
          </p:cNvSpPr>
          <p:nvPr/>
        </p:nvSpPr>
        <p:spPr bwMode="auto">
          <a:xfrm>
            <a:off x="2209800" y="4648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4" name="Line 64"/>
          <p:cNvSpPr>
            <a:spLocks noChangeShapeType="1"/>
          </p:cNvSpPr>
          <p:nvPr/>
        </p:nvSpPr>
        <p:spPr bwMode="auto">
          <a:xfrm>
            <a:off x="2438400" y="556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5" name="Line 65"/>
          <p:cNvSpPr>
            <a:spLocks noChangeShapeType="1"/>
          </p:cNvSpPr>
          <p:nvPr/>
        </p:nvSpPr>
        <p:spPr bwMode="auto">
          <a:xfrm>
            <a:off x="2438400" y="37338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6" name="Text Box 66"/>
          <p:cNvSpPr txBox="1">
            <a:spLocks noChangeArrowheads="1"/>
          </p:cNvSpPr>
          <p:nvPr/>
        </p:nvSpPr>
        <p:spPr bwMode="auto">
          <a:xfrm>
            <a:off x="2590800" y="3267670"/>
            <a:ext cx="1752600" cy="92333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Translate ER Into Relational Model</a:t>
            </a:r>
          </a:p>
        </p:txBody>
      </p:sp>
      <p:sp>
        <p:nvSpPr>
          <p:cNvPr id="174147" name="Text Box 67"/>
          <p:cNvSpPr txBox="1">
            <a:spLocks noChangeArrowheads="1"/>
          </p:cNvSpPr>
          <p:nvPr/>
        </p:nvSpPr>
        <p:spPr bwMode="auto">
          <a:xfrm>
            <a:off x="2590800" y="5410200"/>
            <a:ext cx="1905000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Normalization</a:t>
            </a:r>
          </a:p>
        </p:txBody>
      </p:sp>
      <p:sp>
        <p:nvSpPr>
          <p:cNvPr id="174148" name="Line 68"/>
          <p:cNvSpPr>
            <a:spLocks noChangeShapeType="1"/>
          </p:cNvSpPr>
          <p:nvPr/>
        </p:nvSpPr>
        <p:spPr bwMode="auto">
          <a:xfrm>
            <a:off x="4668982" y="2829791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9" name="Line 69"/>
          <p:cNvSpPr>
            <a:spLocks noChangeShapeType="1"/>
          </p:cNvSpPr>
          <p:nvPr/>
        </p:nvSpPr>
        <p:spPr bwMode="auto">
          <a:xfrm>
            <a:off x="4343400" y="3733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50" name="Line 70"/>
          <p:cNvSpPr>
            <a:spLocks noChangeShapeType="1"/>
          </p:cNvSpPr>
          <p:nvPr/>
        </p:nvSpPr>
        <p:spPr bwMode="auto">
          <a:xfrm>
            <a:off x="4672445" y="4668982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51" name="Line 71"/>
          <p:cNvSpPr>
            <a:spLocks noChangeShapeType="1"/>
          </p:cNvSpPr>
          <p:nvPr/>
        </p:nvSpPr>
        <p:spPr bwMode="auto">
          <a:xfrm>
            <a:off x="4665518" y="2840037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52" name="Text Box 72"/>
          <p:cNvSpPr txBox="1">
            <a:spLocks noChangeArrowheads="1"/>
          </p:cNvSpPr>
          <p:nvPr/>
        </p:nvSpPr>
        <p:spPr bwMode="auto">
          <a:xfrm>
            <a:off x="4800600" y="2209800"/>
            <a:ext cx="1752600" cy="9233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 Relational Model</a:t>
            </a:r>
          </a:p>
        </p:txBody>
      </p:sp>
      <p:sp>
        <p:nvSpPr>
          <p:cNvPr id="174153" name="Text Box 73"/>
          <p:cNvSpPr txBox="1">
            <a:spLocks noChangeArrowheads="1"/>
          </p:cNvSpPr>
          <p:nvPr/>
        </p:nvSpPr>
        <p:spPr bwMode="auto">
          <a:xfrm>
            <a:off x="4838699" y="4454236"/>
            <a:ext cx="2019301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Translate?</a:t>
            </a:r>
          </a:p>
        </p:txBody>
      </p:sp>
      <p:sp>
        <p:nvSpPr>
          <p:cNvPr id="26" name="Rectangle 75"/>
          <p:cNvSpPr>
            <a:spLocks noChangeArrowheads="1"/>
          </p:cNvSpPr>
          <p:nvPr/>
        </p:nvSpPr>
        <p:spPr bwMode="auto">
          <a:xfrm>
            <a:off x="4807526" y="4343401"/>
            <a:ext cx="2126673" cy="609600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8710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4245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Textbook Chapter 6</a:t>
            </a:r>
          </a:p>
        </p:txBody>
      </p:sp>
      <p:sp>
        <p:nvSpPr>
          <p:cNvPr id="147487" name="Rectangle 3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77724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will use a modified methodology from the book’s coverage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believe the slides offer a simpler learning process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will skip more complicated or detailed topics such as normalization and datatypes until later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230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4245"/>
            <a:ext cx="82296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Conceptual to Logical</a:t>
            </a:r>
          </a:p>
        </p:txBody>
      </p:sp>
      <p:sp>
        <p:nvSpPr>
          <p:cNvPr id="147487" name="Rectangle 3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do we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EER Diagram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Entities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Relationships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Super/sub types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do we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Relations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Keys</a:t>
            </a:r>
          </a:p>
        </p:txBody>
      </p:sp>
    </p:spTree>
    <p:extLst>
      <p:ext uri="{BB962C8B-B14F-4D97-AF65-F5344CB8AC3E}">
        <p14:creationId xmlns:p14="http://schemas.microsoft.com/office/powerpoint/2010/main" val="4116011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2"/>
          <p:cNvSpPr txBox="1">
            <a:spLocks noChangeArrowheads="1"/>
          </p:cNvSpPr>
          <p:nvPr/>
        </p:nvSpPr>
        <p:spPr>
          <a:xfrm>
            <a:off x="533400" y="228600"/>
            <a:ext cx="8229600" cy="99060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TCI Example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99975" y="5632102"/>
            <a:ext cx="5296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Let’s turn it into a relational model!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19" y="1521192"/>
            <a:ext cx="8206962" cy="381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01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 </a:t>
            </a:r>
            <a:r>
              <a:rPr lang="en-US" sz="4000" b="1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178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Regular entity classes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table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each entity type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the corresponding attribute in the table for each simple attribute in the entity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Only include simple attributes such as address. Do not include composite attributes such as Street, State, Zip that are subdivisions of Address Add only “Address”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 Not include derived attributes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 Not include multi-value attributes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the identifier of the entity the primary key for the table</a:t>
            </a:r>
          </a:p>
        </p:txBody>
      </p:sp>
    </p:spTree>
    <p:extLst>
      <p:ext uri="{BB962C8B-B14F-4D97-AF65-F5344CB8AC3E}">
        <p14:creationId xmlns:p14="http://schemas.microsoft.com/office/powerpoint/2010/main" val="2788862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Step1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57313" y="3343835"/>
            <a:ext cx="2819400" cy="1828800"/>
            <a:chOff x="685800" y="3505200"/>
            <a:chExt cx="2819400" cy="1828800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685800" y="3505200"/>
              <a:ext cx="281940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62000" y="3505200"/>
              <a:ext cx="259080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4246418" y="2895600"/>
            <a:ext cx="2819400" cy="1828800"/>
            <a:chOff x="685800" y="3505200"/>
            <a:chExt cx="2819400" cy="1828800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685800" y="3505200"/>
              <a:ext cx="281940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762000" y="3505200"/>
              <a:ext cx="259080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" name="Rectangle 7"/>
          <p:cNvSpPr/>
          <p:nvPr/>
        </p:nvSpPr>
        <p:spPr>
          <a:xfrm>
            <a:off x="1447800" y="5486400"/>
            <a:ext cx="6246069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EMPLOYEE (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EID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Fname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Lname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Phone, Age, Address)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8229600" y="4267200"/>
            <a:ext cx="0" cy="1066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19" y="1521192"/>
            <a:ext cx="8206962" cy="3815616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8229600" y="4477871"/>
            <a:ext cx="0" cy="1066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4322618" y="2944906"/>
            <a:ext cx="2819400" cy="1828800"/>
            <a:chOff x="685800" y="3505200"/>
            <a:chExt cx="2819400" cy="1828800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685800" y="3505200"/>
              <a:ext cx="281940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762000" y="3505200"/>
              <a:ext cx="259080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533400" y="3505200"/>
            <a:ext cx="2819400" cy="1828800"/>
            <a:chOff x="685800" y="3505200"/>
            <a:chExt cx="2819400" cy="18288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685800" y="3505200"/>
              <a:ext cx="281940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62000" y="3505200"/>
              <a:ext cx="259080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3184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Notation vs. Our Notation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241914"/>
              </p:ext>
            </p:extLst>
          </p:nvPr>
        </p:nvGraphicFramePr>
        <p:xfrm>
          <a:off x="1143000" y="1905000"/>
          <a:ext cx="3933825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3933333" imgH="2476190" progId="">
                  <p:embed/>
                </p:oleObj>
              </mc:Choice>
              <mc:Fallback>
                <p:oleObj name="Photo Editor Photo" r:id="rId2" imgW="3933333" imgH="247619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05000"/>
                        <a:ext cx="3933825" cy="247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304800" y="1295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Book:</a:t>
            </a:r>
          </a:p>
          <a:p>
            <a:pPr>
              <a:lnSpc>
                <a:spcPct val="90000"/>
              </a:lnSpc>
            </a:pPr>
            <a:endParaRPr lang="en-US" sz="2800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endParaRPr lang="en-US" sz="2800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endParaRPr lang="en-US" sz="2800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endParaRPr lang="en-US" sz="2800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endParaRPr lang="en-US" sz="2800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endParaRPr lang="en-US" sz="2400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Class (for homework and exams):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(</a:t>
            </a:r>
            <a:r>
              <a:rPr lang="en-US" sz="1800" u="sng" dirty="0" err="1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EmployeeNumber</a:t>
            </a:r>
            <a:r>
              <a:rPr lang="en-US" sz="18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Ename</a:t>
            </a:r>
            <a:r>
              <a:rPr lang="en-US" sz="18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Phone, Email, </a:t>
            </a:r>
            <a:r>
              <a:rPr lang="en-US" sz="1800" dirty="0" err="1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HireDate</a:t>
            </a:r>
            <a:r>
              <a:rPr lang="en-US" sz="18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Rdat</a:t>
            </a:r>
            <a:r>
              <a:rPr lang="en-US" sz="18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EmpCode</a:t>
            </a:r>
            <a:r>
              <a:rPr lang="en-US" sz="18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sz="1800" b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</a:t>
            </a:r>
            <a:r>
              <a:rPr lang="en-US" sz="18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more VISIO homework for relational modeling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confusion with the data model</a:t>
            </a:r>
          </a:p>
        </p:txBody>
      </p:sp>
    </p:spTree>
    <p:extLst>
      <p:ext uri="{BB962C8B-B14F-4D97-AF65-F5344CB8AC3E}">
        <p14:creationId xmlns:p14="http://schemas.microsoft.com/office/powerpoint/2010/main" val="1878380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Step2</a:t>
            </a:r>
          </a:p>
        </p:txBody>
      </p:sp>
      <p:sp>
        <p:nvSpPr>
          <p:cNvPr id="181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4114800"/>
          </a:xfrm>
          <a:noFill/>
          <a:ln/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Multi-value attributes: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a table for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multi-value attribute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table should contain two attributes: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primary key of the entity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attribute that is multi-valued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 of this table: Two attributes together</a:t>
            </a:r>
          </a:p>
          <a:p>
            <a:pPr lvl="1"/>
            <a:r>
              <a:rPr lang="en-US" sz="2400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 in this table: primary key of the entity</a:t>
            </a:r>
          </a:p>
          <a:p>
            <a:pPr lvl="1"/>
            <a:endParaRPr lang="en-US" sz="2400" dirty="0">
              <a:solidFill>
                <a:srgbClr val="364A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is what the book calls “multi-valued attribute pattern” in Chapter 6, page 265-267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654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Step2</a:t>
            </a:r>
          </a:p>
        </p:txBody>
      </p:sp>
      <p:sp>
        <p:nvSpPr>
          <p:cNvPr id="181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Multi-value attributes</a:t>
            </a:r>
          </a:p>
          <a:p>
            <a:pPr lvl="1">
              <a:buFont typeface="Wingdings" pitchFamily="2" charset="2"/>
              <a:buNone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936244"/>
              </p:ext>
            </p:extLst>
          </p:nvPr>
        </p:nvGraphicFramePr>
        <p:xfrm>
          <a:off x="6324600" y="1295400"/>
          <a:ext cx="1834885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867161" imgH="3877216" progId="">
                  <p:embed/>
                </p:oleObj>
              </mc:Choice>
              <mc:Fallback>
                <p:oleObj name="Photo Editor Photo" r:id="rId2" imgW="1867161" imgH="3877216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295400"/>
                        <a:ext cx="1834885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8536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</a:t>
            </a:r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Relational </a:t>
            </a:r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Step2</a:t>
            </a:r>
          </a:p>
        </p:txBody>
      </p:sp>
      <p:sp>
        <p:nvSpPr>
          <p:cNvPr id="183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Employee(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EMP#,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name, salary)</a:t>
            </a: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Emp_phone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EMP#, phone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83317" name="Rectangle 21"/>
          <p:cNvSpPr>
            <a:spLocks noChangeArrowheads="1"/>
          </p:cNvSpPr>
          <p:nvPr/>
        </p:nvSpPr>
        <p:spPr bwMode="auto">
          <a:xfrm>
            <a:off x="25146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pitchFamily="18" charset="0"/>
              </a:rPr>
              <a:t>EMP#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183318" name="Rectangle 22"/>
          <p:cNvSpPr>
            <a:spLocks noChangeArrowheads="1"/>
          </p:cNvSpPr>
          <p:nvPr/>
        </p:nvSpPr>
        <p:spPr bwMode="auto">
          <a:xfrm>
            <a:off x="3200400" y="28956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NAME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183319" name="Rectangle 23"/>
          <p:cNvSpPr>
            <a:spLocks noChangeArrowheads="1"/>
          </p:cNvSpPr>
          <p:nvPr/>
        </p:nvSpPr>
        <p:spPr bwMode="auto">
          <a:xfrm>
            <a:off x="4343400" y="28956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SALARY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183321" name="Rectangle 25"/>
          <p:cNvSpPr>
            <a:spLocks noChangeArrowheads="1"/>
          </p:cNvSpPr>
          <p:nvPr/>
        </p:nvSpPr>
        <p:spPr bwMode="auto">
          <a:xfrm>
            <a:off x="2514600" y="3200400"/>
            <a:ext cx="685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S2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S3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S4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S5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183322" name="Rectangle 26"/>
          <p:cNvSpPr>
            <a:spLocks noChangeArrowheads="1"/>
          </p:cNvSpPr>
          <p:nvPr/>
        </p:nvSpPr>
        <p:spPr bwMode="auto">
          <a:xfrm>
            <a:off x="3200400" y="32004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Smith</a:t>
            </a:r>
          </a:p>
          <a:p>
            <a:pPr eaLnBrk="0" hangingPunct="0"/>
            <a:r>
              <a:rPr lang="en-US" sz="2000">
                <a:latin typeface="Times New Roman" pitchFamily="18" charset="0"/>
              </a:rPr>
              <a:t>Jones</a:t>
            </a:r>
          </a:p>
          <a:p>
            <a:pPr eaLnBrk="0" hangingPunct="0"/>
            <a:r>
              <a:rPr lang="en-US" sz="2000">
                <a:latin typeface="Times New Roman" pitchFamily="18" charset="0"/>
              </a:rPr>
              <a:t>Blake</a:t>
            </a:r>
          </a:p>
          <a:p>
            <a:pPr eaLnBrk="0" hangingPunct="0"/>
            <a:r>
              <a:rPr lang="en-US" sz="2000">
                <a:latin typeface="Times New Roman" pitchFamily="18" charset="0"/>
              </a:rPr>
              <a:t>Clark</a:t>
            </a:r>
          </a:p>
          <a:p>
            <a:pPr eaLnBrk="0" hangingPunct="0"/>
            <a:r>
              <a:rPr lang="en-US" sz="2000">
                <a:latin typeface="Times New Roman" pitchFamily="18" charset="0"/>
              </a:rPr>
              <a:t>Adams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183323" name="Rectangle 27"/>
          <p:cNvSpPr>
            <a:spLocks noChangeArrowheads="1"/>
          </p:cNvSpPr>
          <p:nvPr/>
        </p:nvSpPr>
        <p:spPr bwMode="auto">
          <a:xfrm>
            <a:off x="4343400" y="32004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10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30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30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183330" name="Rectangle 34"/>
          <p:cNvSpPr>
            <a:spLocks noChangeArrowheads="1"/>
          </p:cNvSpPr>
          <p:nvPr/>
        </p:nvSpPr>
        <p:spPr bwMode="auto">
          <a:xfrm>
            <a:off x="6477000" y="23622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pitchFamily="18" charset="0"/>
              </a:rPr>
              <a:t>Emp#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183331" name="Rectangle 35"/>
          <p:cNvSpPr>
            <a:spLocks noChangeArrowheads="1"/>
          </p:cNvSpPr>
          <p:nvPr/>
        </p:nvSpPr>
        <p:spPr bwMode="auto">
          <a:xfrm>
            <a:off x="6477000" y="2667000"/>
            <a:ext cx="6858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S2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S2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S3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S4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S4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183332" name="Rectangle 36"/>
          <p:cNvSpPr>
            <a:spLocks noChangeArrowheads="1"/>
          </p:cNvSpPr>
          <p:nvPr/>
        </p:nvSpPr>
        <p:spPr bwMode="auto">
          <a:xfrm>
            <a:off x="7162800" y="2362200"/>
            <a:ext cx="1295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pitchFamily="18" charset="0"/>
              </a:rPr>
              <a:t>Phone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183333" name="Rectangle 37"/>
          <p:cNvSpPr>
            <a:spLocks noChangeArrowheads="1"/>
          </p:cNvSpPr>
          <p:nvPr/>
        </p:nvSpPr>
        <p:spPr bwMode="auto">
          <a:xfrm>
            <a:off x="7162800" y="2667000"/>
            <a:ext cx="12954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2000" dirty="0">
              <a:latin typeface="Times New Roman" pitchFamily="18" charset="0"/>
            </a:endParaRPr>
          </a:p>
          <a:p>
            <a:pPr algn="ctr" eaLnBrk="0" hangingPunct="0"/>
            <a:endParaRPr lang="en-US" sz="2000" dirty="0">
              <a:latin typeface="Times New Roman" pitchFamily="18" charset="0"/>
            </a:endParaRPr>
          </a:p>
          <a:p>
            <a:pPr algn="ctr" eaLnBrk="0" hangingPunct="0"/>
            <a:r>
              <a:rPr lang="en-US" sz="2000" dirty="0">
                <a:latin typeface="Times New Roman" pitchFamily="18" charset="0"/>
              </a:rPr>
              <a:t>623-4342</a:t>
            </a:r>
          </a:p>
          <a:p>
            <a:pPr algn="ctr" eaLnBrk="0" hangingPunct="0"/>
            <a:r>
              <a:rPr lang="en-US" sz="2000" dirty="0">
                <a:latin typeface="Times New Roman" pitchFamily="18" charset="0"/>
              </a:rPr>
              <a:t>612-3221</a:t>
            </a:r>
          </a:p>
          <a:p>
            <a:pPr algn="ctr" eaLnBrk="0" hangingPunct="0"/>
            <a:r>
              <a:rPr lang="en-US" sz="2000" dirty="0">
                <a:latin typeface="Times New Roman" pitchFamily="18" charset="0"/>
              </a:rPr>
              <a:t>534-5352</a:t>
            </a:r>
          </a:p>
          <a:p>
            <a:pPr algn="ctr" eaLnBrk="0" hangingPunct="0"/>
            <a:r>
              <a:rPr lang="en-US" sz="2000" dirty="0">
                <a:latin typeface="Times New Roman" pitchFamily="18" charset="0"/>
              </a:rPr>
              <a:t>453-3523</a:t>
            </a:r>
          </a:p>
          <a:p>
            <a:pPr algn="ctr" eaLnBrk="0" hangingPunct="0"/>
            <a:r>
              <a:rPr lang="en-US" sz="2000" dirty="0">
                <a:solidFill>
                  <a:srgbClr val="CC0000"/>
                </a:solidFill>
                <a:latin typeface="Times New Roman" pitchFamily="18" charset="0"/>
              </a:rPr>
              <a:t>612-3221</a:t>
            </a:r>
          </a:p>
          <a:p>
            <a:pPr algn="ctr" eaLnBrk="0" hangingPunct="0"/>
            <a:r>
              <a:rPr lang="en-US" sz="2000" dirty="0">
                <a:latin typeface="Times New Roman" pitchFamily="18" charset="0"/>
              </a:rPr>
              <a:t>231-3242</a:t>
            </a:r>
          </a:p>
          <a:p>
            <a:pPr algn="ctr" eaLnBrk="0" hangingPunct="0"/>
            <a:r>
              <a:rPr lang="en-US" sz="2000" dirty="0">
                <a:latin typeface="Times New Roman" pitchFamily="18" charset="0"/>
              </a:rPr>
              <a:t>343-2234</a:t>
            </a:r>
          </a:p>
          <a:p>
            <a:pPr algn="ctr" eaLnBrk="0" hangingPunct="0"/>
            <a:r>
              <a:rPr lang="en-US" sz="2000" dirty="0">
                <a:latin typeface="Times New Roman" pitchFamily="18" charset="0"/>
              </a:rPr>
              <a:t>625-3424</a:t>
            </a:r>
          </a:p>
          <a:p>
            <a:pPr algn="ctr" eaLnBrk="0" hangingPunct="0"/>
            <a:r>
              <a:rPr lang="en-US" sz="2000" dirty="0">
                <a:latin typeface="Times New Roman" pitchFamily="18" charset="0"/>
              </a:rPr>
              <a:t>532-2623</a:t>
            </a:r>
          </a:p>
          <a:p>
            <a:pPr algn="ctr" eaLnBrk="0" hangingPunct="0"/>
            <a:endParaRPr lang="en-US" sz="2000" dirty="0">
              <a:solidFill>
                <a:srgbClr val="CC0000"/>
              </a:solidFill>
              <a:latin typeface="Times New Roman" pitchFamily="18" charset="0"/>
            </a:endParaRPr>
          </a:p>
          <a:p>
            <a:pPr algn="ctr" eaLnBrk="0" hangingPunct="0"/>
            <a:endParaRPr lang="en-US" dirty="0">
              <a:latin typeface="Times New Roman" pitchFamily="18" charset="0"/>
            </a:endParaRPr>
          </a:p>
        </p:txBody>
      </p:sp>
      <p:sp>
        <p:nvSpPr>
          <p:cNvPr id="183336" name="Text Box 40"/>
          <p:cNvSpPr txBox="1">
            <a:spLocks noChangeArrowheads="1"/>
          </p:cNvSpPr>
          <p:nvPr/>
        </p:nvSpPr>
        <p:spPr bwMode="auto">
          <a:xfrm>
            <a:off x="6019800" y="1752600"/>
            <a:ext cx="2438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Employee_phone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337" name="Text Box 41"/>
          <p:cNvSpPr txBox="1">
            <a:spLocks noChangeArrowheads="1"/>
          </p:cNvSpPr>
          <p:nvPr/>
        </p:nvSpPr>
        <p:spPr bwMode="auto">
          <a:xfrm>
            <a:off x="2438400" y="4876800"/>
            <a:ext cx="1676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Employee</a:t>
            </a:r>
          </a:p>
        </p:txBody>
      </p:sp>
    </p:spTree>
    <p:extLst>
      <p:ext uri="{BB962C8B-B14F-4D97-AF65-F5344CB8AC3E}">
        <p14:creationId xmlns:p14="http://schemas.microsoft.com/office/powerpoint/2010/main" val="1156917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Step2</a:t>
            </a:r>
          </a:p>
        </p:txBody>
      </p:sp>
      <p:sp>
        <p:nvSpPr>
          <p:cNvPr id="181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Multi-value attributes Exercise: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itchFamily="2" charset="2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" y="2133600"/>
            <a:ext cx="1819275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108903" y="3745468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Contacts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419600"/>
            <a:ext cx="601036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COMPANY (</a:t>
            </a:r>
            <a:r>
              <a:rPr lang="en-US" sz="2000" u="sng" dirty="0" err="1"/>
              <a:t>Cname</a:t>
            </a:r>
            <a:r>
              <a:rPr lang="en-US" sz="2000" dirty="0"/>
              <a:t>, City, Country, Volume)</a:t>
            </a:r>
          </a:p>
          <a:p>
            <a:endParaRPr lang="en-US" sz="2000" dirty="0"/>
          </a:p>
          <a:p>
            <a:r>
              <a:rPr lang="en-US" sz="2000" dirty="0"/>
              <a:t>COMPANY_CONTACT (</a:t>
            </a:r>
            <a:r>
              <a:rPr lang="en-US" sz="2000" u="sng" dirty="0" err="1"/>
              <a:t>Cname</a:t>
            </a:r>
            <a:r>
              <a:rPr lang="en-US" sz="2000" u="sng" dirty="0"/>
              <a:t>, Contact</a:t>
            </a:r>
            <a:r>
              <a:rPr lang="en-US" sz="2000" dirty="0"/>
              <a:t>)</a:t>
            </a:r>
          </a:p>
          <a:p>
            <a:r>
              <a:rPr lang="en-US" sz="2000" dirty="0"/>
              <a:t>FOREIGN KEY </a:t>
            </a:r>
            <a:r>
              <a:rPr lang="en-US" sz="2000" dirty="0" err="1"/>
              <a:t>Cname</a:t>
            </a:r>
            <a:r>
              <a:rPr lang="en-US" sz="2000" dirty="0"/>
              <a:t> REFERENCES COMPANY</a:t>
            </a:r>
          </a:p>
        </p:txBody>
      </p:sp>
    </p:spTree>
    <p:extLst>
      <p:ext uri="{BB962C8B-B14F-4D97-AF65-F5344CB8AC3E}">
        <p14:creationId xmlns:p14="http://schemas.microsoft.com/office/powerpoint/2010/main" val="2027004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Step3</a:t>
            </a:r>
          </a:p>
        </p:txBody>
      </p:sp>
      <p:sp>
        <p:nvSpPr>
          <p:cNvPr id="1843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7772400" cy="4114800"/>
          </a:xfrm>
          <a:noFill/>
          <a:ln/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ID Dependent entity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table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EACH weak entity type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 to the table one attribute for each simple attribute in the corresponding ID-Dependent entity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Include the primary key of each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owner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entity type. These are foreign keys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primary key of the table is:</a:t>
            </a:r>
          </a:p>
          <a:p>
            <a:pPr lvl="2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The primary key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the owner table</a:t>
            </a:r>
          </a:p>
          <a:p>
            <a:pPr lvl="2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The primary key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partial key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otherwise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74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Step3</a:t>
            </a:r>
          </a:p>
        </p:txBody>
      </p:sp>
      <p:pic>
        <p:nvPicPr>
          <p:cNvPr id="5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524000"/>
            <a:ext cx="8209643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845627" y="2964872"/>
            <a:ext cx="1676400" cy="1676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76400" y="5562600"/>
            <a:ext cx="6023264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ASSEMBLE (</a:t>
            </a: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EID, CID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Hours)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FOREIGN KEY EID REFERENCES EMPLOYEE;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FOREIGN KEY CID REFERENCES COMPUTER;</a:t>
            </a:r>
          </a:p>
        </p:txBody>
      </p:sp>
    </p:spTree>
    <p:extLst>
      <p:ext uri="{BB962C8B-B14F-4D97-AF65-F5344CB8AC3E}">
        <p14:creationId xmlns:p14="http://schemas.microsoft.com/office/powerpoint/2010/main" val="656873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Step3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6400" y="5562600"/>
            <a:ext cx="6023264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ASSEMBLE (</a:t>
            </a: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EID, CID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Hours)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FOREIGN KEY EID REFERENCES EMPLOYEE;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FOREIGN KEY CID REFERENCES COMPUTER;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19" y="1521192"/>
            <a:ext cx="8206962" cy="3815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45627" y="2964872"/>
            <a:ext cx="1676400" cy="1676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09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7724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More Examples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>
              <a:buFont typeface="Wingdings" pitchFamily="2" charset="2"/>
              <a:buNone/>
            </a:pPr>
            <a:endParaRPr lang="en-US" sz="2000" i="1" dirty="0"/>
          </a:p>
        </p:txBody>
      </p:sp>
      <p:sp>
        <p:nvSpPr>
          <p:cNvPr id="185348" name="Rectangle 4"/>
          <p:cNvSpPr>
            <a:spLocks noChangeArrowheads="1"/>
          </p:cNvSpPr>
          <p:nvPr/>
        </p:nvSpPr>
        <p:spPr bwMode="auto">
          <a:xfrm>
            <a:off x="2286000" y="2781300"/>
            <a:ext cx="10668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EMPLOYEE</a:t>
            </a:r>
          </a:p>
        </p:txBody>
      </p:sp>
      <p:sp>
        <p:nvSpPr>
          <p:cNvPr id="185350" name="Rectangle 6"/>
          <p:cNvSpPr>
            <a:spLocks noChangeArrowheads="1"/>
          </p:cNvSpPr>
          <p:nvPr/>
        </p:nvSpPr>
        <p:spPr bwMode="auto">
          <a:xfrm>
            <a:off x="6248400" y="2825750"/>
            <a:ext cx="10668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DEPENDENT</a:t>
            </a:r>
          </a:p>
        </p:txBody>
      </p:sp>
      <p:sp>
        <p:nvSpPr>
          <p:cNvPr id="185351" name="AutoShape 7"/>
          <p:cNvSpPr>
            <a:spLocks noChangeArrowheads="1"/>
          </p:cNvSpPr>
          <p:nvPr/>
        </p:nvSpPr>
        <p:spPr bwMode="auto">
          <a:xfrm>
            <a:off x="3962400" y="2743200"/>
            <a:ext cx="1257300" cy="4191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EMP_DEP</a:t>
            </a:r>
          </a:p>
        </p:txBody>
      </p:sp>
      <p:sp>
        <p:nvSpPr>
          <p:cNvPr id="185354" name="Oval 10"/>
          <p:cNvSpPr>
            <a:spLocks noChangeArrowheads="1"/>
          </p:cNvSpPr>
          <p:nvPr/>
        </p:nvSpPr>
        <p:spPr bwMode="auto">
          <a:xfrm>
            <a:off x="6172200" y="3352800"/>
            <a:ext cx="877888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DNAME</a:t>
            </a:r>
          </a:p>
        </p:txBody>
      </p:sp>
      <p:sp>
        <p:nvSpPr>
          <p:cNvPr id="185355" name="Oval 11"/>
          <p:cNvSpPr>
            <a:spLocks noChangeArrowheads="1"/>
          </p:cNvSpPr>
          <p:nvPr/>
        </p:nvSpPr>
        <p:spPr bwMode="auto">
          <a:xfrm>
            <a:off x="7086600" y="33528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GENDER</a:t>
            </a:r>
          </a:p>
        </p:txBody>
      </p:sp>
      <p:sp>
        <p:nvSpPr>
          <p:cNvPr id="185357" name="Rectangle 13"/>
          <p:cNvSpPr>
            <a:spLocks noChangeArrowheads="1"/>
          </p:cNvSpPr>
          <p:nvPr/>
        </p:nvSpPr>
        <p:spPr bwMode="auto">
          <a:xfrm>
            <a:off x="6172200" y="2743200"/>
            <a:ext cx="1219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200">
              <a:latin typeface="Times New Roman" pitchFamily="18" charset="0"/>
            </a:endParaRPr>
          </a:p>
        </p:txBody>
      </p:sp>
      <p:sp>
        <p:nvSpPr>
          <p:cNvPr id="185358" name="AutoShape 14"/>
          <p:cNvSpPr>
            <a:spLocks noChangeArrowheads="1"/>
          </p:cNvSpPr>
          <p:nvPr/>
        </p:nvSpPr>
        <p:spPr bwMode="auto">
          <a:xfrm>
            <a:off x="3771900" y="2628900"/>
            <a:ext cx="1676400" cy="6858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200">
              <a:latin typeface="Times New Roman" pitchFamily="18" charset="0"/>
            </a:endParaRPr>
          </a:p>
        </p:txBody>
      </p:sp>
      <p:sp>
        <p:nvSpPr>
          <p:cNvPr id="185359" name="Line 15"/>
          <p:cNvSpPr>
            <a:spLocks noChangeShapeType="1"/>
          </p:cNvSpPr>
          <p:nvPr/>
        </p:nvSpPr>
        <p:spPr bwMode="auto">
          <a:xfrm>
            <a:off x="6288088" y="3657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85361" name="AutoShape 17"/>
          <p:cNvCxnSpPr>
            <a:cxnSpLocks noChangeShapeType="1"/>
            <a:stCxn id="185358" idx="1"/>
          </p:cNvCxnSpPr>
          <p:nvPr/>
        </p:nvCxnSpPr>
        <p:spPr bwMode="auto">
          <a:xfrm flipH="1">
            <a:off x="3352800" y="2971800"/>
            <a:ext cx="4191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5362" name="AutoShape 18"/>
          <p:cNvCxnSpPr>
            <a:cxnSpLocks noChangeShapeType="1"/>
            <a:stCxn id="185358" idx="3"/>
            <a:endCxn id="185357" idx="1"/>
          </p:cNvCxnSpPr>
          <p:nvPr/>
        </p:nvCxnSpPr>
        <p:spPr bwMode="auto">
          <a:xfrm>
            <a:off x="5448300" y="2971800"/>
            <a:ext cx="7239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367" name="Text Box 23"/>
          <p:cNvSpPr txBox="1">
            <a:spLocks noChangeArrowheads="1"/>
          </p:cNvSpPr>
          <p:nvPr/>
        </p:nvSpPr>
        <p:spPr bwMode="auto">
          <a:xfrm>
            <a:off x="3352800" y="2667000"/>
            <a:ext cx="2667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lang="en-US" sz="1200">
                <a:latin typeface="Times New Roman" pitchFamily="18" charset="0"/>
              </a:rPr>
              <a:t>1</a:t>
            </a:r>
          </a:p>
        </p:txBody>
      </p:sp>
      <p:sp>
        <p:nvSpPr>
          <p:cNvPr id="185368" name="Text Box 24"/>
          <p:cNvSpPr txBox="1">
            <a:spLocks noChangeArrowheads="1"/>
          </p:cNvSpPr>
          <p:nvPr/>
        </p:nvSpPr>
        <p:spPr bwMode="auto">
          <a:xfrm>
            <a:off x="6478588" y="2432050"/>
            <a:ext cx="2667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lang="en-US" sz="1200">
                <a:latin typeface="Times New Roman" pitchFamily="18" charset="0"/>
              </a:rPr>
              <a:t>M</a:t>
            </a:r>
          </a:p>
        </p:txBody>
      </p:sp>
      <p:cxnSp>
        <p:nvCxnSpPr>
          <p:cNvPr id="185373" name="AutoShape 29"/>
          <p:cNvCxnSpPr>
            <a:cxnSpLocks noChangeShapeType="1"/>
          </p:cNvCxnSpPr>
          <p:nvPr/>
        </p:nvCxnSpPr>
        <p:spPr bwMode="auto">
          <a:xfrm>
            <a:off x="6781800" y="3200400"/>
            <a:ext cx="649288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5374" name="AutoShape 30"/>
          <p:cNvCxnSpPr>
            <a:cxnSpLocks noChangeShapeType="1"/>
            <a:stCxn id="185354" idx="0"/>
            <a:endCxn id="185357" idx="2"/>
          </p:cNvCxnSpPr>
          <p:nvPr/>
        </p:nvCxnSpPr>
        <p:spPr bwMode="auto">
          <a:xfrm flipV="1">
            <a:off x="6611938" y="3200400"/>
            <a:ext cx="169862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377" name="Line 33"/>
          <p:cNvSpPr>
            <a:spLocks noChangeShapeType="1"/>
          </p:cNvSpPr>
          <p:nvPr/>
        </p:nvSpPr>
        <p:spPr bwMode="auto">
          <a:xfrm>
            <a:off x="5334000" y="2895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5378" name="Oval 34"/>
          <p:cNvSpPr>
            <a:spLocks noChangeArrowheads="1"/>
          </p:cNvSpPr>
          <p:nvPr/>
        </p:nvSpPr>
        <p:spPr bwMode="auto">
          <a:xfrm>
            <a:off x="1255713" y="2362200"/>
            <a:ext cx="877887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u="sng">
                <a:latin typeface="Times New Roman" pitchFamily="18" charset="0"/>
              </a:rPr>
              <a:t>EMP#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185379" name="Oval 35"/>
          <p:cNvSpPr>
            <a:spLocks noChangeArrowheads="1"/>
          </p:cNvSpPr>
          <p:nvPr/>
        </p:nvSpPr>
        <p:spPr bwMode="auto">
          <a:xfrm>
            <a:off x="1255713" y="2706688"/>
            <a:ext cx="877887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NAME</a:t>
            </a:r>
          </a:p>
        </p:txBody>
      </p:sp>
      <p:sp>
        <p:nvSpPr>
          <p:cNvPr id="185380" name="Oval 36"/>
          <p:cNvSpPr>
            <a:spLocks noChangeArrowheads="1"/>
          </p:cNvSpPr>
          <p:nvPr/>
        </p:nvSpPr>
        <p:spPr bwMode="auto">
          <a:xfrm>
            <a:off x="1255713" y="3087688"/>
            <a:ext cx="877887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SALARY</a:t>
            </a:r>
          </a:p>
        </p:txBody>
      </p:sp>
      <p:sp>
        <p:nvSpPr>
          <p:cNvPr id="185381" name="Oval 37"/>
          <p:cNvSpPr>
            <a:spLocks noChangeArrowheads="1"/>
          </p:cNvSpPr>
          <p:nvPr/>
        </p:nvSpPr>
        <p:spPr bwMode="auto">
          <a:xfrm>
            <a:off x="1255713" y="3505200"/>
            <a:ext cx="877887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PHONE</a:t>
            </a:r>
          </a:p>
        </p:txBody>
      </p:sp>
      <p:sp>
        <p:nvSpPr>
          <p:cNvPr id="185382" name="Oval 38"/>
          <p:cNvSpPr>
            <a:spLocks noChangeArrowheads="1"/>
          </p:cNvSpPr>
          <p:nvPr/>
        </p:nvSpPr>
        <p:spPr bwMode="auto">
          <a:xfrm>
            <a:off x="265113" y="2398713"/>
            <a:ext cx="877887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FIRST</a:t>
            </a:r>
          </a:p>
        </p:txBody>
      </p:sp>
      <p:sp>
        <p:nvSpPr>
          <p:cNvPr id="185383" name="Oval 39"/>
          <p:cNvSpPr>
            <a:spLocks noChangeArrowheads="1"/>
          </p:cNvSpPr>
          <p:nvPr/>
        </p:nvSpPr>
        <p:spPr bwMode="auto">
          <a:xfrm>
            <a:off x="265113" y="2703513"/>
            <a:ext cx="877887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MI</a:t>
            </a:r>
          </a:p>
        </p:txBody>
      </p:sp>
      <p:sp>
        <p:nvSpPr>
          <p:cNvPr id="185384" name="Oval 40"/>
          <p:cNvSpPr>
            <a:spLocks noChangeArrowheads="1"/>
          </p:cNvSpPr>
          <p:nvPr/>
        </p:nvSpPr>
        <p:spPr bwMode="auto">
          <a:xfrm>
            <a:off x="265113" y="3048000"/>
            <a:ext cx="877887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LAST</a:t>
            </a:r>
          </a:p>
        </p:txBody>
      </p:sp>
      <p:sp>
        <p:nvSpPr>
          <p:cNvPr id="185385" name="Oval 41"/>
          <p:cNvSpPr>
            <a:spLocks noChangeArrowheads="1"/>
          </p:cNvSpPr>
          <p:nvPr/>
        </p:nvSpPr>
        <p:spPr bwMode="auto">
          <a:xfrm>
            <a:off x="1219200" y="3465513"/>
            <a:ext cx="954088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200">
              <a:latin typeface="Times New Roman" pitchFamily="18" charset="0"/>
            </a:endParaRPr>
          </a:p>
        </p:txBody>
      </p:sp>
      <p:cxnSp>
        <p:nvCxnSpPr>
          <p:cNvPr id="185386" name="AutoShape 42"/>
          <p:cNvCxnSpPr>
            <a:cxnSpLocks noChangeShapeType="1"/>
            <a:stCxn id="185384" idx="6"/>
            <a:endCxn id="185379" idx="2"/>
          </p:cNvCxnSpPr>
          <p:nvPr/>
        </p:nvCxnSpPr>
        <p:spPr bwMode="auto">
          <a:xfrm flipV="1">
            <a:off x="1143000" y="2840038"/>
            <a:ext cx="112713" cy="3413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5387" name="AutoShape 43"/>
          <p:cNvCxnSpPr>
            <a:cxnSpLocks noChangeShapeType="1"/>
            <a:stCxn id="185379" idx="2"/>
            <a:endCxn id="185382" idx="6"/>
          </p:cNvCxnSpPr>
          <p:nvPr/>
        </p:nvCxnSpPr>
        <p:spPr bwMode="auto">
          <a:xfrm flipH="1" flipV="1">
            <a:off x="1143000" y="2532063"/>
            <a:ext cx="112713" cy="307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5388" name="AutoShape 44"/>
          <p:cNvCxnSpPr>
            <a:cxnSpLocks noChangeShapeType="1"/>
            <a:stCxn id="185379" idx="2"/>
            <a:endCxn id="185383" idx="6"/>
          </p:cNvCxnSpPr>
          <p:nvPr/>
        </p:nvCxnSpPr>
        <p:spPr bwMode="auto">
          <a:xfrm flipH="1" flipV="1">
            <a:off x="1143000" y="2836863"/>
            <a:ext cx="112713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5389" name="AutoShape 45"/>
          <p:cNvCxnSpPr>
            <a:cxnSpLocks noChangeShapeType="1"/>
            <a:endCxn id="185385" idx="6"/>
          </p:cNvCxnSpPr>
          <p:nvPr/>
        </p:nvCxnSpPr>
        <p:spPr bwMode="auto">
          <a:xfrm flipH="1">
            <a:off x="2173288" y="2914650"/>
            <a:ext cx="112712" cy="7413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5390" name="AutoShape 46"/>
          <p:cNvCxnSpPr>
            <a:cxnSpLocks noChangeShapeType="1"/>
            <a:stCxn id="185380" idx="6"/>
          </p:cNvCxnSpPr>
          <p:nvPr/>
        </p:nvCxnSpPr>
        <p:spPr bwMode="auto">
          <a:xfrm flipV="1">
            <a:off x="2133600" y="2914650"/>
            <a:ext cx="152400" cy="306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5391" name="AutoShape 47"/>
          <p:cNvCxnSpPr>
            <a:cxnSpLocks noChangeShapeType="1"/>
            <a:stCxn id="185379" idx="6"/>
          </p:cNvCxnSpPr>
          <p:nvPr/>
        </p:nvCxnSpPr>
        <p:spPr bwMode="auto">
          <a:xfrm>
            <a:off x="2133600" y="2840038"/>
            <a:ext cx="152400" cy="746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5392" name="AutoShape 48"/>
          <p:cNvCxnSpPr>
            <a:cxnSpLocks noChangeShapeType="1"/>
            <a:stCxn id="185378" idx="6"/>
          </p:cNvCxnSpPr>
          <p:nvPr/>
        </p:nvCxnSpPr>
        <p:spPr bwMode="auto">
          <a:xfrm>
            <a:off x="2133600" y="2495550"/>
            <a:ext cx="152400" cy="419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393" name="Rectangle 49"/>
          <p:cNvSpPr>
            <a:spLocks noChangeArrowheads="1"/>
          </p:cNvSpPr>
          <p:nvPr/>
        </p:nvSpPr>
        <p:spPr bwMode="auto">
          <a:xfrm>
            <a:off x="1600200" y="4334470"/>
            <a:ext cx="5425524" cy="92333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Employee( </a:t>
            </a:r>
            <a:r>
              <a:rPr lang="en-US" sz="1800" u="sng" dirty="0">
                <a:latin typeface="Arial" panose="020B0604020202020204" pitchFamily="34" charset="0"/>
                <a:cs typeface="Arial" panose="020B0604020202020204" pitchFamily="34" charset="0"/>
              </a:rPr>
              <a:t>EMP#,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first, mi, last, salary)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Dependent(</a:t>
            </a:r>
            <a:r>
              <a:rPr lang="en-US" sz="1800" u="sng" dirty="0">
                <a:latin typeface="Arial" panose="020B0604020202020204" pitchFamily="34" charset="0"/>
                <a:cs typeface="Arial" panose="020B0604020202020204" pitchFamily="34" charset="0"/>
              </a:rPr>
              <a:t>EMP#, </a:t>
            </a:r>
            <a:r>
              <a:rPr lang="en-US" sz="1800" u="sng" dirty="0" err="1">
                <a:latin typeface="Arial" panose="020B0604020202020204" pitchFamily="34" charset="0"/>
                <a:cs typeface="Arial" panose="020B0604020202020204" pitchFamily="34" charset="0"/>
              </a:rPr>
              <a:t>Dname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Gender)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FOREIGN KEY EMP# REFERENCES EMPLOYEE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Step3</a:t>
            </a:r>
          </a:p>
        </p:txBody>
      </p:sp>
    </p:spTree>
    <p:extLst>
      <p:ext uri="{BB962C8B-B14F-4D97-AF65-F5344CB8AC3E}">
        <p14:creationId xmlns:p14="http://schemas.microsoft.com/office/powerpoint/2010/main" val="314716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Step4</a:t>
            </a:r>
          </a:p>
        </p:txBody>
      </p:sp>
      <p:sp>
        <p:nvSpPr>
          <p:cNvPr id="1863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7772400" cy="4114800"/>
          </a:xfrm>
          <a:noFill/>
          <a:ln/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Binary m:n relationships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table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each binary m:n relationship</a:t>
            </a:r>
          </a:p>
          <a:p>
            <a:pPr lvl="1"/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the Primary keys the primary keys of the participating entity types</a:t>
            </a:r>
          </a:p>
          <a:p>
            <a:pPr lvl="1"/>
            <a:r>
              <a:rPr lang="en-US" sz="2400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the Foreign keys the primary keys of the participating entity types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Include all other attributes of this relationship 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the relationship has attributes, it is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entity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should have been taken care of by the previous step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it slipped through, it will be captured here!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the relationship has no attributes, the created table has only two keys, and is called an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intersection table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800" dirty="0"/>
          </a:p>
          <a:p>
            <a:pPr lvl="1">
              <a:buFont typeface="Wingdings" pitchFamily="2" charset="2"/>
              <a:buNone/>
            </a:pP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557115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Step4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130631"/>
              </p:ext>
            </p:extLst>
          </p:nvPr>
        </p:nvGraphicFramePr>
        <p:xfrm>
          <a:off x="1295400" y="1219201"/>
          <a:ext cx="57150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105848" imgH="1533739" progId="">
                  <p:embed/>
                </p:oleObj>
              </mc:Choice>
              <mc:Fallback>
                <p:oleObj name="Photo Editor Photo" r:id="rId2" imgW="4105848" imgH="1533739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219201"/>
                        <a:ext cx="5715000" cy="228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5334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  <a:p>
            <a:endParaRPr lang="en-US" sz="2800" dirty="0">
              <a:solidFill>
                <a:srgbClr val="364A3B"/>
              </a:solidFill>
            </a:endParaRPr>
          </a:p>
          <a:p>
            <a:endParaRPr lang="en-US" sz="2800" dirty="0">
              <a:solidFill>
                <a:srgbClr val="364A3B"/>
              </a:solidFill>
            </a:endParaRPr>
          </a:p>
          <a:p>
            <a:endParaRPr lang="en-US" sz="2400" dirty="0">
              <a:solidFill>
                <a:srgbClr val="364A3B"/>
              </a:solidFill>
            </a:endParaRPr>
          </a:p>
          <a:p>
            <a:pPr lvl="1"/>
            <a:endParaRPr lang="en-US" sz="2400" dirty="0">
              <a:solidFill>
                <a:srgbClr val="364A3B"/>
              </a:solidFill>
            </a:endParaRP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COMPANY (</a:t>
            </a:r>
            <a:r>
              <a:rPr lang="en-US" sz="2000" u="sng" dirty="0" err="1"/>
              <a:t>Cname</a:t>
            </a:r>
            <a:r>
              <a:rPr lang="en-US" sz="2000" dirty="0"/>
              <a:t>, City, Country, Volume)</a:t>
            </a:r>
          </a:p>
          <a:p>
            <a:pPr lvl="1"/>
            <a:r>
              <a:rPr lang="en-US" sz="2000" dirty="0"/>
              <a:t>PART (</a:t>
            </a:r>
            <a:r>
              <a:rPr lang="en-US" sz="2000" u="sng" dirty="0" err="1"/>
              <a:t>Pnumber</a:t>
            </a:r>
            <a:r>
              <a:rPr lang="en-US" sz="2000" dirty="0"/>
              <a:t>, </a:t>
            </a:r>
            <a:r>
              <a:rPr lang="en-US" sz="2000" dirty="0" err="1"/>
              <a:t>PartName</a:t>
            </a:r>
            <a:r>
              <a:rPr lang="en-US" sz="2000" dirty="0"/>
              <a:t>, </a:t>
            </a:r>
            <a:r>
              <a:rPr lang="en-US" sz="2000" dirty="0" err="1"/>
              <a:t>SalesPrice</a:t>
            </a:r>
            <a:r>
              <a:rPr lang="en-US" sz="2000" dirty="0"/>
              <a:t>, </a:t>
            </a:r>
            <a:r>
              <a:rPr lang="en-US" sz="2000" dirty="0" err="1"/>
              <a:t>ReOrder</a:t>
            </a:r>
            <a:r>
              <a:rPr lang="en-US" sz="2000" dirty="0"/>
              <a:t>, </a:t>
            </a:r>
            <a:r>
              <a:rPr lang="en-US" sz="2000" dirty="0" err="1"/>
              <a:t>QOnHand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Insert the </a:t>
            </a:r>
            <a:r>
              <a:rPr lang="en-US" sz="2000" dirty="0" err="1"/>
              <a:t>Company_part</a:t>
            </a:r>
            <a:r>
              <a:rPr lang="en-US" sz="2000" dirty="0"/>
              <a:t> table in between the COMPANY and PART tables, defined below</a:t>
            </a:r>
          </a:p>
          <a:p>
            <a:pPr lvl="1"/>
            <a:endParaRPr lang="en-US" sz="2000" dirty="0"/>
          </a:p>
          <a:p>
            <a:endParaRPr lang="en-US" sz="2800" dirty="0"/>
          </a:p>
          <a:p>
            <a:pPr lvl="1">
              <a:buFont typeface="Wingdings" pitchFamily="2" charset="2"/>
              <a:buNone/>
            </a:pPr>
            <a:endParaRPr lang="en-US" sz="2400" i="1" dirty="0"/>
          </a:p>
        </p:txBody>
      </p:sp>
      <p:grpSp>
        <p:nvGrpSpPr>
          <p:cNvPr id="8" name="Group 7"/>
          <p:cNvGrpSpPr/>
          <p:nvPr/>
        </p:nvGrpSpPr>
        <p:grpSpPr>
          <a:xfrm>
            <a:off x="1371600" y="2438400"/>
            <a:ext cx="6019800" cy="2286000"/>
            <a:chOff x="1371600" y="3581400"/>
            <a:chExt cx="6019800" cy="2286000"/>
          </a:xfrm>
        </p:grpSpPr>
        <p:sp>
          <p:nvSpPr>
            <p:cNvPr id="5" name="Rectangle 4"/>
            <p:cNvSpPr/>
            <p:nvPr/>
          </p:nvSpPr>
          <p:spPr>
            <a:xfrm>
              <a:off x="1371600" y="5036403"/>
              <a:ext cx="6019800" cy="83099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lvl="1"/>
              <a:r>
                <a:rPr lang="en-US" sz="2000" dirty="0"/>
                <a:t>COMPANY_PART(</a:t>
              </a:r>
              <a:r>
                <a:rPr lang="en-US" sz="2000" u="sng" dirty="0" err="1"/>
                <a:t>Cname</a:t>
              </a:r>
              <a:r>
                <a:rPr lang="en-US" sz="2000" u="sng" dirty="0"/>
                <a:t>, </a:t>
              </a:r>
              <a:r>
                <a:rPr lang="en-US" sz="2000" u="sng" dirty="0" err="1"/>
                <a:t>Pnumber</a:t>
              </a:r>
              <a:r>
                <a:rPr lang="en-US" sz="2000" dirty="0"/>
                <a:t>)</a:t>
              </a:r>
            </a:p>
            <a:p>
              <a:pPr lvl="2"/>
              <a:r>
                <a:rPr lang="en-US" sz="1400" b="1" dirty="0"/>
                <a:t>FOREIGN KEY </a:t>
              </a:r>
              <a:r>
                <a:rPr lang="en-US" sz="1400" b="1" dirty="0" err="1"/>
                <a:t>Cname</a:t>
              </a:r>
              <a:r>
                <a:rPr lang="en-US" sz="1400" b="1" dirty="0"/>
                <a:t> REFERENCES COMPANY</a:t>
              </a:r>
            </a:p>
            <a:p>
              <a:pPr lvl="2"/>
              <a:r>
                <a:rPr lang="en-US" sz="1400" b="1" dirty="0"/>
                <a:t>FOREIGN KEY </a:t>
              </a:r>
              <a:r>
                <a:rPr lang="en-US" sz="1400" b="1" dirty="0" err="1"/>
                <a:t>Pnumber</a:t>
              </a:r>
              <a:r>
                <a:rPr lang="en-US" sz="1400" b="1" dirty="0"/>
                <a:t> REFERENCES PART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4114800" y="3581400"/>
              <a:ext cx="0" cy="1455004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0334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7772400" cy="4114800"/>
          </a:xfrm>
          <a:noFill/>
          <a:ln/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Binary 1:m relationships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a foreign key in the table on the “many” side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Referencing the table on the “one” side</a:t>
            </a:r>
          </a:p>
          <a:p>
            <a:pPr lvl="1"/>
            <a:r>
              <a:rPr lang="en-US" sz="2400" b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need to introduce a separate table</a:t>
            </a:r>
          </a:p>
          <a:p>
            <a:pPr lvl="1">
              <a:buFont typeface="Wingdings" pitchFamily="2" charset="2"/>
              <a:buNone/>
            </a:pPr>
            <a:endParaRPr lang="en-US" sz="2400" dirty="0">
              <a:solidFill>
                <a:srgbClr val="CC0000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 5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4114800"/>
            <a:ext cx="45720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lvl="1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To memorize: The foreign key “</a:t>
            </a:r>
            <a:r>
              <a:rPr lang="en-US" sz="2400" b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igrates” to the </a:t>
            </a:r>
            <a:r>
              <a:rPr lang="en-US" sz="2400" b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any side.</a:t>
            </a:r>
          </a:p>
        </p:txBody>
      </p:sp>
    </p:spTree>
    <p:extLst>
      <p:ext uri="{BB962C8B-B14F-4D97-AF65-F5344CB8AC3E}">
        <p14:creationId xmlns:p14="http://schemas.microsoft.com/office/powerpoint/2010/main" val="2027431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818" y="5051259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b="1" dirty="0"/>
              <a:t>WHO has the foreign key? POLICY or COMPUTER?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818" y="5584659"/>
            <a:ext cx="746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dirty="0"/>
              <a:t>COMPUTER (</a:t>
            </a:r>
            <a:r>
              <a:rPr lang="en-US" u="sng" dirty="0"/>
              <a:t>CID</a:t>
            </a:r>
            <a:r>
              <a:rPr lang="en-US" dirty="0"/>
              <a:t>, CPU, Memory, DVD, </a:t>
            </a:r>
            <a:r>
              <a:rPr lang="en-US" dirty="0" err="1"/>
              <a:t>isLaptop</a:t>
            </a:r>
            <a:r>
              <a:rPr lang="en-US" dirty="0"/>
              <a:t>, PID)</a:t>
            </a:r>
          </a:p>
          <a:p>
            <a:pPr lvl="1"/>
            <a:r>
              <a:rPr lang="en-US" dirty="0"/>
              <a:t>FOREIGN KEY PID REFERENCES POLICY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19" y="1143000"/>
            <a:ext cx="8206962" cy="3815616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2209800" y="1600200"/>
            <a:ext cx="4343400" cy="3358416"/>
            <a:chOff x="2209800" y="1981200"/>
            <a:chExt cx="4343400" cy="3810000"/>
          </a:xfrm>
        </p:grpSpPr>
        <p:sp>
          <p:nvSpPr>
            <p:cNvPr id="11" name="Oval 10"/>
            <p:cNvSpPr/>
            <p:nvPr/>
          </p:nvSpPr>
          <p:spPr>
            <a:xfrm>
              <a:off x="2209800" y="1981200"/>
              <a:ext cx="4343400" cy="4572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>
              <a:stCxn id="11" idx="4"/>
            </p:cNvCxnSpPr>
            <p:nvPr/>
          </p:nvCxnSpPr>
          <p:spPr>
            <a:xfrm>
              <a:off x="4381500" y="2438400"/>
              <a:ext cx="0" cy="33528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8233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7724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More examples</a:t>
            </a:r>
          </a:p>
          <a:p>
            <a:pPr>
              <a:buFont typeface="Wingdings" pitchFamily="2" charset="2"/>
              <a:buNone/>
            </a:pPr>
            <a:endParaRPr lang="en-US" sz="2000" dirty="0"/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Employee (</a:t>
            </a:r>
            <a:r>
              <a:rPr lang="en-US" sz="2400" u="sng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First, MI, Last, Salary,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#)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Foreign key: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references Department;</a:t>
            </a:r>
          </a:p>
          <a:p>
            <a:pPr>
              <a:buFont typeface="Wingdings" pitchFamily="2" charset="2"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Project (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J#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Jname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City, Manager#)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Foreign key: Manager# references Employee;</a:t>
            </a:r>
          </a:p>
          <a:p>
            <a:endParaRPr lang="en-US" sz="18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lvl="1">
              <a:buFont typeface="Wingdings" pitchFamily="2" charset="2"/>
              <a:buNone/>
            </a:pPr>
            <a:endParaRPr lang="en-US" sz="2000" i="1" dirty="0"/>
          </a:p>
        </p:txBody>
      </p:sp>
      <p:sp>
        <p:nvSpPr>
          <p:cNvPr id="189446" name="Rectangle 6"/>
          <p:cNvSpPr>
            <a:spLocks noChangeArrowheads="1"/>
          </p:cNvSpPr>
          <p:nvPr/>
        </p:nvSpPr>
        <p:spPr bwMode="auto">
          <a:xfrm>
            <a:off x="547255" y="5417127"/>
            <a:ext cx="10668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dirty="0">
                <a:latin typeface="Times New Roman" pitchFamily="18" charset="0"/>
              </a:rPr>
              <a:t>EMPLOYEE</a:t>
            </a:r>
          </a:p>
        </p:txBody>
      </p:sp>
      <p:sp>
        <p:nvSpPr>
          <p:cNvPr id="189447" name="Rectangle 7"/>
          <p:cNvSpPr>
            <a:spLocks noChangeArrowheads="1"/>
          </p:cNvSpPr>
          <p:nvPr/>
        </p:nvSpPr>
        <p:spPr bwMode="auto">
          <a:xfrm>
            <a:off x="4876800" y="5422322"/>
            <a:ext cx="10668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dirty="0">
                <a:latin typeface="Times New Roman" pitchFamily="18" charset="0"/>
              </a:rPr>
              <a:t>PROJECT</a:t>
            </a:r>
          </a:p>
        </p:txBody>
      </p:sp>
      <p:cxnSp>
        <p:nvCxnSpPr>
          <p:cNvPr id="189448" name="AutoShape 8"/>
          <p:cNvCxnSpPr>
            <a:cxnSpLocks noChangeShapeType="1"/>
            <a:stCxn id="189451" idx="1"/>
            <a:endCxn id="189446" idx="3"/>
          </p:cNvCxnSpPr>
          <p:nvPr/>
        </p:nvCxnSpPr>
        <p:spPr bwMode="auto">
          <a:xfrm flipH="1">
            <a:off x="1614055" y="5543550"/>
            <a:ext cx="824345" cy="692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9450" name="Line 10"/>
          <p:cNvSpPr>
            <a:spLocks noChangeShapeType="1"/>
          </p:cNvSpPr>
          <p:nvPr/>
        </p:nvSpPr>
        <p:spPr bwMode="auto">
          <a:xfrm>
            <a:off x="3810000" y="5550474"/>
            <a:ext cx="1066800" cy="51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51" name="AutoShape 11"/>
          <p:cNvSpPr>
            <a:spLocks noChangeArrowheads="1"/>
          </p:cNvSpPr>
          <p:nvPr/>
        </p:nvSpPr>
        <p:spPr bwMode="auto">
          <a:xfrm>
            <a:off x="2438400" y="5295900"/>
            <a:ext cx="1447800" cy="4953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PROJ_MANAGE</a:t>
            </a:r>
          </a:p>
        </p:txBody>
      </p:sp>
      <p:sp>
        <p:nvSpPr>
          <p:cNvPr id="189452" name="Rectangle 12"/>
          <p:cNvSpPr>
            <a:spLocks noChangeArrowheads="1"/>
          </p:cNvSpPr>
          <p:nvPr/>
        </p:nvSpPr>
        <p:spPr bwMode="auto">
          <a:xfrm>
            <a:off x="6553200" y="1714500"/>
            <a:ext cx="1069975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DEPARTMENT</a:t>
            </a:r>
          </a:p>
        </p:txBody>
      </p:sp>
      <p:sp>
        <p:nvSpPr>
          <p:cNvPr id="189453" name="Rectangle 13"/>
          <p:cNvSpPr>
            <a:spLocks noChangeArrowheads="1"/>
          </p:cNvSpPr>
          <p:nvPr/>
        </p:nvSpPr>
        <p:spPr bwMode="auto">
          <a:xfrm>
            <a:off x="6553200" y="3581400"/>
            <a:ext cx="10668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EMPLOYEE</a:t>
            </a:r>
          </a:p>
        </p:txBody>
      </p:sp>
      <p:sp>
        <p:nvSpPr>
          <p:cNvPr id="189454" name="AutoShape 14"/>
          <p:cNvSpPr>
            <a:spLocks noChangeArrowheads="1"/>
          </p:cNvSpPr>
          <p:nvPr/>
        </p:nvSpPr>
        <p:spPr bwMode="auto">
          <a:xfrm>
            <a:off x="7086600" y="2438400"/>
            <a:ext cx="1257300" cy="4191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WORK_IN</a:t>
            </a:r>
          </a:p>
        </p:txBody>
      </p:sp>
      <p:sp>
        <p:nvSpPr>
          <p:cNvPr id="189455" name="Text Box 15"/>
          <p:cNvSpPr txBox="1">
            <a:spLocks noChangeArrowheads="1"/>
          </p:cNvSpPr>
          <p:nvPr/>
        </p:nvSpPr>
        <p:spPr bwMode="auto">
          <a:xfrm>
            <a:off x="7353300" y="2019300"/>
            <a:ext cx="2667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lang="en-US" sz="1200" dirty="0">
                <a:latin typeface="Times New Roman" pitchFamily="18" charset="0"/>
              </a:rPr>
              <a:t>1</a:t>
            </a:r>
          </a:p>
        </p:txBody>
      </p:sp>
      <p:cxnSp>
        <p:nvCxnSpPr>
          <p:cNvPr id="189457" name="AutoShape 17"/>
          <p:cNvCxnSpPr>
            <a:cxnSpLocks noChangeShapeType="1"/>
            <a:stCxn id="189452" idx="2"/>
            <a:endCxn id="189454" idx="0"/>
          </p:cNvCxnSpPr>
          <p:nvPr/>
        </p:nvCxnSpPr>
        <p:spPr bwMode="auto">
          <a:xfrm>
            <a:off x="7088188" y="1981200"/>
            <a:ext cx="627062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459" name="AutoShape 19"/>
          <p:cNvCxnSpPr>
            <a:cxnSpLocks noChangeShapeType="1"/>
            <a:stCxn id="189454" idx="2"/>
            <a:endCxn id="189453" idx="0"/>
          </p:cNvCxnSpPr>
          <p:nvPr/>
        </p:nvCxnSpPr>
        <p:spPr bwMode="auto">
          <a:xfrm flipH="1">
            <a:off x="7086600" y="2857500"/>
            <a:ext cx="628650" cy="723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9461" name="Text Box 21"/>
          <p:cNvSpPr txBox="1">
            <a:spLocks noChangeArrowheads="1"/>
          </p:cNvSpPr>
          <p:nvPr/>
        </p:nvSpPr>
        <p:spPr bwMode="auto">
          <a:xfrm>
            <a:off x="7277100" y="3238500"/>
            <a:ext cx="2667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lang="en-US" sz="1200">
                <a:latin typeface="Times New Roman" pitchFamily="18" charset="0"/>
              </a:rPr>
              <a:t>M</a:t>
            </a:r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 5</a:t>
            </a: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4210050" y="5193722"/>
            <a:ext cx="2667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lang="en-US" sz="1200">
                <a:latin typeface="Times New Roman" pitchFamily="18" charset="0"/>
              </a:rPr>
              <a:t>M</a:t>
            </a: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1638300" y="5231822"/>
            <a:ext cx="2667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lang="en-US" sz="1200" dirty="0">
                <a:latin typeface="Times New Roman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97239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 : Step6</a:t>
            </a:r>
          </a:p>
        </p:txBody>
      </p:sp>
      <p:sp>
        <p:nvSpPr>
          <p:cNvPr id="1904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6575" y="1276350"/>
            <a:ext cx="77724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Binary 1:1 relationships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Similar to 1:m: There are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new tables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1:m, key migrates to the many side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1:1, which side does the foreign key go? 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Often, the foreign key goes to the </a:t>
            </a:r>
            <a:r>
              <a:rPr lang="en-US" sz="20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participation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side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sz="2400" i="1" dirty="0"/>
          </a:p>
        </p:txBody>
      </p:sp>
      <p:sp>
        <p:nvSpPr>
          <p:cNvPr id="190484" name="Rectangle 20"/>
          <p:cNvSpPr>
            <a:spLocks noChangeArrowheads="1"/>
          </p:cNvSpPr>
          <p:nvPr/>
        </p:nvSpPr>
        <p:spPr bwMode="auto">
          <a:xfrm>
            <a:off x="3352800" y="3200400"/>
            <a:ext cx="1069975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dirty="0">
                <a:latin typeface="Times New Roman" pitchFamily="18" charset="0"/>
              </a:rPr>
              <a:t>DEPARTMENT</a:t>
            </a:r>
          </a:p>
        </p:txBody>
      </p:sp>
      <p:sp>
        <p:nvSpPr>
          <p:cNvPr id="190485" name="Rectangle 21"/>
          <p:cNvSpPr>
            <a:spLocks noChangeArrowheads="1"/>
          </p:cNvSpPr>
          <p:nvPr/>
        </p:nvSpPr>
        <p:spPr bwMode="auto">
          <a:xfrm>
            <a:off x="3352800" y="5067300"/>
            <a:ext cx="10668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dirty="0">
                <a:latin typeface="Times New Roman" pitchFamily="18" charset="0"/>
              </a:rPr>
              <a:t>EMPLOYEE</a:t>
            </a:r>
          </a:p>
        </p:txBody>
      </p:sp>
      <p:sp>
        <p:nvSpPr>
          <p:cNvPr id="190486" name="AutoShape 22"/>
          <p:cNvSpPr>
            <a:spLocks noChangeArrowheads="1"/>
          </p:cNvSpPr>
          <p:nvPr/>
        </p:nvSpPr>
        <p:spPr bwMode="auto">
          <a:xfrm>
            <a:off x="2552700" y="3924300"/>
            <a:ext cx="1257300" cy="4191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MANAGE</a:t>
            </a:r>
          </a:p>
        </p:txBody>
      </p:sp>
      <p:cxnSp>
        <p:nvCxnSpPr>
          <p:cNvPr id="190493" name="AutoShape 29"/>
          <p:cNvCxnSpPr>
            <a:cxnSpLocks noChangeShapeType="1"/>
            <a:stCxn id="190484" idx="2"/>
            <a:endCxn id="190486" idx="0"/>
          </p:cNvCxnSpPr>
          <p:nvPr/>
        </p:nvCxnSpPr>
        <p:spPr bwMode="auto">
          <a:xfrm flipH="1">
            <a:off x="3181350" y="3467100"/>
            <a:ext cx="706438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495" name="AutoShape 31"/>
          <p:cNvCxnSpPr>
            <a:cxnSpLocks noChangeShapeType="1"/>
            <a:stCxn id="190485" idx="0"/>
            <a:endCxn id="190486" idx="2"/>
          </p:cNvCxnSpPr>
          <p:nvPr/>
        </p:nvCxnSpPr>
        <p:spPr bwMode="auto">
          <a:xfrm flipH="1" flipV="1">
            <a:off x="3181350" y="4343400"/>
            <a:ext cx="704850" cy="723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0499" name="Text Box 35"/>
          <p:cNvSpPr txBox="1">
            <a:spLocks noChangeArrowheads="1"/>
          </p:cNvSpPr>
          <p:nvPr/>
        </p:nvSpPr>
        <p:spPr bwMode="auto">
          <a:xfrm>
            <a:off x="3238500" y="3505200"/>
            <a:ext cx="2667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lang="en-US" sz="1200">
                <a:latin typeface="Times New Roman" pitchFamily="18" charset="0"/>
              </a:rPr>
              <a:t>1</a:t>
            </a:r>
          </a:p>
        </p:txBody>
      </p:sp>
      <p:sp>
        <p:nvSpPr>
          <p:cNvPr id="190500" name="Text Box 36"/>
          <p:cNvSpPr txBox="1">
            <a:spLocks noChangeArrowheads="1"/>
          </p:cNvSpPr>
          <p:nvPr/>
        </p:nvSpPr>
        <p:spPr bwMode="auto">
          <a:xfrm>
            <a:off x="3390900" y="4724400"/>
            <a:ext cx="2667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lang="en-US" sz="1200">
                <a:latin typeface="Times New Roman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80270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Step7</a:t>
            </a:r>
          </a:p>
        </p:txBody>
      </p:sp>
      <p:sp>
        <p:nvSpPr>
          <p:cNvPr id="191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7724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ary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relationships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n-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ary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(n&gt;2) relationship type maps into a table.</a:t>
            </a:r>
          </a:p>
          <a:p>
            <a:pPr lvl="1"/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primary key of this new table is the combination of the primary keys of the participating entity types.</a:t>
            </a:r>
          </a:p>
          <a:p>
            <a:pPr lvl="1"/>
            <a:r>
              <a:rPr lang="en-US" sz="2400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keys are also </a:t>
            </a:r>
            <a:r>
              <a:rPr lang="en-US" sz="2400" i="1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keys</a:t>
            </a:r>
            <a:r>
              <a:rPr lang="en-US" sz="2400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the relationship type maps to attributes of the table. This is similar to those of regular entity types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Very similar to m:n relationships</a:t>
            </a:r>
          </a:p>
          <a:p>
            <a:pPr lvl="2"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999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772400" cy="4114800"/>
          </a:xfrm>
          <a:noFill/>
          <a:ln/>
        </p:spPr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ary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relationships</a:t>
            </a:r>
          </a:p>
          <a:p>
            <a:pPr lvl="1">
              <a:buFont typeface="Wingdings" pitchFamily="2" charset="2"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itchFamily="2" charset="2"/>
              <a:buNone/>
            </a:pPr>
            <a:r>
              <a:rPr lang="en-US" sz="2000" dirty="0"/>
              <a:t> </a:t>
            </a:r>
          </a:p>
          <a:p>
            <a:pPr lvl="1">
              <a:buFont typeface="Wingdings" pitchFamily="2" charset="2"/>
              <a:buNone/>
            </a:pPr>
            <a:endParaRPr lang="en-US" sz="2000" i="1" dirty="0"/>
          </a:p>
        </p:txBody>
      </p:sp>
      <p:sp>
        <p:nvSpPr>
          <p:cNvPr id="192516" name="Rectangle 4"/>
          <p:cNvSpPr>
            <a:spLocks noChangeArrowheads="1"/>
          </p:cNvSpPr>
          <p:nvPr/>
        </p:nvSpPr>
        <p:spPr bwMode="auto">
          <a:xfrm>
            <a:off x="3657600" y="3581400"/>
            <a:ext cx="10668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PROJECT</a:t>
            </a:r>
          </a:p>
        </p:txBody>
      </p:sp>
      <p:sp>
        <p:nvSpPr>
          <p:cNvPr id="192517" name="Rectangle 5"/>
          <p:cNvSpPr>
            <a:spLocks noChangeArrowheads="1"/>
          </p:cNvSpPr>
          <p:nvPr/>
        </p:nvSpPr>
        <p:spPr bwMode="auto">
          <a:xfrm>
            <a:off x="5105400" y="2171700"/>
            <a:ext cx="10668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SUPPLIER</a:t>
            </a:r>
          </a:p>
        </p:txBody>
      </p:sp>
      <p:sp>
        <p:nvSpPr>
          <p:cNvPr id="192518" name="Rectangle 6"/>
          <p:cNvSpPr>
            <a:spLocks noChangeArrowheads="1"/>
          </p:cNvSpPr>
          <p:nvPr/>
        </p:nvSpPr>
        <p:spPr bwMode="auto">
          <a:xfrm>
            <a:off x="5105400" y="5105400"/>
            <a:ext cx="10668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PART</a:t>
            </a:r>
          </a:p>
        </p:txBody>
      </p:sp>
      <p:sp>
        <p:nvSpPr>
          <p:cNvPr id="192519" name="AutoShape 7"/>
          <p:cNvSpPr>
            <a:spLocks noChangeArrowheads="1"/>
          </p:cNvSpPr>
          <p:nvPr/>
        </p:nvSpPr>
        <p:spPr bwMode="auto">
          <a:xfrm>
            <a:off x="5029200" y="3505200"/>
            <a:ext cx="1257300" cy="4191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SPJ</a:t>
            </a:r>
          </a:p>
        </p:txBody>
      </p:sp>
      <p:sp>
        <p:nvSpPr>
          <p:cNvPr id="192521" name="Oval 9"/>
          <p:cNvSpPr>
            <a:spLocks noChangeArrowheads="1"/>
          </p:cNvSpPr>
          <p:nvPr/>
        </p:nvSpPr>
        <p:spPr bwMode="auto">
          <a:xfrm>
            <a:off x="6553200" y="2211388"/>
            <a:ext cx="877888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STATUS</a:t>
            </a:r>
          </a:p>
        </p:txBody>
      </p:sp>
      <p:sp>
        <p:nvSpPr>
          <p:cNvPr id="192522" name="Oval 10"/>
          <p:cNvSpPr>
            <a:spLocks noChangeArrowheads="1"/>
          </p:cNvSpPr>
          <p:nvPr/>
        </p:nvSpPr>
        <p:spPr bwMode="auto">
          <a:xfrm>
            <a:off x="6589713" y="2552700"/>
            <a:ext cx="877887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CITY</a:t>
            </a:r>
          </a:p>
        </p:txBody>
      </p:sp>
      <p:sp>
        <p:nvSpPr>
          <p:cNvPr id="192523" name="Oval 11"/>
          <p:cNvSpPr>
            <a:spLocks noChangeArrowheads="1"/>
          </p:cNvSpPr>
          <p:nvPr/>
        </p:nvSpPr>
        <p:spPr bwMode="auto">
          <a:xfrm>
            <a:off x="6553200" y="43815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u="sng">
                <a:latin typeface="Times New Roman" pitchFamily="18" charset="0"/>
              </a:rPr>
              <a:t>P#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192524" name="Oval 12"/>
          <p:cNvSpPr>
            <a:spLocks noChangeArrowheads="1"/>
          </p:cNvSpPr>
          <p:nvPr/>
        </p:nvSpPr>
        <p:spPr bwMode="auto">
          <a:xfrm>
            <a:off x="6553200" y="46863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PNAME</a:t>
            </a:r>
          </a:p>
        </p:txBody>
      </p:sp>
      <p:sp>
        <p:nvSpPr>
          <p:cNvPr id="192525" name="Oval 13"/>
          <p:cNvSpPr>
            <a:spLocks noChangeArrowheads="1"/>
          </p:cNvSpPr>
          <p:nvPr/>
        </p:nvSpPr>
        <p:spPr bwMode="auto">
          <a:xfrm>
            <a:off x="6553200" y="5030788"/>
            <a:ext cx="877888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COLOR</a:t>
            </a:r>
          </a:p>
        </p:txBody>
      </p:sp>
      <p:sp>
        <p:nvSpPr>
          <p:cNvPr id="192526" name="Oval 14"/>
          <p:cNvSpPr>
            <a:spLocks noChangeArrowheads="1"/>
          </p:cNvSpPr>
          <p:nvPr/>
        </p:nvSpPr>
        <p:spPr bwMode="auto">
          <a:xfrm>
            <a:off x="6553200" y="5335588"/>
            <a:ext cx="877888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WEIGHT</a:t>
            </a:r>
          </a:p>
        </p:txBody>
      </p:sp>
      <p:sp>
        <p:nvSpPr>
          <p:cNvPr id="192527" name="Oval 15"/>
          <p:cNvSpPr>
            <a:spLocks noChangeArrowheads="1"/>
          </p:cNvSpPr>
          <p:nvPr/>
        </p:nvSpPr>
        <p:spPr bwMode="auto">
          <a:xfrm>
            <a:off x="6629400" y="28575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TOTQTY</a:t>
            </a:r>
          </a:p>
        </p:txBody>
      </p:sp>
      <p:sp>
        <p:nvSpPr>
          <p:cNvPr id="192528" name="Oval 16"/>
          <p:cNvSpPr>
            <a:spLocks noChangeArrowheads="1"/>
          </p:cNvSpPr>
          <p:nvPr/>
        </p:nvSpPr>
        <p:spPr bwMode="auto">
          <a:xfrm>
            <a:off x="6553200" y="15621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u="sng">
                <a:latin typeface="Times New Roman" pitchFamily="18" charset="0"/>
              </a:rPr>
              <a:t>S#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192529" name="Oval 17"/>
          <p:cNvSpPr>
            <a:spLocks noChangeArrowheads="1"/>
          </p:cNvSpPr>
          <p:nvPr/>
        </p:nvSpPr>
        <p:spPr bwMode="auto">
          <a:xfrm>
            <a:off x="6553200" y="18669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SNAME</a:t>
            </a:r>
          </a:p>
        </p:txBody>
      </p:sp>
      <p:sp>
        <p:nvSpPr>
          <p:cNvPr id="192530" name="Oval 18"/>
          <p:cNvSpPr>
            <a:spLocks noChangeArrowheads="1"/>
          </p:cNvSpPr>
          <p:nvPr/>
        </p:nvSpPr>
        <p:spPr bwMode="auto">
          <a:xfrm>
            <a:off x="3581400" y="20193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 u="sng">
                <a:latin typeface="Times New Roman" pitchFamily="18" charset="0"/>
              </a:rPr>
              <a:t>J#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192531" name="Oval 19"/>
          <p:cNvSpPr>
            <a:spLocks noChangeArrowheads="1"/>
          </p:cNvSpPr>
          <p:nvPr/>
        </p:nvSpPr>
        <p:spPr bwMode="auto">
          <a:xfrm>
            <a:off x="3581400" y="23241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JNAME</a:t>
            </a:r>
          </a:p>
        </p:txBody>
      </p:sp>
      <p:sp>
        <p:nvSpPr>
          <p:cNvPr id="192532" name="Oval 20"/>
          <p:cNvSpPr>
            <a:spLocks noChangeArrowheads="1"/>
          </p:cNvSpPr>
          <p:nvPr/>
        </p:nvSpPr>
        <p:spPr bwMode="auto">
          <a:xfrm>
            <a:off x="3578225" y="26289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CITY</a:t>
            </a:r>
          </a:p>
        </p:txBody>
      </p:sp>
      <p:sp>
        <p:nvSpPr>
          <p:cNvPr id="192533" name="Oval 21"/>
          <p:cNvSpPr>
            <a:spLocks noChangeArrowheads="1"/>
          </p:cNvSpPr>
          <p:nvPr/>
        </p:nvSpPr>
        <p:spPr bwMode="auto">
          <a:xfrm>
            <a:off x="3617913" y="2933700"/>
            <a:ext cx="877887" cy="265113"/>
          </a:xfrm>
          <a:prstGeom prst="ellips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TOTQTY</a:t>
            </a:r>
          </a:p>
        </p:txBody>
      </p:sp>
      <p:cxnSp>
        <p:nvCxnSpPr>
          <p:cNvPr id="192534" name="AutoShape 22"/>
          <p:cNvCxnSpPr>
            <a:cxnSpLocks noChangeShapeType="1"/>
            <a:stCxn id="192519" idx="2"/>
            <a:endCxn id="192518" idx="0"/>
          </p:cNvCxnSpPr>
          <p:nvPr/>
        </p:nvCxnSpPr>
        <p:spPr bwMode="auto">
          <a:xfrm flipH="1">
            <a:off x="5638800" y="3924300"/>
            <a:ext cx="19050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35" name="AutoShape 23"/>
          <p:cNvCxnSpPr>
            <a:cxnSpLocks noChangeShapeType="1"/>
            <a:stCxn id="192517" idx="2"/>
            <a:endCxn id="192519" idx="0"/>
          </p:cNvCxnSpPr>
          <p:nvPr/>
        </p:nvCxnSpPr>
        <p:spPr bwMode="auto">
          <a:xfrm>
            <a:off x="5638800" y="2438400"/>
            <a:ext cx="1905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36" name="AutoShape 24"/>
          <p:cNvCxnSpPr>
            <a:cxnSpLocks noChangeShapeType="1"/>
            <a:stCxn id="192519" idx="1"/>
            <a:endCxn id="192516" idx="3"/>
          </p:cNvCxnSpPr>
          <p:nvPr/>
        </p:nvCxnSpPr>
        <p:spPr bwMode="auto">
          <a:xfrm flipH="1">
            <a:off x="4724400" y="3714750"/>
            <a:ext cx="304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2539" name="Text Box 27"/>
          <p:cNvSpPr txBox="1">
            <a:spLocks noChangeArrowheads="1"/>
          </p:cNvSpPr>
          <p:nvPr/>
        </p:nvSpPr>
        <p:spPr bwMode="auto">
          <a:xfrm>
            <a:off x="5334000" y="2476500"/>
            <a:ext cx="2667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lang="en-US" sz="1200">
                <a:latin typeface="Times New Roman" pitchFamily="18" charset="0"/>
              </a:rPr>
              <a:t>M</a:t>
            </a:r>
          </a:p>
        </p:txBody>
      </p:sp>
      <p:sp>
        <p:nvSpPr>
          <p:cNvPr id="192541" name="Text Box 29"/>
          <p:cNvSpPr txBox="1">
            <a:spLocks noChangeArrowheads="1"/>
          </p:cNvSpPr>
          <p:nvPr/>
        </p:nvSpPr>
        <p:spPr bwMode="auto">
          <a:xfrm>
            <a:off x="5334000" y="4762500"/>
            <a:ext cx="2667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lang="en-US" sz="1200">
                <a:latin typeface="Times New Roman" pitchFamily="18" charset="0"/>
              </a:rPr>
              <a:t>M</a:t>
            </a:r>
          </a:p>
        </p:txBody>
      </p:sp>
      <p:sp>
        <p:nvSpPr>
          <p:cNvPr id="192543" name="Text Box 31"/>
          <p:cNvSpPr txBox="1">
            <a:spLocks noChangeArrowheads="1"/>
          </p:cNvSpPr>
          <p:nvPr/>
        </p:nvSpPr>
        <p:spPr bwMode="auto">
          <a:xfrm>
            <a:off x="4762500" y="3390900"/>
            <a:ext cx="2667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lang="en-US" sz="1200">
                <a:latin typeface="Times New Roman" pitchFamily="18" charset="0"/>
              </a:rPr>
              <a:t>M</a:t>
            </a:r>
          </a:p>
        </p:txBody>
      </p:sp>
      <p:sp>
        <p:nvSpPr>
          <p:cNvPr id="192544" name="Oval 32"/>
          <p:cNvSpPr>
            <a:spLocks noChangeArrowheads="1"/>
          </p:cNvSpPr>
          <p:nvPr/>
        </p:nvSpPr>
        <p:spPr bwMode="auto">
          <a:xfrm>
            <a:off x="4191000" y="41529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QTY</a:t>
            </a:r>
          </a:p>
        </p:txBody>
      </p:sp>
      <p:cxnSp>
        <p:nvCxnSpPr>
          <p:cNvPr id="192545" name="AutoShape 33"/>
          <p:cNvCxnSpPr>
            <a:cxnSpLocks noChangeShapeType="1"/>
            <a:stCxn id="192519" idx="2"/>
            <a:endCxn id="192544" idx="6"/>
          </p:cNvCxnSpPr>
          <p:nvPr/>
        </p:nvCxnSpPr>
        <p:spPr bwMode="auto">
          <a:xfrm flipH="1">
            <a:off x="5068888" y="3924300"/>
            <a:ext cx="588962" cy="361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46" name="AutoShape 34"/>
          <p:cNvCxnSpPr>
            <a:cxnSpLocks noChangeShapeType="1"/>
            <a:stCxn id="192517" idx="3"/>
            <a:endCxn id="192522" idx="2"/>
          </p:cNvCxnSpPr>
          <p:nvPr/>
        </p:nvCxnSpPr>
        <p:spPr bwMode="auto">
          <a:xfrm>
            <a:off x="6172200" y="2305050"/>
            <a:ext cx="417513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47" name="AutoShape 35"/>
          <p:cNvCxnSpPr>
            <a:cxnSpLocks noChangeShapeType="1"/>
            <a:stCxn id="192517" idx="3"/>
            <a:endCxn id="192527" idx="2"/>
          </p:cNvCxnSpPr>
          <p:nvPr/>
        </p:nvCxnSpPr>
        <p:spPr bwMode="auto">
          <a:xfrm>
            <a:off x="6172200" y="2305050"/>
            <a:ext cx="4572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48" name="AutoShape 36"/>
          <p:cNvCxnSpPr>
            <a:cxnSpLocks noChangeShapeType="1"/>
            <a:stCxn id="192517" idx="3"/>
            <a:endCxn id="192529" idx="3"/>
          </p:cNvCxnSpPr>
          <p:nvPr/>
        </p:nvCxnSpPr>
        <p:spPr bwMode="auto">
          <a:xfrm flipV="1">
            <a:off x="6172200" y="2093913"/>
            <a:ext cx="509588" cy="211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49" name="AutoShape 37"/>
          <p:cNvCxnSpPr>
            <a:cxnSpLocks noChangeShapeType="1"/>
            <a:stCxn id="192517" idx="3"/>
            <a:endCxn id="192521" idx="2"/>
          </p:cNvCxnSpPr>
          <p:nvPr/>
        </p:nvCxnSpPr>
        <p:spPr bwMode="auto">
          <a:xfrm>
            <a:off x="6172200" y="2305050"/>
            <a:ext cx="381000" cy="39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50" name="AutoShape 38"/>
          <p:cNvCxnSpPr>
            <a:cxnSpLocks noChangeShapeType="1"/>
            <a:stCxn id="192517" idx="3"/>
            <a:endCxn id="192528" idx="2"/>
          </p:cNvCxnSpPr>
          <p:nvPr/>
        </p:nvCxnSpPr>
        <p:spPr bwMode="auto">
          <a:xfrm flipV="1">
            <a:off x="6172200" y="1695450"/>
            <a:ext cx="3810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51" name="AutoShape 39"/>
          <p:cNvCxnSpPr>
            <a:cxnSpLocks noChangeShapeType="1"/>
            <a:stCxn id="192518" idx="3"/>
            <a:endCxn id="192526" idx="2"/>
          </p:cNvCxnSpPr>
          <p:nvPr/>
        </p:nvCxnSpPr>
        <p:spPr bwMode="auto">
          <a:xfrm>
            <a:off x="6172200" y="5238750"/>
            <a:ext cx="381000" cy="230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52" name="AutoShape 40"/>
          <p:cNvCxnSpPr>
            <a:cxnSpLocks noChangeShapeType="1"/>
            <a:stCxn id="192518" idx="3"/>
            <a:endCxn id="192525" idx="2"/>
          </p:cNvCxnSpPr>
          <p:nvPr/>
        </p:nvCxnSpPr>
        <p:spPr bwMode="auto">
          <a:xfrm flipV="1">
            <a:off x="6172200" y="5164138"/>
            <a:ext cx="381000" cy="746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53" name="AutoShape 41"/>
          <p:cNvCxnSpPr>
            <a:cxnSpLocks noChangeShapeType="1"/>
            <a:stCxn id="192518" idx="3"/>
            <a:endCxn id="192524" idx="3"/>
          </p:cNvCxnSpPr>
          <p:nvPr/>
        </p:nvCxnSpPr>
        <p:spPr bwMode="auto">
          <a:xfrm flipV="1">
            <a:off x="6172200" y="4913313"/>
            <a:ext cx="509588" cy="3254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54" name="AutoShape 42"/>
          <p:cNvCxnSpPr>
            <a:cxnSpLocks noChangeShapeType="1"/>
            <a:stCxn id="192518" idx="3"/>
            <a:endCxn id="192523" idx="3"/>
          </p:cNvCxnSpPr>
          <p:nvPr/>
        </p:nvCxnSpPr>
        <p:spPr bwMode="auto">
          <a:xfrm flipV="1">
            <a:off x="6172200" y="4608513"/>
            <a:ext cx="509588" cy="630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55" name="AutoShape 43"/>
          <p:cNvCxnSpPr>
            <a:cxnSpLocks noChangeShapeType="1"/>
            <a:stCxn id="192530" idx="6"/>
            <a:endCxn id="192516" idx="0"/>
          </p:cNvCxnSpPr>
          <p:nvPr/>
        </p:nvCxnSpPr>
        <p:spPr bwMode="auto">
          <a:xfrm flipH="1">
            <a:off x="4191000" y="2152650"/>
            <a:ext cx="268288" cy="1428750"/>
          </a:xfrm>
          <a:prstGeom prst="bentConnector4">
            <a:avLst>
              <a:gd name="adj1" fmla="val -113611"/>
              <a:gd name="adj2" fmla="val 8966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58" name="AutoShape 46"/>
          <p:cNvCxnSpPr>
            <a:cxnSpLocks noChangeShapeType="1"/>
            <a:stCxn id="192533" idx="6"/>
            <a:endCxn id="192516" idx="0"/>
          </p:cNvCxnSpPr>
          <p:nvPr/>
        </p:nvCxnSpPr>
        <p:spPr bwMode="auto">
          <a:xfrm flipH="1">
            <a:off x="4191000" y="3067050"/>
            <a:ext cx="304800" cy="514350"/>
          </a:xfrm>
          <a:prstGeom prst="bentConnector4">
            <a:avLst>
              <a:gd name="adj1" fmla="val -41667"/>
              <a:gd name="adj2" fmla="val 4999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59" name="AutoShape 47"/>
          <p:cNvCxnSpPr>
            <a:cxnSpLocks noChangeShapeType="1"/>
            <a:stCxn id="192532" idx="6"/>
            <a:endCxn id="192516" idx="0"/>
          </p:cNvCxnSpPr>
          <p:nvPr/>
        </p:nvCxnSpPr>
        <p:spPr bwMode="auto">
          <a:xfrm flipH="1">
            <a:off x="4191000" y="2762250"/>
            <a:ext cx="265113" cy="819150"/>
          </a:xfrm>
          <a:prstGeom prst="bentConnector4">
            <a:avLst>
              <a:gd name="adj1" fmla="val -77250"/>
              <a:gd name="adj2" fmla="val 7286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560" name="AutoShape 48"/>
          <p:cNvCxnSpPr>
            <a:cxnSpLocks noChangeShapeType="1"/>
            <a:stCxn id="192531" idx="6"/>
            <a:endCxn id="192516" idx="0"/>
          </p:cNvCxnSpPr>
          <p:nvPr/>
        </p:nvCxnSpPr>
        <p:spPr bwMode="auto">
          <a:xfrm flipH="1">
            <a:off x="4191000" y="2457450"/>
            <a:ext cx="268288" cy="1123950"/>
          </a:xfrm>
          <a:prstGeom prst="bentConnector4">
            <a:avLst>
              <a:gd name="adj1" fmla="val -95269"/>
              <a:gd name="adj2" fmla="val 8389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2561" name="Rectangle 49"/>
          <p:cNvSpPr>
            <a:spLocks noChangeArrowheads="1"/>
          </p:cNvSpPr>
          <p:nvPr/>
        </p:nvSpPr>
        <p:spPr bwMode="auto">
          <a:xfrm>
            <a:off x="685800" y="4495800"/>
            <a:ext cx="4572000" cy="143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SPJ(</a:t>
            </a: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P#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J#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, QTY)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Foreign key (S#) References Supplier,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Foreign key (P#) References Part,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Foreign key (J#) References Project;</a:t>
            </a:r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Step7</a:t>
            </a:r>
          </a:p>
        </p:txBody>
      </p:sp>
    </p:spTree>
    <p:extLst>
      <p:ext uri="{BB962C8B-B14F-4D97-AF65-F5344CB8AC3E}">
        <p14:creationId xmlns:p14="http://schemas.microsoft.com/office/powerpoint/2010/main" val="742309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 8</a:t>
            </a:r>
          </a:p>
        </p:txBody>
      </p:sp>
      <p:sp>
        <p:nvSpPr>
          <p:cNvPr id="1935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7724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Super/sub types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super type maps into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table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subtype maps into another base table.</a:t>
            </a:r>
          </a:p>
          <a:p>
            <a:pPr lvl="2">
              <a:lnSpc>
                <a:spcPct val="90000"/>
              </a:lnSpc>
            </a:pPr>
            <a:r>
              <a:rPr lang="en-US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i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</a:t>
            </a:r>
            <a:r>
              <a:rPr lang="en-US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same as the primary key of its super type.</a:t>
            </a:r>
          </a:p>
          <a:p>
            <a:pPr lvl="2">
              <a:lnSpc>
                <a:spcPct val="90000"/>
              </a:lnSpc>
            </a:pPr>
            <a:r>
              <a:rPr lang="en-US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also a </a:t>
            </a:r>
            <a:r>
              <a:rPr lang="en-US" i="1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</a:t>
            </a:r>
            <a:r>
              <a:rPr lang="en-US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Treat attributes that belongs to the sub type as usual.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primary key of the root entity propagates down the hierarchy of entity types</a:t>
            </a:r>
          </a:p>
        </p:txBody>
      </p:sp>
    </p:spTree>
    <p:extLst>
      <p:ext uri="{BB962C8B-B14F-4D97-AF65-F5344CB8AC3E}">
        <p14:creationId xmlns:p14="http://schemas.microsoft.com/office/powerpoint/2010/main" val="3048161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5033941"/>
            <a:ext cx="7467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1400" b="1" dirty="0"/>
              <a:t>COMPUTER (</a:t>
            </a:r>
            <a:r>
              <a:rPr lang="en-US" sz="1400" b="1" u="sng" dirty="0"/>
              <a:t>CID</a:t>
            </a:r>
            <a:r>
              <a:rPr lang="en-US" sz="1400" b="1" dirty="0"/>
              <a:t>, CPU, Memory, DVD, </a:t>
            </a:r>
            <a:r>
              <a:rPr lang="en-US" sz="1400" b="1" dirty="0" err="1"/>
              <a:t>isLaptop</a:t>
            </a:r>
            <a:r>
              <a:rPr lang="en-US" sz="1400" b="1" dirty="0"/>
              <a:t>, PID)</a:t>
            </a:r>
          </a:p>
          <a:p>
            <a:pPr lvl="1"/>
            <a:r>
              <a:rPr lang="en-US" sz="1400" b="1" dirty="0"/>
              <a:t>FOREIGN KEY PID REFERENCES POLICY</a:t>
            </a:r>
          </a:p>
          <a:p>
            <a:pPr lvl="1"/>
            <a:endParaRPr lang="en-US" sz="1400" b="1" dirty="0"/>
          </a:p>
          <a:p>
            <a:pPr lvl="1"/>
            <a:r>
              <a:rPr lang="en-US" sz="1400" b="1" dirty="0"/>
              <a:t>DESKTOP (</a:t>
            </a:r>
            <a:r>
              <a:rPr lang="en-US" sz="1400" b="1" u="sng" dirty="0"/>
              <a:t>CID</a:t>
            </a:r>
            <a:r>
              <a:rPr lang="en-US" sz="1400" b="1" dirty="0"/>
              <a:t>, Screen)</a:t>
            </a:r>
          </a:p>
          <a:p>
            <a:pPr lvl="1"/>
            <a:r>
              <a:rPr lang="en-US" sz="1400" b="1" dirty="0"/>
              <a:t>FOREIGN KEY CID REFERENCES COMPUTER</a:t>
            </a:r>
          </a:p>
          <a:p>
            <a:pPr lvl="1"/>
            <a:endParaRPr lang="en-US" sz="1400" b="1" dirty="0"/>
          </a:p>
          <a:p>
            <a:pPr lvl="1"/>
            <a:r>
              <a:rPr lang="en-US" sz="1400" b="1" dirty="0"/>
              <a:t>LAPTOP (</a:t>
            </a:r>
            <a:r>
              <a:rPr lang="en-US" sz="1400" b="1" u="sng" dirty="0"/>
              <a:t>CID</a:t>
            </a:r>
            <a:r>
              <a:rPr lang="en-US" sz="1400" b="1" dirty="0"/>
              <a:t>, Size)</a:t>
            </a:r>
          </a:p>
          <a:p>
            <a:pPr lvl="1"/>
            <a:r>
              <a:rPr lang="en-US" sz="1400" b="1" dirty="0"/>
              <a:t>FOREIGN KEY CID REFERENCES COMPUTER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19" y="1213584"/>
            <a:ext cx="8206962" cy="38156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04800" y="3886200"/>
            <a:ext cx="3276600" cy="114774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412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772400" cy="4114800"/>
          </a:xfrm>
          <a:noFill/>
          <a:ln/>
        </p:spPr>
        <p:txBody>
          <a:bodyPr/>
          <a:lstStyle/>
          <a:p>
            <a:pPr lvl="2">
              <a:buFont typeface="Wingdings" pitchFamily="2" charset="2"/>
              <a:buNone/>
            </a:pPr>
            <a:r>
              <a:rPr lang="en-US" sz="2000"/>
              <a:t> </a:t>
            </a:r>
          </a:p>
          <a:p>
            <a:pPr lvl="1">
              <a:buFont typeface="Wingdings" pitchFamily="2" charset="2"/>
              <a:buNone/>
            </a:pPr>
            <a:endParaRPr lang="en-US" sz="2000" i="1"/>
          </a:p>
        </p:txBody>
      </p:sp>
      <p:sp>
        <p:nvSpPr>
          <p:cNvPr id="194564" name="Rectangle 4"/>
          <p:cNvSpPr>
            <a:spLocks noChangeArrowheads="1"/>
          </p:cNvSpPr>
          <p:nvPr/>
        </p:nvSpPr>
        <p:spPr bwMode="auto">
          <a:xfrm>
            <a:off x="6705600" y="1752600"/>
            <a:ext cx="10668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EMPLOYEE</a:t>
            </a:r>
          </a:p>
        </p:txBody>
      </p:sp>
      <p:sp>
        <p:nvSpPr>
          <p:cNvPr id="194565" name="Rectangle 5"/>
          <p:cNvSpPr>
            <a:spLocks noChangeArrowheads="1"/>
          </p:cNvSpPr>
          <p:nvPr/>
        </p:nvSpPr>
        <p:spPr bwMode="auto">
          <a:xfrm>
            <a:off x="6705600" y="3092450"/>
            <a:ext cx="10668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PROGRAMMER</a:t>
            </a:r>
          </a:p>
        </p:txBody>
      </p:sp>
      <p:sp>
        <p:nvSpPr>
          <p:cNvPr id="194566" name="Rectangle 6"/>
          <p:cNvSpPr>
            <a:spLocks noChangeArrowheads="1"/>
          </p:cNvSpPr>
          <p:nvPr/>
        </p:nvSpPr>
        <p:spPr bwMode="auto">
          <a:xfrm>
            <a:off x="6172200" y="4235450"/>
            <a:ext cx="10668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APP_PROG</a:t>
            </a:r>
          </a:p>
        </p:txBody>
      </p:sp>
      <p:sp>
        <p:nvSpPr>
          <p:cNvPr id="194567" name="Rectangle 7"/>
          <p:cNvSpPr>
            <a:spLocks noChangeArrowheads="1"/>
          </p:cNvSpPr>
          <p:nvPr/>
        </p:nvSpPr>
        <p:spPr bwMode="auto">
          <a:xfrm>
            <a:off x="7315200" y="4235450"/>
            <a:ext cx="10668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SYS_PROG</a:t>
            </a:r>
          </a:p>
        </p:txBody>
      </p:sp>
      <p:sp>
        <p:nvSpPr>
          <p:cNvPr id="194573" name="Oval 13"/>
          <p:cNvSpPr>
            <a:spLocks noChangeArrowheads="1"/>
          </p:cNvSpPr>
          <p:nvPr/>
        </p:nvSpPr>
        <p:spPr bwMode="auto">
          <a:xfrm>
            <a:off x="6096000" y="4762500"/>
            <a:ext cx="1219200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WEB_BASED</a:t>
            </a:r>
          </a:p>
        </p:txBody>
      </p:sp>
      <p:sp>
        <p:nvSpPr>
          <p:cNvPr id="194574" name="Oval 14"/>
          <p:cNvSpPr>
            <a:spLocks noChangeArrowheads="1"/>
          </p:cNvSpPr>
          <p:nvPr/>
        </p:nvSpPr>
        <p:spPr bwMode="auto">
          <a:xfrm>
            <a:off x="7391400" y="4762500"/>
            <a:ext cx="877888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OS</a:t>
            </a:r>
          </a:p>
        </p:txBody>
      </p:sp>
      <p:sp>
        <p:nvSpPr>
          <p:cNvPr id="194575" name="Oval 15"/>
          <p:cNvSpPr>
            <a:spLocks noChangeArrowheads="1"/>
          </p:cNvSpPr>
          <p:nvPr/>
        </p:nvSpPr>
        <p:spPr bwMode="auto">
          <a:xfrm>
            <a:off x="5257800" y="3009900"/>
            <a:ext cx="9906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200">
                <a:latin typeface="Times New Roman" pitchFamily="18" charset="0"/>
              </a:rPr>
              <a:t>LANGUAGE</a:t>
            </a:r>
          </a:p>
        </p:txBody>
      </p:sp>
      <p:cxnSp>
        <p:nvCxnSpPr>
          <p:cNvPr id="194577" name="AutoShape 17"/>
          <p:cNvCxnSpPr>
            <a:cxnSpLocks noChangeShapeType="1"/>
            <a:stCxn id="194565" idx="0"/>
            <a:endCxn id="194564" idx="2"/>
          </p:cNvCxnSpPr>
          <p:nvPr/>
        </p:nvCxnSpPr>
        <p:spPr bwMode="auto">
          <a:xfrm flipV="1">
            <a:off x="7239000" y="2019300"/>
            <a:ext cx="0" cy="1073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579" name="AutoShape 19"/>
          <p:cNvCxnSpPr>
            <a:cxnSpLocks noChangeShapeType="1"/>
            <a:stCxn id="194567" idx="0"/>
            <a:endCxn id="194565" idx="2"/>
          </p:cNvCxnSpPr>
          <p:nvPr/>
        </p:nvCxnSpPr>
        <p:spPr bwMode="auto">
          <a:xfrm flipH="1" flipV="1">
            <a:off x="7239000" y="3359150"/>
            <a:ext cx="609600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580" name="AutoShape 20"/>
          <p:cNvCxnSpPr>
            <a:cxnSpLocks noChangeShapeType="1"/>
            <a:stCxn id="194566" idx="0"/>
            <a:endCxn id="194565" idx="2"/>
          </p:cNvCxnSpPr>
          <p:nvPr/>
        </p:nvCxnSpPr>
        <p:spPr bwMode="auto">
          <a:xfrm flipV="1">
            <a:off x="6705600" y="3359150"/>
            <a:ext cx="533400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583" name="AutoShape 23"/>
          <p:cNvCxnSpPr>
            <a:cxnSpLocks noChangeShapeType="1"/>
            <a:stCxn id="194574" idx="0"/>
            <a:endCxn id="194567" idx="2"/>
          </p:cNvCxnSpPr>
          <p:nvPr/>
        </p:nvCxnSpPr>
        <p:spPr bwMode="auto">
          <a:xfrm flipV="1">
            <a:off x="7831138" y="4502150"/>
            <a:ext cx="17462" cy="260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584" name="AutoShape 24"/>
          <p:cNvCxnSpPr>
            <a:cxnSpLocks noChangeShapeType="1"/>
            <a:stCxn id="194573" idx="0"/>
            <a:endCxn id="194566" idx="2"/>
          </p:cNvCxnSpPr>
          <p:nvPr/>
        </p:nvCxnSpPr>
        <p:spPr bwMode="auto">
          <a:xfrm flipV="1">
            <a:off x="6705600" y="4502150"/>
            <a:ext cx="0" cy="260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585" name="AutoShape 25"/>
          <p:cNvCxnSpPr>
            <a:cxnSpLocks noChangeShapeType="1"/>
            <a:stCxn id="194575" idx="6"/>
            <a:endCxn id="194565" idx="1"/>
          </p:cNvCxnSpPr>
          <p:nvPr/>
        </p:nvCxnSpPr>
        <p:spPr bwMode="auto">
          <a:xfrm flipV="1">
            <a:off x="6248400" y="3225800"/>
            <a:ext cx="457200" cy="12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592" name="Rectangle 32"/>
          <p:cNvSpPr>
            <a:spLocks noChangeArrowheads="1"/>
          </p:cNvSpPr>
          <p:nvPr/>
        </p:nvSpPr>
        <p:spPr bwMode="auto">
          <a:xfrm>
            <a:off x="609600" y="1524000"/>
            <a:ext cx="49530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Employee(</a:t>
            </a:r>
            <a:r>
              <a:rPr lang="en-US" sz="1800" u="sng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18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First, MI, Last, Salary,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#)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Programmer (</a:t>
            </a:r>
            <a:r>
              <a:rPr lang="en-US" sz="1800" u="sng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18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Language)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# REFERENECES Employee;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SYS_Prog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800" u="sng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18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OS)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FOREIGN KEY(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#) REFERENECES Programmer;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APP_Prog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800" u="sng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18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Web_Based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FOREIGN KEY(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#) REFERENECES Programmer;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to Relational: Step 8</a:t>
            </a:r>
          </a:p>
        </p:txBody>
      </p:sp>
    </p:spTree>
    <p:extLst>
      <p:ext uri="{BB962C8B-B14F-4D97-AF65-F5344CB8AC3E}">
        <p14:creationId xmlns:p14="http://schemas.microsoft.com/office/powerpoint/2010/main" val="524445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Case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28600" y="1182688"/>
            <a:ext cx="8726487" cy="5599112"/>
            <a:chOff x="265113" y="573088"/>
            <a:chExt cx="8726487" cy="5599112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2286000" y="914400"/>
              <a:ext cx="1069975" cy="2667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DEPARTMENT</a:t>
              </a:r>
            </a:p>
          </p:txBody>
        </p:sp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2286000" y="2781300"/>
              <a:ext cx="1066800" cy="2667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EMPLOYEE</a:t>
              </a:r>
            </a:p>
          </p:txBody>
        </p:sp>
        <p:sp>
          <p:nvSpPr>
            <p:cNvPr id="23" name="AutoShape 5"/>
            <p:cNvSpPr>
              <a:spLocks noChangeArrowheads="1"/>
            </p:cNvSpPr>
            <p:nvPr/>
          </p:nvSpPr>
          <p:spPr bwMode="auto">
            <a:xfrm>
              <a:off x="2819400" y="1638300"/>
              <a:ext cx="1257300" cy="41910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WORK_IN</a:t>
              </a:r>
            </a:p>
          </p:txBody>
        </p:sp>
        <p:sp>
          <p:nvSpPr>
            <p:cNvPr id="24" name="AutoShape 6"/>
            <p:cNvSpPr>
              <a:spLocks noChangeArrowheads="1"/>
            </p:cNvSpPr>
            <p:nvPr/>
          </p:nvSpPr>
          <p:spPr bwMode="auto">
            <a:xfrm>
              <a:off x="1485900" y="1638300"/>
              <a:ext cx="1257300" cy="41910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MANAGE</a:t>
              </a:r>
            </a:p>
          </p:txBody>
        </p:sp>
        <p:sp>
          <p:nvSpPr>
            <p:cNvPr id="25" name="Text Box 7"/>
            <p:cNvSpPr txBox="1">
              <a:spLocks noChangeArrowheads="1"/>
            </p:cNvSpPr>
            <p:nvPr/>
          </p:nvSpPr>
          <p:spPr bwMode="auto">
            <a:xfrm>
              <a:off x="3086100" y="12192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1</a:t>
              </a:r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2286000" y="4121150"/>
              <a:ext cx="1066800" cy="2667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PROGRAMMER</a:t>
              </a:r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4303713" y="5264150"/>
              <a:ext cx="1066800" cy="2667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DEPENDENT</a:t>
              </a:r>
            </a:p>
          </p:txBody>
        </p:sp>
        <p:sp>
          <p:nvSpPr>
            <p:cNvPr id="28" name="AutoShape 10"/>
            <p:cNvSpPr>
              <a:spLocks noChangeArrowheads="1"/>
            </p:cNvSpPr>
            <p:nvPr/>
          </p:nvSpPr>
          <p:spPr bwMode="auto">
            <a:xfrm>
              <a:off x="4189413" y="4305300"/>
              <a:ext cx="1257300" cy="41910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EMP_DEP</a:t>
              </a:r>
            </a:p>
          </p:txBody>
        </p:sp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1752600" y="5264150"/>
              <a:ext cx="1066800" cy="2667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APP_PROG</a:t>
              </a:r>
            </a:p>
          </p:txBody>
        </p:sp>
        <p:sp>
          <p:nvSpPr>
            <p:cNvPr id="30" name="Rectangle 12"/>
            <p:cNvSpPr>
              <a:spLocks noChangeArrowheads="1"/>
            </p:cNvSpPr>
            <p:nvPr/>
          </p:nvSpPr>
          <p:spPr bwMode="auto">
            <a:xfrm>
              <a:off x="2895600" y="5264150"/>
              <a:ext cx="1066800" cy="2667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SYS_PROG</a:t>
              </a:r>
            </a:p>
          </p:txBody>
        </p:sp>
        <p:sp>
          <p:nvSpPr>
            <p:cNvPr id="31" name="Rectangle 13"/>
            <p:cNvSpPr>
              <a:spLocks noChangeArrowheads="1"/>
            </p:cNvSpPr>
            <p:nvPr/>
          </p:nvSpPr>
          <p:spPr bwMode="auto">
            <a:xfrm>
              <a:off x="5029200" y="2781300"/>
              <a:ext cx="1066800" cy="2667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PROJECT</a:t>
              </a:r>
            </a:p>
          </p:txBody>
        </p:sp>
        <p:sp>
          <p:nvSpPr>
            <p:cNvPr id="32" name="Rectangle 14"/>
            <p:cNvSpPr>
              <a:spLocks noChangeArrowheads="1"/>
            </p:cNvSpPr>
            <p:nvPr/>
          </p:nvSpPr>
          <p:spPr bwMode="auto">
            <a:xfrm>
              <a:off x="6477000" y="1371600"/>
              <a:ext cx="1066800" cy="2667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SUPPLIER</a:t>
              </a:r>
            </a:p>
          </p:txBody>
        </p:sp>
        <p:sp>
          <p:nvSpPr>
            <p:cNvPr id="33" name="Rectangle 15"/>
            <p:cNvSpPr>
              <a:spLocks noChangeArrowheads="1"/>
            </p:cNvSpPr>
            <p:nvPr/>
          </p:nvSpPr>
          <p:spPr bwMode="auto">
            <a:xfrm>
              <a:off x="6477000" y="4305300"/>
              <a:ext cx="1066800" cy="2667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PART</a:t>
              </a:r>
            </a:p>
          </p:txBody>
        </p:sp>
        <p:sp>
          <p:nvSpPr>
            <p:cNvPr id="34" name="AutoShape 16"/>
            <p:cNvSpPr>
              <a:spLocks noChangeArrowheads="1"/>
            </p:cNvSpPr>
            <p:nvPr/>
          </p:nvSpPr>
          <p:spPr bwMode="auto">
            <a:xfrm>
              <a:off x="6400800" y="2705100"/>
              <a:ext cx="1257300" cy="41910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SPJ</a:t>
              </a:r>
            </a:p>
          </p:txBody>
        </p:sp>
        <p:sp>
          <p:nvSpPr>
            <p:cNvPr id="35" name="AutoShape 17"/>
            <p:cNvSpPr>
              <a:spLocks noChangeArrowheads="1"/>
            </p:cNvSpPr>
            <p:nvPr/>
          </p:nvSpPr>
          <p:spPr bwMode="auto">
            <a:xfrm>
              <a:off x="7734300" y="2705100"/>
              <a:ext cx="1257300" cy="41910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SP</a:t>
              </a:r>
            </a:p>
          </p:txBody>
        </p:sp>
        <p:sp>
          <p:nvSpPr>
            <p:cNvPr id="36" name="AutoShape 18"/>
            <p:cNvSpPr>
              <a:spLocks noChangeArrowheads="1"/>
            </p:cNvSpPr>
            <p:nvPr/>
          </p:nvSpPr>
          <p:spPr bwMode="auto">
            <a:xfrm>
              <a:off x="6438900" y="5524500"/>
              <a:ext cx="1257300" cy="41910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CONTAIN</a:t>
              </a:r>
            </a:p>
          </p:txBody>
        </p:sp>
        <p:sp>
          <p:nvSpPr>
            <p:cNvPr id="37" name="AutoShape 19"/>
            <p:cNvSpPr>
              <a:spLocks noChangeArrowheads="1"/>
            </p:cNvSpPr>
            <p:nvPr/>
          </p:nvSpPr>
          <p:spPr bwMode="auto">
            <a:xfrm>
              <a:off x="3505200" y="2743200"/>
              <a:ext cx="1257300" cy="41910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PROJ_MANAGE</a:t>
              </a:r>
            </a:p>
          </p:txBody>
        </p:sp>
        <p:sp>
          <p:nvSpPr>
            <p:cNvPr id="38" name="Oval 21"/>
            <p:cNvSpPr>
              <a:spLocks noChangeArrowheads="1"/>
            </p:cNvSpPr>
            <p:nvPr/>
          </p:nvSpPr>
          <p:spPr bwMode="auto">
            <a:xfrm>
              <a:off x="990600" y="573088"/>
              <a:ext cx="877888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 u="sng">
                  <a:latin typeface="Times New Roman" charset="0"/>
                </a:rPr>
                <a:t>DEPT#</a:t>
              </a:r>
              <a:endParaRPr lang="en-US" sz="1200">
                <a:latin typeface="Times New Roman" charset="0"/>
              </a:endParaRPr>
            </a:p>
          </p:txBody>
        </p:sp>
        <p:sp>
          <p:nvSpPr>
            <p:cNvPr id="39" name="Oval 22"/>
            <p:cNvSpPr>
              <a:spLocks noChangeArrowheads="1"/>
            </p:cNvSpPr>
            <p:nvPr/>
          </p:nvSpPr>
          <p:spPr bwMode="auto">
            <a:xfrm>
              <a:off x="990600" y="1182688"/>
              <a:ext cx="877888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CITY</a:t>
              </a:r>
            </a:p>
          </p:txBody>
        </p:sp>
        <p:sp>
          <p:nvSpPr>
            <p:cNvPr id="40" name="Oval 23"/>
            <p:cNvSpPr>
              <a:spLocks noChangeArrowheads="1"/>
            </p:cNvSpPr>
            <p:nvPr/>
          </p:nvSpPr>
          <p:spPr bwMode="auto">
            <a:xfrm>
              <a:off x="990600" y="877888"/>
              <a:ext cx="877888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DNAME</a:t>
              </a:r>
            </a:p>
          </p:txBody>
        </p:sp>
        <p:sp>
          <p:nvSpPr>
            <p:cNvPr id="41" name="Oval 24"/>
            <p:cNvSpPr>
              <a:spLocks noChangeArrowheads="1"/>
            </p:cNvSpPr>
            <p:nvPr/>
          </p:nvSpPr>
          <p:spPr bwMode="auto">
            <a:xfrm>
              <a:off x="1255713" y="2362200"/>
              <a:ext cx="877887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 u="sng">
                  <a:latin typeface="Times New Roman" charset="0"/>
                </a:rPr>
                <a:t>EMP#</a:t>
              </a:r>
              <a:endParaRPr lang="en-US" sz="1200">
                <a:latin typeface="Times New Roman" charset="0"/>
              </a:endParaRPr>
            </a:p>
          </p:txBody>
        </p:sp>
        <p:sp>
          <p:nvSpPr>
            <p:cNvPr id="42" name="Oval 25"/>
            <p:cNvSpPr>
              <a:spLocks noChangeArrowheads="1"/>
            </p:cNvSpPr>
            <p:nvPr/>
          </p:nvSpPr>
          <p:spPr bwMode="auto">
            <a:xfrm>
              <a:off x="1255713" y="2706688"/>
              <a:ext cx="877887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NAME</a:t>
              </a:r>
            </a:p>
          </p:txBody>
        </p:sp>
        <p:sp>
          <p:nvSpPr>
            <p:cNvPr id="43" name="Oval 26"/>
            <p:cNvSpPr>
              <a:spLocks noChangeArrowheads="1"/>
            </p:cNvSpPr>
            <p:nvPr/>
          </p:nvSpPr>
          <p:spPr bwMode="auto">
            <a:xfrm>
              <a:off x="1255713" y="3087688"/>
              <a:ext cx="877887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SALARY</a:t>
              </a:r>
            </a:p>
          </p:txBody>
        </p:sp>
        <p:sp>
          <p:nvSpPr>
            <p:cNvPr id="44" name="Oval 27"/>
            <p:cNvSpPr>
              <a:spLocks noChangeArrowheads="1"/>
            </p:cNvSpPr>
            <p:nvPr/>
          </p:nvSpPr>
          <p:spPr bwMode="auto">
            <a:xfrm>
              <a:off x="1255713" y="3505200"/>
              <a:ext cx="877887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PHONE</a:t>
              </a:r>
            </a:p>
          </p:txBody>
        </p:sp>
        <p:sp>
          <p:nvSpPr>
            <p:cNvPr id="45" name="Oval 28"/>
            <p:cNvSpPr>
              <a:spLocks noChangeArrowheads="1"/>
            </p:cNvSpPr>
            <p:nvPr/>
          </p:nvSpPr>
          <p:spPr bwMode="auto">
            <a:xfrm>
              <a:off x="265113" y="2398713"/>
              <a:ext cx="877887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FIRST</a:t>
              </a:r>
            </a:p>
          </p:txBody>
        </p:sp>
        <p:sp>
          <p:nvSpPr>
            <p:cNvPr id="46" name="Oval 29"/>
            <p:cNvSpPr>
              <a:spLocks noChangeArrowheads="1"/>
            </p:cNvSpPr>
            <p:nvPr/>
          </p:nvSpPr>
          <p:spPr bwMode="auto">
            <a:xfrm>
              <a:off x="265113" y="2703513"/>
              <a:ext cx="877887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MI</a:t>
              </a:r>
            </a:p>
          </p:txBody>
        </p:sp>
        <p:sp>
          <p:nvSpPr>
            <p:cNvPr id="47" name="Oval 30"/>
            <p:cNvSpPr>
              <a:spLocks noChangeArrowheads="1"/>
            </p:cNvSpPr>
            <p:nvPr/>
          </p:nvSpPr>
          <p:spPr bwMode="auto">
            <a:xfrm>
              <a:off x="265113" y="3048000"/>
              <a:ext cx="877887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LAST</a:t>
              </a:r>
            </a:p>
          </p:txBody>
        </p:sp>
        <p:sp>
          <p:nvSpPr>
            <p:cNvPr id="48" name="Oval 31"/>
            <p:cNvSpPr>
              <a:spLocks noChangeArrowheads="1"/>
            </p:cNvSpPr>
            <p:nvPr/>
          </p:nvSpPr>
          <p:spPr bwMode="auto">
            <a:xfrm>
              <a:off x="4227513" y="5791200"/>
              <a:ext cx="877887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DNAME</a:t>
              </a:r>
            </a:p>
          </p:txBody>
        </p:sp>
        <p:sp>
          <p:nvSpPr>
            <p:cNvPr id="49" name="Oval 32"/>
            <p:cNvSpPr>
              <a:spLocks noChangeArrowheads="1"/>
            </p:cNvSpPr>
            <p:nvPr/>
          </p:nvSpPr>
          <p:spPr bwMode="auto">
            <a:xfrm>
              <a:off x="5141913" y="5791200"/>
              <a:ext cx="877887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GENDER</a:t>
              </a:r>
            </a:p>
          </p:txBody>
        </p:sp>
        <p:sp>
          <p:nvSpPr>
            <p:cNvPr id="50" name="Oval 33"/>
            <p:cNvSpPr>
              <a:spLocks noChangeArrowheads="1"/>
            </p:cNvSpPr>
            <p:nvPr/>
          </p:nvSpPr>
          <p:spPr bwMode="auto">
            <a:xfrm>
              <a:off x="1676400" y="5791200"/>
              <a:ext cx="1219200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WEB_BASED</a:t>
              </a:r>
            </a:p>
          </p:txBody>
        </p:sp>
        <p:sp>
          <p:nvSpPr>
            <p:cNvPr id="51" name="Oval 34"/>
            <p:cNvSpPr>
              <a:spLocks noChangeArrowheads="1"/>
            </p:cNvSpPr>
            <p:nvPr/>
          </p:nvSpPr>
          <p:spPr bwMode="auto">
            <a:xfrm>
              <a:off x="2971800" y="5791200"/>
              <a:ext cx="877888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OS</a:t>
              </a:r>
            </a:p>
          </p:txBody>
        </p:sp>
        <p:sp>
          <p:nvSpPr>
            <p:cNvPr id="52" name="Oval 35"/>
            <p:cNvSpPr>
              <a:spLocks noChangeArrowheads="1"/>
            </p:cNvSpPr>
            <p:nvPr/>
          </p:nvSpPr>
          <p:spPr bwMode="auto">
            <a:xfrm>
              <a:off x="838200" y="4038600"/>
              <a:ext cx="9906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LANGUAGE</a:t>
              </a:r>
            </a:p>
          </p:txBody>
        </p:sp>
        <p:sp>
          <p:nvSpPr>
            <p:cNvPr id="53" name="Rectangle 36"/>
            <p:cNvSpPr>
              <a:spLocks noChangeArrowheads="1"/>
            </p:cNvSpPr>
            <p:nvPr/>
          </p:nvSpPr>
          <p:spPr bwMode="auto">
            <a:xfrm>
              <a:off x="4227513" y="5181600"/>
              <a:ext cx="1219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sz="1200">
                <a:latin typeface="Times New Roman" charset="0"/>
              </a:endParaRPr>
            </a:p>
          </p:txBody>
        </p:sp>
        <p:sp>
          <p:nvSpPr>
            <p:cNvPr id="54" name="AutoShape 37"/>
            <p:cNvSpPr>
              <a:spLocks noChangeArrowheads="1"/>
            </p:cNvSpPr>
            <p:nvPr/>
          </p:nvSpPr>
          <p:spPr bwMode="auto">
            <a:xfrm>
              <a:off x="3998913" y="4191000"/>
              <a:ext cx="1676400" cy="68580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sz="1200">
                <a:latin typeface="Times New Roman" charset="0"/>
              </a:endParaRPr>
            </a:p>
          </p:txBody>
        </p:sp>
        <p:sp>
          <p:nvSpPr>
            <p:cNvPr id="55" name="Oval 38"/>
            <p:cNvSpPr>
              <a:spLocks noChangeArrowheads="1"/>
            </p:cNvSpPr>
            <p:nvPr/>
          </p:nvSpPr>
          <p:spPr bwMode="auto">
            <a:xfrm>
              <a:off x="1219200" y="3465513"/>
              <a:ext cx="954088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sz="1200">
                <a:latin typeface="Times New Roman" charset="0"/>
              </a:endParaRPr>
            </a:p>
          </p:txBody>
        </p:sp>
        <p:sp>
          <p:nvSpPr>
            <p:cNvPr id="56" name="Line 39"/>
            <p:cNvSpPr>
              <a:spLocks noChangeShapeType="1"/>
            </p:cNvSpPr>
            <p:nvPr/>
          </p:nvSpPr>
          <p:spPr bwMode="auto">
            <a:xfrm>
              <a:off x="4343400" y="60960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40"/>
            <p:cNvSpPr>
              <a:spLocks noChangeArrowheads="1"/>
            </p:cNvSpPr>
            <p:nvPr/>
          </p:nvSpPr>
          <p:spPr bwMode="auto">
            <a:xfrm>
              <a:off x="7924800" y="1411288"/>
              <a:ext cx="877888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STATUS</a:t>
              </a:r>
            </a:p>
          </p:txBody>
        </p:sp>
        <p:sp>
          <p:nvSpPr>
            <p:cNvPr id="58" name="Oval 41"/>
            <p:cNvSpPr>
              <a:spLocks noChangeArrowheads="1"/>
            </p:cNvSpPr>
            <p:nvPr/>
          </p:nvSpPr>
          <p:spPr bwMode="auto">
            <a:xfrm>
              <a:off x="7961313" y="1752600"/>
              <a:ext cx="877887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CITY</a:t>
              </a:r>
            </a:p>
          </p:txBody>
        </p:sp>
        <p:sp>
          <p:nvSpPr>
            <p:cNvPr id="59" name="Oval 42"/>
            <p:cNvSpPr>
              <a:spLocks noChangeArrowheads="1"/>
            </p:cNvSpPr>
            <p:nvPr/>
          </p:nvSpPr>
          <p:spPr bwMode="auto">
            <a:xfrm>
              <a:off x="7924800" y="3581400"/>
              <a:ext cx="877888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 u="sng">
                  <a:latin typeface="Times New Roman" charset="0"/>
                </a:rPr>
                <a:t>P#</a:t>
              </a:r>
              <a:endParaRPr lang="en-US" sz="1200">
                <a:latin typeface="Times New Roman" charset="0"/>
              </a:endParaRPr>
            </a:p>
          </p:txBody>
        </p:sp>
        <p:sp>
          <p:nvSpPr>
            <p:cNvPr id="60" name="Oval 43"/>
            <p:cNvSpPr>
              <a:spLocks noChangeArrowheads="1"/>
            </p:cNvSpPr>
            <p:nvPr/>
          </p:nvSpPr>
          <p:spPr bwMode="auto">
            <a:xfrm>
              <a:off x="7924800" y="3886200"/>
              <a:ext cx="877888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PNAME</a:t>
              </a:r>
            </a:p>
          </p:txBody>
        </p:sp>
        <p:sp>
          <p:nvSpPr>
            <p:cNvPr id="61" name="Oval 44"/>
            <p:cNvSpPr>
              <a:spLocks noChangeArrowheads="1"/>
            </p:cNvSpPr>
            <p:nvPr/>
          </p:nvSpPr>
          <p:spPr bwMode="auto">
            <a:xfrm>
              <a:off x="7924800" y="4230688"/>
              <a:ext cx="877888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COLOR</a:t>
              </a:r>
            </a:p>
          </p:txBody>
        </p:sp>
        <p:sp>
          <p:nvSpPr>
            <p:cNvPr id="62" name="Oval 45"/>
            <p:cNvSpPr>
              <a:spLocks noChangeArrowheads="1"/>
            </p:cNvSpPr>
            <p:nvPr/>
          </p:nvSpPr>
          <p:spPr bwMode="auto">
            <a:xfrm>
              <a:off x="7924800" y="4535488"/>
              <a:ext cx="877888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WEIGHT</a:t>
              </a:r>
            </a:p>
          </p:txBody>
        </p:sp>
        <p:sp>
          <p:nvSpPr>
            <p:cNvPr id="63" name="Oval 46"/>
            <p:cNvSpPr>
              <a:spLocks noChangeArrowheads="1"/>
            </p:cNvSpPr>
            <p:nvPr/>
          </p:nvSpPr>
          <p:spPr bwMode="auto">
            <a:xfrm>
              <a:off x="7924800" y="4840288"/>
              <a:ext cx="877888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CITY</a:t>
              </a:r>
            </a:p>
          </p:txBody>
        </p:sp>
        <p:sp>
          <p:nvSpPr>
            <p:cNvPr id="64" name="Oval 47"/>
            <p:cNvSpPr>
              <a:spLocks noChangeArrowheads="1"/>
            </p:cNvSpPr>
            <p:nvPr/>
          </p:nvSpPr>
          <p:spPr bwMode="auto">
            <a:xfrm>
              <a:off x="7924800" y="5181600"/>
              <a:ext cx="877888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TOTQTY</a:t>
              </a:r>
            </a:p>
          </p:txBody>
        </p:sp>
        <p:sp>
          <p:nvSpPr>
            <p:cNvPr id="65" name="Oval 48"/>
            <p:cNvSpPr>
              <a:spLocks noChangeArrowheads="1"/>
            </p:cNvSpPr>
            <p:nvPr/>
          </p:nvSpPr>
          <p:spPr bwMode="auto">
            <a:xfrm>
              <a:off x="8001000" y="2057400"/>
              <a:ext cx="877888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TOTQTY</a:t>
              </a:r>
            </a:p>
          </p:txBody>
        </p:sp>
        <p:sp>
          <p:nvSpPr>
            <p:cNvPr id="66" name="Oval 49"/>
            <p:cNvSpPr>
              <a:spLocks noChangeArrowheads="1"/>
            </p:cNvSpPr>
            <p:nvPr/>
          </p:nvSpPr>
          <p:spPr bwMode="auto">
            <a:xfrm>
              <a:off x="7924800" y="762000"/>
              <a:ext cx="877888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 u="sng">
                  <a:latin typeface="Times New Roman" charset="0"/>
                </a:rPr>
                <a:t>S#</a:t>
              </a:r>
              <a:endParaRPr lang="en-US" sz="1200">
                <a:latin typeface="Times New Roman" charset="0"/>
              </a:endParaRPr>
            </a:p>
          </p:txBody>
        </p:sp>
        <p:sp>
          <p:nvSpPr>
            <p:cNvPr id="67" name="Oval 50"/>
            <p:cNvSpPr>
              <a:spLocks noChangeArrowheads="1"/>
            </p:cNvSpPr>
            <p:nvPr/>
          </p:nvSpPr>
          <p:spPr bwMode="auto">
            <a:xfrm>
              <a:off x="7924800" y="1066800"/>
              <a:ext cx="877888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SNAME</a:t>
              </a:r>
            </a:p>
          </p:txBody>
        </p:sp>
        <p:sp>
          <p:nvSpPr>
            <p:cNvPr id="68" name="Oval 51"/>
            <p:cNvSpPr>
              <a:spLocks noChangeArrowheads="1"/>
            </p:cNvSpPr>
            <p:nvPr/>
          </p:nvSpPr>
          <p:spPr bwMode="auto">
            <a:xfrm>
              <a:off x="4953000" y="1219200"/>
              <a:ext cx="877888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 u="sng">
                  <a:latin typeface="Times New Roman" charset="0"/>
                </a:rPr>
                <a:t>J#</a:t>
              </a:r>
              <a:endParaRPr lang="en-US" sz="1200">
                <a:latin typeface="Times New Roman" charset="0"/>
              </a:endParaRPr>
            </a:p>
          </p:txBody>
        </p:sp>
        <p:sp>
          <p:nvSpPr>
            <p:cNvPr id="69" name="Oval 52"/>
            <p:cNvSpPr>
              <a:spLocks noChangeArrowheads="1"/>
            </p:cNvSpPr>
            <p:nvPr/>
          </p:nvSpPr>
          <p:spPr bwMode="auto">
            <a:xfrm>
              <a:off x="4953000" y="1524000"/>
              <a:ext cx="877888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JNAME</a:t>
              </a:r>
            </a:p>
          </p:txBody>
        </p:sp>
        <p:sp>
          <p:nvSpPr>
            <p:cNvPr id="70" name="Oval 53"/>
            <p:cNvSpPr>
              <a:spLocks noChangeArrowheads="1"/>
            </p:cNvSpPr>
            <p:nvPr/>
          </p:nvSpPr>
          <p:spPr bwMode="auto">
            <a:xfrm>
              <a:off x="4949825" y="1828800"/>
              <a:ext cx="877888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CITY</a:t>
              </a:r>
            </a:p>
          </p:txBody>
        </p:sp>
        <p:sp>
          <p:nvSpPr>
            <p:cNvPr id="71" name="Oval 54"/>
            <p:cNvSpPr>
              <a:spLocks noChangeArrowheads="1"/>
            </p:cNvSpPr>
            <p:nvPr/>
          </p:nvSpPr>
          <p:spPr bwMode="auto">
            <a:xfrm>
              <a:off x="4989513" y="2133600"/>
              <a:ext cx="877887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TOTQTY</a:t>
              </a:r>
            </a:p>
          </p:txBody>
        </p:sp>
        <p:cxnSp>
          <p:nvCxnSpPr>
            <p:cNvPr id="72" name="AutoShape 55"/>
            <p:cNvCxnSpPr>
              <a:cxnSpLocks noChangeShapeType="1"/>
              <a:stCxn id="21" idx="2"/>
              <a:endCxn id="24" idx="0"/>
            </p:cNvCxnSpPr>
            <p:nvPr/>
          </p:nvCxnSpPr>
          <p:spPr bwMode="auto">
            <a:xfrm flipH="1">
              <a:off x="2114550" y="1181100"/>
              <a:ext cx="706438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AutoShape 56"/>
            <p:cNvCxnSpPr>
              <a:cxnSpLocks noChangeShapeType="1"/>
              <a:stCxn id="21" idx="2"/>
              <a:endCxn id="23" idx="0"/>
            </p:cNvCxnSpPr>
            <p:nvPr/>
          </p:nvCxnSpPr>
          <p:spPr bwMode="auto">
            <a:xfrm>
              <a:off x="2820988" y="1181100"/>
              <a:ext cx="627062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AutoShape 57"/>
            <p:cNvCxnSpPr>
              <a:cxnSpLocks noChangeShapeType="1"/>
              <a:stCxn id="22" idx="0"/>
              <a:endCxn id="24" idx="2"/>
            </p:cNvCxnSpPr>
            <p:nvPr/>
          </p:nvCxnSpPr>
          <p:spPr bwMode="auto">
            <a:xfrm flipH="1" flipV="1">
              <a:off x="2114550" y="2057400"/>
              <a:ext cx="704850" cy="7239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AutoShape 58"/>
            <p:cNvCxnSpPr>
              <a:cxnSpLocks noChangeShapeType="1"/>
              <a:stCxn id="23" idx="2"/>
              <a:endCxn id="22" idx="0"/>
            </p:cNvCxnSpPr>
            <p:nvPr/>
          </p:nvCxnSpPr>
          <p:spPr bwMode="auto">
            <a:xfrm flipH="1">
              <a:off x="2819400" y="2057400"/>
              <a:ext cx="628650" cy="7239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AutoShape 59"/>
            <p:cNvCxnSpPr>
              <a:cxnSpLocks noChangeShapeType="1"/>
              <a:stCxn id="26" idx="0"/>
              <a:endCxn id="22" idx="2"/>
            </p:cNvCxnSpPr>
            <p:nvPr/>
          </p:nvCxnSpPr>
          <p:spPr bwMode="auto">
            <a:xfrm flipV="1">
              <a:off x="2819400" y="3048000"/>
              <a:ext cx="0" cy="10731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AutoShape 60"/>
            <p:cNvCxnSpPr>
              <a:cxnSpLocks noChangeShapeType="1"/>
              <a:stCxn id="54" idx="0"/>
              <a:endCxn id="22" idx="2"/>
            </p:cNvCxnSpPr>
            <p:nvPr/>
          </p:nvCxnSpPr>
          <p:spPr bwMode="auto">
            <a:xfrm flipH="1" flipV="1">
              <a:off x="2819400" y="3048000"/>
              <a:ext cx="2017713" cy="1143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AutoShape 61"/>
            <p:cNvCxnSpPr>
              <a:cxnSpLocks noChangeShapeType="1"/>
              <a:stCxn id="54" idx="2"/>
              <a:endCxn id="53" idx="0"/>
            </p:cNvCxnSpPr>
            <p:nvPr/>
          </p:nvCxnSpPr>
          <p:spPr bwMode="auto">
            <a:xfrm>
              <a:off x="4837113" y="4876800"/>
              <a:ext cx="0" cy="304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AutoShape 62"/>
            <p:cNvCxnSpPr>
              <a:cxnSpLocks noChangeShapeType="1"/>
              <a:stCxn id="34" idx="2"/>
              <a:endCxn id="33" idx="0"/>
            </p:cNvCxnSpPr>
            <p:nvPr/>
          </p:nvCxnSpPr>
          <p:spPr bwMode="auto">
            <a:xfrm flipH="1">
              <a:off x="7010400" y="3124200"/>
              <a:ext cx="19050" cy="1181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AutoShape 63"/>
            <p:cNvCxnSpPr>
              <a:cxnSpLocks noChangeShapeType="1"/>
              <a:stCxn id="32" idx="2"/>
              <a:endCxn id="34" idx="0"/>
            </p:cNvCxnSpPr>
            <p:nvPr/>
          </p:nvCxnSpPr>
          <p:spPr bwMode="auto">
            <a:xfrm>
              <a:off x="7010400" y="1638300"/>
              <a:ext cx="19050" cy="1066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AutoShape 64"/>
            <p:cNvCxnSpPr>
              <a:cxnSpLocks noChangeShapeType="1"/>
              <a:stCxn id="34" idx="1"/>
              <a:endCxn id="31" idx="3"/>
            </p:cNvCxnSpPr>
            <p:nvPr/>
          </p:nvCxnSpPr>
          <p:spPr bwMode="auto">
            <a:xfrm flipH="1">
              <a:off x="6096000" y="2914650"/>
              <a:ext cx="3048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AutoShape 66"/>
            <p:cNvCxnSpPr>
              <a:cxnSpLocks noChangeShapeType="1"/>
              <a:stCxn id="37" idx="1"/>
              <a:endCxn id="22" idx="3"/>
            </p:cNvCxnSpPr>
            <p:nvPr/>
          </p:nvCxnSpPr>
          <p:spPr bwMode="auto">
            <a:xfrm flipH="1" flipV="1">
              <a:off x="3352800" y="2914650"/>
              <a:ext cx="152400" cy="38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AutoShape 68"/>
            <p:cNvCxnSpPr>
              <a:cxnSpLocks noChangeShapeType="1"/>
              <a:stCxn id="31" idx="1"/>
              <a:endCxn id="37" idx="3"/>
            </p:cNvCxnSpPr>
            <p:nvPr/>
          </p:nvCxnSpPr>
          <p:spPr bwMode="auto">
            <a:xfrm flipH="1">
              <a:off x="4762500" y="2914650"/>
              <a:ext cx="266700" cy="38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AutoShape 69"/>
            <p:cNvCxnSpPr>
              <a:cxnSpLocks noChangeShapeType="1"/>
              <a:stCxn id="35" idx="0"/>
              <a:endCxn id="32" idx="2"/>
            </p:cNvCxnSpPr>
            <p:nvPr/>
          </p:nvCxnSpPr>
          <p:spPr bwMode="auto">
            <a:xfrm flipH="1" flipV="1">
              <a:off x="7010400" y="1638300"/>
              <a:ext cx="1352550" cy="1066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AutoShape 70"/>
            <p:cNvCxnSpPr>
              <a:cxnSpLocks noChangeShapeType="1"/>
              <a:stCxn id="35" idx="2"/>
              <a:endCxn id="33" idx="0"/>
            </p:cNvCxnSpPr>
            <p:nvPr/>
          </p:nvCxnSpPr>
          <p:spPr bwMode="auto">
            <a:xfrm flipH="1">
              <a:off x="7010400" y="3124200"/>
              <a:ext cx="1352550" cy="1181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AutoShape 71"/>
            <p:cNvCxnSpPr>
              <a:cxnSpLocks noChangeShapeType="1"/>
              <a:stCxn id="30" idx="0"/>
              <a:endCxn id="26" idx="2"/>
            </p:cNvCxnSpPr>
            <p:nvPr/>
          </p:nvCxnSpPr>
          <p:spPr bwMode="auto">
            <a:xfrm flipH="1" flipV="1">
              <a:off x="2819400" y="4387850"/>
              <a:ext cx="609600" cy="8763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AutoShape 72"/>
            <p:cNvCxnSpPr>
              <a:cxnSpLocks noChangeShapeType="1"/>
              <a:stCxn id="29" idx="0"/>
              <a:endCxn id="26" idx="2"/>
            </p:cNvCxnSpPr>
            <p:nvPr/>
          </p:nvCxnSpPr>
          <p:spPr bwMode="auto">
            <a:xfrm flipV="1">
              <a:off x="2286000" y="4387850"/>
              <a:ext cx="533400" cy="8763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AutoShape 73"/>
            <p:cNvCxnSpPr>
              <a:cxnSpLocks noChangeShapeType="1"/>
              <a:stCxn id="36" idx="1"/>
              <a:endCxn id="33" idx="2"/>
            </p:cNvCxnSpPr>
            <p:nvPr/>
          </p:nvCxnSpPr>
          <p:spPr bwMode="auto">
            <a:xfrm flipV="1">
              <a:off x="6438900" y="4572000"/>
              <a:ext cx="571500" cy="1162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AutoShape 74"/>
            <p:cNvCxnSpPr>
              <a:cxnSpLocks noChangeShapeType="1"/>
              <a:stCxn id="36" idx="3"/>
              <a:endCxn id="33" idx="2"/>
            </p:cNvCxnSpPr>
            <p:nvPr/>
          </p:nvCxnSpPr>
          <p:spPr bwMode="auto">
            <a:xfrm flipH="1" flipV="1">
              <a:off x="7010400" y="4572000"/>
              <a:ext cx="685800" cy="1162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0" name="Text Box 75"/>
            <p:cNvSpPr txBox="1">
              <a:spLocks noChangeArrowheads="1"/>
            </p:cNvSpPr>
            <p:nvPr/>
          </p:nvSpPr>
          <p:spPr bwMode="auto">
            <a:xfrm>
              <a:off x="3009900" y="24384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M</a:t>
              </a:r>
            </a:p>
          </p:txBody>
        </p:sp>
        <p:sp>
          <p:nvSpPr>
            <p:cNvPr id="91" name="Text Box 76"/>
            <p:cNvSpPr txBox="1">
              <a:spLocks noChangeArrowheads="1"/>
            </p:cNvSpPr>
            <p:nvPr/>
          </p:nvSpPr>
          <p:spPr bwMode="auto">
            <a:xfrm>
              <a:off x="2171700" y="12192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1</a:t>
              </a:r>
            </a:p>
          </p:txBody>
        </p:sp>
        <p:sp>
          <p:nvSpPr>
            <p:cNvPr id="92" name="Text Box 77"/>
            <p:cNvSpPr txBox="1">
              <a:spLocks noChangeArrowheads="1"/>
            </p:cNvSpPr>
            <p:nvPr/>
          </p:nvSpPr>
          <p:spPr bwMode="auto">
            <a:xfrm>
              <a:off x="2324100" y="24384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1</a:t>
              </a:r>
            </a:p>
          </p:txBody>
        </p:sp>
        <p:sp>
          <p:nvSpPr>
            <p:cNvPr id="93" name="Text Box 78"/>
            <p:cNvSpPr txBox="1">
              <a:spLocks noChangeArrowheads="1"/>
            </p:cNvSpPr>
            <p:nvPr/>
          </p:nvSpPr>
          <p:spPr bwMode="auto">
            <a:xfrm>
              <a:off x="3124200" y="30480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1</a:t>
              </a:r>
            </a:p>
          </p:txBody>
        </p:sp>
        <p:sp>
          <p:nvSpPr>
            <p:cNvPr id="94" name="Text Box 79"/>
            <p:cNvSpPr txBox="1">
              <a:spLocks noChangeArrowheads="1"/>
            </p:cNvSpPr>
            <p:nvPr/>
          </p:nvSpPr>
          <p:spPr bwMode="auto">
            <a:xfrm>
              <a:off x="4533900" y="48768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M</a:t>
              </a:r>
            </a:p>
          </p:txBody>
        </p:sp>
        <p:sp>
          <p:nvSpPr>
            <p:cNvPr id="95" name="Text Box 80"/>
            <p:cNvSpPr txBox="1">
              <a:spLocks noChangeArrowheads="1"/>
            </p:cNvSpPr>
            <p:nvPr/>
          </p:nvSpPr>
          <p:spPr bwMode="auto">
            <a:xfrm>
              <a:off x="6705600" y="16764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M</a:t>
              </a:r>
            </a:p>
          </p:txBody>
        </p:sp>
        <p:sp>
          <p:nvSpPr>
            <p:cNvPr id="96" name="Text Box 81"/>
            <p:cNvSpPr txBox="1">
              <a:spLocks noChangeArrowheads="1"/>
            </p:cNvSpPr>
            <p:nvPr/>
          </p:nvSpPr>
          <p:spPr bwMode="auto">
            <a:xfrm>
              <a:off x="7353300" y="16764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M</a:t>
              </a:r>
            </a:p>
          </p:txBody>
        </p:sp>
        <p:sp>
          <p:nvSpPr>
            <p:cNvPr id="97" name="Text Box 83"/>
            <p:cNvSpPr txBox="1">
              <a:spLocks noChangeArrowheads="1"/>
            </p:cNvSpPr>
            <p:nvPr/>
          </p:nvSpPr>
          <p:spPr bwMode="auto">
            <a:xfrm>
              <a:off x="3429000" y="30480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1</a:t>
              </a:r>
            </a:p>
          </p:txBody>
        </p:sp>
        <p:sp>
          <p:nvSpPr>
            <p:cNvPr id="98" name="Text Box 84"/>
            <p:cNvSpPr txBox="1">
              <a:spLocks noChangeArrowheads="1"/>
            </p:cNvSpPr>
            <p:nvPr/>
          </p:nvSpPr>
          <p:spPr bwMode="auto">
            <a:xfrm>
              <a:off x="4914900" y="31242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M</a:t>
              </a:r>
            </a:p>
          </p:txBody>
        </p:sp>
        <p:sp>
          <p:nvSpPr>
            <p:cNvPr id="99" name="Text Box 86"/>
            <p:cNvSpPr txBox="1">
              <a:spLocks noChangeArrowheads="1"/>
            </p:cNvSpPr>
            <p:nvPr/>
          </p:nvSpPr>
          <p:spPr bwMode="auto">
            <a:xfrm>
              <a:off x="6705600" y="39624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M</a:t>
              </a:r>
            </a:p>
          </p:txBody>
        </p:sp>
        <p:sp>
          <p:nvSpPr>
            <p:cNvPr id="100" name="Text Box 87"/>
            <p:cNvSpPr txBox="1">
              <a:spLocks noChangeArrowheads="1"/>
            </p:cNvSpPr>
            <p:nvPr/>
          </p:nvSpPr>
          <p:spPr bwMode="auto">
            <a:xfrm>
              <a:off x="7277100" y="40386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M</a:t>
              </a:r>
            </a:p>
          </p:txBody>
        </p:sp>
        <p:sp>
          <p:nvSpPr>
            <p:cNvPr id="101" name="Text Box 88"/>
            <p:cNvSpPr txBox="1">
              <a:spLocks noChangeArrowheads="1"/>
            </p:cNvSpPr>
            <p:nvPr/>
          </p:nvSpPr>
          <p:spPr bwMode="auto">
            <a:xfrm>
              <a:off x="6591300" y="46482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M</a:t>
              </a:r>
            </a:p>
          </p:txBody>
        </p:sp>
        <p:sp>
          <p:nvSpPr>
            <p:cNvPr id="102" name="Text Box 89"/>
            <p:cNvSpPr txBox="1">
              <a:spLocks noChangeArrowheads="1"/>
            </p:cNvSpPr>
            <p:nvPr/>
          </p:nvSpPr>
          <p:spPr bwMode="auto">
            <a:xfrm>
              <a:off x="7200900" y="46482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M</a:t>
              </a:r>
            </a:p>
          </p:txBody>
        </p:sp>
        <p:cxnSp>
          <p:nvCxnSpPr>
            <p:cNvPr id="103" name="AutoShape 90"/>
            <p:cNvCxnSpPr>
              <a:cxnSpLocks noChangeShapeType="1"/>
            </p:cNvCxnSpPr>
            <p:nvPr/>
          </p:nvCxnSpPr>
          <p:spPr bwMode="auto">
            <a:xfrm flipH="1">
              <a:off x="2189163" y="1219200"/>
              <a:ext cx="706437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AutoShape 91"/>
            <p:cNvCxnSpPr>
              <a:cxnSpLocks noChangeShapeType="1"/>
            </p:cNvCxnSpPr>
            <p:nvPr/>
          </p:nvCxnSpPr>
          <p:spPr bwMode="auto">
            <a:xfrm flipH="1">
              <a:off x="2743200" y="2019300"/>
              <a:ext cx="628650" cy="7239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5" name="AutoShape 92"/>
            <p:cNvCxnSpPr>
              <a:cxnSpLocks noChangeShapeType="1"/>
            </p:cNvCxnSpPr>
            <p:nvPr/>
          </p:nvCxnSpPr>
          <p:spPr bwMode="auto">
            <a:xfrm>
              <a:off x="4953000" y="4876800"/>
              <a:ext cx="0" cy="304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6" name="Line 93"/>
            <p:cNvSpPr>
              <a:spLocks noChangeShapeType="1"/>
            </p:cNvSpPr>
            <p:nvPr/>
          </p:nvSpPr>
          <p:spPr bwMode="auto">
            <a:xfrm flipV="1">
              <a:off x="4648200" y="29718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Text Box 94"/>
            <p:cNvSpPr txBox="1">
              <a:spLocks noChangeArrowheads="1"/>
            </p:cNvSpPr>
            <p:nvPr/>
          </p:nvSpPr>
          <p:spPr bwMode="auto">
            <a:xfrm>
              <a:off x="6019800" y="4953000"/>
              <a:ext cx="9144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Container</a:t>
              </a:r>
            </a:p>
          </p:txBody>
        </p:sp>
        <p:sp>
          <p:nvSpPr>
            <p:cNvPr id="108" name="Text Box 95"/>
            <p:cNvSpPr txBox="1">
              <a:spLocks noChangeArrowheads="1"/>
            </p:cNvSpPr>
            <p:nvPr/>
          </p:nvSpPr>
          <p:spPr bwMode="auto">
            <a:xfrm>
              <a:off x="6134100" y="2590800"/>
              <a:ext cx="2667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M</a:t>
              </a:r>
            </a:p>
          </p:txBody>
        </p:sp>
        <p:sp>
          <p:nvSpPr>
            <p:cNvPr id="109" name="Text Box 96"/>
            <p:cNvSpPr txBox="1">
              <a:spLocks noChangeArrowheads="1"/>
            </p:cNvSpPr>
            <p:nvPr/>
          </p:nvSpPr>
          <p:spPr bwMode="auto">
            <a:xfrm>
              <a:off x="6934200" y="4953000"/>
              <a:ext cx="9144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>
                  <a:latin typeface="Times New Roman" charset="0"/>
                </a:rPr>
                <a:t>Component</a:t>
              </a:r>
            </a:p>
          </p:txBody>
        </p:sp>
        <p:sp>
          <p:nvSpPr>
            <p:cNvPr id="110" name="Oval 97"/>
            <p:cNvSpPr>
              <a:spLocks noChangeArrowheads="1"/>
            </p:cNvSpPr>
            <p:nvPr/>
          </p:nvSpPr>
          <p:spPr bwMode="auto">
            <a:xfrm>
              <a:off x="5562600" y="3352800"/>
              <a:ext cx="877888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QTY</a:t>
              </a:r>
            </a:p>
          </p:txBody>
        </p:sp>
        <p:cxnSp>
          <p:nvCxnSpPr>
            <p:cNvPr id="111" name="AutoShape 98"/>
            <p:cNvCxnSpPr>
              <a:cxnSpLocks noChangeShapeType="1"/>
              <a:stCxn id="34" idx="2"/>
              <a:endCxn id="110" idx="6"/>
            </p:cNvCxnSpPr>
            <p:nvPr/>
          </p:nvCxnSpPr>
          <p:spPr bwMode="auto">
            <a:xfrm flipH="1">
              <a:off x="6440488" y="3124200"/>
              <a:ext cx="588962" cy="3619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2" name="AutoShape 99"/>
            <p:cNvCxnSpPr>
              <a:cxnSpLocks noChangeShapeType="1"/>
              <a:stCxn id="38" idx="6"/>
              <a:endCxn id="21" idx="1"/>
            </p:cNvCxnSpPr>
            <p:nvPr/>
          </p:nvCxnSpPr>
          <p:spPr bwMode="auto">
            <a:xfrm>
              <a:off x="1868488" y="706438"/>
              <a:ext cx="417512" cy="3413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3" name="AutoShape 100"/>
            <p:cNvCxnSpPr>
              <a:cxnSpLocks noChangeShapeType="1"/>
              <a:stCxn id="40" idx="6"/>
              <a:endCxn id="21" idx="1"/>
            </p:cNvCxnSpPr>
            <p:nvPr/>
          </p:nvCxnSpPr>
          <p:spPr bwMode="auto">
            <a:xfrm>
              <a:off x="1868488" y="1011238"/>
              <a:ext cx="417512" cy="365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4" name="AutoShape 101"/>
            <p:cNvCxnSpPr>
              <a:cxnSpLocks noChangeShapeType="1"/>
              <a:stCxn id="39" idx="6"/>
              <a:endCxn id="21" idx="1"/>
            </p:cNvCxnSpPr>
            <p:nvPr/>
          </p:nvCxnSpPr>
          <p:spPr bwMode="auto">
            <a:xfrm flipV="1">
              <a:off x="1868488" y="1047750"/>
              <a:ext cx="417512" cy="268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5" name="AutoShape 102"/>
            <p:cNvCxnSpPr>
              <a:cxnSpLocks noChangeShapeType="1"/>
              <a:stCxn id="32" idx="3"/>
              <a:endCxn id="58" idx="2"/>
            </p:cNvCxnSpPr>
            <p:nvPr/>
          </p:nvCxnSpPr>
          <p:spPr bwMode="auto">
            <a:xfrm>
              <a:off x="7543800" y="1504950"/>
              <a:ext cx="417513" cy="381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6" name="AutoShape 103"/>
            <p:cNvCxnSpPr>
              <a:cxnSpLocks noChangeShapeType="1"/>
              <a:stCxn id="32" idx="3"/>
              <a:endCxn id="65" idx="2"/>
            </p:cNvCxnSpPr>
            <p:nvPr/>
          </p:nvCxnSpPr>
          <p:spPr bwMode="auto">
            <a:xfrm>
              <a:off x="7543800" y="1504950"/>
              <a:ext cx="457200" cy="685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7" name="AutoShape 104"/>
            <p:cNvCxnSpPr>
              <a:cxnSpLocks noChangeShapeType="1"/>
              <a:stCxn id="32" idx="3"/>
              <a:endCxn id="67" idx="3"/>
            </p:cNvCxnSpPr>
            <p:nvPr/>
          </p:nvCxnSpPr>
          <p:spPr bwMode="auto">
            <a:xfrm flipV="1">
              <a:off x="7543800" y="1293813"/>
              <a:ext cx="509588" cy="21113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8" name="AutoShape 105"/>
            <p:cNvCxnSpPr>
              <a:cxnSpLocks noChangeShapeType="1"/>
              <a:stCxn id="32" idx="3"/>
              <a:endCxn id="57" idx="2"/>
            </p:cNvCxnSpPr>
            <p:nvPr/>
          </p:nvCxnSpPr>
          <p:spPr bwMode="auto">
            <a:xfrm>
              <a:off x="7543800" y="1504950"/>
              <a:ext cx="381000" cy="396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" name="AutoShape 106"/>
            <p:cNvCxnSpPr>
              <a:cxnSpLocks noChangeShapeType="1"/>
              <a:stCxn id="32" idx="3"/>
              <a:endCxn id="66" idx="2"/>
            </p:cNvCxnSpPr>
            <p:nvPr/>
          </p:nvCxnSpPr>
          <p:spPr bwMode="auto">
            <a:xfrm flipV="1">
              <a:off x="7543800" y="895350"/>
              <a:ext cx="381000" cy="609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0" name="AutoShape 107"/>
            <p:cNvCxnSpPr>
              <a:cxnSpLocks noChangeShapeType="1"/>
              <a:stCxn id="53" idx="2"/>
            </p:cNvCxnSpPr>
            <p:nvPr/>
          </p:nvCxnSpPr>
          <p:spPr bwMode="auto">
            <a:xfrm>
              <a:off x="4837113" y="5638800"/>
              <a:ext cx="649287" cy="152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1" name="AutoShape 108"/>
            <p:cNvCxnSpPr>
              <a:cxnSpLocks noChangeShapeType="1"/>
              <a:stCxn id="48" idx="0"/>
              <a:endCxn id="53" idx="2"/>
            </p:cNvCxnSpPr>
            <p:nvPr/>
          </p:nvCxnSpPr>
          <p:spPr bwMode="auto">
            <a:xfrm flipV="1">
              <a:off x="4667250" y="5638800"/>
              <a:ext cx="169863" cy="152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2" name="AutoShape 109"/>
            <p:cNvCxnSpPr>
              <a:cxnSpLocks noChangeShapeType="1"/>
              <a:stCxn id="51" idx="0"/>
              <a:endCxn id="30" idx="2"/>
            </p:cNvCxnSpPr>
            <p:nvPr/>
          </p:nvCxnSpPr>
          <p:spPr bwMode="auto">
            <a:xfrm flipV="1">
              <a:off x="3411538" y="5530850"/>
              <a:ext cx="17462" cy="2603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3" name="AutoShape 110"/>
            <p:cNvCxnSpPr>
              <a:cxnSpLocks noChangeShapeType="1"/>
              <a:stCxn id="50" idx="0"/>
              <a:endCxn id="29" idx="2"/>
            </p:cNvCxnSpPr>
            <p:nvPr/>
          </p:nvCxnSpPr>
          <p:spPr bwMode="auto">
            <a:xfrm flipV="1">
              <a:off x="2286000" y="5530850"/>
              <a:ext cx="0" cy="2603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4" name="AutoShape 111"/>
            <p:cNvCxnSpPr>
              <a:cxnSpLocks noChangeShapeType="1"/>
              <a:stCxn id="52" idx="6"/>
              <a:endCxn id="26" idx="1"/>
            </p:cNvCxnSpPr>
            <p:nvPr/>
          </p:nvCxnSpPr>
          <p:spPr bwMode="auto">
            <a:xfrm flipV="1">
              <a:off x="1828800" y="4254500"/>
              <a:ext cx="457200" cy="127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5" name="AutoShape 112"/>
            <p:cNvCxnSpPr>
              <a:cxnSpLocks noChangeShapeType="1"/>
              <a:stCxn id="47" idx="6"/>
              <a:endCxn id="42" idx="2"/>
            </p:cNvCxnSpPr>
            <p:nvPr/>
          </p:nvCxnSpPr>
          <p:spPr bwMode="auto">
            <a:xfrm flipV="1">
              <a:off x="1143000" y="2840038"/>
              <a:ext cx="112713" cy="3413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6" name="AutoShape 113"/>
            <p:cNvCxnSpPr>
              <a:cxnSpLocks noChangeShapeType="1"/>
              <a:stCxn id="42" idx="2"/>
              <a:endCxn id="45" idx="6"/>
            </p:cNvCxnSpPr>
            <p:nvPr/>
          </p:nvCxnSpPr>
          <p:spPr bwMode="auto">
            <a:xfrm flipH="1" flipV="1">
              <a:off x="1143000" y="2532063"/>
              <a:ext cx="112713" cy="3079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7" name="AutoShape 114"/>
            <p:cNvCxnSpPr>
              <a:cxnSpLocks noChangeShapeType="1"/>
              <a:stCxn id="42" idx="2"/>
              <a:endCxn id="46" idx="6"/>
            </p:cNvCxnSpPr>
            <p:nvPr/>
          </p:nvCxnSpPr>
          <p:spPr bwMode="auto">
            <a:xfrm flipH="1" flipV="1">
              <a:off x="1143000" y="2836863"/>
              <a:ext cx="112713" cy="3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8" name="AutoShape 115"/>
            <p:cNvCxnSpPr>
              <a:cxnSpLocks noChangeShapeType="1"/>
              <a:stCxn id="22" idx="1"/>
              <a:endCxn id="55" idx="6"/>
            </p:cNvCxnSpPr>
            <p:nvPr/>
          </p:nvCxnSpPr>
          <p:spPr bwMode="auto">
            <a:xfrm flipH="1">
              <a:off x="2173288" y="2914650"/>
              <a:ext cx="112712" cy="741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9" name="AutoShape 116"/>
            <p:cNvCxnSpPr>
              <a:cxnSpLocks noChangeShapeType="1"/>
              <a:stCxn id="43" idx="6"/>
              <a:endCxn id="22" idx="1"/>
            </p:cNvCxnSpPr>
            <p:nvPr/>
          </p:nvCxnSpPr>
          <p:spPr bwMode="auto">
            <a:xfrm flipV="1">
              <a:off x="2133600" y="2914650"/>
              <a:ext cx="152400" cy="3063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0" name="AutoShape 117"/>
            <p:cNvCxnSpPr>
              <a:cxnSpLocks noChangeShapeType="1"/>
              <a:stCxn id="42" idx="6"/>
              <a:endCxn id="22" idx="1"/>
            </p:cNvCxnSpPr>
            <p:nvPr/>
          </p:nvCxnSpPr>
          <p:spPr bwMode="auto">
            <a:xfrm>
              <a:off x="2133600" y="2840038"/>
              <a:ext cx="152400" cy="746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1" name="AutoShape 118"/>
            <p:cNvCxnSpPr>
              <a:cxnSpLocks noChangeShapeType="1"/>
              <a:stCxn id="41" idx="6"/>
              <a:endCxn id="22" idx="1"/>
            </p:cNvCxnSpPr>
            <p:nvPr/>
          </p:nvCxnSpPr>
          <p:spPr bwMode="auto">
            <a:xfrm>
              <a:off x="2133600" y="2495550"/>
              <a:ext cx="152400" cy="419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2" name="AutoShape 119"/>
            <p:cNvCxnSpPr>
              <a:cxnSpLocks noChangeShapeType="1"/>
              <a:stCxn id="33" idx="3"/>
              <a:endCxn id="64" idx="1"/>
            </p:cNvCxnSpPr>
            <p:nvPr/>
          </p:nvCxnSpPr>
          <p:spPr bwMode="auto">
            <a:xfrm>
              <a:off x="7543800" y="4438650"/>
              <a:ext cx="509588" cy="781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3" name="AutoShape 120"/>
            <p:cNvCxnSpPr>
              <a:cxnSpLocks noChangeShapeType="1"/>
              <a:stCxn id="33" idx="3"/>
              <a:endCxn id="63" idx="1"/>
            </p:cNvCxnSpPr>
            <p:nvPr/>
          </p:nvCxnSpPr>
          <p:spPr bwMode="auto">
            <a:xfrm>
              <a:off x="7543800" y="4438650"/>
              <a:ext cx="509588" cy="4397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4" name="AutoShape 121"/>
            <p:cNvCxnSpPr>
              <a:cxnSpLocks noChangeShapeType="1"/>
              <a:stCxn id="33" idx="3"/>
              <a:endCxn id="62" idx="2"/>
            </p:cNvCxnSpPr>
            <p:nvPr/>
          </p:nvCxnSpPr>
          <p:spPr bwMode="auto">
            <a:xfrm>
              <a:off x="7543800" y="4438650"/>
              <a:ext cx="381000" cy="2301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5" name="AutoShape 122"/>
            <p:cNvCxnSpPr>
              <a:cxnSpLocks noChangeShapeType="1"/>
              <a:stCxn id="33" idx="3"/>
              <a:endCxn id="61" idx="2"/>
            </p:cNvCxnSpPr>
            <p:nvPr/>
          </p:nvCxnSpPr>
          <p:spPr bwMode="auto">
            <a:xfrm flipV="1">
              <a:off x="7543800" y="4364038"/>
              <a:ext cx="381000" cy="746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6" name="AutoShape 123"/>
            <p:cNvCxnSpPr>
              <a:cxnSpLocks noChangeShapeType="1"/>
              <a:stCxn id="33" idx="3"/>
              <a:endCxn id="60" idx="3"/>
            </p:cNvCxnSpPr>
            <p:nvPr/>
          </p:nvCxnSpPr>
          <p:spPr bwMode="auto">
            <a:xfrm flipV="1">
              <a:off x="7543800" y="4113213"/>
              <a:ext cx="509588" cy="32543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7" name="AutoShape 124"/>
            <p:cNvCxnSpPr>
              <a:cxnSpLocks noChangeShapeType="1"/>
              <a:stCxn id="33" idx="3"/>
              <a:endCxn id="59" idx="3"/>
            </p:cNvCxnSpPr>
            <p:nvPr/>
          </p:nvCxnSpPr>
          <p:spPr bwMode="auto">
            <a:xfrm flipV="1">
              <a:off x="7543800" y="3808413"/>
              <a:ext cx="509588" cy="63023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" name="AutoShape 125"/>
            <p:cNvCxnSpPr>
              <a:cxnSpLocks noChangeShapeType="1"/>
              <a:stCxn id="68" idx="6"/>
              <a:endCxn id="31" idx="0"/>
            </p:cNvCxnSpPr>
            <p:nvPr/>
          </p:nvCxnSpPr>
          <p:spPr bwMode="auto">
            <a:xfrm flipH="1">
              <a:off x="5562600" y="1352550"/>
              <a:ext cx="268288" cy="1428750"/>
            </a:xfrm>
            <a:prstGeom prst="bentConnector4">
              <a:avLst>
                <a:gd name="adj1" fmla="val -113611"/>
                <a:gd name="adj2" fmla="val 89662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9" name="Oval 126"/>
            <p:cNvSpPr>
              <a:spLocks noChangeArrowheads="1"/>
            </p:cNvSpPr>
            <p:nvPr/>
          </p:nvSpPr>
          <p:spPr bwMode="auto">
            <a:xfrm>
              <a:off x="7162800" y="3124200"/>
              <a:ext cx="877888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QTY</a:t>
              </a:r>
            </a:p>
          </p:txBody>
        </p:sp>
        <p:cxnSp>
          <p:nvCxnSpPr>
            <p:cNvPr id="140" name="AutoShape 127"/>
            <p:cNvCxnSpPr>
              <a:cxnSpLocks noChangeShapeType="1"/>
              <a:stCxn id="35" idx="2"/>
              <a:endCxn id="139" idx="6"/>
            </p:cNvCxnSpPr>
            <p:nvPr/>
          </p:nvCxnSpPr>
          <p:spPr bwMode="auto">
            <a:xfrm flipH="1">
              <a:off x="8040688" y="3124200"/>
              <a:ext cx="322262" cy="1333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1" name="AutoShape 128"/>
            <p:cNvCxnSpPr>
              <a:cxnSpLocks noChangeShapeType="1"/>
              <a:stCxn id="71" idx="6"/>
              <a:endCxn id="31" idx="0"/>
            </p:cNvCxnSpPr>
            <p:nvPr/>
          </p:nvCxnSpPr>
          <p:spPr bwMode="auto">
            <a:xfrm flipH="1">
              <a:off x="5562600" y="2266950"/>
              <a:ext cx="304800" cy="514350"/>
            </a:xfrm>
            <a:prstGeom prst="bentConnector4">
              <a:avLst>
                <a:gd name="adj1" fmla="val -41667"/>
                <a:gd name="adj2" fmla="val 49995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AutoShape 129"/>
            <p:cNvCxnSpPr>
              <a:cxnSpLocks noChangeShapeType="1"/>
              <a:stCxn id="70" idx="6"/>
              <a:endCxn id="31" idx="0"/>
            </p:cNvCxnSpPr>
            <p:nvPr/>
          </p:nvCxnSpPr>
          <p:spPr bwMode="auto">
            <a:xfrm flipH="1">
              <a:off x="5562600" y="1962150"/>
              <a:ext cx="265113" cy="819150"/>
            </a:xfrm>
            <a:prstGeom prst="bentConnector4">
              <a:avLst>
                <a:gd name="adj1" fmla="val -77250"/>
                <a:gd name="adj2" fmla="val 7286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AutoShape 130"/>
            <p:cNvCxnSpPr>
              <a:cxnSpLocks noChangeShapeType="1"/>
              <a:stCxn id="69" idx="6"/>
              <a:endCxn id="31" idx="0"/>
            </p:cNvCxnSpPr>
            <p:nvPr/>
          </p:nvCxnSpPr>
          <p:spPr bwMode="auto">
            <a:xfrm flipH="1">
              <a:off x="5562600" y="1657350"/>
              <a:ext cx="268288" cy="1123950"/>
            </a:xfrm>
            <a:prstGeom prst="bentConnector4">
              <a:avLst>
                <a:gd name="adj1" fmla="val -95269"/>
                <a:gd name="adj2" fmla="val 8389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4" name="Oval 131"/>
            <p:cNvSpPr>
              <a:spLocks noChangeArrowheads="1"/>
            </p:cNvSpPr>
            <p:nvPr/>
          </p:nvSpPr>
          <p:spPr bwMode="auto">
            <a:xfrm>
              <a:off x="7924800" y="5678488"/>
              <a:ext cx="877888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latin typeface="Times New Roman" charset="0"/>
                </a:rPr>
                <a:t>QTY</a:t>
              </a:r>
            </a:p>
          </p:txBody>
        </p:sp>
        <p:cxnSp>
          <p:nvCxnSpPr>
            <p:cNvPr id="145" name="AutoShape 132"/>
            <p:cNvCxnSpPr>
              <a:cxnSpLocks noChangeShapeType="1"/>
              <a:stCxn id="144" idx="2"/>
              <a:endCxn id="36" idx="3"/>
            </p:cNvCxnSpPr>
            <p:nvPr/>
          </p:nvCxnSpPr>
          <p:spPr bwMode="auto">
            <a:xfrm flipH="1" flipV="1">
              <a:off x="7696200" y="5734050"/>
              <a:ext cx="228600" cy="777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9926451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for This Case</a:t>
            </a:r>
          </a:p>
        </p:txBody>
      </p:sp>
      <p:sp>
        <p:nvSpPr>
          <p:cNvPr id="1955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772400" cy="4114800"/>
          </a:xfrm>
          <a:noFill/>
          <a:ln/>
        </p:spPr>
        <p:txBody>
          <a:bodyPr/>
          <a:lstStyle/>
          <a:p>
            <a:pPr lvl="2">
              <a:buFont typeface="Wingdings" pitchFamily="2" charset="2"/>
              <a:buNone/>
            </a:pPr>
            <a:r>
              <a:rPr lang="en-US" sz="2000"/>
              <a:t> </a:t>
            </a:r>
          </a:p>
          <a:p>
            <a:pPr lvl="1">
              <a:buFont typeface="Wingdings" pitchFamily="2" charset="2"/>
              <a:buNone/>
            </a:pPr>
            <a:endParaRPr lang="en-US" sz="2000" i="1"/>
          </a:p>
        </p:txBody>
      </p:sp>
      <p:sp>
        <p:nvSpPr>
          <p:cNvPr id="195602" name="Rectangle 18"/>
          <p:cNvSpPr>
            <a:spLocks noChangeArrowheads="1"/>
          </p:cNvSpPr>
          <p:nvPr/>
        </p:nvSpPr>
        <p:spPr bwMode="auto">
          <a:xfrm>
            <a:off x="762000" y="1752600"/>
            <a:ext cx="7620000" cy="420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Department(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City, Manager#)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FOREIGN KEY (Manager#) REFERENCES Employee;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Employee(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First, MI, Last, Salary,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#)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#) REFERENCES Department;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Supplier(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City, Status);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Part(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Color, Weight, City);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Project(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J#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City, Manager#)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(Manager#) REFERENCES Employee; </a:t>
            </a:r>
          </a:p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Proj_Work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J#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#) REFERENCES Employee,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(J#) REFERENCES Project;</a:t>
            </a:r>
          </a:p>
        </p:txBody>
      </p:sp>
    </p:spTree>
    <p:extLst>
      <p:ext uri="{BB962C8B-B14F-4D97-AF65-F5344CB8AC3E}">
        <p14:creationId xmlns:p14="http://schemas.microsoft.com/office/powerpoint/2010/main" val="39198130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772400" cy="4114800"/>
          </a:xfrm>
          <a:noFill/>
          <a:ln/>
        </p:spPr>
        <p:txBody>
          <a:bodyPr/>
          <a:lstStyle/>
          <a:p>
            <a:pPr lvl="2">
              <a:buFont typeface="Wingdings" pitchFamily="2" charset="2"/>
              <a:buNone/>
            </a:pPr>
            <a:r>
              <a:rPr lang="en-US" sz="2000"/>
              <a:t> </a:t>
            </a:r>
          </a:p>
          <a:p>
            <a:pPr lvl="1">
              <a:buFont typeface="Wingdings" pitchFamily="2" charset="2"/>
              <a:buNone/>
            </a:pPr>
            <a:endParaRPr lang="en-US" sz="2000" i="1"/>
          </a:p>
        </p:txBody>
      </p:sp>
      <p:sp>
        <p:nvSpPr>
          <p:cNvPr id="196612" name="Rectangle 4"/>
          <p:cNvSpPr>
            <a:spLocks noChangeArrowheads="1"/>
          </p:cNvSpPr>
          <p:nvPr/>
        </p:nvSpPr>
        <p:spPr bwMode="auto">
          <a:xfrm>
            <a:off x="762000" y="1752600"/>
            <a:ext cx="76200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1800" dirty="0">
                <a:latin typeface="Times New Roman" pitchFamily="18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SP(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QTY)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(S#) REFERENCES Supplier,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(P#) REFERENCES Part;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Contain(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Cont_P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Comp_P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QTY)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Cont_P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#) REFERENCES Part,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Comp_P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#) REFERENCES Part;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SPJ(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J#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QTY)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(S#) REFERENCES Supplier,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(P#) REFERENCES Part,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(J#) REFERENCES Project;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Dependent(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Dname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Gender)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#) REFERENCES Employee;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762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for This Case</a:t>
            </a:r>
          </a:p>
        </p:txBody>
      </p:sp>
    </p:spTree>
    <p:extLst>
      <p:ext uri="{BB962C8B-B14F-4D97-AF65-F5344CB8AC3E}">
        <p14:creationId xmlns:p14="http://schemas.microsoft.com/office/powerpoint/2010/main" val="1590063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772400" cy="4114800"/>
          </a:xfrm>
          <a:noFill/>
          <a:ln/>
        </p:spPr>
        <p:txBody>
          <a:bodyPr/>
          <a:lstStyle/>
          <a:p>
            <a:pPr lvl="2">
              <a:buFont typeface="Wingdings" pitchFamily="2" charset="2"/>
              <a:buNone/>
            </a:pPr>
            <a:r>
              <a:rPr lang="en-US" sz="2000"/>
              <a:t> </a:t>
            </a:r>
          </a:p>
          <a:p>
            <a:pPr lvl="1">
              <a:buFont typeface="Wingdings" pitchFamily="2" charset="2"/>
              <a:buNone/>
            </a:pPr>
            <a:endParaRPr lang="en-US" sz="2000" i="1"/>
          </a:p>
        </p:txBody>
      </p:sp>
      <p:sp>
        <p:nvSpPr>
          <p:cNvPr id="197636" name="Rectangle 4"/>
          <p:cNvSpPr>
            <a:spLocks noChangeArrowheads="1"/>
          </p:cNvSpPr>
          <p:nvPr/>
        </p:nvSpPr>
        <p:spPr bwMode="auto">
          <a:xfrm>
            <a:off x="762000" y="1752600"/>
            <a:ext cx="7620000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 typeface="Monotype Sorts" pitchFamily="2" charset="2"/>
              <a:buNone/>
            </a:pP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Emp_Phone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Phone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#) REFERENCES Employee;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Programmer 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#) REFERENCES Employee;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SYS_Prog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#) REFERENCES Programmer;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APP_Prog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Web_Based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FOREIGN KEY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#) REFERENCES Programmer;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Totally 14 relations.</a:t>
            </a:r>
            <a:endParaRPr lang="en-US" sz="1800" dirty="0">
              <a:solidFill>
                <a:srgbClr val="C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762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for This Case</a:t>
            </a:r>
          </a:p>
        </p:txBody>
      </p:sp>
    </p:spTree>
    <p:extLst>
      <p:ext uri="{BB962C8B-B14F-4D97-AF65-F5344CB8AC3E}">
        <p14:creationId xmlns:p14="http://schemas.microsoft.com/office/powerpoint/2010/main" val="11214855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TS10198302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BFB53C9-35A9-467F-919A-22BB23375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TS101983022</Template>
  <TotalTime>1776</TotalTime>
  <Words>2207</Words>
  <Application>Microsoft Office PowerPoint</Application>
  <PresentationFormat>On-screen Show (4:3)</PresentationFormat>
  <Paragraphs>450</Paragraphs>
  <Slides>33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Monotype Sorts</vt:lpstr>
      <vt:lpstr>Times New Roman</vt:lpstr>
      <vt:lpstr>Wingdings</vt:lpstr>
      <vt:lpstr>TS101983022</vt:lpstr>
      <vt:lpstr>Photo Editor Photo</vt:lpstr>
      <vt:lpstr>IS 331  Database Design, Management and Applications</vt:lpstr>
      <vt:lpstr>Preview</vt:lpstr>
      <vt:lpstr>Overview</vt:lpstr>
      <vt:lpstr>Road Map for Logical Design</vt:lpstr>
      <vt:lpstr>Textbook Chapter 6</vt:lpstr>
      <vt:lpstr>From Conceptual to Logical</vt:lpstr>
      <vt:lpstr>PowerPoint Presentation</vt:lpstr>
      <vt:lpstr>ER to Relational: Step 1</vt:lpstr>
      <vt:lpstr>ER to Relational: Step1</vt:lpstr>
      <vt:lpstr>Book Notation vs. Our Notation</vt:lpstr>
      <vt:lpstr>ER to Relational: Step2</vt:lpstr>
      <vt:lpstr>ER to Relational: Step2</vt:lpstr>
      <vt:lpstr>ER to Relational : Step2</vt:lpstr>
      <vt:lpstr>ER to Relational: Step2</vt:lpstr>
      <vt:lpstr>ER to Relational: Step3</vt:lpstr>
      <vt:lpstr>ER to Relational: Step3</vt:lpstr>
      <vt:lpstr>ER to Relational: Step3</vt:lpstr>
      <vt:lpstr>ER to Relational: Step3</vt:lpstr>
      <vt:lpstr>ER to Relational: Step4</vt:lpstr>
      <vt:lpstr>ER to Relational: Step4</vt:lpstr>
      <vt:lpstr>ER to Relational: Step 5</vt:lpstr>
      <vt:lpstr>ER to Relational: Step 5</vt:lpstr>
      <vt:lpstr>ER to Relational: Step 5</vt:lpstr>
      <vt:lpstr>ER to Relational : Step6</vt:lpstr>
      <vt:lpstr>ER to Relational: Step7</vt:lpstr>
      <vt:lpstr>ER to Relational: Step7</vt:lpstr>
      <vt:lpstr>ER to Relational: Step 8</vt:lpstr>
      <vt:lpstr>ER to Relational: Step 8</vt:lpstr>
      <vt:lpstr>ER to Relational: Step 8</vt:lpstr>
      <vt:lpstr>Another Case</vt:lpstr>
      <vt:lpstr>Solution for This Case</vt:lpstr>
      <vt:lpstr>PowerPoint Presentation</vt:lpstr>
      <vt:lpstr>PowerPoint Presentation</vt:lpstr>
    </vt:vector>
  </TitlesOfParts>
  <Company>Lehigh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Lin Lin</dc:creator>
  <cp:lastModifiedBy>Art Hendela</cp:lastModifiedBy>
  <cp:revision>448</cp:revision>
  <cp:lastPrinted>2017-01-29T01:39:53Z</cp:lastPrinted>
  <dcterms:created xsi:type="dcterms:W3CDTF">2012-09-02T01:42:14Z</dcterms:created>
  <dcterms:modified xsi:type="dcterms:W3CDTF">2024-09-22T21:49:00Z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TC019830229991</vt:lpwstr>
  </property>
</Properties>
</file>