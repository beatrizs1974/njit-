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8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C6A28-7B59-42E3-9161-2BDF3C53AF79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B476C-0849-4DF6-91A9-AA849DBA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62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2/15/2021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F9888-3879-4F22-AF80-4177AA4AC351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E6D5-0B56-4E95-B722-0CB6C0A3DFB2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FFF54-01E0-4551-9739-57A7061C7C08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D2CFF-A0B0-4311-A3BC-DA4ED30FECE4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968AA-672A-4F83-8CBC-80A82B39BD57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DC351-E228-4CFD-9822-9AA74CDFB27E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B6B7A-DD0C-47D2-AB40-2FCF80BF4872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A7482-F815-4503-A2A0-9B4E6F587FB9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C3AE-F697-4CAB-BB32-676A80268F9B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FAD3-E4D3-41AF-A684-34713DD70029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88E4D-B080-487F-B7C6-C1728A511627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2411DB9-75D0-41F5-ABD3-D260E26E5BCC}" type="datetime1">
              <a:rPr lang="en-US" smtClean="0"/>
              <a:pPr>
                <a:defRPr/>
              </a:pPr>
              <a:t>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IS 331 </a:t>
            </a:r>
            <a:b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 smtClean="0">
                <a:latin typeface="Arial" charset="0"/>
                <a:cs typeface="Arial" charset="0"/>
              </a:rPr>
              <a:t>Dr. Art Hendela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2667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6:  Conceptual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Design (IV)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81000" y="3505200"/>
            <a:ext cx="27432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/>
              <a:t>Requirement Analysis</a:t>
            </a:r>
            <a:r>
              <a:rPr lang="en-US" sz="2000" dirty="0"/>
              <a:t> 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676400" y="4114800"/>
            <a:ext cx="25908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Conceptual Design</a:t>
            </a:r>
            <a:r>
              <a:rPr lang="en-US" sz="2000"/>
              <a:t> 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895600" y="4648200"/>
            <a:ext cx="2514600" cy="406400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Logical Design</a:t>
            </a:r>
            <a:r>
              <a:rPr lang="en-US" sz="2000"/>
              <a:t> 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114800" y="5257800"/>
            <a:ext cx="24384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Physical Design 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181600" y="5791200"/>
            <a:ext cx="22860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Implementation 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324600" y="6324600"/>
            <a:ext cx="19812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Maintenance </a:t>
            </a:r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3200400" y="45720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4419600" y="5105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5486400" y="57150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6705600" y="6248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438400" y="3962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Objectives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297363"/>
          </a:xfrm>
        </p:spPr>
        <p:txBody>
          <a:bodyPr/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 able to develop a complete EER Model based on:</a:t>
            </a:r>
          </a:p>
          <a:p>
            <a:pPr lvl="1"/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 requirement document </a:t>
            </a:r>
          </a:p>
          <a:p>
            <a:pPr marL="457200" lvl="1" indent="0">
              <a:buNone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or</a:t>
            </a:r>
          </a:p>
          <a:p>
            <a:pPr lvl="1"/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 set of forms and reports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010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lang="en-US" sz="4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have conducted simple EER modeling based on requirement document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Today, we will learn:</a:t>
            </a:r>
          </a:p>
          <a:p>
            <a:pPr lvl="1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How to conduct EER modeling with forms and reports</a:t>
            </a:r>
          </a:p>
          <a:p>
            <a:pPr lvl="1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How to conduct more advanced EER modeling with a complicated case</a:t>
            </a:r>
          </a:p>
        </p:txBody>
      </p:sp>
    </p:spTree>
    <p:extLst>
      <p:ext uri="{BB962C8B-B14F-4D97-AF65-F5344CB8AC3E}">
        <p14:creationId xmlns:p14="http://schemas.microsoft.com/office/powerpoint/2010/main" val="342558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 dirty="0">
                <a:solidFill>
                  <a:srgbClr val="0066FF"/>
                </a:solidFill>
              </a:rPr>
              <a:t>© 2006 Pearson Prentice Hall</a:t>
            </a:r>
          </a:p>
          <a:p>
            <a:endParaRPr lang="en-US" dirty="0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Highline University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Highline University [HU] database will track such entities as: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Colleges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Departments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Faculty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have gathered a set of HU reports that will be the source documents for a data model</a:t>
            </a:r>
          </a:p>
        </p:txBody>
      </p:sp>
    </p:spTree>
    <p:extLst>
      <p:ext uri="{BB962C8B-B14F-4D97-AF65-F5344CB8AC3E}">
        <p14:creationId xmlns:p14="http://schemas.microsoft.com/office/powerpoint/2010/main" val="3922721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College Report</a:t>
            </a:r>
          </a:p>
        </p:txBody>
      </p:sp>
      <p:graphicFrame>
        <p:nvGraphicFramePr>
          <p:cNvPr id="16896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1676400"/>
          <a:ext cx="8229600" cy="412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Photo Editor Photo" r:id="rId3" imgW="5533333" imgH="2771429" progId="">
                  <p:embed/>
                </p:oleObj>
              </mc:Choice>
              <mc:Fallback>
                <p:oleObj name="Photo Editor Photo" r:id="rId3" imgW="5533333" imgH="277142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8229600" cy="412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6439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 from the College Report</a:t>
            </a:r>
          </a:p>
        </p:txBody>
      </p:sp>
      <p:graphicFrame>
        <p:nvGraphicFramePr>
          <p:cNvPr id="17101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05000" y="1676400"/>
          <a:ext cx="5105400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Photo Editor Photo" r:id="rId3" imgW="3990476" imgH="1561905" progId="">
                  <p:embed/>
                </p:oleObj>
              </mc:Choice>
              <mc:Fallback>
                <p:oleObj name="Photo Editor Photo" r:id="rId3" imgW="3990476" imgH="1561905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676400"/>
                        <a:ext cx="5105400" cy="199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3" name="AutoShape 5"/>
          <p:cNvSpPr>
            <a:spLocks noChangeArrowheads="1"/>
          </p:cNvSpPr>
          <p:nvPr/>
        </p:nvSpPr>
        <p:spPr bwMode="auto">
          <a:xfrm>
            <a:off x="1676400" y="4724400"/>
            <a:ext cx="2590800" cy="1219200"/>
          </a:xfrm>
          <a:prstGeom prst="wedgeRectCallout">
            <a:avLst>
              <a:gd name="adj1" fmla="val 55699"/>
              <a:gd name="adj2" fmla="val -18684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This is a weak, but not ID-dependent, 1:N relationship</a:t>
            </a:r>
          </a:p>
        </p:txBody>
      </p:sp>
    </p:spTree>
    <p:extLst>
      <p:ext uri="{BB962C8B-B14F-4D97-AF65-F5344CB8AC3E}">
        <p14:creationId xmlns:p14="http://schemas.microsoft.com/office/powerpoint/2010/main" val="42003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Department Report</a:t>
            </a:r>
          </a:p>
        </p:txBody>
      </p:sp>
      <p:graphicFrame>
        <p:nvGraphicFramePr>
          <p:cNvPr id="17305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838200" y="1600200"/>
          <a:ext cx="7543800" cy="450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Photo Editor Photo" r:id="rId3" imgW="4638095" imgH="2771429" progId="">
                  <p:embed/>
                </p:oleObj>
              </mc:Choice>
              <mc:Fallback>
                <p:oleObj name="Photo Editor Photo" r:id="rId3" imgW="4638095" imgH="277142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00200"/>
                        <a:ext cx="7543800" cy="450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5509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82"/>
            <a:ext cx="8229600" cy="99060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DEPARTMENT / PROFESSOR Relationship</a:t>
            </a:r>
            <a: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Alternate Model 1: Using an N:M Relationship</a:t>
            </a:r>
            <a:endParaRPr lang="en-US" sz="24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510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609600" y="1676400"/>
          <a:ext cx="77724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Photo Editor Photo" r:id="rId3" imgW="3619048" imgH="1171429" progId="">
                  <p:embed/>
                </p:oleObj>
              </mc:Choice>
              <mc:Fallback>
                <p:oleObj name="Photo Editor Photo" r:id="rId3" imgW="3619048" imgH="117142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76400"/>
                        <a:ext cx="77724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AutoShape 5"/>
          <p:cNvSpPr>
            <a:spLocks noChangeArrowheads="1"/>
          </p:cNvSpPr>
          <p:nvPr/>
        </p:nvSpPr>
        <p:spPr bwMode="auto">
          <a:xfrm>
            <a:off x="4343400" y="4724400"/>
            <a:ext cx="2590800" cy="762000"/>
          </a:xfrm>
          <a:prstGeom prst="wedgeRectCallout">
            <a:avLst>
              <a:gd name="adj1" fmla="val 6616"/>
              <a:gd name="adj2" fmla="val -2997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This is an N:M relationship</a:t>
            </a:r>
          </a:p>
        </p:txBody>
      </p:sp>
    </p:spTree>
    <p:extLst>
      <p:ext uri="{BB962C8B-B14F-4D97-AF65-F5344CB8AC3E}">
        <p14:creationId xmlns:p14="http://schemas.microsoft.com/office/powerpoint/2010/main" val="70011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DEPARTMENT / PROFESSOR </a:t>
            </a:r>
            <a:r>
              <a:rPr lang="en-US" sz="28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Alternate Model 2: Using a 1:N Relationship</a:t>
            </a:r>
          </a:p>
        </p:txBody>
      </p:sp>
      <p:graphicFrame>
        <p:nvGraphicFramePr>
          <p:cNvPr id="17715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533400" y="1574800"/>
          <a:ext cx="7772400" cy="256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Photo Editor Photo" r:id="rId3" imgW="3610479" imgH="1190476" progId="">
                  <p:embed/>
                </p:oleObj>
              </mc:Choice>
              <mc:Fallback>
                <p:oleObj name="Photo Editor Photo" r:id="rId3" imgW="3610479" imgH="1190476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74800"/>
                        <a:ext cx="7772400" cy="2562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7" name="AutoShape 5"/>
          <p:cNvSpPr>
            <a:spLocks noChangeArrowheads="1"/>
          </p:cNvSpPr>
          <p:nvPr/>
        </p:nvSpPr>
        <p:spPr bwMode="auto">
          <a:xfrm>
            <a:off x="4343400" y="4724400"/>
            <a:ext cx="2590800" cy="762000"/>
          </a:xfrm>
          <a:prstGeom prst="wedgeRectCallout">
            <a:avLst>
              <a:gd name="adj1" fmla="val 6616"/>
              <a:gd name="adj2" fmla="val -2997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This is a 1:N relationship</a:t>
            </a:r>
          </a:p>
        </p:txBody>
      </p:sp>
    </p:spTree>
    <p:extLst>
      <p:ext uri="{BB962C8B-B14F-4D97-AF65-F5344CB8AC3E}">
        <p14:creationId xmlns:p14="http://schemas.microsoft.com/office/powerpoint/2010/main" val="327548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pic>
        <p:nvPicPr>
          <p:cNvPr id="178183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03363"/>
            <a:ext cx="7315200" cy="468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DEPARTMENT / PROFESSOR </a:t>
            </a:r>
            <a:r>
              <a:rPr lang="en-US" sz="28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Alternate Model 3: Using an Association Pattern</a:t>
            </a:r>
          </a:p>
        </p:txBody>
      </p:sp>
      <p:sp>
        <p:nvSpPr>
          <p:cNvPr id="178181" name="AutoShape 5"/>
          <p:cNvSpPr>
            <a:spLocks noChangeArrowheads="1"/>
          </p:cNvSpPr>
          <p:nvPr/>
        </p:nvSpPr>
        <p:spPr bwMode="auto">
          <a:xfrm>
            <a:off x="1447800" y="4724400"/>
            <a:ext cx="2590800" cy="762000"/>
          </a:xfrm>
          <a:prstGeom prst="wedgeRectCallout">
            <a:avLst>
              <a:gd name="adj1" fmla="val 98347"/>
              <a:gd name="adj2" fmla="val -17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This is an association  pattern</a:t>
            </a:r>
          </a:p>
        </p:txBody>
      </p:sp>
    </p:spTree>
    <p:extLst>
      <p:ext uri="{BB962C8B-B14F-4D97-AF65-F5344CB8AC3E}">
        <p14:creationId xmlns:p14="http://schemas.microsoft.com/office/powerpoint/2010/main" val="106017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173"/>
            <a:ext cx="8229600" cy="990600"/>
          </a:xfrm>
        </p:spPr>
        <p:txBody>
          <a:bodyPr/>
          <a:lstStyle/>
          <a:p>
            <a:r>
              <a:rPr lang="en-US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DEPARTMENT / PROFESSOR </a:t>
            </a:r>
            <a:r>
              <a:rPr lang="en-US" sz="28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Alternate Model </a:t>
            </a:r>
            <a:r>
              <a:rPr lang="en-US" sz="20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Association </a:t>
            </a:r>
            <a: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 and </a:t>
            </a:r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1:N Relationship</a:t>
            </a:r>
          </a:p>
        </p:txBody>
      </p:sp>
      <p:graphicFrame>
        <p:nvGraphicFramePr>
          <p:cNvPr id="179203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371203"/>
              </p:ext>
            </p:extLst>
          </p:nvPr>
        </p:nvGraphicFramePr>
        <p:xfrm>
          <a:off x="479394" y="1600200"/>
          <a:ext cx="8229600" cy="450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Photo Editor Photo" r:id="rId3" imgW="3933333" imgH="2152951" progId="">
                  <p:embed/>
                </p:oleObj>
              </mc:Choice>
              <mc:Fallback>
                <p:oleObj name="Photo Editor Photo" r:id="rId3" imgW="3933333" imgH="2152951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94" y="1600200"/>
                        <a:ext cx="8229600" cy="450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5" name="AutoShape 5"/>
          <p:cNvSpPr>
            <a:spLocks noChangeArrowheads="1"/>
          </p:cNvSpPr>
          <p:nvPr/>
        </p:nvSpPr>
        <p:spPr bwMode="auto">
          <a:xfrm>
            <a:off x="685800" y="4724400"/>
            <a:ext cx="2819400" cy="762000"/>
          </a:xfrm>
          <a:prstGeom prst="wedgeRectCallout">
            <a:avLst>
              <a:gd name="adj1" fmla="val 97130"/>
              <a:gd name="adj2" fmla="val -1695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This is an association  pattern</a:t>
            </a:r>
          </a:p>
        </p:txBody>
      </p:sp>
      <p:sp>
        <p:nvSpPr>
          <p:cNvPr id="179206" name="AutoShape 6"/>
          <p:cNvSpPr>
            <a:spLocks noChangeArrowheads="1"/>
          </p:cNvSpPr>
          <p:nvPr/>
        </p:nvSpPr>
        <p:spPr bwMode="auto">
          <a:xfrm>
            <a:off x="6248400" y="3810000"/>
            <a:ext cx="2286000" cy="762000"/>
          </a:xfrm>
          <a:prstGeom prst="wedgeRectCallout">
            <a:avLst>
              <a:gd name="adj1" fmla="val -61389"/>
              <a:gd name="adj2" fmla="val -195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This is a 1:1 relationship</a:t>
            </a:r>
          </a:p>
        </p:txBody>
      </p:sp>
    </p:spTree>
    <p:extLst>
      <p:ext uri="{BB962C8B-B14F-4D97-AF65-F5344CB8AC3E}">
        <p14:creationId xmlns:p14="http://schemas.microsoft.com/office/powerpoint/2010/main" val="9415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Department Major Report</a:t>
            </a:r>
          </a:p>
        </p:txBody>
      </p:sp>
      <p:graphicFrame>
        <p:nvGraphicFramePr>
          <p:cNvPr id="18329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1638300"/>
          <a:ext cx="8229600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Photo Editor Photo" r:id="rId3" imgW="4590476" imgH="2305372" progId="">
                  <p:embed/>
                </p:oleObj>
              </mc:Choice>
              <mc:Fallback>
                <p:oleObj name="Photo Editor Photo" r:id="rId3" imgW="4590476" imgH="2305372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38300"/>
                        <a:ext cx="8229600" cy="413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3688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 with STUDENT Entity</a:t>
            </a:r>
          </a:p>
        </p:txBody>
      </p:sp>
      <p:graphicFrame>
        <p:nvGraphicFramePr>
          <p:cNvPr id="18534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1608138"/>
          <a:ext cx="8229600" cy="451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Photo Editor Photo" r:id="rId3" imgW="6866667" imgH="3761905" progId="">
                  <p:embed/>
                </p:oleObj>
              </mc:Choice>
              <mc:Fallback>
                <p:oleObj name="Photo Editor Photo" r:id="rId3" imgW="6866667" imgH="3761905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8138"/>
                        <a:ext cx="8229600" cy="451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5310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Student Acceptance Letter</a:t>
            </a:r>
          </a:p>
        </p:txBody>
      </p:sp>
      <p:graphicFrame>
        <p:nvGraphicFramePr>
          <p:cNvPr id="187395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11156"/>
              </p:ext>
            </p:extLst>
          </p:nvPr>
        </p:nvGraphicFramePr>
        <p:xfrm>
          <a:off x="1905000" y="1219200"/>
          <a:ext cx="5791200" cy="471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Photo Editor Photo" r:id="rId3" imgW="5657143" imgH="4600000" progId="">
                  <p:embed/>
                </p:oleObj>
              </mc:Choice>
              <mc:Fallback>
                <p:oleObj name="Photo Editor Photo" r:id="rId3" imgW="5657143" imgH="46000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19200"/>
                        <a:ext cx="5791200" cy="471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1008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 with </a:t>
            </a:r>
            <a:r>
              <a:rPr lang="en-US" sz="36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Advises Relationship</a:t>
            </a:r>
            <a:endParaRPr lang="en-US" sz="36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944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143000" y="1465263"/>
          <a:ext cx="6781800" cy="474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Photo Editor Photo" r:id="rId3" imgW="6961905" imgH="4866667" progId="">
                  <p:embed/>
                </p:oleObj>
              </mc:Choice>
              <mc:Fallback>
                <p:oleObj name="Photo Editor Photo" r:id="rId3" imgW="6961905" imgH="4866667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465263"/>
                        <a:ext cx="6781800" cy="474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4134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>
                <a:solidFill>
                  <a:srgbClr val="0066FF"/>
                </a:solidFill>
              </a:rPr>
              <a:t>© 2006 Pearson Prentice Hall</a:t>
            </a:r>
          </a:p>
          <a:p>
            <a:endParaRPr lang="en-US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Highline University Data Model</a:t>
            </a:r>
          </a:p>
        </p:txBody>
      </p:sp>
      <p:graphicFrame>
        <p:nvGraphicFramePr>
          <p:cNvPr id="19149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143000" y="1511300"/>
          <a:ext cx="6858000" cy="470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Photo Editor Photo" r:id="rId3" imgW="7085714" imgH="4858428" progId="">
                  <p:embed/>
                </p:oleObj>
              </mc:Choice>
              <mc:Fallback>
                <p:oleObj name="Photo Editor Photo" r:id="rId3" imgW="7085714" imgH="4858428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11300"/>
                        <a:ext cx="6858000" cy="470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3116368"/>
      </p:ext>
    </p:extLst>
  </p:cSld>
  <p:clrMapOvr>
    <a:masterClrMapping/>
  </p:clrMapOvr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1457</TotalTime>
  <Words>396</Words>
  <Application>Microsoft Office PowerPoint</Application>
  <PresentationFormat>On-screen Show (4:3)</PresentationFormat>
  <Paragraphs>72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Tahoma</vt:lpstr>
      <vt:lpstr>TS101983022</vt:lpstr>
      <vt:lpstr>Photo Editor Photo</vt:lpstr>
      <vt:lpstr>IS 331  Database Design, Management and Applications</vt:lpstr>
      <vt:lpstr>Learning Objectives </vt:lpstr>
      <vt:lpstr>Review</vt:lpstr>
      <vt:lpstr>Highline University</vt:lpstr>
      <vt:lpstr>The College Report</vt:lpstr>
      <vt:lpstr>Data Model from the College Report</vt:lpstr>
      <vt:lpstr>The Department Report</vt:lpstr>
      <vt:lpstr>The DEPARTMENT / PROFESSOR Relationship Alternate Model 1: Using an N:M Relationship</vt:lpstr>
      <vt:lpstr>The DEPARTMENT / PROFESSOR Relationship Alternate Model 2: Using a 1:N Relationship</vt:lpstr>
      <vt:lpstr>The DEPARTMENT / PROFESSOR Relationship Alternate Model 3: Using an Association Pattern</vt:lpstr>
      <vt:lpstr>The DEPARTMENT / PROFESSOR Relationship Alternate Model 4  Using a Association Pattern and a 1:N Relationship</vt:lpstr>
      <vt:lpstr>The Department Major Report</vt:lpstr>
      <vt:lpstr>Data Model with STUDENT Entity</vt:lpstr>
      <vt:lpstr>The Student Acceptance Letter</vt:lpstr>
      <vt:lpstr>Data Model with Advises Relationship</vt:lpstr>
      <vt:lpstr>Final Highline University Data Model</vt:lpstr>
    </vt:vector>
  </TitlesOfParts>
  <Company>Lehigh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Windows User</cp:lastModifiedBy>
  <cp:revision>339</cp:revision>
  <dcterms:created xsi:type="dcterms:W3CDTF">2012-09-02T01:42:14Z</dcterms:created>
  <dcterms:modified xsi:type="dcterms:W3CDTF">2021-02-15T18:27:34Z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