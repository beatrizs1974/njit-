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6"/>
  </p:notesMasterIdLst>
  <p:handoutMasterIdLst>
    <p:handoutMasterId r:id="rId27"/>
  </p:handoutMasterIdLst>
  <p:sldIdLst>
    <p:sldId id="256" r:id="rId3"/>
    <p:sldId id="257" r:id="rId4"/>
    <p:sldId id="259" r:id="rId5"/>
    <p:sldId id="260" r:id="rId6"/>
    <p:sldId id="298" r:id="rId7"/>
    <p:sldId id="261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62" r:id="rId16"/>
    <p:sldId id="263" r:id="rId17"/>
    <p:sldId id="264" r:id="rId18"/>
    <p:sldId id="299" r:id="rId19"/>
    <p:sldId id="300" r:id="rId20"/>
    <p:sldId id="301" r:id="rId21"/>
    <p:sldId id="302" r:id="rId22"/>
    <p:sldId id="306" r:id="rId23"/>
    <p:sldId id="303" r:id="rId24"/>
    <p:sldId id="30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90" d="100"/>
          <a:sy n="90" d="100"/>
        </p:scale>
        <p:origin x="-1877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46EDA6-E8B9-4FB9-8C41-B727E0D05FFA}" type="datetimeFigureOut">
              <a:rPr lang="en-US" smtClean="0"/>
              <a:t>12/19/2016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8CA192-D8BF-4864-9414-33A350001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547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12/19/2016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14CA0-4B2D-4260-85B7-AB64045F1441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99D1B8-D084-48D3-B702-A35472532B4C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5E753-0045-4BE2-98C8-C5C208194ED6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762997-27ED-424D-B797-E6DB47F1555A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52A6F-8A6C-4E91-ABD2-4A8E74147F26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171E7-A21B-47C4-AE35-04BB4D66AF77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997F4-72C0-4E0B-AFAE-C442FCFB228E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B4AF60-CF61-42EB-A87A-F2910387566E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ED634-132B-4176-81F7-BC464ADEB293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2FDC3-4EDA-4108-A5C9-E8C8FCF304F7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A5762-F14D-4A3F-9FBC-7F6C96B355C8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6906614-EC55-456E-8676-F58E9B8B571B}" type="datetimeFigureOut">
              <a:rPr lang="en-US"/>
              <a:pPr>
                <a:defRPr/>
              </a:pPr>
              <a:t>12/19/2016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663575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 smtClean="0"/>
              <a:t>IS 331 </a:t>
            </a:r>
            <a:br>
              <a:rPr lang="en-US" sz="4000" b="1" dirty="0" smtClean="0"/>
            </a:br>
            <a:r>
              <a:rPr lang="en-US" sz="4000" b="1" dirty="0" smtClean="0"/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 smtClean="0">
                <a:latin typeface="Arial" charset="0"/>
                <a:cs typeface="Arial" charset="0"/>
              </a:rPr>
              <a:t>Dr. Art Hendela</a:t>
            </a:r>
            <a:endParaRPr lang="en-US" sz="2400" b="1" dirty="0" smtClean="0">
              <a:latin typeface="Arial" charset="0"/>
              <a:cs typeface="Arial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4572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askerville Old Face" pitchFamily="18" charset="0"/>
                <a:cs typeface="Arial" charset="0"/>
              </a:rPr>
              <a:t>File Processing </a:t>
            </a:r>
            <a:r>
              <a:rPr kumimoji="0" lang="en-US" sz="3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Baskerville Old Face" pitchFamily="18" charset="0"/>
                <a:cs typeface="Arial" charset="0"/>
              </a:rPr>
              <a:t>Syste</a:t>
            </a:r>
            <a:r>
              <a:rPr lang="en-US" sz="3200" b="1" dirty="0" err="1" smtClean="0">
                <a:solidFill>
                  <a:srgbClr val="FFFF00"/>
                </a:solidFill>
                <a:latin typeface="Baskerville Old Face" pitchFamily="18" charset="0"/>
                <a:cs typeface="Arial" charset="0"/>
              </a:rPr>
              <a:t>ms</a:t>
            </a:r>
            <a:endParaRPr kumimoji="0" lang="en-US" sz="32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Baskerville Old Face" pitchFamily="18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THIS WEEK’s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4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In today’s class, we will know:</a:t>
            </a:r>
          </a:p>
          <a:p>
            <a:pPr lvl="1">
              <a:lnSpc>
                <a:spcPct val="80000"/>
              </a:lnSpc>
            </a:pPr>
            <a:r>
              <a:rPr lang="en-US" altLang="ko-KR" sz="24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Why is Excel </a:t>
            </a:r>
            <a:r>
              <a:rPr lang="en-US" altLang="ko-KR" sz="2000" b="1" dirty="0" smtClean="0">
                <a:solidFill>
                  <a:srgbClr val="FF0000"/>
                </a:solidFill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NOT</a:t>
            </a:r>
            <a:r>
              <a:rPr lang="en-US" altLang="ko-KR" sz="2000" dirty="0" smtClean="0">
                <a:solidFill>
                  <a:srgbClr val="FF0000"/>
                </a:solidFill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a database system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?</a:t>
            </a:r>
          </a:p>
          <a:p>
            <a:pPr lvl="1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What problems occur with flat file systems?</a:t>
            </a:r>
          </a:p>
          <a:p>
            <a:pPr lvl="1">
              <a:lnSpc>
                <a:spcPct val="80000"/>
              </a:lnSpc>
            </a:pPr>
            <a:endParaRPr lang="en-US" altLang="ko-KR" sz="2000" dirty="0" smtClean="0">
              <a:latin typeface="Arial" panose="020B0604020202020204" pitchFamily="34" charset="0"/>
              <a:ea typeface="굴림" pitchFamily="112" charset="-127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r>
              <a:rPr lang="en-US" altLang="ko-KR" sz="24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You </a:t>
            </a:r>
            <a:r>
              <a:rPr lang="en-US" altLang="ko-KR" sz="24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need to: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Define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a File Processing System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Define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data anomaly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Define</a:t>
            </a:r>
            <a:r>
              <a:rPr lang="en-US" altLang="ko-KR" sz="20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data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dependence &amp; functional dependence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Give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</a:t>
            </a: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examples </a:t>
            </a:r>
            <a:r>
              <a:rPr lang="en-US" altLang="ko-KR" sz="20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of a file processing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system’s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update, deletion and insertion anomaly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List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the 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limitations of a file processing system</a:t>
            </a:r>
          </a:p>
          <a:p>
            <a:pPr lvl="1">
              <a:lnSpc>
                <a:spcPct val="80000"/>
              </a:lnSpc>
            </a:pPr>
            <a:r>
              <a:rPr lang="en-US" altLang="ko-KR" sz="2000" b="1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Understand</a:t>
            </a: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the root cause of file processing system’s problems</a:t>
            </a:r>
          </a:p>
          <a:p>
            <a:pPr lvl="2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Isolated data storage</a:t>
            </a:r>
          </a:p>
          <a:p>
            <a:pPr lvl="2">
              <a:lnSpc>
                <a:spcPct val="80000"/>
              </a:lnSpc>
            </a:pPr>
            <a:r>
              <a:rPr lang="en-US" altLang="ko-KR" sz="2000" dirty="0" smtClean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Lack of self-contained data description</a:t>
            </a:r>
          </a:p>
          <a:p>
            <a:pPr lvl="2">
              <a:lnSpc>
                <a:spcPct val="80000"/>
              </a:lnSpc>
            </a:pPr>
            <a:endParaRPr lang="en-US" altLang="ko-KR" sz="1600" dirty="0" smtClean="0">
              <a:ea typeface="굴림" pitchFamily="112" charset="-127"/>
            </a:endParaRPr>
          </a:p>
          <a:p>
            <a:pPr>
              <a:lnSpc>
                <a:spcPct val="80000"/>
              </a:lnSpc>
            </a:pPr>
            <a:endParaRPr lang="en-US" altLang="ko-KR" sz="2400" dirty="0" smtClean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altLang="ko-KR" dirty="0" smtClean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altLang="ko-KR" dirty="0" smtClean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of Last Week</a:t>
            </a:r>
            <a:endParaRPr lang="en-US" b="1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What did we do last week?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Data, information, knowledge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From manual file systems to flat file databases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Entity, attribute, primary key</a:t>
            </a: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After Flat File Databases…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The advantage of a flat file database system?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Easy to generate, easy to maintain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Fast – no overhead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The disadvantages?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Functionality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Scope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Systems</a:t>
            </a:r>
          </a:p>
        </p:txBody>
      </p:sp>
      <p:sp>
        <p:nvSpPr>
          <p:cNvPr id="5" name="Rectangle 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838200" y="16764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File Processing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 collection of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programs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that perform services for the end-users such as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producing reports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Early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attempts computerized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manual filing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Developed in C, COBOL or other languages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program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own data</a:t>
            </a:r>
          </a:p>
          <a:p>
            <a:pPr lvl="1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Overseen by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Data Processing (DP) staff</a:t>
            </a:r>
          </a:p>
          <a:p>
            <a:pPr lvl="1"/>
            <a:endPara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sz="3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None/>
            </a:pP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611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Introducing “NJIA”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7200" y="1219200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 smtClean="0"/>
              <a:t>New Jersey Investment Advisors </a:t>
            </a:r>
            <a:endParaRPr lang="en-US" sz="2000" dirty="0"/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Char char=""/>
            </a:pPr>
            <a:r>
              <a:rPr lang="en-US" sz="2000" dirty="0" smtClean="0"/>
              <a:t>Founded </a:t>
            </a:r>
            <a:r>
              <a:rPr lang="en-US" sz="2000" dirty="0"/>
              <a:t>in 1970, employee owned investment advisor</a:t>
            </a: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Char char=""/>
            </a:pPr>
            <a:r>
              <a:rPr lang="en-US" sz="2000" dirty="0"/>
              <a:t>Registered with SEC</a:t>
            </a: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Char char=""/>
            </a:pPr>
            <a:r>
              <a:rPr lang="en-US" sz="2000" dirty="0"/>
              <a:t>Provides services to corporate and public pension funds, endowments, foundations and high net-worth individuals</a:t>
            </a: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2362200" y="3654158"/>
            <a:ext cx="1130794" cy="461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Clients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3492994" y="3313490"/>
            <a:ext cx="4628214" cy="1143000"/>
            <a:chOff x="3492994" y="3313490"/>
            <a:chExt cx="4628214" cy="1143000"/>
          </a:xfrm>
        </p:grpSpPr>
        <p:pic>
          <p:nvPicPr>
            <p:cNvPr id="1030" name="Picture 6" descr="https://encrypted-tbn3.google.com/images?q=tbn:ANd9GcSzVEKAKfWlOPcpPRwUzV65MRcFSo9pZ3C75LXuK046mAUuQWM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7000" y="3313490"/>
              <a:ext cx="1644208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7" name="Straight Arrow Connector 6"/>
            <p:cNvCxnSpPr>
              <a:stCxn id="1030" idx="1"/>
              <a:endCxn id="3" idx="3"/>
            </p:cNvCxnSpPr>
            <p:nvPr/>
          </p:nvCxnSpPr>
          <p:spPr>
            <a:xfrm flipH="1">
              <a:off x="3492994" y="3884990"/>
              <a:ext cx="2984006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927597" y="4115823"/>
            <a:ext cx="5340102" cy="2308391"/>
            <a:chOff x="2927597" y="4115823"/>
            <a:chExt cx="5340102" cy="2308391"/>
          </a:xfrm>
        </p:grpSpPr>
        <p:pic>
          <p:nvPicPr>
            <p:cNvPr id="1032" name="Picture 8" descr="https://encrypted-tbn0.google.com/images?q=tbn:ANd9GcR1LannG5rBmTSax5hkAkx2B56fkplevHvGDwqHNxtxcb_jPQSP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5334000"/>
              <a:ext cx="1638299" cy="1090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" name="Straight Arrow Connector 9"/>
            <p:cNvCxnSpPr>
              <a:stCxn id="3" idx="2"/>
              <a:endCxn id="1032" idx="1"/>
            </p:cNvCxnSpPr>
            <p:nvPr/>
          </p:nvCxnSpPr>
          <p:spPr>
            <a:xfrm>
              <a:off x="2927597" y="4115823"/>
              <a:ext cx="3701803" cy="176328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2127497" y="4115823"/>
            <a:ext cx="1600200" cy="2391657"/>
            <a:chOff x="2127497" y="4115823"/>
            <a:chExt cx="1600200" cy="2391657"/>
          </a:xfrm>
        </p:grpSpPr>
        <p:pic>
          <p:nvPicPr>
            <p:cNvPr id="1028" name="Picture 4" descr="http://img.ehowcdn.com/article-new/ehow/images/a06/73/0u/client-services-manager-description-800x800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7497" y="5334000"/>
              <a:ext cx="1600200" cy="1173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2" name="Straight Arrow Connector 11"/>
            <p:cNvCxnSpPr>
              <a:stCxn id="1028" idx="0"/>
              <a:endCxn id="3" idx="2"/>
            </p:cNvCxnSpPr>
            <p:nvPr/>
          </p:nvCxnSpPr>
          <p:spPr>
            <a:xfrm flipV="1">
              <a:off x="2927597" y="4115823"/>
              <a:ext cx="0" cy="1218177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 the Sales Manager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7200" y="1219200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Sam works in the field, introducing NJIA’s 19 different mutual funds to potential clients (leads)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Sam needs to store information about: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</a:rPr>
              <a:t>The funds: </a:t>
            </a:r>
            <a:r>
              <a:rPr lang="en-US" sz="2400" dirty="0" smtClean="0"/>
              <a:t>fund id and fund name, date created, current share price, investment minimum, annual </a:t>
            </a:r>
            <a:r>
              <a:rPr lang="en-US" sz="2400" dirty="0" smtClean="0"/>
              <a:t>returns</a:t>
            </a:r>
            <a:endParaRPr lang="en-US" sz="24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</a:rPr>
              <a:t>Leads</a:t>
            </a:r>
            <a:r>
              <a:rPr lang="en-US" sz="2400" dirty="0" smtClean="0"/>
              <a:t>: name, phone number, note to self    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Picture 6" descr="https://encrypted-tbn3.google.com/images?q=tbn:ANd9GcSzVEKAKfWlOPcpPRwUzV65MRcFSo9pZ3C75LXuK046mAUuQWM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721225"/>
            <a:ext cx="2630733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17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Oliver the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Operations </a:t>
            </a:r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Guy   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7200" y="1219200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Oliver maintains the clients’ contact database, making sure it is up to date and accurate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Oliver needs to store information about: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</a:rPr>
              <a:t>Clients</a:t>
            </a:r>
            <a:r>
              <a:rPr lang="en-US" sz="2400" dirty="0" smtClean="0"/>
              <a:t>: ID, name, address, phone number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</a:rPr>
              <a:t>Client History: </a:t>
            </a:r>
            <a:r>
              <a:rPr lang="en-US" sz="2400" dirty="0"/>
              <a:t>ID, </a:t>
            </a:r>
            <a:r>
              <a:rPr lang="en-US" sz="2400" dirty="0" smtClean="0"/>
              <a:t>signing date, value (a 5-point scale that measures how valuable a customer is to the firm)</a:t>
            </a:r>
            <a:endParaRPr lang="en-US" sz="2400" b="1" dirty="0" smtClean="0">
              <a:solidFill>
                <a:srgbClr val="FF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8" descr="https://encrypted-tbn0.google.com/images?q=tbn:ANd9GcR1LannG5rBmTSax5hkAkx2B56fkplevHvGDwqHNxtxcb_jPQS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876800"/>
            <a:ext cx="2438400" cy="1622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940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Claire the Client Manager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7200" y="1219200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Claire’s main job is to handle customer complaints and generate quarterly reports for customers</a:t>
            </a:r>
          </a:p>
          <a:p>
            <a:pPr>
              <a:spcBef>
                <a:spcPct val="20000"/>
              </a:spcBef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Claire needs to use information about: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</a:rPr>
              <a:t>Customers: </a:t>
            </a:r>
            <a:r>
              <a:rPr lang="en-US" sz="2400" dirty="0" smtClean="0"/>
              <a:t>ID, name, address, phone number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FF0000"/>
                </a:solidFill>
              </a:rPr>
              <a:t>Customer Portfolio</a:t>
            </a:r>
            <a:r>
              <a:rPr lang="en-US" sz="2400" dirty="0" smtClean="0"/>
              <a:t>: ID, fund ID, quarter, original value, current value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4" descr="http://img.ehowcdn.com/article-new/ehow/images/a06/73/0u/client-services-manager-description-800x80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599" y="5048884"/>
            <a:ext cx="2051339" cy="150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56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 building a file 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processing system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457200" y="1450975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Sam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b="1" dirty="0" smtClean="0">
                <a:solidFill>
                  <a:srgbClr val="FF0000"/>
                </a:solidFill>
              </a:rPr>
              <a:t>The </a:t>
            </a:r>
            <a:r>
              <a:rPr lang="en-US" sz="2000" b="1" dirty="0">
                <a:solidFill>
                  <a:srgbClr val="FF0000"/>
                </a:solidFill>
              </a:rPr>
              <a:t>funds: </a:t>
            </a:r>
            <a:r>
              <a:rPr lang="en-US" sz="2000" dirty="0"/>
              <a:t>fund id and fund name, date created, current share price, investment minimum, annual </a:t>
            </a:r>
            <a:r>
              <a:rPr lang="en-US" sz="2000" dirty="0" smtClean="0"/>
              <a:t>returns</a:t>
            </a: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Leads</a:t>
            </a:r>
            <a:r>
              <a:rPr lang="en-US" sz="2000" dirty="0"/>
              <a:t>: name, phone number, note to self    </a:t>
            </a:r>
            <a:endParaRPr lang="en-US" sz="2000" dirty="0" smtClean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/>
              <a:t>Oliver </a:t>
            </a:r>
            <a:endParaRPr lang="en-US" sz="24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b="1" dirty="0" smtClean="0">
                <a:solidFill>
                  <a:srgbClr val="FF0000"/>
                </a:solidFill>
              </a:rPr>
              <a:t>Clients</a:t>
            </a:r>
            <a:r>
              <a:rPr lang="en-US" sz="2000" dirty="0"/>
              <a:t>: ID, name, address, phone number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Client History: </a:t>
            </a:r>
            <a:r>
              <a:rPr lang="en-US" sz="2000" dirty="0"/>
              <a:t>ID, signing date, value (a 5-point scale that measures how valuable a customer is to the firm</a:t>
            </a:r>
            <a:r>
              <a:rPr lang="en-US" sz="2000" dirty="0" smtClean="0"/>
              <a:t>)</a:t>
            </a:r>
            <a:endParaRPr lang="en-US" sz="20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Claire 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b="1" dirty="0" smtClean="0">
                <a:solidFill>
                  <a:srgbClr val="FF0000"/>
                </a:solidFill>
              </a:rPr>
              <a:t>Customers: </a:t>
            </a:r>
            <a:r>
              <a:rPr lang="en-US" sz="2000" dirty="0" smtClean="0"/>
              <a:t>ID, name, address, phone number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b="1" dirty="0" smtClean="0">
                <a:solidFill>
                  <a:srgbClr val="FF0000"/>
                </a:solidFill>
              </a:rPr>
              <a:t>Customer Portfolio</a:t>
            </a:r>
            <a:r>
              <a:rPr lang="en-US" sz="2000" dirty="0" smtClean="0"/>
              <a:t>: ID, fund ID, quarter, original value, current value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02376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Files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69863" y="1219200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Sam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Fund table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 smtClean="0"/>
              <a:t>Lead table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rol 1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rol 2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rol 3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rol 4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Control 5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Control 6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Control 7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rol 8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Control 12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Control 13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rol 14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57394"/>
              </p:ext>
            </p:extLst>
          </p:nvPr>
        </p:nvGraphicFramePr>
        <p:xfrm>
          <a:off x="685800" y="2324100"/>
          <a:ext cx="7620002" cy="1790700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519195"/>
                <a:gridCol w="1884568"/>
                <a:gridCol w="980744"/>
                <a:gridCol w="1346120"/>
                <a:gridCol w="966321"/>
                <a:gridCol w="923054"/>
              </a:tblGrid>
              <a:tr h="298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Fund ID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Fund Name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Date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 smtClean="0">
                          <a:solidFill>
                            <a:srgbClr val="0070C0"/>
                          </a:solidFill>
                          <a:effectLst/>
                        </a:rPr>
                        <a:t>Share Price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Minimum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</a:rPr>
                        <a:t>Return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Core Growth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12/6/1986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41.26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5000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13%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Emerging India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4/26/2011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2.5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-8%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Emerging Small Cap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10/1/2007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1.8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Heritage Growth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4/21/1990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12.42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4000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984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Large Cap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2/3/1989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24.21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2000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6%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521164"/>
              </p:ext>
            </p:extLst>
          </p:nvPr>
        </p:nvGraphicFramePr>
        <p:xfrm>
          <a:off x="1600200" y="5029200"/>
          <a:ext cx="6275387" cy="1524000"/>
        </p:xfrm>
        <a:graphic>
          <a:graphicData uri="http://schemas.openxmlformats.org/drawingml/2006/table">
            <a:tbl>
              <a:tblPr>
                <a:tableStyleId>{327F97BB-C833-4FB7-BDE5-3F7075034690}</a:tableStyleId>
              </a:tblPr>
              <a:tblGrid>
                <a:gridCol w="1506093"/>
                <a:gridCol w="1282969"/>
                <a:gridCol w="1603709"/>
                <a:gridCol w="1882616"/>
              </a:tblGrid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Customer Name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Address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Phone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Note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Bill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 Henry St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9173452524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Loves Golf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Patty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23 Bridge Ave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7329376392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Risk Averse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Bob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4 Duke Blvd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9732525235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Retire By 40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048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7 Brown Ave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7324525256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Son going to College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032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Operations Files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169863" y="1219200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Oliver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400" dirty="0" smtClean="0"/>
              <a:t>Customer Table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 smtClean="0"/>
              <a:t>History Table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rol 1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rol 2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rol 3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rol 4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Control 5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Control 6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Control 7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rol 8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Control 12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Control 13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rol 14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329662"/>
              </p:ext>
            </p:extLst>
          </p:nvPr>
        </p:nvGraphicFramePr>
        <p:xfrm>
          <a:off x="169862" y="2286000"/>
          <a:ext cx="8821738" cy="137999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899667"/>
                <a:gridCol w="899667"/>
                <a:gridCol w="899667"/>
                <a:gridCol w="1666051"/>
                <a:gridCol w="1666051"/>
                <a:gridCol w="770689"/>
                <a:gridCol w="2019946"/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Last  Name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First Name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Address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City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State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Phone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001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Letterman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William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 Henry Street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NJ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7324525256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002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 smtClean="0">
                          <a:effectLst/>
                        </a:rPr>
                        <a:t>Bieber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Ronald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7 Brown Ave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 Edgewater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7329376392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003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Lawrence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Patricia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23 Bridge Ave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Bridgewater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9732525235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004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Ridings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Joe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34 Baybridge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Brooklyn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NY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9173452524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05389"/>
              </p:ext>
            </p:extLst>
          </p:nvPr>
        </p:nvGraphicFramePr>
        <p:xfrm>
          <a:off x="2514600" y="4648201"/>
          <a:ext cx="3962400" cy="1454149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399487"/>
                <a:gridCol w="1483792"/>
                <a:gridCol w="1079121"/>
              </a:tblGrid>
              <a:tr h="3187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Customer ID</a:t>
                      </a:r>
                      <a:endParaRPr lang="en-US" sz="1800" b="1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2060"/>
                          </a:solidFill>
                          <a:effectLst/>
                        </a:rPr>
                        <a:t>Signing_Date</a:t>
                      </a:r>
                      <a:endParaRPr lang="en-US" sz="1800" b="1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Value</a:t>
                      </a:r>
                      <a:endParaRPr lang="en-US" sz="1800" b="1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001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2/19/1996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002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3/2/2000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3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003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7/3/2001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004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4/3/2004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98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 </a:t>
            </a:r>
            <a:r>
              <a:rPr lang="en-US" sz="36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</a:t>
            </a:r>
          </a:p>
        </p:txBody>
      </p:sp>
      <p:sp>
        <p:nvSpPr>
          <p:cNvPr id="5" name="Rectangle 9"/>
          <p:cNvSpPr>
            <a:spLocks noChangeArrowheads="1"/>
          </p:cNvSpPr>
          <p:nvPr/>
        </p:nvSpPr>
        <p:spPr bwMode="auto">
          <a:xfrm>
            <a:off x="-457200" y="1146175"/>
            <a:ext cx="8458200" cy="4416425"/>
          </a:xfrm>
          <a:prstGeom prst="rect">
            <a:avLst/>
          </a:prstGeom>
          <a:noFill/>
          <a:ln>
            <a:noFill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 smtClean="0"/>
              <a:t>Customer Table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 smtClean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en-US" sz="2000" dirty="0" smtClean="0"/>
              <a:t>History Table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lvl="1" indent="-285750">
              <a:spcBef>
                <a:spcPct val="20000"/>
              </a:spcBef>
              <a:buSzPct val="50000"/>
              <a:buFont typeface="Wingdings 2" pitchFamily="18" charset="2"/>
              <a:buNone/>
            </a:pPr>
            <a:endParaRPr 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rol 1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rol 2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Control 3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Control 4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Control 5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Control 6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Control 7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Control 8"/>
          <p:cNvSpPr>
            <a:spLocks noChangeArrowheads="1" noChangeShapeType="1"/>
          </p:cNvSpPr>
          <p:nvPr/>
        </p:nvSpPr>
        <p:spPr bwMode="auto">
          <a:xfrm>
            <a:off x="3941763" y="15525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Control 13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Control 14"/>
          <p:cNvSpPr>
            <a:spLocks noChangeArrowheads="1" noChangeShapeType="1"/>
          </p:cNvSpPr>
          <p:nvPr/>
        </p:nvSpPr>
        <p:spPr bwMode="auto">
          <a:xfrm>
            <a:off x="3300413" y="1666875"/>
            <a:ext cx="914400" cy="914400"/>
          </a:xfrm>
          <a:prstGeom prst="rect">
            <a:avLst/>
          </a:prstGeom>
          <a:noFill/>
          <a:ln w="9525"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906265"/>
              </p:ext>
            </p:extLst>
          </p:nvPr>
        </p:nvGraphicFramePr>
        <p:xfrm>
          <a:off x="2362200" y="1303972"/>
          <a:ext cx="6705599" cy="1640206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496871"/>
                <a:gridCol w="1551129"/>
                <a:gridCol w="2546915"/>
                <a:gridCol w="1110684"/>
              </a:tblGrid>
              <a:tr h="35656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Name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solidFill>
                            <a:srgbClr val="FFFF00"/>
                          </a:solidFill>
                          <a:effectLst/>
                        </a:rPr>
                        <a:t>Customer Address</a:t>
                      </a:r>
                      <a:endParaRPr lang="en-US" sz="1600" b="1" i="0" u="none" strike="noStrike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Phone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Bill Letterman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10 Henry </a:t>
                      </a:r>
                      <a:r>
                        <a:rPr lang="en-US" sz="1400" b="1" u="none" strike="noStrike" dirty="0" err="1">
                          <a:effectLst/>
                        </a:rPr>
                        <a:t>Street,Union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7324525256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Ronald Bieber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7 Brown Ave, Edgewater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7329376392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Patty Lawrence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23 Bridge Ave, Bridgewater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9732525235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Joe Ridings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34 </a:t>
                      </a:r>
                      <a:r>
                        <a:rPr lang="en-US" sz="1400" b="1" u="none" strike="noStrike" dirty="0" err="1">
                          <a:effectLst/>
                        </a:rPr>
                        <a:t>Baybridge</a:t>
                      </a:r>
                      <a:r>
                        <a:rPr lang="en-US" sz="1400" b="1" u="none" strike="noStrike" dirty="0">
                          <a:effectLst/>
                        </a:rPr>
                        <a:t>, Brooklyn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9173452524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76929"/>
              </p:ext>
            </p:extLst>
          </p:nvPr>
        </p:nvGraphicFramePr>
        <p:xfrm>
          <a:off x="2438400" y="3124200"/>
          <a:ext cx="6477000" cy="3617595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970965"/>
                <a:gridCol w="1201034"/>
                <a:gridCol w="2074512"/>
                <a:gridCol w="1123043"/>
                <a:gridCol w="1107446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smtClean="0">
                          <a:effectLst/>
                        </a:rPr>
                        <a:t>Fund 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Quarter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Original Value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Current 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3650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45002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46032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46032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47423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2300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2542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2542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2325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2004_1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5400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5760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2004_2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5760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5504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2004_3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5504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5636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2004_4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5636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4532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20504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22035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3220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3220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3500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3650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447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Implementation</a:t>
            </a:r>
          </a:p>
        </p:txBody>
      </p:sp>
      <p:pic>
        <p:nvPicPr>
          <p:cNvPr id="5" name="Picture 6" descr="https://encrypted-tbn3.google.com/images?q=tbn:ANd9GcSzVEKAKfWlOPcpPRwUzV65MRcFSo9pZ3C75LXuK046mAUuQWM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1"/>
            <a:ext cx="1219200" cy="847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4600" y="1671520"/>
            <a:ext cx="42596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sz="2000" b="1" dirty="0" smtClean="0"/>
              <a:t>A Personal </a:t>
            </a:r>
            <a:r>
              <a:rPr lang="en-US" sz="2000" b="1" dirty="0" err="1" smtClean="0"/>
              <a:t>SnapDB</a:t>
            </a:r>
            <a:r>
              <a:rPr lang="en-US" sz="2000" b="1" dirty="0" smtClean="0"/>
              <a:t> Database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2514600" y="2888159"/>
            <a:ext cx="57375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sz="2000" b="1" dirty="0" smtClean="0"/>
              <a:t>A File System Written in C++ For Queries</a:t>
            </a:r>
          </a:p>
          <a:p>
            <a:pPr lvl="1">
              <a:spcBef>
                <a:spcPct val="20000"/>
              </a:spcBef>
            </a:pPr>
            <a:r>
              <a:rPr lang="en-US" sz="2000" b="1" dirty="0" smtClean="0"/>
              <a:t>No Access to Non- Operation Personnel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2362200" y="4705290"/>
            <a:ext cx="64093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</a:pPr>
            <a:r>
              <a:rPr lang="en-US" sz="2000" b="1" dirty="0" smtClean="0"/>
              <a:t>An Excel Workbook with Macros as query tools</a:t>
            </a:r>
            <a:endParaRPr lang="en-US" sz="2000" b="1" dirty="0"/>
          </a:p>
        </p:txBody>
      </p:sp>
      <p:pic>
        <p:nvPicPr>
          <p:cNvPr id="8" name="Picture 8" descr="https://encrypted-tbn0.google.com/images?q=tbn:ANd9GcR1LannG5rBmTSax5hkAkx2B56fkplevHvGDwqHNxtxcb_jPQS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09" y="2867562"/>
            <a:ext cx="1229591" cy="81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ttp://img.ehowcdn.com/article-new/ehow/images/a06/73/0u/client-services-manager-description-800x80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683" y="4495799"/>
            <a:ext cx="1246911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The Problems?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48137"/>
            <a:ext cx="3962400" cy="225706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019" y="1248136"/>
            <a:ext cx="4249156" cy="2245103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962400"/>
            <a:ext cx="4877667" cy="276135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36418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/>
              <a:t>Redundancy: Why is it bad?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/>
              <a:t>How many versions of “customer” table do we have?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/>
              <a:t>What happens if Bill Letterman calls Claire, telling her that he has just moved?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/>
              <a:t>What happens if Sam adds a new lead to his table?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/>
              <a:t>Who should we trust if we are to build a quarterly report?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23246"/>
              </p:ext>
            </p:extLst>
          </p:nvPr>
        </p:nvGraphicFramePr>
        <p:xfrm>
          <a:off x="161131" y="5334000"/>
          <a:ext cx="8821738" cy="1379990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899667"/>
                <a:gridCol w="899667"/>
                <a:gridCol w="899667"/>
                <a:gridCol w="1666051"/>
                <a:gridCol w="1666051"/>
                <a:gridCol w="770689"/>
                <a:gridCol w="2019946"/>
              </a:tblGrid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Last  Name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First Name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Address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City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State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solidFill>
                            <a:srgbClr val="FFC000"/>
                          </a:solidFill>
                          <a:effectLst/>
                        </a:rPr>
                        <a:t>Phone</a:t>
                      </a:r>
                      <a:endParaRPr lang="en-US" sz="1600" b="1" i="0" u="none" strike="noStrike" dirty="0">
                        <a:solidFill>
                          <a:srgbClr val="FFC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001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Letterman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William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10 Henry Street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Union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NJ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7324525256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002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err="1" smtClean="0">
                          <a:effectLst/>
                        </a:rPr>
                        <a:t>Bieber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Ronald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7 Brown Ave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 Edgewater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7329376392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003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Lawrence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Patricia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23 Bridge Ave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Bridgewater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9732525235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  <a:tr h="15547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004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 smtClean="0">
                          <a:effectLst/>
                        </a:rPr>
                        <a:t>Ridings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Joe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34 Baybridge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Brooklyn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NY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9173452524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774" marR="7774" marT="7774" marB="0" anchor="b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178953"/>
              </p:ext>
            </p:extLst>
          </p:nvPr>
        </p:nvGraphicFramePr>
        <p:xfrm>
          <a:off x="2286000" y="3657600"/>
          <a:ext cx="6705599" cy="1640206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1496871"/>
                <a:gridCol w="1551129"/>
                <a:gridCol w="2546915"/>
                <a:gridCol w="1110684"/>
              </a:tblGrid>
              <a:tr h="35656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Name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Customer Address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 dirty="0">
                          <a:solidFill>
                            <a:srgbClr val="FFFF00"/>
                          </a:solidFill>
                          <a:effectLst/>
                        </a:rPr>
                        <a:t>Phone</a:t>
                      </a:r>
                      <a:endParaRPr lang="en-US" sz="1600" b="1" i="0" u="none" strike="noStrike" dirty="0">
                        <a:solidFill>
                          <a:srgbClr val="FFFF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Bill Letterman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10 Henry </a:t>
                      </a:r>
                      <a:r>
                        <a:rPr lang="en-US" sz="1400" b="1" u="none" strike="noStrike" dirty="0" err="1">
                          <a:effectLst/>
                        </a:rPr>
                        <a:t>Street,Union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7324525256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Ronald Bieber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7 Brown Ave, Edgewater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7329376392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Patty Lawrence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23 Bridge Ave, Bridgewater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9732525235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091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c4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Joe Ridings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34 </a:t>
                      </a:r>
                      <a:r>
                        <a:rPr lang="en-US" sz="1400" b="1" u="none" strike="noStrike" dirty="0" err="1">
                          <a:effectLst/>
                        </a:rPr>
                        <a:t>Baybridge</a:t>
                      </a:r>
                      <a:r>
                        <a:rPr lang="en-US" sz="1400" b="1" u="none" strike="noStrike" dirty="0">
                          <a:effectLst/>
                        </a:rPr>
                        <a:t>, Brooklyn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9173452524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36418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Redundancy</a:t>
            </a:r>
            <a:r>
              <a:rPr lang="en-US" sz="2400" dirty="0" smtClean="0"/>
              <a:t>: Why is it bad?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Wasteful </a:t>
            </a:r>
            <a:r>
              <a:rPr lang="en-US" sz="2400" dirty="0" smtClean="0"/>
              <a:t>Space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Update </a:t>
            </a:r>
            <a:r>
              <a:rPr lang="en-US" sz="2400" dirty="0" smtClean="0"/>
              <a:t>Inefficiency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Inconsistency</a:t>
            </a:r>
            <a:r>
              <a:rPr lang="en-US" sz="2400" dirty="0" smtClean="0">
                <a:solidFill>
                  <a:srgbClr val="FF0000"/>
                </a:solidFill>
              </a:rPr>
              <a:t>: Data Anomalies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Update Anomaly: </a:t>
            </a:r>
            <a:r>
              <a:rPr lang="en-US" sz="2400" dirty="0" smtClean="0"/>
              <a:t>happens when the same attribute in different tables fails to be updated simultaneously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Insertion Anomaly: </a:t>
            </a:r>
            <a:r>
              <a:rPr lang="en-US" sz="2400" dirty="0" smtClean="0"/>
              <a:t>happens </a:t>
            </a:r>
            <a:r>
              <a:rPr lang="en-US" sz="2400" dirty="0"/>
              <a:t>when </a:t>
            </a:r>
            <a:r>
              <a:rPr lang="en-US" sz="2400" dirty="0" smtClean="0"/>
              <a:t>a new record is added to one table without adding relevant data in other tables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Deletion Anomaly</a:t>
            </a:r>
            <a:r>
              <a:rPr lang="en-US" sz="2400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happens when a </a:t>
            </a:r>
            <a:r>
              <a:rPr lang="en-US" sz="2400" dirty="0" smtClean="0"/>
              <a:t>record is deleted in one table without deleting all records in other tables that are related to it </a:t>
            </a:r>
            <a:endParaRPr lang="en-US" sz="2400" dirty="0"/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1896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36418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Access to Data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Claire needs to know more about her clients, she wants to know their history…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/>
              <a:t>The CEO wants a report that shows whether the “value” rating for customers are consistent with their portfolio info…</a:t>
            </a:r>
            <a:endParaRPr lang="en-US" sz="2000" dirty="0"/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007571"/>
              </p:ext>
            </p:extLst>
          </p:nvPr>
        </p:nvGraphicFramePr>
        <p:xfrm>
          <a:off x="4703618" y="2286000"/>
          <a:ext cx="3962400" cy="1454149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1399487"/>
                <a:gridCol w="1483792"/>
                <a:gridCol w="1079121"/>
              </a:tblGrid>
              <a:tr h="3187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Customer ID</a:t>
                      </a:r>
                      <a:endParaRPr lang="en-US" sz="1800" b="1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solidFill>
                            <a:srgbClr val="002060"/>
                          </a:solidFill>
                          <a:effectLst/>
                        </a:rPr>
                        <a:t>Signing_Date</a:t>
                      </a:r>
                      <a:endParaRPr lang="en-US" sz="1800" b="1" i="0" u="none" strike="noStrike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Value</a:t>
                      </a:r>
                      <a:endParaRPr lang="en-US" sz="1800" b="1" i="0" u="none" strike="noStrike" dirty="0">
                        <a:solidFill>
                          <a:srgbClr val="00206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001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2/19/1996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002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3/2/2000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3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003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7/3/2001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2673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004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>
                          <a:effectLst/>
                        </a:rPr>
                        <a:t>4/3/2004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4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941269"/>
              </p:ext>
            </p:extLst>
          </p:nvPr>
        </p:nvGraphicFramePr>
        <p:xfrm>
          <a:off x="4343400" y="4800600"/>
          <a:ext cx="4322619" cy="1834515"/>
        </p:xfrm>
        <a:graphic>
          <a:graphicData uri="http://schemas.openxmlformats.org/drawingml/2006/table">
            <a:tbl>
              <a:tblPr>
                <a:tableStyleId>{306799F8-075E-4A3A-A7F6-7FBC6576F1A4}</a:tableStyleId>
              </a:tblPr>
              <a:tblGrid>
                <a:gridCol w="648003"/>
                <a:gridCol w="801546"/>
                <a:gridCol w="1384487"/>
                <a:gridCol w="749497"/>
                <a:gridCol w="739086"/>
              </a:tblGrid>
              <a:tr h="4343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Customer 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 smtClean="0">
                          <a:effectLst/>
                        </a:rPr>
                        <a:t>Fund ID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Quarter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Original Value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Current Value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4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3000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4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3420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3650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4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45002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46032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4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2011_2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46032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47423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4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2300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2542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471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c2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2012_2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2542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2325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587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36418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(Tough one) Lack of </a:t>
            </a:r>
            <a:r>
              <a:rPr lang="en-US" sz="2000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Independence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i="1" dirty="0" smtClean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000" i="1" dirty="0" smtClean="0"/>
              <a:t>If </a:t>
            </a:r>
            <a:r>
              <a:rPr lang="en-US" sz="2000" i="1" dirty="0"/>
              <a:t>we </a:t>
            </a:r>
            <a:r>
              <a:rPr lang="en-US" sz="2000" i="1" dirty="0" smtClean="0"/>
              <a:t>split up the “address” field into city and state, </a:t>
            </a:r>
            <a:r>
              <a:rPr lang="en-US" sz="2000" i="1" dirty="0" smtClean="0">
                <a:solidFill>
                  <a:srgbClr val="FF0000"/>
                </a:solidFill>
              </a:rPr>
              <a:t>all </a:t>
            </a:r>
            <a:r>
              <a:rPr lang="en-US" sz="2000" i="1" dirty="0">
                <a:solidFill>
                  <a:srgbClr val="FF0000"/>
                </a:solidFill>
              </a:rPr>
              <a:t>related programs have to change accordingly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i="1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b="1" dirty="0"/>
              <a:t>Data Dependence</a:t>
            </a:r>
            <a:r>
              <a:rPr lang="en-US" sz="2000" dirty="0"/>
              <a:t>: change of data characteristics requires change of the file descriptions in </a:t>
            </a:r>
            <a:r>
              <a:rPr lang="en-US" sz="2000" i="1" dirty="0"/>
              <a:t>all programs </a:t>
            </a:r>
            <a:r>
              <a:rPr lang="en-US" sz="2000" dirty="0"/>
              <a:t>that access the file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Data dependence exists because the application programs have to describe “</a:t>
            </a:r>
            <a:r>
              <a:rPr lang="en-US" sz="2000" b="1" dirty="0"/>
              <a:t>how</a:t>
            </a:r>
            <a:r>
              <a:rPr lang="en-US" sz="2000" dirty="0"/>
              <a:t>” to read/write data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Data dependence makes it hard to change a file once it is created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4246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Limitations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36418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 smtClean="0"/>
              <a:t>Lack </a:t>
            </a:r>
            <a:r>
              <a:rPr lang="en-US" sz="2400" dirty="0" smtClean="0"/>
              <a:t>of </a:t>
            </a:r>
            <a:r>
              <a:rPr lang="en-US" sz="2400" u="sng" dirty="0" smtClean="0">
                <a:solidFill>
                  <a:srgbClr val="FF0000"/>
                </a:solidFill>
              </a:rPr>
              <a:t>Structural Independence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i="1" dirty="0" smtClean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400" i="1" dirty="0" smtClean="0"/>
              <a:t>If </a:t>
            </a:r>
            <a:r>
              <a:rPr lang="en-US" sz="2400" i="1" dirty="0"/>
              <a:t>we </a:t>
            </a:r>
            <a:r>
              <a:rPr lang="en-US" sz="2400" i="1" dirty="0" smtClean="0"/>
              <a:t>add a new field “customer age”, </a:t>
            </a:r>
            <a:r>
              <a:rPr lang="en-US" sz="2400" i="1" dirty="0" smtClean="0">
                <a:solidFill>
                  <a:srgbClr val="FF0000"/>
                </a:solidFill>
              </a:rPr>
              <a:t>all </a:t>
            </a:r>
            <a:r>
              <a:rPr lang="en-US" sz="2400" i="1" dirty="0">
                <a:solidFill>
                  <a:srgbClr val="FF0000"/>
                </a:solidFill>
              </a:rPr>
              <a:t>related programs have to change </a:t>
            </a:r>
            <a:r>
              <a:rPr lang="en-US" sz="2400" i="1" dirty="0" smtClean="0">
                <a:solidFill>
                  <a:srgbClr val="FF0000"/>
                </a:solidFill>
              </a:rPr>
              <a:t>accordingly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i="1" dirty="0">
              <a:solidFill>
                <a:srgbClr val="FF0000"/>
              </a:solidFill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400" b="1" dirty="0"/>
              <a:t>Structural Dependence</a:t>
            </a:r>
            <a:r>
              <a:rPr lang="en-US" sz="2400" dirty="0"/>
              <a:t>: change of file structure requires change of the file descriptions in all programs that access the file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4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400" dirty="0"/>
              <a:t>Structural dependence also exists because the application programs have to describe “how” to read/write data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11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Cause of Data &amp; Structural Dependence</a:t>
            </a:r>
            <a:endParaRPr lang="en-US" sz="32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1000" y="2362200"/>
            <a:ext cx="4419600" cy="24622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b="1" dirty="0"/>
              <a:t>c1	1	2011_1	3000	3420	</a:t>
            </a:r>
          </a:p>
          <a:p>
            <a:r>
              <a:rPr lang="en-US" sz="1100" b="1" dirty="0"/>
              <a:t>c1	1	2011_2	3420	3650	</a:t>
            </a:r>
          </a:p>
          <a:p>
            <a:r>
              <a:rPr lang="en-US" sz="1100" b="1" dirty="0"/>
              <a:t>c1	3	2011_1	45002	46032	</a:t>
            </a:r>
          </a:p>
          <a:p>
            <a:r>
              <a:rPr lang="en-US" sz="1100" b="1" dirty="0"/>
              <a:t>c1	3	2011_2	46032	47423	</a:t>
            </a:r>
          </a:p>
          <a:p>
            <a:r>
              <a:rPr lang="en-US" sz="1100" b="1" dirty="0"/>
              <a:t>c2	2	2012_1	2300	2542	</a:t>
            </a:r>
          </a:p>
          <a:p>
            <a:r>
              <a:rPr lang="en-US" sz="1100" b="1" dirty="0"/>
              <a:t>c2	2	2012_2	2542	2325	</a:t>
            </a:r>
          </a:p>
          <a:p>
            <a:r>
              <a:rPr lang="en-US" sz="1100" b="1" dirty="0"/>
              <a:t>c3	3	2004_1	5400	5760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218" y="5037404"/>
            <a:ext cx="46987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Files Alone In a File Processing System</a:t>
            </a:r>
          </a:p>
          <a:p>
            <a:r>
              <a:rPr lang="en-US" dirty="0" smtClean="0"/>
              <a:t>Do Not Carry Description of Data   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6096000" y="1524000"/>
            <a:ext cx="1143000" cy="8382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 1</a:t>
            </a:r>
            <a:endParaRPr lang="en-US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6096000" y="3174206"/>
            <a:ext cx="1143000" cy="838200"/>
          </a:xfrm>
          <a:prstGeom prst="flowChartMagneticDisk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 2</a:t>
            </a:r>
            <a:endParaRPr lang="en-US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6096000" y="4803631"/>
            <a:ext cx="1143000" cy="838200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App 3</a:t>
            </a:r>
            <a:endParaRPr lang="en-US" dirty="0"/>
          </a:p>
        </p:txBody>
      </p:sp>
      <p:cxnSp>
        <p:nvCxnSpPr>
          <p:cNvPr id="9" name="Straight Arrow Connector 8"/>
          <p:cNvCxnSpPr>
            <a:stCxn id="2" idx="3"/>
            <a:endCxn id="5" idx="2"/>
          </p:cNvCxnSpPr>
          <p:nvPr/>
        </p:nvCxnSpPr>
        <p:spPr>
          <a:xfrm flipV="1">
            <a:off x="4800600" y="1943100"/>
            <a:ext cx="1295400" cy="165020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2" idx="3"/>
            <a:endCxn id="7" idx="2"/>
          </p:cNvCxnSpPr>
          <p:nvPr/>
        </p:nvCxnSpPr>
        <p:spPr>
          <a:xfrm flipV="1">
            <a:off x="4800600" y="3593306"/>
            <a:ext cx="1295400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2" idx="3"/>
            <a:endCxn id="8" idx="2"/>
          </p:cNvCxnSpPr>
          <p:nvPr/>
        </p:nvCxnSpPr>
        <p:spPr>
          <a:xfrm>
            <a:off x="4800600" y="3593307"/>
            <a:ext cx="1295400" cy="16294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7916" y="2055709"/>
            <a:ext cx="1805302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/>
              <a:t>Read first string, </a:t>
            </a:r>
          </a:p>
          <a:p>
            <a:r>
              <a:rPr lang="en-US" sz="1600" dirty="0" smtClean="0"/>
              <a:t>assign its value </a:t>
            </a:r>
          </a:p>
          <a:p>
            <a:r>
              <a:rPr lang="en-US" sz="1600" dirty="0" smtClean="0"/>
              <a:t>to the variable </a:t>
            </a:r>
          </a:p>
          <a:p>
            <a:r>
              <a:rPr lang="en-US" sz="1600" dirty="0" smtClean="0"/>
              <a:t>“Customer ID”</a:t>
            </a:r>
            <a:endParaRPr lang="en-US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7317916" y="3782360"/>
            <a:ext cx="1805302" cy="1077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 smtClean="0"/>
              <a:t>Read second string, </a:t>
            </a:r>
          </a:p>
          <a:p>
            <a:r>
              <a:rPr lang="en-US" sz="1600" dirty="0" smtClean="0"/>
              <a:t>assign its value </a:t>
            </a:r>
          </a:p>
          <a:p>
            <a:r>
              <a:rPr lang="en-US" sz="1600" dirty="0" smtClean="0"/>
              <a:t>to the variable </a:t>
            </a:r>
          </a:p>
          <a:p>
            <a:r>
              <a:rPr lang="en-US" sz="1600" dirty="0" smtClean="0"/>
              <a:t>“Fund ID”</a:t>
            </a:r>
            <a:endParaRPr lang="en-US" sz="1600" dirty="0"/>
          </a:p>
        </p:txBody>
      </p:sp>
      <p:grpSp>
        <p:nvGrpSpPr>
          <p:cNvPr id="28" name="Group 27"/>
          <p:cNvGrpSpPr/>
          <p:nvPr/>
        </p:nvGrpSpPr>
        <p:grpSpPr>
          <a:xfrm>
            <a:off x="360219" y="1340013"/>
            <a:ext cx="5735781" cy="3882718"/>
            <a:chOff x="360219" y="1340013"/>
            <a:chExt cx="5735781" cy="3882718"/>
          </a:xfrm>
        </p:grpSpPr>
        <p:sp>
          <p:nvSpPr>
            <p:cNvPr id="20" name="TextBox 19"/>
            <p:cNvSpPr txBox="1"/>
            <p:nvPr/>
          </p:nvSpPr>
          <p:spPr>
            <a:xfrm>
              <a:off x="360219" y="1340013"/>
              <a:ext cx="4440382" cy="707886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To change data format, I need to change…</a:t>
              </a:r>
              <a:endParaRPr lang="en-US" sz="2000" b="1" dirty="0"/>
            </a:p>
          </p:txBody>
        </p:sp>
        <p:cxnSp>
          <p:nvCxnSpPr>
            <p:cNvPr id="21" name="Straight Arrow Connector 20"/>
            <p:cNvCxnSpPr>
              <a:stCxn id="20" idx="3"/>
              <a:endCxn id="5" idx="2"/>
            </p:cNvCxnSpPr>
            <p:nvPr/>
          </p:nvCxnSpPr>
          <p:spPr>
            <a:xfrm>
              <a:off x="4800601" y="1693956"/>
              <a:ext cx="1295399" cy="249144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20" idx="3"/>
              <a:endCxn id="7" idx="2"/>
            </p:cNvCxnSpPr>
            <p:nvPr/>
          </p:nvCxnSpPr>
          <p:spPr>
            <a:xfrm>
              <a:off x="4800601" y="1693956"/>
              <a:ext cx="1295399" cy="189935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20" idx="3"/>
              <a:endCxn id="8" idx="2"/>
            </p:cNvCxnSpPr>
            <p:nvPr/>
          </p:nvCxnSpPr>
          <p:spPr>
            <a:xfrm>
              <a:off x="4800601" y="1693956"/>
              <a:ext cx="1295399" cy="352877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538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Considerations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457200" y="1600200"/>
            <a:ext cx="80772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400" dirty="0"/>
              <a:t>Long development times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sz="2400" i="1" dirty="0"/>
              <a:t>What if we need a new query?</a:t>
            </a:r>
            <a:r>
              <a:rPr lang="en-US" sz="2400" dirty="0"/>
              <a:t>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400" dirty="0"/>
              <a:t>Excessive Program Maintenance</a:t>
            </a:r>
          </a:p>
          <a:p>
            <a:pPr>
              <a:spcBef>
                <a:spcPct val="20000"/>
              </a:spcBef>
              <a:buClr>
                <a:schemeClr val="hlink"/>
              </a:buClr>
              <a:buSzPct val="110000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400" dirty="0"/>
              <a:t>Weak Recovery and Security Features 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0655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 Processing System </a:t>
            </a:r>
            <a:r>
              <a:rPr lang="en-US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en-US" sz="4000" dirty="0" smtClean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4" descr="Rectangle: Click to edit Master text styles&#10;Second level&#10;Third level&#10;Fourth level&#10;Fifth level"/>
          <p:cNvSpPr>
            <a:spLocks noChangeArrowheads="1"/>
          </p:cNvSpPr>
          <p:nvPr/>
        </p:nvSpPr>
        <p:spPr bwMode="auto">
          <a:xfrm>
            <a:off x="665018" y="1447800"/>
            <a:ext cx="777240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A system that is out of date 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Problems arise because of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Isolated data file storage 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limited sharing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redundancy (duplication)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data </a:t>
            </a:r>
            <a:r>
              <a:rPr lang="en-US" sz="2000" dirty="0" smtClean="0"/>
              <a:t>anomalies caused by </a:t>
            </a:r>
            <a:r>
              <a:rPr lang="en-US" sz="2000" dirty="0" smtClean="0">
                <a:solidFill>
                  <a:srgbClr val="FF0000"/>
                </a:solidFill>
              </a:rPr>
              <a:t>lack of integration </a:t>
            </a:r>
            <a:r>
              <a:rPr lang="en-US" sz="2000" dirty="0" smtClean="0"/>
              <a:t>among files</a:t>
            </a:r>
            <a:endParaRPr lang="en-US" sz="2000" dirty="0"/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000" dirty="0"/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Data description is imbedded in the </a:t>
            </a:r>
            <a:r>
              <a:rPr lang="en-US" sz="2000" dirty="0">
                <a:solidFill>
                  <a:srgbClr val="FF0000"/>
                </a:solidFill>
              </a:rPr>
              <a:t>application programs  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data dependency</a:t>
            </a:r>
          </a:p>
          <a:p>
            <a:pPr marL="1143000" lvl="2" indent="-2286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r>
              <a:rPr lang="en-US" sz="2000" dirty="0"/>
              <a:t> structural dependency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410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714</TotalTime>
  <Words>1448</Words>
  <Application>Microsoft Office PowerPoint</Application>
  <PresentationFormat>On-screen Show (4:3)</PresentationFormat>
  <Paragraphs>534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TS101983022</vt:lpstr>
      <vt:lpstr>IS 331  Database Design, Management and Applications</vt:lpstr>
      <vt:lpstr>THIS WEEK’s Learning Objectives</vt:lpstr>
      <vt:lpstr>Review of Last Week</vt:lpstr>
      <vt:lpstr>After Flat File Databases…</vt:lpstr>
      <vt:lpstr>File Processing Systems</vt:lpstr>
      <vt:lpstr>Introducing “NJIA”</vt:lpstr>
      <vt:lpstr>Sam the Sales Manager</vt:lpstr>
      <vt:lpstr>Oliver the Operations Guy   </vt:lpstr>
      <vt:lpstr>Claire the Client Manager</vt:lpstr>
      <vt:lpstr>Help building a file processing system</vt:lpstr>
      <vt:lpstr>Sales Files</vt:lpstr>
      <vt:lpstr>Operations Files</vt:lpstr>
      <vt:lpstr>Client Relation Files</vt:lpstr>
      <vt:lpstr>Physical Implementation</vt:lpstr>
      <vt:lpstr>What Are The Problems?</vt:lpstr>
      <vt:lpstr>File Processing System Limitations</vt:lpstr>
      <vt:lpstr>File Processing System Limitations</vt:lpstr>
      <vt:lpstr>File Processing System Limitations</vt:lpstr>
      <vt:lpstr>File Processing System Limitations</vt:lpstr>
      <vt:lpstr>File Processing System Limitations</vt:lpstr>
      <vt:lpstr>The Cause of Data &amp; Structural Dependence</vt:lpstr>
      <vt:lpstr>Other Considerations</vt:lpstr>
      <vt:lpstr>File Processing System Summary</vt:lpstr>
    </vt:vector>
  </TitlesOfParts>
  <Company>Lehigh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IbmLaptopW520</cp:lastModifiedBy>
  <cp:revision>155</cp:revision>
  <dcterms:created xsi:type="dcterms:W3CDTF">2012-09-02T01:42:14Z</dcterms:created>
  <dcterms:modified xsi:type="dcterms:W3CDTF">2016-12-19T21:50:55Z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